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3" r:id="rId6"/>
    <p:sldId id="265" r:id="rId7"/>
    <p:sldId id="266" r:id="rId8"/>
    <p:sldId id="267"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50A142-D429-C6D6-51E8-B770F56BF1A9}">
          <p14:sldIdLst>
            <p14:sldId id="256"/>
          </p14:sldIdLst>
        </p14:section>
        <p14:section name="Why" id="{90F021C2-13CE-1F66-B5B8-DF11E0FC9182}">
          <p14:sldIdLst>
            <p14:sldId id="257"/>
          </p14:sldIdLst>
        </p14:section>
        <p14:section name="What it is" id="{BD3F3D45-20DA-9B7E-6279-34569AD0EEEC}">
          <p14:sldIdLst>
            <p14:sldId id="258"/>
          </p14:sldIdLst>
        </p14:section>
        <p14:section name="Who it serves" id="{814DC3E3-3845-B119-B436-CE9B4CAAF180}">
          <p14:sldIdLst>
            <p14:sldId id="259"/>
          </p14:sldIdLst>
        </p14:section>
        <p14:section name="How the census runs" id="{DDAC20AB-3E2D-0417-1832-5F96371253AD}">
          <p14:sldIdLst>
            <p14:sldId id="263"/>
          </p14:sldIdLst>
        </p14:section>
        <p14:section name="Trust and cost" id="{F6A1312F-8FC8-B663-801C-07B67264E9CC}">
          <p14:sldIdLst>
            <p14:sldId id="265"/>
          </p14:sldIdLst>
        </p14:section>
        <p14:section name="Next steps" id="{9DE92B71-6668-7D1D-BCC3-AB917960EA11}">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5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2586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the meeting: open parish-registry-demo.vercel.app on your phone and try it for ten minutes. Everything there is sample data, so you can't break anything.]</a:t>
            </a:r>
          </a:p>
          <a:p>
            <a:endParaRPr lang="en-US"/>
          </a:p>
          <a:p>
            <a:r>
              <a:rPr lang="en-US"/>
              <a:t>Good evening, Father, and fellow council members.</a:t>
            </a:r>
          </a:p>
          <a:p>
            <a:endParaRPr lang="en-US"/>
          </a:p>
          <a:p>
            <a:r>
              <a:rPr lang="en-US"/>
              <a:t>I'd like to show you a free tool for our parish: one online registry of all our families, together with a parish website.</a:t>
            </a:r>
          </a:p>
          <a:p>
            <a:endParaRPr lang="en-US"/>
          </a:p>
          <a:p>
            <a:r>
              <a:rPr lang="en-US"/>
              <a:t>It was built for Our Lady of Guadalupe Quasi-Parish in Mua-an, Kidapawan City, where it is already in use, and its developer gives it free to any parish.</a:t>
            </a:r>
          </a:p>
          <a:p>
            <a:endParaRPr lang="en-US"/>
          </a:p>
          <a:p>
            <a:r>
              <a:rPr lang="en-US"/>
              <a:t>This takes about ten minutes. At the end I'll ask the council for four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start with how we do things today.</a:t>
            </a:r>
          </a:p>
          <a:p>
            <a:endParaRPr lang="en-US"/>
          </a:p>
          <a:p>
            <a:r>
              <a:rPr lang="en-US"/>
              <a:t>[Point to the left side.] Our census is written on paper and then typed up. Family records are kept in notebooks and spreadsheets by different people. A simple question like "Who still needs Confirmation?" means counting by hand. And families have to come to the office for everything.</a:t>
            </a:r>
          </a:p>
          <a:p>
            <a:endParaRPr lang="en-US"/>
          </a:p>
          <a:p>
            <a:r>
              <a:rPr lang="en-US"/>
              <a:t>[Point to the right side.] With the registry, the same work is done once. Families answer from their phones, all the records are in one place, and those questions are answered in seconds.</a:t>
            </a:r>
          </a:p>
          <a:p>
            <a:endParaRPr lang="en-US"/>
          </a:p>
          <a:p>
            <a:r>
              <a:rPr lang="en-US"/>
              <a:t>Our pastoral work doesn't change. We just stop doing the paperwork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whole idea on one slide.</a:t>
            </a:r>
          </a:p>
          <a:p>
            <a:endParaRPr lang="en-US"/>
          </a:p>
          <a:p>
            <a:r>
              <a:rPr lang="en-US"/>
              <a:t>In the middle is one registry of our families. Four groups use it, and each one sees only what it needs:</a:t>
            </a:r>
          </a:p>
          <a:p>
            <a:r>
              <a:rPr lang="en-US"/>
              <a:t>- Families register and update their record from a phone.</a:t>
            </a:r>
          </a:p>
          <a:p>
            <a:r>
              <a:rPr lang="en-US"/>
              <a:t>- The parish office checks new families and handles requests for certificates.</a:t>
            </a:r>
          </a:p>
          <a:p>
            <a:r>
              <a:rPr lang="en-US"/>
              <a:t>- GKK leaders see their own GKK only, and lead the census there.</a:t>
            </a:r>
          </a:p>
          <a:p>
            <a:r>
              <a:rPr lang="en-US"/>
              <a:t>- Father and the council get clear numbers, GKK by GKK, to plan our ministry.</a:t>
            </a:r>
          </a:p>
          <a:p>
            <a:endParaRPr lang="en-US"/>
          </a:p>
          <a:p>
            <a:r>
              <a:rPr lang="en-US"/>
              <a:t>It also comes with a parish website, for the Mass schedule, announcements and events.</a:t>
            </a:r>
          </a:p>
          <a:p>
            <a:endParaRPr lang="en-US"/>
          </a:p>
          <a:p>
            <a:r>
              <a:rPr lang="en-US"/>
              <a:t>If asked "What is a GKK?": it is the app's word for our Basic Ecclesial Communities. The parish enters its own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what a family sees on a phone. The screens are in Bisaya.</a:t>
            </a:r>
          </a:p>
          <a:p>
            <a:endParaRPr lang="en-US"/>
          </a:p>
          <a:p>
            <a:r>
              <a:rPr lang="en-US"/>
              <a:t>[Left phone] This is the parish website. The big green button starts the registration.</a:t>
            </a:r>
          </a:p>
          <a:p>
            <a:endParaRPr lang="en-US"/>
          </a:p>
          <a:p>
            <a:r>
              <a:rPr lang="en-US"/>
              <a:t>[Middle phone] Registration is five short steps: the family, its members, their sacraments, how they take part in the parish, then a final check. At the end the family gets a reference number.</a:t>
            </a:r>
          </a:p>
          <a:p>
            <a:endParaRPr lang="en-US"/>
          </a:p>
          <a:p>
            <a:r>
              <a:rPr lang="en-US"/>
              <a:t>[Right phone] During a census, the family doesn't fill in a new paper form. They type the reference number and the code printed on their census form, then confirm or correct their record.</a:t>
            </a:r>
          </a:p>
          <a:p>
            <a:endParaRPr lang="en-US"/>
          </a:p>
          <a:p>
            <a:r>
              <a:rPr lang="en-US"/>
              <a:t>Families can also ask for certificates and send prayer requests from the same website.</a:t>
            </a:r>
          </a:p>
          <a:p>
            <a:endParaRPr lang="en-US"/>
          </a:p>
          <a:p>
            <a:r>
              <a:rPr lang="en-US"/>
              <a:t>If asked "What about families without a phone?": the parish office or their GKK leader can register them, and printed census forms are still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how a census runs, in four steps.</a:t>
            </a:r>
          </a:p>
          <a:p>
            <a:endParaRPr lang="en-US"/>
          </a:p>
          <a:p>
            <a:r>
              <a:rPr lang="en-US"/>
              <a:t>1. The parish office opens the census and sets the dates.</a:t>
            </a:r>
          </a:p>
          <a:p>
            <a:r>
              <a:rPr lang="en-US"/>
              <a:t>2. Families update their record online, with the code on their census form. GKK leaders help families who need it.</a:t>
            </a:r>
          </a:p>
          <a:p>
            <a:r>
              <a:rPr lang="en-US"/>
              <a:t>3. Paper forms are the last resort. They come out of the printer already filled in, and the office types in the answers.</a:t>
            </a:r>
          </a:p>
          <a:p>
            <a:r>
              <a:rPr lang="en-US"/>
              <a:t>4. The office approves each update. At the end we get results for every GKK, compared with the census before.</a:t>
            </a:r>
          </a:p>
          <a:p>
            <a:endParaRPr lang="en-US"/>
          </a:p>
          <a:p>
            <a:r>
              <a:rPr lang="en-US"/>
              <a:t>Every member gets a status: active, inactive, moved away, deceased, or left the Church.</a:t>
            </a:r>
          </a:p>
          <a:p>
            <a:endParaRPr lang="en-US"/>
          </a:p>
          <a:p>
            <a:r>
              <a:rPr lang="en-US"/>
              <a:t>And nothing in the registry changes until the office approves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questions always come up: is it safe, and how much does it cost?</a:t>
            </a:r>
          </a:p>
          <a:p>
            <a:endParaRPr lang="en-US"/>
          </a:p>
          <a:p>
            <a:r>
              <a:rPr lang="en-US"/>
              <a:t>On safety: every staff member has their own login and sees only what their role allows. A GKK leader sees only their own GKK. Nothing private, like phone numbers or birthdays, ever shows on the website. Every change is recorded, deleted records can be brought back for 30 days, and there is an encrypted backup every week. All the accounts are opened under the parish's own Gmail, so the data belongs to the parish.</a:t>
            </a:r>
          </a:p>
          <a:p>
            <a:endParaRPr lang="en-US"/>
          </a:p>
          <a:p>
            <a:r>
              <a:rPr lang="en-US"/>
              <a:t>On cost: it runs on the free plans of well-known online services, so there is no monthly bill. A web address of our own is optional, at about a thousand pesos a year.</a:t>
            </a:r>
          </a:p>
          <a:p>
            <a:endParaRPr lang="en-US"/>
          </a:p>
          <a:p>
            <a:r>
              <a:rPr lang="en-US"/>
              <a:t>The app itself is free for any parish. The only condition is that we keep the small "Built For Free by DaveenDev" credit in the app.</a:t>
            </a:r>
          </a:p>
          <a:p>
            <a:endParaRPr lang="en-US"/>
          </a:p>
          <a:p>
            <a:r>
              <a:rPr lang="en-US"/>
              <a:t>If asked "What's the catch with free?": the free plans have limits, but they are far above what a parish uses. A parish that ever outgrows them would pay about 45 US dollars a month in total. There is no paid support line, which is why the weekly backups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Everything I've shown is already built and working, and you can try it right now.</a:t>
            </a:r>
          </a:p>
          <a:p>
            <a:endParaRPr lang="en-US"/>
          </a:p>
          <a:p>
            <a:r>
              <a:rPr lang="en-US"/>
              <a:t>[Point to the left code] Scan this one with your phone camera to open the demo parish website. Try registering a family. It's all sample data, so nothing you do matters.</a:t>
            </a:r>
          </a:p>
          <a:p>
            <a:endParaRPr lang="en-US"/>
          </a:p>
          <a:p>
            <a:r>
              <a:rPr lang="en-US"/>
              <a:t>[Point to the right code] This one opens the staff side. Press "Login to Demo Site" and you'll see what the parish office sees: the families, the census, the requests and the reports.</a:t>
            </a:r>
          </a:p>
          <a:p>
            <a:endParaRPr lang="en-US"/>
          </a:p>
          <a:p>
            <a:r>
              <a:rPr lang="en-US"/>
              <a:t>I'll give everyone a minute to scan.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here is what I'm asking the council for. Four decisions.</a:t>
            </a:r>
          </a:p>
          <a:p>
            <a:endParaRPr lang="en-US"/>
          </a:p>
          <a:p>
            <a:r>
              <a:rPr lang="en-US"/>
              <a:t>1. Agree to adopt it as our parish's record of families and our census tool.</a:t>
            </a:r>
          </a:p>
          <a:p>
            <a:r>
              <a:rPr lang="en-US"/>
              <a:t>2. Choose who sets it up. A parishioner who is comfortable with computers can follow the free setup guide that comes with the app. If we don't have one, the developer offers setup help for a fee; the app itself stays free.</a:t>
            </a:r>
          </a:p>
          <a:p>
            <a:r>
              <a:rPr lang="en-US"/>
              <a:t>3. Name two trusted people as data stewards. They hold the parish logins together with the office and look after privacy, so the system never depends on one person.</a:t>
            </a:r>
          </a:p>
          <a:p>
            <a:r>
              <a:rPr lang="en-US"/>
              <a:t>4. Plan our first census with the GKK leaders, and announce it at every Mass and in the bulletin.</a:t>
            </a:r>
          </a:p>
          <a:p>
            <a:endParaRPr lang="en-US"/>
          </a:p>
          <a:p>
            <a:r>
              <a:rPr lang="en-US"/>
              <a:t>Thank you. I'm happy to take questions.</a:t>
            </a:r>
          </a:p>
          <a:p>
            <a:endParaRPr lang="en-US"/>
          </a:p>
          <a:p>
            <a:r>
              <a:rPr lang="en-US"/>
              <a:t>---- QUESTIONS PEOPLE OFTEN ASK ----</a:t>
            </a:r>
          </a:p>
          <a:p>
            <a:endParaRPr lang="en-US"/>
          </a:p>
          <a:p>
            <a:r>
              <a:rPr lang="en-US"/>
              <a:t>Is it really free? Yes. The app is free to copy and use, and it runs on free online plans, so there is no monthly bill. The only condition is keeping the "Built For Free by DaveenDev" credit in the app.</a:t>
            </a:r>
          </a:p>
          <a:p>
            <a:endParaRPr lang="en-US"/>
          </a:p>
          <a:p>
            <a:r>
              <a:rPr lang="en-US"/>
              <a:t>Who sets it up? Someone comfortable with computers, following the step-by-step guide that comes with the app. Or paid setup help from the developer: daveendev07@gmail.com.</a:t>
            </a:r>
          </a:p>
          <a:p>
            <a:endParaRPr lang="en-US"/>
          </a:p>
          <a:p>
            <a:r>
              <a:rPr lang="en-US"/>
              <a:t>Can it carry our own parish's name, logo and GKKs? Yes. The parish name, logo, address, GKKs, ministries and organizations are all set for our parish.</a:t>
            </a:r>
          </a:p>
          <a:p>
            <a:endParaRPr lang="en-US"/>
          </a:p>
          <a:p>
            <a:r>
              <a:rPr lang="en-US"/>
              <a:t>Is our families' information safe? Each staff member has their own login and sees only what their role allows. Nothing private appears on the website, every change is logged, and there is a weekly encrypted backup.</a:t>
            </a:r>
          </a:p>
          <a:p>
            <a:endParaRPr lang="en-US"/>
          </a:p>
          <a:p>
            <a:r>
              <a:rPr lang="en-US"/>
              <a:t>Who owns the data? The parish. Every account is opened under the parish's own Gmail.</a:t>
            </a:r>
          </a:p>
          <a:p>
            <a:endParaRPr lang="en-US"/>
          </a:p>
          <a:p>
            <a:r>
              <a:rPr lang="en-US"/>
              <a:t>What language is it in? What families see is in Bisaya. The staff side is in English.</a:t>
            </a:r>
          </a:p>
          <a:p>
            <a:endParaRPr lang="en-US"/>
          </a:p>
          <a:p>
            <a:r>
              <a:rPr lang="en-US"/>
              <a:t>Do families need internet? No. The office or a GKK leader can register them, and printed census forms are still available.</a:t>
            </a:r>
          </a:p>
          <a:p>
            <a:endParaRPr lang="en-US"/>
          </a:p>
          <a:p>
            <a:r>
              <a:rPr lang="en-US"/>
              <a:t>Can we try it before deciding? Yes: parish-registry-demo.vercel.app, with sample data. For the staff side, add /admin to the address and press "Login to Demo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737360"/>
            <a:ext cx="5486400" cy="1554480"/>
          </a:xfrm>
          <a:prstGeom prst="rect">
            <a:avLst/>
          </a:prstGeom>
          <a:noFill/>
          <a:ln/>
        </p:spPr>
        <p:txBody>
          <a:bodyPr wrap="square" rtlCol="0"/>
          <a:lstStyle>
            <a:lvl1pPr marL="0" indent="0" algn="l">
              <a:buNone/>
              <a:defRPr lang="en-US" sz="4000" b="1" dirty="0">
                <a:solidFill>
                  <a:schemeClr val="bg1"/>
                </a:solidFill>
                <a:latin typeface="+mj-lt" pitchFamily="34" charset="0"/>
                <a:ea typeface="+mj-lt" pitchFamily="34" charset="-122"/>
                <a:cs typeface="+mj-lt"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3429000"/>
            <a:ext cx="5486400" cy="128016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a:solidFill>
                  <a:schemeClr val="accent5"/>
                </a:solidFill>
              </a:rPr>
              <a:t>Parish Members Registry, Census &amp; Website</a:t>
            </a:r>
            <a:endParaRPr lang="en-US" sz="1000" dirty="0"/>
          </a:p>
        </p:txBody>
      </p:sp>
      <p:sp>
        <p:nvSpPr>
          <p:cNvPr id="3" name="Text 1"/>
          <p:cNvSpPr>
            <a:spLocks noGrp="1"/>
          </p:cNvSpPr>
          <p:nvPr>
            <p:ph type="title" idx="101" hasCustomPrompt="1"/>
          </p:nvPr>
        </p:nvSpPr>
        <p:spPr>
          <a:xfrm>
            <a:off x="548640" y="384048"/>
            <a:ext cx="11091672" cy="822960"/>
          </a:xfrm>
          <a:prstGeom prst="rect">
            <a:avLst/>
          </a:prstGeom>
          <a:noFill/>
          <a:ln/>
        </p:spPr>
        <p:txBody>
          <a:bodyPr wrap="square" rtlCol="0"/>
          <a:lstStyle>
            <a:lvl1pPr marL="0" indent="0" algn="l">
              <a:buNone/>
              <a:defRPr lang="en-US" sz="3200" b="1" dirty="0">
                <a:solidFill>
                  <a:schemeClr val="tx2"/>
                </a:solidFill>
                <a:latin typeface="+mj-lt" pitchFamily="34" charset="0"/>
                <a:ea typeface="+mj-lt" pitchFamily="34" charset="-122"/>
                <a:cs typeface="+mj-lt"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822960"/>
          </a:xfrm>
          <a:prstGeom prst="rect">
            <a:avLst/>
          </a:prstGeom>
          <a:noFill/>
          <a:ln/>
        </p:spPr>
        <p:txBody>
          <a:bodyPr wrap="square" rtlCol="0"/>
          <a:lstStyle>
            <a:lvl1pPr marL="0" indent="0" algn="l">
              <a:buNone/>
              <a:defRPr lang="en-US" sz="3200" b="1" dirty="0">
                <a:solidFill>
                  <a:schemeClr val="bg1"/>
                </a:solidFill>
                <a:latin typeface="+mj-lt" pitchFamily="34" charset="0"/>
                <a:ea typeface="+mj-lt" pitchFamily="34" charset="-122"/>
                <a:cs typeface="+mj-lt"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3.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29241" y="219841"/>
            <a:ext cx="5486400" cy="320040"/>
          </a:xfrm>
          <a:prstGeom prst="rect">
            <a:avLst/>
          </a:prstGeom>
          <a:noFill/>
          <a:ln/>
        </p:spPr>
        <p:txBody>
          <a:bodyPr wrap="square" lIns="0" tIns="0" rIns="0" bIns="0" rtlCol="0" anchor="t"/>
          <a:lstStyle/>
          <a:p>
            <a:pPr marL="0" indent="0">
              <a:buNone/>
            </a:pPr>
            <a:r>
              <a:rPr lang="en-US" sz="1300" b="1" kern="0" spc="200" dirty="0">
                <a:solidFill>
                  <a:schemeClr val="accent2"/>
                </a:solidFill>
              </a:rPr>
              <a:t>Parish Members Registry &amp; Census Presentation</a:t>
            </a:r>
            <a:endParaRPr lang="en-US" sz="1300" dirty="0"/>
          </a:p>
        </p:txBody>
      </p:sp>
      <p:pic>
        <p:nvPicPr>
          <p:cNvPr id="5" name="Parish photo"/>
          <p:cNvPicPr>
            <a:picLocks noChangeAspect="1"/>
          </p:cNvPicPr>
          <p:nvPr/>
        </p:nvPicPr>
        <p:blipFill>
          <a:blip r:embed="rId3"/>
          <a:srcRect/>
          <a:stretch/>
        </p:blipFill>
        <p:spPr>
          <a:xfrm>
            <a:off x="729241" y="539881"/>
            <a:ext cx="10593936" cy="624911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Today, knowing our parish takes paper, time and retyping</a:t>
            </a:r>
            <a:endParaRPr lang="en-US" sz="3200" dirty="0"/>
          </a:p>
        </p:txBody>
      </p:sp>
      <p:sp>
        <p:nvSpPr>
          <p:cNvPr id="3" name="Today card"/>
          <p:cNvSpPr/>
          <p:nvPr/>
        </p:nvSpPr>
        <p:spPr>
          <a:xfrm>
            <a:off x="548640" y="1463040"/>
            <a:ext cx="5029200" cy="4572000"/>
          </a:xfrm>
          <a:prstGeom prst="roundRect">
            <a:avLst>
              <a:gd name="adj" fmla="val 2400"/>
            </a:avLst>
          </a:prstGeom>
          <a:solidFill>
            <a:schemeClr val="accent3">
              <a:alpha val="9000"/>
            </a:schemeClr>
          </a:solidFill>
          <a:ln/>
        </p:spPr>
      </p:sp>
      <p:sp>
        <p:nvSpPr>
          <p:cNvPr id="4" name="Registry card"/>
          <p:cNvSpPr/>
          <p:nvPr/>
        </p:nvSpPr>
        <p:spPr>
          <a:xfrm>
            <a:off x="6613855" y="1463040"/>
            <a:ext cx="5029200" cy="4572000"/>
          </a:xfrm>
          <a:prstGeom prst="roundRect">
            <a:avLst>
              <a:gd name="adj" fmla="val 2400"/>
            </a:avLst>
          </a:prstGeom>
          <a:solidFill>
            <a:schemeClr val="accent1">
              <a:alpha val="11000"/>
            </a:schemeClr>
          </a:solidFill>
          <a:ln/>
        </p:spPr>
      </p:sp>
      <p:sp>
        <p:nvSpPr>
          <p:cNvPr id="5" name="Today circle"/>
          <p:cNvSpPr/>
          <p:nvPr/>
        </p:nvSpPr>
        <p:spPr>
          <a:xfrm>
            <a:off x="868680" y="1737360"/>
            <a:ext cx="548640" cy="548640"/>
          </a:xfrm>
          <a:prstGeom prst="ellipse">
            <a:avLst/>
          </a:prstGeom>
          <a:solidFill>
            <a:schemeClr val="accent3"/>
          </a:solidFill>
          <a:ln/>
        </p:spPr>
      </p:sp>
      <p:pic>
        <p:nvPicPr>
          <p:cNvPr id="6" name="Today icon" descr="preencoded.png"/>
          <p:cNvPicPr>
            <a:picLocks noChangeAspect="1"/>
          </p:cNvPicPr>
          <p:nvPr/>
        </p:nvPicPr>
        <p:blipFill>
          <a:blip r:embed="rId3"/>
          <a:stretch>
            <a:fillRect/>
          </a:stretch>
        </p:blipFill>
        <p:spPr>
          <a:xfrm>
            <a:off x="1005840" y="1874520"/>
            <a:ext cx="274320" cy="274320"/>
          </a:xfrm>
          <a:prstGeom prst="rect">
            <a:avLst/>
          </a:prstGeom>
        </p:spPr>
      </p:pic>
      <p:sp>
        <p:nvSpPr>
          <p:cNvPr id="7" name="Registry circle"/>
          <p:cNvSpPr/>
          <p:nvPr/>
        </p:nvSpPr>
        <p:spPr>
          <a:xfrm>
            <a:off x="6933895" y="1737360"/>
            <a:ext cx="548640" cy="548640"/>
          </a:xfrm>
          <a:prstGeom prst="ellipse">
            <a:avLst/>
          </a:prstGeom>
          <a:solidFill>
            <a:schemeClr val="accent1"/>
          </a:solidFill>
          <a:ln/>
        </p:spPr>
      </p:sp>
      <p:pic>
        <p:nvPicPr>
          <p:cNvPr id="8" name="Registry icon" descr="preencoded.png"/>
          <p:cNvPicPr>
            <a:picLocks noChangeAspect="1"/>
          </p:cNvPicPr>
          <p:nvPr/>
        </p:nvPicPr>
        <p:blipFill>
          <a:blip r:embed="rId4"/>
          <a:stretch>
            <a:fillRect/>
          </a:stretch>
        </p:blipFill>
        <p:spPr>
          <a:xfrm>
            <a:off x="7071055" y="1874520"/>
            <a:ext cx="274320" cy="274320"/>
          </a:xfrm>
          <a:prstGeom prst="rect">
            <a:avLst/>
          </a:prstGeom>
        </p:spPr>
      </p:pic>
      <p:sp>
        <p:nvSpPr>
          <p:cNvPr id="9" name="Text 5"/>
          <p:cNvSpPr txBox="1"/>
          <p:nvPr/>
        </p:nvSpPr>
        <p:spPr>
          <a:xfrm>
            <a:off x="1600200" y="1737360"/>
            <a:ext cx="3657600" cy="548640"/>
          </a:xfrm>
          <a:prstGeom prst="rect">
            <a:avLst/>
          </a:prstGeom>
          <a:noFill/>
          <a:ln/>
        </p:spPr>
        <p:txBody>
          <a:bodyPr wrap="square" lIns="0" tIns="0" rIns="0" bIns="0" rtlCol="0" anchor="ctr"/>
          <a:lstStyle/>
          <a:p>
            <a:pPr marL="0" indent="0">
              <a:buNone/>
            </a:pPr>
            <a:r>
              <a:rPr lang="en-US" sz="2200" b="1" dirty="0">
                <a:solidFill>
                  <a:schemeClr val="accent3"/>
                </a:solidFill>
                <a:latin typeface="+mj-lt" pitchFamily="34" charset="0"/>
                <a:ea typeface="+mj-lt" pitchFamily="34" charset="-122"/>
                <a:cs typeface="+mj-lt" pitchFamily="34" charset="-120"/>
              </a:rPr>
              <a:t>Today</a:t>
            </a:r>
            <a:endParaRPr lang="en-US" sz="2200" dirty="0"/>
          </a:p>
        </p:txBody>
      </p:sp>
      <p:sp>
        <p:nvSpPr>
          <p:cNvPr id="10" name="Text 6"/>
          <p:cNvSpPr txBox="1"/>
          <p:nvPr/>
        </p:nvSpPr>
        <p:spPr>
          <a:xfrm>
            <a:off x="7665415" y="1737360"/>
            <a:ext cx="3657600" cy="548640"/>
          </a:xfrm>
          <a:prstGeom prst="rect">
            <a:avLst/>
          </a:prstGeom>
          <a:noFill/>
          <a:ln/>
        </p:spPr>
        <p:txBody>
          <a:bodyPr wrap="square" lIns="0" tIns="0" rIns="0" bIns="0" rtlCol="0" anchor="ctr"/>
          <a:lstStyle/>
          <a:p>
            <a:pPr marL="0" indent="0">
              <a:buNone/>
            </a:pPr>
            <a:r>
              <a:rPr lang="en-US" sz="2200" b="1" dirty="0">
                <a:solidFill>
                  <a:schemeClr val="accent1"/>
                </a:solidFill>
                <a:latin typeface="+mj-lt" pitchFamily="34" charset="0"/>
                <a:ea typeface="+mj-lt" pitchFamily="34" charset="-122"/>
                <a:cs typeface="+mj-lt" pitchFamily="34" charset="-120"/>
              </a:rPr>
              <a:t>With the registry</a:t>
            </a:r>
            <a:endParaRPr lang="en-US" sz="2200" dirty="0"/>
          </a:p>
        </p:txBody>
      </p:sp>
      <p:sp>
        <p:nvSpPr>
          <p:cNvPr id="11" name="Text 7"/>
          <p:cNvSpPr txBox="1"/>
          <p:nvPr/>
        </p:nvSpPr>
        <p:spPr>
          <a:xfrm>
            <a:off x="914400" y="2560320"/>
            <a:ext cx="4297680" cy="685800"/>
          </a:xfrm>
          <a:prstGeom prst="rect">
            <a:avLst/>
          </a:prstGeom>
          <a:noFill/>
          <a:ln/>
        </p:spPr>
        <p:txBody>
          <a:bodyPr wrap="square" lIns="0" tIns="0" rIns="0" bIns="0" rtlCol="0" anchor="ctr"/>
          <a:lstStyle/>
          <a:p>
            <a:pPr marL="0" indent="0">
              <a:buNone/>
            </a:pPr>
            <a:r>
              <a:rPr lang="en-US" sz="1500" dirty="0">
                <a:solidFill>
                  <a:schemeClr val="tx1"/>
                </a:solidFill>
              </a:rPr>
              <a:t>Census sheets are filled in by hand and retyped every year</a:t>
            </a:r>
            <a:endParaRPr lang="en-US" sz="1500" dirty="0"/>
          </a:p>
        </p:txBody>
      </p:sp>
      <p:sp>
        <p:nvSpPr>
          <p:cNvPr id="12" name="Text 8"/>
          <p:cNvSpPr txBox="1"/>
          <p:nvPr/>
        </p:nvSpPr>
        <p:spPr>
          <a:xfrm>
            <a:off x="6979615" y="2560320"/>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Census forms print pre-filled, and families can answer online</a:t>
            </a:r>
            <a:endParaRPr lang="en-US" sz="1500" dirty="0"/>
          </a:p>
        </p:txBody>
      </p:sp>
      <p:pic>
        <p:nvPicPr>
          <p:cNvPr id="13" name="Arrow 1" descr="preencoded.png"/>
          <p:cNvPicPr>
            <a:picLocks noChangeAspect="1"/>
          </p:cNvPicPr>
          <p:nvPr/>
        </p:nvPicPr>
        <p:blipFill>
          <a:blip r:embed="rId5"/>
          <a:stretch>
            <a:fillRect/>
          </a:stretch>
        </p:blipFill>
        <p:spPr>
          <a:xfrm>
            <a:off x="5940400" y="2743200"/>
            <a:ext cx="310896" cy="310896"/>
          </a:xfrm>
          <a:prstGeom prst="rect">
            <a:avLst/>
          </a:prstGeom>
        </p:spPr>
      </p:pic>
      <p:sp>
        <p:nvSpPr>
          <p:cNvPr id="14" name="Text 9"/>
          <p:cNvSpPr txBox="1"/>
          <p:nvPr/>
        </p:nvSpPr>
        <p:spPr>
          <a:xfrm>
            <a:off x="914400" y="3401568"/>
            <a:ext cx="4297680" cy="685800"/>
          </a:xfrm>
          <a:prstGeom prst="rect">
            <a:avLst/>
          </a:prstGeom>
          <a:noFill/>
          <a:ln/>
        </p:spPr>
        <p:txBody>
          <a:bodyPr wrap="square" lIns="0" tIns="0" rIns="0" bIns="0" rtlCol="0" anchor="ctr"/>
          <a:lstStyle/>
          <a:p>
            <a:pPr marL="0" indent="0">
              <a:buNone/>
            </a:pPr>
            <a:r>
              <a:rPr lang="en-US" sz="1500" dirty="0">
                <a:solidFill>
                  <a:schemeClr val="tx1"/>
                </a:solidFill>
              </a:rPr>
              <a:t>Family records sit in notebooks and spreadsheets in different hands</a:t>
            </a:r>
            <a:endParaRPr lang="en-US" sz="1500" dirty="0"/>
          </a:p>
        </p:txBody>
      </p:sp>
      <p:sp>
        <p:nvSpPr>
          <p:cNvPr id="15" name="Text 10"/>
          <p:cNvSpPr txBox="1"/>
          <p:nvPr/>
        </p:nvSpPr>
        <p:spPr>
          <a:xfrm>
            <a:off x="6979615" y="3401568"/>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Every household and member is in one searchable registry</a:t>
            </a:r>
            <a:endParaRPr lang="en-US" sz="1500" dirty="0"/>
          </a:p>
        </p:txBody>
      </p:sp>
      <p:pic>
        <p:nvPicPr>
          <p:cNvPr id="16" name="Arrow 2" descr="preencoded.png"/>
          <p:cNvPicPr>
            <a:picLocks noChangeAspect="1"/>
          </p:cNvPicPr>
          <p:nvPr/>
        </p:nvPicPr>
        <p:blipFill>
          <a:blip r:embed="rId5"/>
          <a:stretch>
            <a:fillRect/>
          </a:stretch>
        </p:blipFill>
        <p:spPr>
          <a:xfrm>
            <a:off x="5940400" y="3584448"/>
            <a:ext cx="310896" cy="310896"/>
          </a:xfrm>
          <a:prstGeom prst="rect">
            <a:avLst/>
          </a:prstGeom>
        </p:spPr>
      </p:pic>
      <p:sp>
        <p:nvSpPr>
          <p:cNvPr id="17" name="Text 11"/>
          <p:cNvSpPr txBox="1"/>
          <p:nvPr/>
        </p:nvSpPr>
        <p:spPr>
          <a:xfrm>
            <a:off x="914400" y="4242816"/>
            <a:ext cx="4297680" cy="685800"/>
          </a:xfrm>
          <a:prstGeom prst="rect">
            <a:avLst/>
          </a:prstGeom>
          <a:noFill/>
          <a:ln/>
        </p:spPr>
        <p:txBody>
          <a:bodyPr wrap="square" lIns="0" tIns="0" rIns="0" bIns="0" rtlCol="0" anchor="ctr"/>
          <a:lstStyle/>
          <a:p>
            <a:pPr marL="0" indent="0">
              <a:buNone/>
            </a:pPr>
            <a:r>
              <a:rPr lang="en-US" sz="1500" dirty="0">
                <a:solidFill>
                  <a:schemeClr val="tx1"/>
                </a:solidFill>
              </a:rPr>
              <a:t>"Who still needs Confirmation?" takes days of counting</a:t>
            </a:r>
            <a:endParaRPr lang="en-US" sz="1500" dirty="0"/>
          </a:p>
        </p:txBody>
      </p:sp>
      <p:sp>
        <p:nvSpPr>
          <p:cNvPr id="18" name="Text 12"/>
          <p:cNvSpPr txBox="1"/>
          <p:nvPr/>
        </p:nvSpPr>
        <p:spPr>
          <a:xfrm>
            <a:off x="6979615" y="4242816"/>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The answer takes seconds, GKK by GKK</a:t>
            </a:r>
            <a:endParaRPr lang="en-US" sz="1500" dirty="0"/>
          </a:p>
        </p:txBody>
      </p:sp>
      <p:pic>
        <p:nvPicPr>
          <p:cNvPr id="19" name="Arrow 3" descr="preencoded.png"/>
          <p:cNvPicPr>
            <a:picLocks noChangeAspect="1"/>
          </p:cNvPicPr>
          <p:nvPr/>
        </p:nvPicPr>
        <p:blipFill>
          <a:blip r:embed="rId5"/>
          <a:stretch>
            <a:fillRect/>
          </a:stretch>
        </p:blipFill>
        <p:spPr>
          <a:xfrm>
            <a:off x="5940400" y="4425696"/>
            <a:ext cx="310896" cy="310896"/>
          </a:xfrm>
          <a:prstGeom prst="rect">
            <a:avLst/>
          </a:prstGeom>
        </p:spPr>
      </p:pic>
      <p:sp>
        <p:nvSpPr>
          <p:cNvPr id="20" name="Text 13"/>
          <p:cNvSpPr txBox="1"/>
          <p:nvPr/>
        </p:nvSpPr>
        <p:spPr>
          <a:xfrm>
            <a:off x="914400" y="5084064"/>
            <a:ext cx="4297680" cy="685800"/>
          </a:xfrm>
          <a:prstGeom prst="rect">
            <a:avLst/>
          </a:prstGeom>
          <a:noFill/>
          <a:ln/>
        </p:spPr>
        <p:txBody>
          <a:bodyPr wrap="square" lIns="0" tIns="0" rIns="0" bIns="0" rtlCol="0" anchor="ctr"/>
          <a:lstStyle/>
          <a:p>
            <a:pPr marL="0" indent="0">
              <a:buNone/>
            </a:pPr>
            <a:r>
              <a:rPr lang="en-US" sz="1500" dirty="0">
                <a:solidFill>
                  <a:schemeClr val="tx1"/>
                </a:solidFill>
              </a:rPr>
              <a:t>Families must come to the office to register or ask for a certificate</a:t>
            </a:r>
            <a:endParaRPr lang="en-US" sz="1500" dirty="0"/>
          </a:p>
        </p:txBody>
      </p:sp>
      <p:sp>
        <p:nvSpPr>
          <p:cNvPr id="21" name="Text 14"/>
          <p:cNvSpPr txBox="1"/>
          <p:nvPr/>
        </p:nvSpPr>
        <p:spPr>
          <a:xfrm>
            <a:off x="6979615" y="5084064"/>
            <a:ext cx="4297680" cy="685800"/>
          </a:xfrm>
          <a:prstGeom prst="rect">
            <a:avLst/>
          </a:prstGeom>
          <a:noFill/>
          <a:ln/>
        </p:spPr>
        <p:txBody>
          <a:bodyPr wrap="square" lIns="0" tIns="0" rIns="0" bIns="0" rtlCol="0" anchor="ctr"/>
          <a:lstStyle/>
          <a:p>
            <a:pPr marL="0" indent="0">
              <a:buNone/>
            </a:pPr>
            <a:r>
              <a:rPr lang="en-US" sz="1500" b="1" dirty="0">
                <a:solidFill>
                  <a:schemeClr val="tx2"/>
                </a:solidFill>
              </a:rPr>
              <a:t>They register and send requests from a phone, with a reference number</a:t>
            </a:r>
            <a:endParaRPr lang="en-US" sz="1500" dirty="0"/>
          </a:p>
        </p:txBody>
      </p:sp>
      <p:pic>
        <p:nvPicPr>
          <p:cNvPr id="22" name="Arrow 4" descr="preencoded.png"/>
          <p:cNvPicPr>
            <a:picLocks noChangeAspect="1"/>
          </p:cNvPicPr>
          <p:nvPr/>
        </p:nvPicPr>
        <p:blipFill>
          <a:blip r:embed="rId5"/>
          <a:stretch>
            <a:fillRect/>
          </a:stretch>
        </p:blipFill>
        <p:spPr>
          <a:xfrm>
            <a:off x="5940400" y="5266944"/>
            <a:ext cx="310896" cy="310896"/>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One registry serves the whole parish</a:t>
            </a:r>
            <a:endParaRPr lang="en-US" sz="3200" dirty="0"/>
          </a:p>
        </p:txBody>
      </p:sp>
      <p:sp>
        <p:nvSpPr>
          <p:cNvPr id="3" name="Shape 1"/>
          <p:cNvSpPr/>
          <p:nvPr/>
        </p:nvSpPr>
        <p:spPr>
          <a:xfrm>
            <a:off x="4617720" y="2377440"/>
            <a:ext cx="868680" cy="685800"/>
          </a:xfrm>
          <a:prstGeom prst="line">
            <a:avLst/>
          </a:prstGeom>
          <a:noFill/>
          <a:ln w="25400">
            <a:solidFill>
              <a:schemeClr val="accent2"/>
            </a:solidFill>
            <a:prstDash val="dash"/>
          </a:ln>
        </p:spPr>
      </p:sp>
      <p:sp>
        <p:nvSpPr>
          <p:cNvPr id="4" name="Shape 2"/>
          <p:cNvSpPr/>
          <p:nvPr/>
        </p:nvSpPr>
        <p:spPr>
          <a:xfrm flipH="1">
            <a:off x="6705295" y="2377440"/>
            <a:ext cx="868680" cy="685800"/>
          </a:xfrm>
          <a:prstGeom prst="line">
            <a:avLst/>
          </a:prstGeom>
          <a:noFill/>
          <a:ln w="25400">
            <a:solidFill>
              <a:schemeClr val="accent2"/>
            </a:solidFill>
            <a:prstDash val="dash"/>
          </a:ln>
        </p:spPr>
      </p:sp>
      <p:sp>
        <p:nvSpPr>
          <p:cNvPr id="5" name="Shape 3"/>
          <p:cNvSpPr/>
          <p:nvPr/>
        </p:nvSpPr>
        <p:spPr>
          <a:xfrm flipV="1">
            <a:off x="4617720" y="4160520"/>
            <a:ext cx="868680" cy="594360"/>
          </a:xfrm>
          <a:prstGeom prst="line">
            <a:avLst/>
          </a:prstGeom>
          <a:noFill/>
          <a:ln w="25400">
            <a:solidFill>
              <a:schemeClr val="accent2"/>
            </a:solidFill>
            <a:prstDash val="dash"/>
          </a:ln>
        </p:spPr>
      </p:sp>
      <p:sp>
        <p:nvSpPr>
          <p:cNvPr id="6" name="Shape 4"/>
          <p:cNvSpPr/>
          <p:nvPr/>
        </p:nvSpPr>
        <p:spPr>
          <a:xfrm flipH="1" flipV="1">
            <a:off x="6705295" y="4160520"/>
            <a:ext cx="868680" cy="594360"/>
          </a:xfrm>
          <a:prstGeom prst="line">
            <a:avLst/>
          </a:prstGeom>
          <a:noFill/>
          <a:ln w="25400">
            <a:solidFill>
              <a:schemeClr val="accent2"/>
            </a:solidFill>
            <a:prstDash val="dash"/>
          </a:ln>
        </p:spPr>
      </p:sp>
      <p:sp>
        <p:nvSpPr>
          <p:cNvPr id="7" name="Text 5"/>
          <p:cNvSpPr/>
          <p:nvPr/>
        </p:nvSpPr>
        <p:spPr>
          <a:xfrm>
            <a:off x="4998568" y="2514600"/>
            <a:ext cx="2194560" cy="2194560"/>
          </a:xfrm>
          <a:prstGeom prst="ellipse">
            <a:avLst/>
          </a:prstGeom>
          <a:solidFill>
            <a:schemeClr val="tx2"/>
          </a:solidFill>
          <a:ln w="38100">
            <a:solidFill>
              <a:schemeClr val="accent2"/>
            </a:solidFill>
          </a:ln>
        </p:spPr>
        <p:txBody>
          <a:bodyPr wrap="square" lIns="1905" tIns="1905" rIns="1905" bIns="1905" rtlCol="0" anchor="ctr"/>
          <a:lstStyle/>
          <a:p>
            <a:pPr marL="0" indent="0" algn="ctr">
              <a:buNone/>
            </a:pPr>
            <a:r>
              <a:rPr lang="en-US" sz="2100" b="1" dirty="0">
                <a:solidFill>
                  <a:schemeClr val="bg1"/>
                </a:solidFill>
                <a:latin typeface="+mj-lt" pitchFamily="34" charset="0"/>
                <a:ea typeface="+mj-lt" pitchFamily="34" charset="-122"/>
                <a:cs typeface="+mj-lt" pitchFamily="34" charset="-120"/>
              </a:rPr>
              <a:t>One parish registry</a:t>
            </a:r>
            <a:endParaRPr lang="en-US" sz="2100" dirty="0"/>
          </a:p>
        </p:txBody>
      </p:sp>
      <p:sp>
        <p:nvSpPr>
          <p:cNvPr id="8" name="Families card"/>
          <p:cNvSpPr/>
          <p:nvPr/>
        </p:nvSpPr>
        <p:spPr>
          <a:xfrm>
            <a:off x="548640" y="1463040"/>
            <a:ext cx="4069080" cy="1645920"/>
          </a:xfrm>
          <a:prstGeom prst="roundRect">
            <a:avLst>
              <a:gd name="adj" fmla="val 6667"/>
            </a:avLst>
          </a:prstGeom>
          <a:solidFill>
            <a:schemeClr val="bg2"/>
          </a:solidFill>
          <a:ln/>
        </p:spPr>
      </p:sp>
      <p:sp>
        <p:nvSpPr>
          <p:cNvPr id="9" name="Families circle"/>
          <p:cNvSpPr/>
          <p:nvPr/>
        </p:nvSpPr>
        <p:spPr>
          <a:xfrm>
            <a:off x="822960" y="1755648"/>
            <a:ext cx="603504" cy="603504"/>
          </a:xfrm>
          <a:prstGeom prst="ellipse">
            <a:avLst/>
          </a:prstGeom>
          <a:solidFill>
            <a:schemeClr val="accent1"/>
          </a:solidFill>
          <a:ln/>
        </p:spPr>
      </p:sp>
      <p:pic>
        <p:nvPicPr>
          <p:cNvPr id="10" name="Families icon" descr="preencoded.png"/>
          <p:cNvPicPr>
            <a:picLocks noChangeAspect="1"/>
          </p:cNvPicPr>
          <p:nvPr/>
        </p:nvPicPr>
        <p:blipFill>
          <a:blip r:embed="rId3"/>
          <a:stretch>
            <a:fillRect/>
          </a:stretch>
        </p:blipFill>
        <p:spPr>
          <a:xfrm>
            <a:off x="973836" y="1906524"/>
            <a:ext cx="301752" cy="301752"/>
          </a:xfrm>
          <a:prstGeom prst="rect">
            <a:avLst/>
          </a:prstGeom>
        </p:spPr>
      </p:pic>
      <p:sp>
        <p:nvSpPr>
          <p:cNvPr id="11" name="Text 8"/>
          <p:cNvSpPr txBox="1"/>
          <p:nvPr/>
        </p:nvSpPr>
        <p:spPr>
          <a:xfrm>
            <a:off x="1600200" y="173736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Families</a:t>
            </a:r>
            <a:endParaRPr lang="en-US" sz="1900" dirty="0"/>
          </a:p>
        </p:txBody>
      </p:sp>
      <p:sp>
        <p:nvSpPr>
          <p:cNvPr id="12" name="Text 9"/>
          <p:cNvSpPr txBox="1"/>
          <p:nvPr/>
        </p:nvSpPr>
        <p:spPr>
          <a:xfrm>
            <a:off x="1600200" y="2194560"/>
            <a:ext cx="2788920" cy="777240"/>
          </a:xfrm>
          <a:prstGeom prst="rect">
            <a:avLst/>
          </a:prstGeom>
          <a:noFill/>
          <a:ln/>
        </p:spPr>
        <p:txBody>
          <a:bodyPr wrap="square" lIns="0" tIns="0" rIns="0" bIns="0" rtlCol="0" anchor="t"/>
          <a:lstStyle/>
          <a:p>
            <a:pPr marL="0" indent="0">
              <a:buNone/>
            </a:pPr>
            <a:r>
              <a:rPr lang="en-US" sz="1500" dirty="0">
                <a:solidFill>
                  <a:schemeClr val="tx1"/>
                </a:solidFill>
              </a:rPr>
              <a:t>Register, update the census and send requests from a phone, in Bisaya</a:t>
            </a:r>
            <a:endParaRPr lang="en-US" sz="1500" dirty="0"/>
          </a:p>
        </p:txBody>
      </p:sp>
      <p:sp>
        <p:nvSpPr>
          <p:cNvPr id="13" name="Parish office card"/>
          <p:cNvSpPr/>
          <p:nvPr/>
        </p:nvSpPr>
        <p:spPr>
          <a:xfrm>
            <a:off x="7573975" y="1463040"/>
            <a:ext cx="4069080" cy="1645920"/>
          </a:xfrm>
          <a:prstGeom prst="roundRect">
            <a:avLst>
              <a:gd name="adj" fmla="val 6667"/>
            </a:avLst>
          </a:prstGeom>
          <a:solidFill>
            <a:schemeClr val="bg2"/>
          </a:solidFill>
          <a:ln/>
        </p:spPr>
      </p:sp>
      <p:sp>
        <p:nvSpPr>
          <p:cNvPr id="14" name="Parish office circle"/>
          <p:cNvSpPr/>
          <p:nvPr/>
        </p:nvSpPr>
        <p:spPr>
          <a:xfrm>
            <a:off x="7848295" y="1755648"/>
            <a:ext cx="603504" cy="603504"/>
          </a:xfrm>
          <a:prstGeom prst="ellipse">
            <a:avLst/>
          </a:prstGeom>
          <a:solidFill>
            <a:schemeClr val="accent1"/>
          </a:solidFill>
          <a:ln/>
        </p:spPr>
      </p:sp>
      <p:pic>
        <p:nvPicPr>
          <p:cNvPr id="15" name="Parish office icon" descr="preencoded.png"/>
          <p:cNvPicPr>
            <a:picLocks noChangeAspect="1"/>
          </p:cNvPicPr>
          <p:nvPr/>
        </p:nvPicPr>
        <p:blipFill>
          <a:blip r:embed="rId4"/>
          <a:stretch>
            <a:fillRect/>
          </a:stretch>
        </p:blipFill>
        <p:spPr>
          <a:xfrm>
            <a:off x="7999171" y="1906524"/>
            <a:ext cx="301752" cy="301752"/>
          </a:xfrm>
          <a:prstGeom prst="rect">
            <a:avLst/>
          </a:prstGeom>
        </p:spPr>
      </p:pic>
      <p:sp>
        <p:nvSpPr>
          <p:cNvPr id="16" name="Text 12"/>
          <p:cNvSpPr txBox="1"/>
          <p:nvPr/>
        </p:nvSpPr>
        <p:spPr>
          <a:xfrm>
            <a:off x="8625535" y="173736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Parish office</a:t>
            </a:r>
            <a:endParaRPr lang="en-US" sz="1900" dirty="0"/>
          </a:p>
        </p:txBody>
      </p:sp>
      <p:sp>
        <p:nvSpPr>
          <p:cNvPr id="17" name="Text 13"/>
          <p:cNvSpPr txBox="1"/>
          <p:nvPr/>
        </p:nvSpPr>
        <p:spPr>
          <a:xfrm>
            <a:off x="8625535" y="2194560"/>
            <a:ext cx="2788920" cy="777240"/>
          </a:xfrm>
          <a:prstGeom prst="rect">
            <a:avLst/>
          </a:prstGeom>
          <a:noFill/>
          <a:ln/>
        </p:spPr>
        <p:txBody>
          <a:bodyPr wrap="square" lIns="0" tIns="0" rIns="0" bIns="0" rtlCol="0" anchor="t"/>
          <a:lstStyle/>
          <a:p>
            <a:pPr marL="0" indent="0">
              <a:buNone/>
            </a:pPr>
            <a:r>
              <a:rPr lang="en-US" sz="1500" dirty="0">
                <a:solidFill>
                  <a:schemeClr val="tx1"/>
                </a:solidFill>
              </a:rPr>
              <a:t>Verify families, track requests, print forms and export lists</a:t>
            </a:r>
            <a:endParaRPr lang="en-US" sz="1500" dirty="0"/>
          </a:p>
        </p:txBody>
      </p:sp>
      <p:sp>
        <p:nvSpPr>
          <p:cNvPr id="18" name="GKK leaders card"/>
          <p:cNvSpPr/>
          <p:nvPr/>
        </p:nvSpPr>
        <p:spPr>
          <a:xfrm>
            <a:off x="548640" y="3931920"/>
            <a:ext cx="4069080" cy="1645920"/>
          </a:xfrm>
          <a:prstGeom prst="roundRect">
            <a:avLst>
              <a:gd name="adj" fmla="val 6667"/>
            </a:avLst>
          </a:prstGeom>
          <a:solidFill>
            <a:schemeClr val="bg2"/>
          </a:solidFill>
          <a:ln/>
        </p:spPr>
      </p:sp>
      <p:sp>
        <p:nvSpPr>
          <p:cNvPr id="19" name="GKK leaders circle"/>
          <p:cNvSpPr/>
          <p:nvPr/>
        </p:nvSpPr>
        <p:spPr>
          <a:xfrm>
            <a:off x="822960" y="4224528"/>
            <a:ext cx="603504" cy="603504"/>
          </a:xfrm>
          <a:prstGeom prst="ellipse">
            <a:avLst/>
          </a:prstGeom>
          <a:solidFill>
            <a:schemeClr val="accent1"/>
          </a:solidFill>
          <a:ln/>
        </p:spPr>
      </p:sp>
      <p:pic>
        <p:nvPicPr>
          <p:cNvPr id="20" name="GKK leaders icon" descr="preencoded.png"/>
          <p:cNvPicPr>
            <a:picLocks noChangeAspect="1"/>
          </p:cNvPicPr>
          <p:nvPr/>
        </p:nvPicPr>
        <p:blipFill>
          <a:blip r:embed="rId5"/>
          <a:stretch>
            <a:fillRect/>
          </a:stretch>
        </p:blipFill>
        <p:spPr>
          <a:xfrm>
            <a:off x="973836" y="4375404"/>
            <a:ext cx="301752" cy="301752"/>
          </a:xfrm>
          <a:prstGeom prst="rect">
            <a:avLst/>
          </a:prstGeom>
        </p:spPr>
      </p:pic>
      <p:sp>
        <p:nvSpPr>
          <p:cNvPr id="21" name="Text 16"/>
          <p:cNvSpPr txBox="1"/>
          <p:nvPr/>
        </p:nvSpPr>
        <p:spPr>
          <a:xfrm>
            <a:off x="1600200" y="420624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GKK leaders</a:t>
            </a:r>
            <a:endParaRPr lang="en-US" sz="1900" dirty="0"/>
          </a:p>
        </p:txBody>
      </p:sp>
      <p:sp>
        <p:nvSpPr>
          <p:cNvPr id="22" name="Text 17"/>
          <p:cNvSpPr txBox="1"/>
          <p:nvPr/>
        </p:nvSpPr>
        <p:spPr>
          <a:xfrm>
            <a:off x="1600200" y="4663440"/>
            <a:ext cx="2788920" cy="777240"/>
          </a:xfrm>
          <a:prstGeom prst="rect">
            <a:avLst/>
          </a:prstGeom>
          <a:noFill/>
          <a:ln/>
        </p:spPr>
        <p:txBody>
          <a:bodyPr wrap="square" lIns="0" tIns="0" rIns="0" bIns="0" rtlCol="0" anchor="t"/>
          <a:lstStyle/>
          <a:p>
            <a:pPr marL="0" indent="0">
              <a:buNone/>
            </a:pPr>
            <a:r>
              <a:rPr lang="en-US" sz="1500" dirty="0">
                <a:solidFill>
                  <a:schemeClr val="tx1"/>
                </a:solidFill>
              </a:rPr>
              <a:t>Their own GKK’s families and census, and nothing else</a:t>
            </a:r>
            <a:endParaRPr lang="en-US" sz="1500" dirty="0"/>
          </a:p>
        </p:txBody>
      </p:sp>
      <p:sp>
        <p:nvSpPr>
          <p:cNvPr id="23" name="Priest and council card"/>
          <p:cNvSpPr/>
          <p:nvPr/>
        </p:nvSpPr>
        <p:spPr>
          <a:xfrm>
            <a:off x="7573975" y="3931920"/>
            <a:ext cx="4069080" cy="1645920"/>
          </a:xfrm>
          <a:prstGeom prst="roundRect">
            <a:avLst>
              <a:gd name="adj" fmla="val 6667"/>
            </a:avLst>
          </a:prstGeom>
          <a:solidFill>
            <a:schemeClr val="bg2"/>
          </a:solidFill>
          <a:ln/>
        </p:spPr>
      </p:sp>
      <p:sp>
        <p:nvSpPr>
          <p:cNvPr id="24" name="Priest and council circle"/>
          <p:cNvSpPr/>
          <p:nvPr/>
        </p:nvSpPr>
        <p:spPr>
          <a:xfrm>
            <a:off x="7848295" y="4224528"/>
            <a:ext cx="603504" cy="603504"/>
          </a:xfrm>
          <a:prstGeom prst="ellipse">
            <a:avLst/>
          </a:prstGeom>
          <a:solidFill>
            <a:schemeClr val="accent1"/>
          </a:solidFill>
          <a:ln/>
        </p:spPr>
      </p:sp>
      <p:pic>
        <p:nvPicPr>
          <p:cNvPr id="25" name="Priest and council icon" descr="preencoded.png"/>
          <p:cNvPicPr>
            <a:picLocks noChangeAspect="1"/>
          </p:cNvPicPr>
          <p:nvPr/>
        </p:nvPicPr>
        <p:blipFill>
          <a:blip r:embed="rId6"/>
          <a:stretch>
            <a:fillRect/>
          </a:stretch>
        </p:blipFill>
        <p:spPr>
          <a:xfrm>
            <a:off x="7999171" y="4375404"/>
            <a:ext cx="301752" cy="301752"/>
          </a:xfrm>
          <a:prstGeom prst="rect">
            <a:avLst/>
          </a:prstGeom>
        </p:spPr>
      </p:pic>
      <p:sp>
        <p:nvSpPr>
          <p:cNvPr id="26" name="Text 20"/>
          <p:cNvSpPr txBox="1"/>
          <p:nvPr/>
        </p:nvSpPr>
        <p:spPr>
          <a:xfrm>
            <a:off x="8625535" y="4206240"/>
            <a:ext cx="2788920" cy="411480"/>
          </a:xfrm>
          <a:prstGeom prst="rect">
            <a:avLst/>
          </a:prstGeom>
          <a:noFill/>
          <a:ln/>
        </p:spPr>
        <p:txBody>
          <a:bodyPr wrap="square" lIns="0" tIns="0" rIns="0" bIns="0" rtlCol="0" anchor="t"/>
          <a:lstStyle/>
          <a:p>
            <a:pPr marL="0" indent="0">
              <a:buNone/>
            </a:pPr>
            <a:r>
              <a:rPr lang="en-US" sz="1900" b="1" dirty="0">
                <a:solidFill>
                  <a:schemeClr val="tx2"/>
                </a:solidFill>
                <a:latin typeface="+mj-lt" pitchFamily="34" charset="0"/>
                <a:ea typeface="+mj-lt" pitchFamily="34" charset="-122"/>
                <a:cs typeface="+mj-lt" pitchFamily="34" charset="-120"/>
              </a:rPr>
              <a:t>Priest and council</a:t>
            </a:r>
            <a:endParaRPr lang="en-US" sz="1900" dirty="0"/>
          </a:p>
        </p:txBody>
      </p:sp>
      <p:sp>
        <p:nvSpPr>
          <p:cNvPr id="27" name="Text 21"/>
          <p:cNvSpPr txBox="1"/>
          <p:nvPr/>
        </p:nvSpPr>
        <p:spPr>
          <a:xfrm>
            <a:off x="8625535" y="4663440"/>
            <a:ext cx="2788920" cy="777240"/>
          </a:xfrm>
          <a:prstGeom prst="rect">
            <a:avLst/>
          </a:prstGeom>
          <a:noFill/>
          <a:ln/>
        </p:spPr>
        <p:txBody>
          <a:bodyPr wrap="square" lIns="0" tIns="0" rIns="0" bIns="0" rtlCol="0" anchor="t"/>
          <a:lstStyle/>
          <a:p>
            <a:pPr marL="0" indent="0">
              <a:buNone/>
            </a:pPr>
            <a:r>
              <a:rPr lang="en-US" sz="1500" dirty="0">
                <a:solidFill>
                  <a:schemeClr val="tx1"/>
                </a:solidFill>
              </a:rPr>
              <a:t>Clear numbers by GKK, for pastoral planning</a:t>
            </a:r>
            <a:endParaRPr lang="en-US" sz="1500" dirty="0"/>
          </a:p>
        </p:txBody>
      </p:sp>
      <p:sp>
        <p:nvSpPr>
          <p:cNvPr id="28" name="Website circle"/>
          <p:cNvSpPr/>
          <p:nvPr/>
        </p:nvSpPr>
        <p:spPr>
          <a:xfrm>
            <a:off x="548640" y="5788152"/>
            <a:ext cx="420624" cy="420624"/>
          </a:xfrm>
          <a:prstGeom prst="ellipse">
            <a:avLst/>
          </a:prstGeom>
          <a:solidFill>
            <a:schemeClr val="accent2"/>
          </a:solidFill>
          <a:ln/>
        </p:spPr>
      </p:sp>
      <p:pic>
        <p:nvPicPr>
          <p:cNvPr id="29" name="Website icon" descr="preencoded.png"/>
          <p:cNvPicPr>
            <a:picLocks noChangeAspect="1"/>
          </p:cNvPicPr>
          <p:nvPr/>
        </p:nvPicPr>
        <p:blipFill>
          <a:blip r:embed="rId7"/>
          <a:stretch>
            <a:fillRect/>
          </a:stretch>
        </p:blipFill>
        <p:spPr>
          <a:xfrm>
            <a:off x="653796" y="5893308"/>
            <a:ext cx="210312" cy="210312"/>
          </a:xfrm>
          <a:prstGeom prst="rect">
            <a:avLst/>
          </a:prstGeom>
        </p:spPr>
      </p:pic>
      <p:sp>
        <p:nvSpPr>
          <p:cNvPr id="30" name="Text 23"/>
          <p:cNvSpPr txBox="1"/>
          <p:nvPr/>
        </p:nvSpPr>
        <p:spPr>
          <a:xfrm>
            <a:off x="1143000" y="5788152"/>
            <a:ext cx="10424160" cy="420624"/>
          </a:xfrm>
          <a:prstGeom prst="rect">
            <a:avLst/>
          </a:prstGeom>
          <a:noFill/>
          <a:ln/>
        </p:spPr>
        <p:txBody>
          <a:bodyPr wrap="square" lIns="0" tIns="0" rIns="0" bIns="0" rtlCol="0" anchor="ctr"/>
          <a:lstStyle/>
          <a:p>
            <a:pPr marL="0" indent="0">
              <a:buNone/>
            </a:pPr>
            <a:r>
              <a:rPr lang="en-US" sz="1500" b="1" dirty="0">
                <a:solidFill>
                  <a:schemeClr val="tx2"/>
                </a:solidFill>
              </a:rPr>
              <a:t>Also included: </a:t>
            </a:r>
            <a:r>
              <a:rPr lang="en-US" sz="1500" dirty="0">
                <a:solidFill>
                  <a:schemeClr val="tx1"/>
                </a:solidFill>
              </a:rPr>
              <a:t>the parish website, with the Mass schedule, announcements, bulletin, events, sacrament guides and a prayer wall</a:t>
            </a:r>
            <a:endParaRPr lang="en-US" sz="1500" dirty="0"/>
          </a:p>
        </p:txBody>
      </p:sp>
      <p:sp>
        <p:nvSpPr>
          <p:cNvPr id="31"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Families take part from their phones, in Bisaya</a:t>
            </a:r>
            <a:endParaRPr lang="en-US" sz="3200" dirty="0"/>
          </a:p>
        </p:txBody>
      </p:sp>
      <p:sp>
        <p:nvSpPr>
          <p:cNvPr id="3" name="Register at home circle"/>
          <p:cNvSpPr/>
          <p:nvPr/>
        </p:nvSpPr>
        <p:spPr>
          <a:xfrm>
            <a:off x="548640" y="1600200"/>
            <a:ext cx="566928" cy="566928"/>
          </a:xfrm>
          <a:prstGeom prst="ellipse">
            <a:avLst/>
          </a:prstGeom>
          <a:solidFill>
            <a:schemeClr val="accent1"/>
          </a:solidFill>
          <a:ln/>
        </p:spPr>
      </p:sp>
      <p:pic>
        <p:nvPicPr>
          <p:cNvPr id="4" name="Register at home icon" descr="preencoded.png"/>
          <p:cNvPicPr>
            <a:picLocks noChangeAspect="1"/>
          </p:cNvPicPr>
          <p:nvPr/>
        </p:nvPicPr>
        <p:blipFill>
          <a:blip r:embed="rId3"/>
          <a:stretch>
            <a:fillRect/>
          </a:stretch>
        </p:blipFill>
        <p:spPr>
          <a:xfrm>
            <a:off x="690372" y="1741932"/>
            <a:ext cx="283464" cy="283464"/>
          </a:xfrm>
          <a:prstGeom prst="rect">
            <a:avLst/>
          </a:prstGeom>
        </p:spPr>
      </p:pic>
      <p:sp>
        <p:nvSpPr>
          <p:cNvPr id="5" name="Text 2"/>
          <p:cNvSpPr txBox="1"/>
          <p:nvPr/>
        </p:nvSpPr>
        <p:spPr>
          <a:xfrm>
            <a:off x="1280160" y="1581912"/>
            <a:ext cx="3291840" cy="384048"/>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Register at home</a:t>
            </a:r>
            <a:endParaRPr lang="en-US" sz="1800" dirty="0"/>
          </a:p>
        </p:txBody>
      </p:sp>
      <p:sp>
        <p:nvSpPr>
          <p:cNvPr id="6" name="Text 3"/>
          <p:cNvSpPr txBox="1"/>
          <p:nvPr/>
        </p:nvSpPr>
        <p:spPr>
          <a:xfrm>
            <a:off x="1280160" y="1984248"/>
            <a:ext cx="3291840" cy="868680"/>
          </a:xfrm>
          <a:prstGeom prst="rect">
            <a:avLst/>
          </a:prstGeom>
          <a:noFill/>
          <a:ln/>
        </p:spPr>
        <p:txBody>
          <a:bodyPr wrap="square" lIns="0" tIns="0" rIns="0" bIns="0" rtlCol="0" anchor="t"/>
          <a:lstStyle/>
          <a:p>
            <a:pPr marL="0" indent="0">
              <a:buNone/>
            </a:pPr>
            <a:r>
              <a:rPr lang="en-US" sz="1500" dirty="0">
                <a:solidFill>
                  <a:schemeClr val="tx1"/>
                </a:solidFill>
              </a:rPr>
              <a:t>Five short steps. The family gets a reference number at once and can check its status.</a:t>
            </a:r>
            <a:endParaRPr lang="en-US" sz="1500" dirty="0"/>
          </a:p>
        </p:txBody>
      </p:sp>
      <p:sp>
        <p:nvSpPr>
          <p:cNvPr id="7" name="Update during the census circle"/>
          <p:cNvSpPr/>
          <p:nvPr/>
        </p:nvSpPr>
        <p:spPr>
          <a:xfrm>
            <a:off x="548640" y="2971800"/>
            <a:ext cx="566928" cy="566928"/>
          </a:xfrm>
          <a:prstGeom prst="ellipse">
            <a:avLst/>
          </a:prstGeom>
          <a:solidFill>
            <a:schemeClr val="accent1"/>
          </a:solidFill>
          <a:ln/>
        </p:spPr>
      </p:sp>
      <p:pic>
        <p:nvPicPr>
          <p:cNvPr id="8" name="Update during the census icon" descr="preencoded.png"/>
          <p:cNvPicPr>
            <a:picLocks noChangeAspect="1"/>
          </p:cNvPicPr>
          <p:nvPr/>
        </p:nvPicPr>
        <p:blipFill>
          <a:blip r:embed="rId4"/>
          <a:stretch>
            <a:fillRect/>
          </a:stretch>
        </p:blipFill>
        <p:spPr>
          <a:xfrm>
            <a:off x="690372" y="3113532"/>
            <a:ext cx="283464" cy="283464"/>
          </a:xfrm>
          <a:prstGeom prst="rect">
            <a:avLst/>
          </a:prstGeom>
        </p:spPr>
      </p:pic>
      <p:sp>
        <p:nvSpPr>
          <p:cNvPr id="9" name="Text 5"/>
          <p:cNvSpPr txBox="1"/>
          <p:nvPr/>
        </p:nvSpPr>
        <p:spPr>
          <a:xfrm>
            <a:off x="1280160" y="2953512"/>
            <a:ext cx="3291840" cy="384048"/>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Update during the census</a:t>
            </a:r>
            <a:endParaRPr lang="en-US" sz="1800" dirty="0"/>
          </a:p>
        </p:txBody>
      </p:sp>
      <p:sp>
        <p:nvSpPr>
          <p:cNvPr id="10" name="Text 6"/>
          <p:cNvSpPr txBox="1"/>
          <p:nvPr/>
        </p:nvSpPr>
        <p:spPr>
          <a:xfrm>
            <a:off x="1280160" y="3355848"/>
            <a:ext cx="3291840" cy="868680"/>
          </a:xfrm>
          <a:prstGeom prst="rect">
            <a:avLst/>
          </a:prstGeom>
          <a:noFill/>
          <a:ln/>
        </p:spPr>
        <p:txBody>
          <a:bodyPr wrap="square" lIns="0" tIns="0" rIns="0" bIns="0" rtlCol="0" anchor="t"/>
          <a:lstStyle/>
          <a:p>
            <a:pPr marL="0" indent="0">
              <a:buNone/>
            </a:pPr>
            <a:r>
              <a:rPr lang="en-US" sz="1500" dirty="0">
                <a:solidFill>
                  <a:schemeClr val="tx1"/>
                </a:solidFill>
              </a:rPr>
              <a:t>With the reference number and code on their census form. No trip to the office.</a:t>
            </a:r>
            <a:endParaRPr lang="en-US" sz="1500" dirty="0"/>
          </a:p>
        </p:txBody>
      </p:sp>
      <p:sp>
        <p:nvSpPr>
          <p:cNvPr id="11" name="Ask the parish circle"/>
          <p:cNvSpPr/>
          <p:nvPr/>
        </p:nvSpPr>
        <p:spPr>
          <a:xfrm>
            <a:off x="548640" y="4343400"/>
            <a:ext cx="566928" cy="566928"/>
          </a:xfrm>
          <a:prstGeom prst="ellipse">
            <a:avLst/>
          </a:prstGeom>
          <a:solidFill>
            <a:schemeClr val="accent1"/>
          </a:solidFill>
          <a:ln/>
        </p:spPr>
      </p:sp>
      <p:pic>
        <p:nvPicPr>
          <p:cNvPr id="12" name="Ask the parish icon" descr="preencoded.png"/>
          <p:cNvPicPr>
            <a:picLocks noChangeAspect="1"/>
          </p:cNvPicPr>
          <p:nvPr/>
        </p:nvPicPr>
        <p:blipFill>
          <a:blip r:embed="rId5"/>
          <a:stretch>
            <a:fillRect/>
          </a:stretch>
        </p:blipFill>
        <p:spPr>
          <a:xfrm>
            <a:off x="690372" y="4485132"/>
            <a:ext cx="283464" cy="283464"/>
          </a:xfrm>
          <a:prstGeom prst="rect">
            <a:avLst/>
          </a:prstGeom>
        </p:spPr>
      </p:pic>
      <p:sp>
        <p:nvSpPr>
          <p:cNvPr id="13" name="Text 8"/>
          <p:cNvSpPr txBox="1"/>
          <p:nvPr/>
        </p:nvSpPr>
        <p:spPr>
          <a:xfrm>
            <a:off x="1280160" y="4325112"/>
            <a:ext cx="3291840" cy="384048"/>
          </a:xfrm>
          <a:prstGeom prst="rect">
            <a:avLst/>
          </a:prstGeom>
          <a:noFill/>
          <a:ln/>
        </p:spPr>
        <p:txBody>
          <a:bodyPr wrap="square" lIns="0" tIns="0" rIns="0" bIns="0" rtlCol="0" anchor="t"/>
          <a:lstStyle/>
          <a:p>
            <a:pPr marL="0" indent="0">
              <a:buNone/>
            </a:pPr>
            <a:r>
              <a:rPr lang="en-US" sz="1800" b="1" dirty="0">
                <a:solidFill>
                  <a:schemeClr val="tx2"/>
                </a:solidFill>
                <a:latin typeface="+mj-lt" pitchFamily="34" charset="0"/>
                <a:ea typeface="+mj-lt" pitchFamily="34" charset="-122"/>
                <a:cs typeface="+mj-lt" pitchFamily="34" charset="-120"/>
              </a:rPr>
              <a:t>Ask the parish</a:t>
            </a:r>
            <a:endParaRPr lang="en-US" sz="1800" dirty="0"/>
          </a:p>
        </p:txBody>
      </p:sp>
      <p:sp>
        <p:nvSpPr>
          <p:cNvPr id="14" name="Text 9"/>
          <p:cNvSpPr txBox="1"/>
          <p:nvPr/>
        </p:nvSpPr>
        <p:spPr>
          <a:xfrm>
            <a:off x="1280160" y="4727448"/>
            <a:ext cx="3291840" cy="868680"/>
          </a:xfrm>
          <a:prstGeom prst="rect">
            <a:avLst/>
          </a:prstGeom>
          <a:noFill/>
          <a:ln/>
        </p:spPr>
        <p:txBody>
          <a:bodyPr wrap="square" lIns="0" tIns="0" rIns="0" bIns="0" rtlCol="0" anchor="t"/>
          <a:lstStyle/>
          <a:p>
            <a:pPr marL="0" indent="0">
              <a:buNone/>
            </a:pPr>
            <a:r>
              <a:rPr lang="en-US" sz="1500" dirty="0">
                <a:solidFill>
                  <a:schemeClr val="tx1"/>
                </a:solidFill>
              </a:rPr>
              <a:t>Certificates, the Anointing of the Sick, OCIA, blood donors and prayer requests.</a:t>
            </a:r>
            <a:endParaRPr lang="en-US" sz="1500" dirty="0"/>
          </a:p>
        </p:txBody>
      </p:sp>
      <p:sp>
        <p:nvSpPr>
          <p:cNvPr id="16" name="Text 10"/>
          <p:cNvSpPr txBox="1"/>
          <p:nvPr/>
        </p:nvSpPr>
        <p:spPr>
          <a:xfrm>
            <a:off x="4922406" y="5650992"/>
            <a:ext cx="2313368" cy="274320"/>
          </a:xfrm>
          <a:prstGeom prst="rect">
            <a:avLst/>
          </a:prstGeom>
          <a:noFill/>
          <a:ln/>
        </p:spPr>
        <p:txBody>
          <a:bodyPr wrap="square" lIns="0" tIns="0" rIns="0" bIns="0" rtlCol="0" anchor="t"/>
          <a:lstStyle/>
          <a:p>
            <a:pPr marL="0" indent="0" algn="ctr">
              <a:buNone/>
            </a:pPr>
            <a:r>
              <a:rPr lang="en-US" sz="1200" b="1" dirty="0">
                <a:solidFill>
                  <a:schemeClr val="tx2"/>
                </a:solidFill>
              </a:rPr>
              <a:t>Home page</a:t>
            </a:r>
            <a:endParaRPr lang="en-US" sz="1200" dirty="0"/>
          </a:p>
        </p:txBody>
      </p:sp>
      <p:sp>
        <p:nvSpPr>
          <p:cNvPr id="18" name="Text 11"/>
          <p:cNvSpPr txBox="1"/>
          <p:nvPr/>
        </p:nvSpPr>
        <p:spPr>
          <a:xfrm>
            <a:off x="7217486" y="5650992"/>
            <a:ext cx="2313368" cy="274320"/>
          </a:xfrm>
          <a:prstGeom prst="rect">
            <a:avLst/>
          </a:prstGeom>
          <a:noFill/>
          <a:ln/>
        </p:spPr>
        <p:txBody>
          <a:bodyPr wrap="square" lIns="0" tIns="0" rIns="0" bIns="0" rtlCol="0" anchor="t"/>
          <a:lstStyle/>
          <a:p>
            <a:pPr marL="0" indent="0" algn="ctr">
              <a:buNone/>
            </a:pPr>
            <a:r>
              <a:rPr lang="en-US" sz="1200" b="1" dirty="0">
                <a:solidFill>
                  <a:schemeClr val="tx2"/>
                </a:solidFill>
              </a:rPr>
              <a:t>Registration, step 1 of 5</a:t>
            </a:r>
            <a:endParaRPr lang="en-US" sz="1200" dirty="0"/>
          </a:p>
        </p:txBody>
      </p:sp>
      <p:sp>
        <p:nvSpPr>
          <p:cNvPr id="20" name="Text 12"/>
          <p:cNvSpPr txBox="1"/>
          <p:nvPr/>
        </p:nvSpPr>
        <p:spPr>
          <a:xfrm>
            <a:off x="9512567" y="5650992"/>
            <a:ext cx="2313368" cy="274320"/>
          </a:xfrm>
          <a:prstGeom prst="rect">
            <a:avLst/>
          </a:prstGeom>
          <a:noFill/>
          <a:ln/>
        </p:spPr>
        <p:txBody>
          <a:bodyPr wrap="square" lIns="0" tIns="0" rIns="0" bIns="0" rtlCol="0" anchor="t"/>
          <a:lstStyle/>
          <a:p>
            <a:pPr marL="0" indent="0" algn="ctr">
              <a:buNone/>
            </a:pPr>
            <a:r>
              <a:rPr lang="en-US" sz="1200" b="1" dirty="0">
                <a:solidFill>
                  <a:schemeClr val="tx2"/>
                </a:solidFill>
              </a:rPr>
              <a:t>Census update</a:t>
            </a:r>
            <a:endParaRPr lang="en-US" sz="1200" dirty="0"/>
          </a:p>
        </p:txBody>
      </p:sp>
      <p:sp>
        <p:nvSpPr>
          <p:cNvPr id="21" name="Text 13"/>
          <p:cNvSpPr txBox="1"/>
          <p:nvPr/>
        </p:nvSpPr>
        <p:spPr>
          <a:xfrm>
            <a:off x="5105286" y="5943600"/>
            <a:ext cx="6537769" cy="256032"/>
          </a:xfrm>
          <a:prstGeom prst="rect">
            <a:avLst/>
          </a:prstGeom>
          <a:noFill/>
          <a:ln/>
        </p:spPr>
        <p:txBody>
          <a:bodyPr wrap="square" lIns="0" tIns="0" rIns="0" bIns="0" rtlCol="0" anchor="t"/>
          <a:lstStyle/>
          <a:p>
            <a:pPr marL="0" indent="0" algn="ctr">
              <a:buNone/>
            </a:pPr>
            <a:r>
              <a:rPr lang="en-US" sz="1000" i="1" dirty="0">
                <a:solidFill>
                  <a:schemeClr val="accent5"/>
                </a:solidFill>
              </a:rPr>
              <a:t>Screens from the demo site, with sample data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3" name="Phone: Home page">
            <a:extLst>
              <a:ext uri="{FF2B5EF4-FFF2-40B4-BE49-F238E27FC236}">
                <a16:creationId xmlns:a16="http://schemas.microsoft.com/office/drawing/2014/main" id="{F3A44D37-4020-5D9E-1AE7-04A3DDC2F1B2}"/>
              </a:ext>
            </a:extLst>
          </p:cNvPr>
          <p:cNvPicPr>
            <a:picLocks/>
          </p:cNvPicPr>
          <p:nvPr/>
        </p:nvPicPr>
        <p:blipFill>
          <a:blip r:embed="rId6"/>
          <a:stretch>
            <a:fillRect/>
          </a:stretch>
        </p:blipFill>
        <p:spPr>
          <a:xfrm>
            <a:off x="5105286" y="1463040"/>
            <a:ext cx="1947608" cy="4114800"/>
          </a:xfrm>
          <a:prstGeom prst="rect">
            <a:avLst/>
          </a:prstGeom>
        </p:spPr>
      </p:pic>
      <p:pic>
        <p:nvPicPr>
          <p:cNvPr id="26" name="Phone: Registration, step 1 of 5">
            <a:extLst>
              <a:ext uri="{FF2B5EF4-FFF2-40B4-BE49-F238E27FC236}">
                <a16:creationId xmlns:a16="http://schemas.microsoft.com/office/drawing/2014/main" id="{E5FA8350-8D49-6AD3-96D4-05C2FECB10EE}"/>
              </a:ext>
            </a:extLst>
          </p:cNvPr>
          <p:cNvPicPr>
            <a:picLocks/>
          </p:cNvPicPr>
          <p:nvPr/>
        </p:nvPicPr>
        <p:blipFill>
          <a:blip r:embed="rId7"/>
          <a:stretch>
            <a:fillRect/>
          </a:stretch>
        </p:blipFill>
        <p:spPr>
          <a:xfrm>
            <a:off x="7400366" y="1463040"/>
            <a:ext cx="1947608" cy="4114800"/>
          </a:xfrm>
          <a:prstGeom prst="rect">
            <a:avLst/>
          </a:prstGeom>
        </p:spPr>
      </p:pic>
      <p:pic>
        <p:nvPicPr>
          <p:cNvPr id="28" name="Phone: Census update">
            <a:extLst>
              <a:ext uri="{FF2B5EF4-FFF2-40B4-BE49-F238E27FC236}">
                <a16:creationId xmlns:a16="http://schemas.microsoft.com/office/drawing/2014/main" id="{5A5CBBDB-1C99-313B-F03C-DB10AE52273A}"/>
              </a:ext>
            </a:extLst>
          </p:cNvPr>
          <p:cNvPicPr>
            <a:picLocks/>
          </p:cNvPicPr>
          <p:nvPr/>
        </p:nvPicPr>
        <p:blipFill>
          <a:blip r:embed="rId8"/>
          <a:stretch>
            <a:fillRect/>
          </a:stretch>
        </p:blipFill>
        <p:spPr>
          <a:xfrm>
            <a:off x="9695447" y="1463040"/>
            <a:ext cx="1947608" cy="4114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tx2"/>
                </a:solidFill>
                <a:latin typeface="+mj-lt" pitchFamily="34" charset="0"/>
                <a:ea typeface="+mj-lt" pitchFamily="34" charset="-122"/>
                <a:cs typeface="+mj-lt" pitchFamily="34" charset="-120"/>
              </a:rPr>
              <a:t>The census is done once, online first, and counted for us</a:t>
            </a:r>
            <a:endParaRPr lang="en-US" sz="3200" dirty="0"/>
          </a:p>
        </p:txBody>
      </p:sp>
      <p:sp>
        <p:nvSpPr>
          <p:cNvPr id="3" name="Step 1"/>
          <p:cNvSpPr/>
          <p:nvPr/>
        </p:nvSpPr>
        <p:spPr>
          <a:xfrm>
            <a:off x="548640" y="1463040"/>
            <a:ext cx="2587752" cy="2743200"/>
          </a:xfrm>
          <a:prstGeom prst="roundRect">
            <a:avLst>
              <a:gd name="adj" fmla="val 4240"/>
            </a:avLst>
          </a:prstGeom>
          <a:solidFill>
            <a:schemeClr val="bg2"/>
          </a:solidFill>
          <a:ln/>
        </p:spPr>
      </p:sp>
      <p:sp>
        <p:nvSpPr>
          <p:cNvPr id="4" name="Text 2"/>
          <p:cNvSpPr/>
          <p:nvPr/>
        </p:nvSpPr>
        <p:spPr>
          <a:xfrm>
            <a:off x="82296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5" name="Text 3"/>
          <p:cNvSpPr txBox="1"/>
          <p:nvPr/>
        </p:nvSpPr>
        <p:spPr>
          <a:xfrm>
            <a:off x="82296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Start the census</a:t>
            </a:r>
            <a:endParaRPr lang="en-US" sz="1700" dirty="0"/>
          </a:p>
        </p:txBody>
      </p:sp>
      <p:sp>
        <p:nvSpPr>
          <p:cNvPr id="6" name="Text 4"/>
          <p:cNvSpPr txBox="1"/>
          <p:nvPr/>
        </p:nvSpPr>
        <p:spPr>
          <a:xfrm>
            <a:off x="82296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The office opens it, for example "2026 Census", and sets the dates.</a:t>
            </a:r>
            <a:endParaRPr lang="en-US" sz="1400" dirty="0"/>
          </a:p>
        </p:txBody>
      </p:sp>
      <p:pic>
        <p:nvPicPr>
          <p:cNvPr id="7" name="Step arrow 1" descr="preencoded.png"/>
          <p:cNvPicPr>
            <a:picLocks noChangeAspect="1"/>
          </p:cNvPicPr>
          <p:nvPr/>
        </p:nvPicPr>
        <p:blipFill>
          <a:blip r:embed="rId3"/>
          <a:stretch>
            <a:fillRect/>
          </a:stretch>
        </p:blipFill>
        <p:spPr>
          <a:xfrm>
            <a:off x="3099816" y="1856232"/>
            <a:ext cx="320040" cy="274320"/>
          </a:xfrm>
          <a:prstGeom prst="rect">
            <a:avLst/>
          </a:prstGeom>
        </p:spPr>
      </p:pic>
      <p:sp>
        <p:nvSpPr>
          <p:cNvPr id="8" name="Step 2"/>
          <p:cNvSpPr/>
          <p:nvPr/>
        </p:nvSpPr>
        <p:spPr>
          <a:xfrm>
            <a:off x="3383280" y="1463040"/>
            <a:ext cx="2587752" cy="2743200"/>
          </a:xfrm>
          <a:prstGeom prst="roundRect">
            <a:avLst>
              <a:gd name="adj" fmla="val 4240"/>
            </a:avLst>
          </a:prstGeom>
          <a:solidFill>
            <a:schemeClr val="bg2"/>
          </a:solidFill>
          <a:ln/>
        </p:spPr>
      </p:sp>
      <p:sp>
        <p:nvSpPr>
          <p:cNvPr id="9" name="Text 6"/>
          <p:cNvSpPr/>
          <p:nvPr/>
        </p:nvSpPr>
        <p:spPr>
          <a:xfrm>
            <a:off x="365760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10" name="Text 7"/>
          <p:cNvSpPr txBox="1"/>
          <p:nvPr/>
        </p:nvSpPr>
        <p:spPr>
          <a:xfrm>
            <a:off x="365760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Families update online</a:t>
            </a:r>
            <a:endParaRPr lang="en-US" sz="1700" dirty="0"/>
          </a:p>
        </p:txBody>
      </p:sp>
      <p:sp>
        <p:nvSpPr>
          <p:cNvPr id="11" name="Text 8"/>
          <p:cNvSpPr txBox="1"/>
          <p:nvPr/>
        </p:nvSpPr>
        <p:spPr>
          <a:xfrm>
            <a:off x="365760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With the reference number and code on their form. GKK leaders help.</a:t>
            </a:r>
            <a:endParaRPr lang="en-US" sz="1400" dirty="0"/>
          </a:p>
        </p:txBody>
      </p:sp>
      <p:pic>
        <p:nvPicPr>
          <p:cNvPr id="12" name="Step arrow 2" descr="preencoded.png"/>
          <p:cNvPicPr>
            <a:picLocks noChangeAspect="1"/>
          </p:cNvPicPr>
          <p:nvPr/>
        </p:nvPicPr>
        <p:blipFill>
          <a:blip r:embed="rId3"/>
          <a:stretch>
            <a:fillRect/>
          </a:stretch>
        </p:blipFill>
        <p:spPr>
          <a:xfrm>
            <a:off x="5934456" y="1856232"/>
            <a:ext cx="320040" cy="274320"/>
          </a:xfrm>
          <a:prstGeom prst="rect">
            <a:avLst/>
          </a:prstGeom>
        </p:spPr>
      </p:pic>
      <p:sp>
        <p:nvSpPr>
          <p:cNvPr id="13" name="Step 3"/>
          <p:cNvSpPr/>
          <p:nvPr/>
        </p:nvSpPr>
        <p:spPr>
          <a:xfrm>
            <a:off x="6217920" y="1463040"/>
            <a:ext cx="2587752" cy="2743200"/>
          </a:xfrm>
          <a:prstGeom prst="roundRect">
            <a:avLst>
              <a:gd name="adj" fmla="val 4240"/>
            </a:avLst>
          </a:prstGeom>
          <a:solidFill>
            <a:schemeClr val="bg2"/>
          </a:solidFill>
          <a:ln/>
        </p:spPr>
      </p:sp>
      <p:sp>
        <p:nvSpPr>
          <p:cNvPr id="14" name="Text 10"/>
          <p:cNvSpPr/>
          <p:nvPr/>
        </p:nvSpPr>
        <p:spPr>
          <a:xfrm>
            <a:off x="649224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15" name="Text 11"/>
          <p:cNvSpPr txBox="1"/>
          <p:nvPr/>
        </p:nvSpPr>
        <p:spPr>
          <a:xfrm>
            <a:off x="649224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Paper as a last resort</a:t>
            </a:r>
            <a:endParaRPr lang="en-US" sz="1700" dirty="0"/>
          </a:p>
        </p:txBody>
      </p:sp>
      <p:sp>
        <p:nvSpPr>
          <p:cNvPr id="16" name="Text 12"/>
          <p:cNvSpPr txBox="1"/>
          <p:nvPr/>
        </p:nvSpPr>
        <p:spPr>
          <a:xfrm>
            <a:off x="649224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Pre-filled forms by GKK; staff type in the answers that come back.</a:t>
            </a:r>
            <a:endParaRPr lang="en-US" sz="1400" dirty="0"/>
          </a:p>
        </p:txBody>
      </p:sp>
      <p:pic>
        <p:nvPicPr>
          <p:cNvPr id="17" name="Step arrow 3" descr="preencoded.png"/>
          <p:cNvPicPr>
            <a:picLocks noChangeAspect="1"/>
          </p:cNvPicPr>
          <p:nvPr/>
        </p:nvPicPr>
        <p:blipFill>
          <a:blip r:embed="rId3"/>
          <a:stretch>
            <a:fillRect/>
          </a:stretch>
        </p:blipFill>
        <p:spPr>
          <a:xfrm>
            <a:off x="8769096" y="1856232"/>
            <a:ext cx="320040" cy="274320"/>
          </a:xfrm>
          <a:prstGeom prst="rect">
            <a:avLst/>
          </a:prstGeom>
        </p:spPr>
      </p:pic>
      <p:sp>
        <p:nvSpPr>
          <p:cNvPr id="18" name="Step 4"/>
          <p:cNvSpPr/>
          <p:nvPr/>
        </p:nvSpPr>
        <p:spPr>
          <a:xfrm>
            <a:off x="9052560" y="1463040"/>
            <a:ext cx="2587752" cy="2743200"/>
          </a:xfrm>
          <a:prstGeom prst="roundRect">
            <a:avLst>
              <a:gd name="adj" fmla="val 4240"/>
            </a:avLst>
          </a:prstGeom>
          <a:solidFill>
            <a:schemeClr val="bg2"/>
          </a:solidFill>
          <a:ln/>
        </p:spPr>
      </p:sp>
      <p:sp>
        <p:nvSpPr>
          <p:cNvPr id="19" name="Text 14"/>
          <p:cNvSpPr/>
          <p:nvPr/>
        </p:nvSpPr>
        <p:spPr>
          <a:xfrm>
            <a:off x="9326880" y="1691640"/>
            <a:ext cx="603504" cy="603504"/>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4</a:t>
            </a:r>
            <a:endParaRPr lang="en-US" sz="1800" dirty="0"/>
          </a:p>
        </p:txBody>
      </p:sp>
      <p:sp>
        <p:nvSpPr>
          <p:cNvPr id="20" name="Text 15"/>
          <p:cNvSpPr txBox="1"/>
          <p:nvPr/>
        </p:nvSpPr>
        <p:spPr>
          <a:xfrm>
            <a:off x="9326880" y="2468880"/>
            <a:ext cx="2130552" cy="685800"/>
          </a:xfrm>
          <a:prstGeom prst="rect">
            <a:avLst/>
          </a:prstGeom>
          <a:noFill/>
          <a:ln/>
        </p:spPr>
        <p:txBody>
          <a:bodyPr wrap="square" lIns="0" tIns="0" rIns="0" bIns="0" rtlCol="0" anchor="t"/>
          <a:lstStyle/>
          <a:p>
            <a:pPr marL="0" indent="0">
              <a:buNone/>
            </a:pPr>
            <a:r>
              <a:rPr lang="en-US" sz="1700" b="1" dirty="0">
                <a:solidFill>
                  <a:schemeClr val="tx2"/>
                </a:solidFill>
                <a:latin typeface="+mj-lt" pitchFamily="34" charset="0"/>
                <a:ea typeface="+mj-lt" pitchFamily="34" charset="-122"/>
                <a:cs typeface="+mj-lt" pitchFamily="34" charset="-120"/>
              </a:rPr>
              <a:t>Approve and count</a:t>
            </a:r>
            <a:endParaRPr lang="en-US" sz="1700" dirty="0"/>
          </a:p>
        </p:txBody>
      </p:sp>
      <p:sp>
        <p:nvSpPr>
          <p:cNvPr id="21" name="Text 16"/>
          <p:cNvSpPr txBox="1"/>
          <p:nvPr/>
        </p:nvSpPr>
        <p:spPr>
          <a:xfrm>
            <a:off x="9326880" y="3200400"/>
            <a:ext cx="2084832" cy="914400"/>
          </a:xfrm>
          <a:prstGeom prst="rect">
            <a:avLst/>
          </a:prstGeom>
          <a:noFill/>
          <a:ln/>
        </p:spPr>
        <p:txBody>
          <a:bodyPr wrap="square" lIns="0" tIns="0" rIns="0" bIns="0" rtlCol="0" anchor="t"/>
          <a:lstStyle/>
          <a:p>
            <a:pPr marL="0" indent="0">
              <a:buNone/>
            </a:pPr>
            <a:r>
              <a:rPr lang="en-US" sz="1400" dirty="0">
                <a:solidFill>
                  <a:schemeClr val="tx1"/>
                </a:solidFill>
              </a:rPr>
              <a:t>Staff approve each update; results by GKK, compared with the last census.</a:t>
            </a:r>
            <a:endParaRPr lang="en-US" sz="1400" dirty="0"/>
          </a:p>
        </p:txBody>
      </p:sp>
      <p:sp>
        <p:nvSpPr>
          <p:cNvPr id="22" name="Text 17"/>
          <p:cNvSpPr txBox="1"/>
          <p:nvPr/>
        </p:nvSpPr>
        <p:spPr>
          <a:xfrm>
            <a:off x="548640" y="4480560"/>
            <a:ext cx="3108960" cy="438912"/>
          </a:xfrm>
          <a:prstGeom prst="rect">
            <a:avLst/>
          </a:prstGeom>
          <a:noFill/>
          <a:ln/>
        </p:spPr>
        <p:txBody>
          <a:bodyPr wrap="square" lIns="0" tIns="0" rIns="0" bIns="0" rtlCol="0" anchor="ctr"/>
          <a:lstStyle/>
          <a:p>
            <a:pPr marL="0" indent="0">
              <a:buNone/>
            </a:pPr>
            <a:r>
              <a:rPr lang="en-US" sz="1600" b="1" dirty="0">
                <a:solidFill>
                  <a:schemeClr val="tx2"/>
                </a:solidFill>
              </a:rPr>
              <a:t>Every member gets a status</a:t>
            </a:r>
            <a:endParaRPr lang="en-US" sz="1600" dirty="0"/>
          </a:p>
        </p:txBody>
      </p:sp>
      <p:sp>
        <p:nvSpPr>
          <p:cNvPr id="23" name="Text 18"/>
          <p:cNvSpPr/>
          <p:nvPr/>
        </p:nvSpPr>
        <p:spPr>
          <a:xfrm>
            <a:off x="3566160" y="4480560"/>
            <a:ext cx="941832" cy="438912"/>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Active</a:t>
            </a:r>
            <a:endParaRPr lang="en-US" sz="1400" dirty="0"/>
          </a:p>
        </p:txBody>
      </p:sp>
      <p:sp>
        <p:nvSpPr>
          <p:cNvPr id="24" name="Text 19"/>
          <p:cNvSpPr/>
          <p:nvPr/>
        </p:nvSpPr>
        <p:spPr>
          <a:xfrm>
            <a:off x="4690872" y="4480560"/>
            <a:ext cx="1133856" cy="438912"/>
          </a:xfrm>
          <a:prstGeom prst="roundRect">
            <a:avLst>
              <a:gd name="adj" fmla="val 50000"/>
            </a:avLst>
          </a:prstGeom>
          <a:solidFill>
            <a:schemeClr val="accent2"/>
          </a:solidFill>
          <a:ln/>
        </p:spPr>
        <p:txBody>
          <a:bodyPr wrap="square" lIns="0" tIns="0" rIns="0" bIns="0" rtlCol="0" anchor="ctr"/>
          <a:lstStyle/>
          <a:p>
            <a:pPr marL="0" indent="0" algn="ctr">
              <a:buNone/>
            </a:pPr>
            <a:r>
              <a:rPr lang="en-US" sz="1400" b="1" dirty="0">
                <a:solidFill>
                  <a:schemeClr val="bg1"/>
                </a:solidFill>
              </a:rPr>
              <a:t>Inactive</a:t>
            </a:r>
            <a:endParaRPr lang="en-US" sz="1400" dirty="0"/>
          </a:p>
        </p:txBody>
      </p:sp>
      <p:sp>
        <p:nvSpPr>
          <p:cNvPr id="25" name="Text 20"/>
          <p:cNvSpPr/>
          <p:nvPr/>
        </p:nvSpPr>
        <p:spPr>
          <a:xfrm>
            <a:off x="6007608" y="4480560"/>
            <a:ext cx="1325880" cy="438912"/>
          </a:xfrm>
          <a:prstGeom prst="roundRect">
            <a:avLst>
              <a:gd name="adj" fmla="val 50000"/>
            </a:avLst>
          </a:prstGeom>
          <a:solidFill>
            <a:schemeClr val="accent6"/>
          </a:solidFill>
          <a:ln/>
        </p:spPr>
        <p:txBody>
          <a:bodyPr wrap="square" lIns="0" tIns="0" rIns="0" bIns="0" rtlCol="0" anchor="ctr"/>
          <a:lstStyle/>
          <a:p>
            <a:pPr marL="0" indent="0" algn="ctr">
              <a:buNone/>
            </a:pPr>
            <a:r>
              <a:rPr lang="en-US" sz="1400" b="1" dirty="0">
                <a:solidFill>
                  <a:schemeClr val="bg1"/>
                </a:solidFill>
              </a:rPr>
              <a:t>Moved away</a:t>
            </a:r>
            <a:endParaRPr lang="en-US" sz="1400" dirty="0"/>
          </a:p>
        </p:txBody>
      </p:sp>
      <p:sp>
        <p:nvSpPr>
          <p:cNvPr id="26" name="Text 21"/>
          <p:cNvSpPr/>
          <p:nvPr/>
        </p:nvSpPr>
        <p:spPr>
          <a:xfrm>
            <a:off x="7516368" y="4480560"/>
            <a:ext cx="1133856" cy="438912"/>
          </a:xfrm>
          <a:prstGeom prst="roundRect">
            <a:avLst>
              <a:gd name="adj" fmla="val 50000"/>
            </a:avLst>
          </a:prstGeom>
          <a:solidFill>
            <a:schemeClr val="accent5"/>
          </a:solidFill>
          <a:ln/>
        </p:spPr>
        <p:txBody>
          <a:bodyPr wrap="square" lIns="0" tIns="0" rIns="0" bIns="0" rtlCol="0" anchor="ctr"/>
          <a:lstStyle/>
          <a:p>
            <a:pPr marL="0" indent="0" algn="ctr">
              <a:buNone/>
            </a:pPr>
            <a:r>
              <a:rPr lang="en-US" sz="1400" b="1" dirty="0">
                <a:solidFill>
                  <a:schemeClr val="bg1"/>
                </a:solidFill>
              </a:rPr>
              <a:t>Deceased</a:t>
            </a:r>
            <a:endParaRPr lang="en-US" sz="1400" dirty="0"/>
          </a:p>
        </p:txBody>
      </p:sp>
      <p:sp>
        <p:nvSpPr>
          <p:cNvPr id="27" name="Text 22"/>
          <p:cNvSpPr/>
          <p:nvPr/>
        </p:nvSpPr>
        <p:spPr>
          <a:xfrm>
            <a:off x="8833104" y="4480560"/>
            <a:ext cx="1805940" cy="438912"/>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bg1"/>
                </a:solidFill>
              </a:rPr>
              <a:t>Left the Church</a:t>
            </a:r>
            <a:endParaRPr lang="en-US" sz="1400" dirty="0"/>
          </a:p>
        </p:txBody>
      </p:sp>
      <p:sp>
        <p:nvSpPr>
          <p:cNvPr id="28" name="Safeguards"/>
          <p:cNvSpPr/>
          <p:nvPr/>
        </p:nvSpPr>
        <p:spPr>
          <a:xfrm>
            <a:off x="548640" y="5212080"/>
            <a:ext cx="11094415" cy="822960"/>
          </a:xfrm>
          <a:prstGeom prst="roundRect">
            <a:avLst>
              <a:gd name="adj" fmla="val 13333"/>
            </a:avLst>
          </a:prstGeom>
          <a:solidFill>
            <a:schemeClr val="accent1">
              <a:alpha val="11000"/>
            </a:schemeClr>
          </a:solidFill>
          <a:ln/>
        </p:spPr>
      </p:sp>
      <p:sp>
        <p:nvSpPr>
          <p:cNvPr id="29" name="Safeguards circle"/>
          <p:cNvSpPr/>
          <p:nvPr/>
        </p:nvSpPr>
        <p:spPr>
          <a:xfrm>
            <a:off x="777240" y="5376672"/>
            <a:ext cx="493776" cy="493776"/>
          </a:xfrm>
          <a:prstGeom prst="ellipse">
            <a:avLst/>
          </a:prstGeom>
          <a:solidFill>
            <a:schemeClr val="accent1"/>
          </a:solidFill>
          <a:ln/>
        </p:spPr>
      </p:sp>
      <p:pic>
        <p:nvPicPr>
          <p:cNvPr id="30" name="Safeguards icon" descr="preencoded.png"/>
          <p:cNvPicPr>
            <a:picLocks noChangeAspect="1"/>
          </p:cNvPicPr>
          <p:nvPr/>
        </p:nvPicPr>
        <p:blipFill>
          <a:blip r:embed="rId4"/>
          <a:stretch>
            <a:fillRect/>
          </a:stretch>
        </p:blipFill>
        <p:spPr>
          <a:xfrm>
            <a:off x="900684" y="5500116"/>
            <a:ext cx="246888" cy="246888"/>
          </a:xfrm>
          <a:prstGeom prst="rect">
            <a:avLst/>
          </a:prstGeom>
        </p:spPr>
      </p:pic>
      <p:sp>
        <p:nvSpPr>
          <p:cNvPr id="31" name="Text 25"/>
          <p:cNvSpPr txBox="1"/>
          <p:nvPr/>
        </p:nvSpPr>
        <p:spPr>
          <a:xfrm>
            <a:off x="1463040" y="5212080"/>
            <a:ext cx="9951415" cy="822960"/>
          </a:xfrm>
          <a:prstGeom prst="rect">
            <a:avLst/>
          </a:prstGeom>
          <a:noFill/>
          <a:ln/>
        </p:spPr>
        <p:txBody>
          <a:bodyPr wrap="square" lIns="0" tIns="0" rIns="0" bIns="0" rtlCol="0" anchor="ctr"/>
          <a:lstStyle/>
          <a:p>
            <a:pPr marL="0" indent="0">
              <a:buNone/>
            </a:pPr>
            <a:r>
              <a:rPr lang="en-US" sz="1500" b="1" dirty="0">
                <a:solidFill>
                  <a:schemeClr val="tx2"/>
                </a:solidFill>
              </a:rPr>
              <a:t>Safeguards: </a:t>
            </a:r>
            <a:r>
              <a:rPr lang="en-US" sz="1500" dirty="0">
                <a:solidFill>
                  <a:schemeClr val="tx1"/>
                </a:solidFill>
              </a:rPr>
              <a:t>nothing changes until staff approve  ·  five wrong codes lock the sign-in for 15 minutes  ·  a lost form gets a new code</a:t>
            </a:r>
            <a:endParaRPr lang="en-US" sz="15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a:solidFill>
                  <a:schemeClr val="tx2"/>
                </a:solidFill>
                <a:latin typeface="+mj-lt" pitchFamily="34" charset="0"/>
                <a:ea typeface="+mj-lt" pitchFamily="34" charset="-122"/>
                <a:cs typeface="+mj-lt" pitchFamily="34" charset="-120"/>
              </a:rPr>
              <a:t>Safe, private, and free to run</a:t>
            </a:r>
            <a:endParaRPr lang="en-US" sz="3200" dirty="0"/>
          </a:p>
        </p:txBody>
      </p:sp>
      <p:sp>
        <p:nvSpPr>
          <p:cNvPr id="3" name="Cost panel"/>
          <p:cNvSpPr/>
          <p:nvPr/>
        </p:nvSpPr>
        <p:spPr>
          <a:xfrm>
            <a:off x="548640" y="1463040"/>
            <a:ext cx="4023360" cy="4572000"/>
          </a:xfrm>
          <a:prstGeom prst="roundRect">
            <a:avLst>
              <a:gd name="adj" fmla="val 2727"/>
            </a:avLst>
          </a:prstGeom>
          <a:solidFill>
            <a:schemeClr val="tx2"/>
          </a:solidFill>
          <a:ln/>
        </p:spPr>
      </p:sp>
      <p:sp>
        <p:nvSpPr>
          <p:cNvPr id="4" name="Text 2"/>
          <p:cNvSpPr txBox="1"/>
          <p:nvPr/>
        </p:nvSpPr>
        <p:spPr>
          <a:xfrm>
            <a:off x="868680" y="1783080"/>
            <a:ext cx="3383280" cy="1463040"/>
          </a:xfrm>
          <a:prstGeom prst="rect">
            <a:avLst/>
          </a:prstGeom>
          <a:noFill/>
          <a:ln/>
        </p:spPr>
        <p:txBody>
          <a:bodyPr wrap="square" lIns="0" tIns="0" rIns="0" bIns="0" rtlCol="0" anchor="ctr"/>
          <a:lstStyle/>
          <a:p>
            <a:pPr marL="0" indent="0">
              <a:buNone/>
            </a:pPr>
            <a:r>
              <a:rPr lang="en-US" sz="9600" b="1" dirty="0">
                <a:solidFill>
                  <a:schemeClr val="accent2"/>
                </a:solidFill>
                <a:latin typeface="+mj-lt" pitchFamily="34" charset="0"/>
                <a:ea typeface="+mj-lt" pitchFamily="34" charset="-122"/>
                <a:cs typeface="+mj-lt" pitchFamily="34" charset="-120"/>
              </a:rPr>
              <a:t>₱0</a:t>
            </a:r>
            <a:endParaRPr lang="en-US" sz="9600" dirty="0"/>
          </a:p>
        </p:txBody>
      </p:sp>
      <p:sp>
        <p:nvSpPr>
          <p:cNvPr id="5" name="Text 3"/>
          <p:cNvSpPr txBox="1"/>
          <p:nvPr/>
        </p:nvSpPr>
        <p:spPr>
          <a:xfrm>
            <a:off x="868680" y="3246120"/>
            <a:ext cx="3383280" cy="457200"/>
          </a:xfrm>
          <a:prstGeom prst="rect">
            <a:avLst/>
          </a:prstGeom>
          <a:noFill/>
          <a:ln/>
        </p:spPr>
        <p:txBody>
          <a:bodyPr wrap="square" lIns="0" tIns="0" rIns="0" bIns="0" rtlCol="0" anchor="t"/>
          <a:lstStyle/>
          <a:p>
            <a:pPr marL="0" indent="0">
              <a:buNone/>
            </a:pPr>
            <a:r>
              <a:rPr lang="en-US" sz="2200" b="1" dirty="0">
                <a:solidFill>
                  <a:schemeClr val="bg1"/>
                </a:solidFill>
              </a:rPr>
              <a:t>a month to run</a:t>
            </a:r>
            <a:endParaRPr lang="en-US" sz="2200" dirty="0"/>
          </a:p>
        </p:txBody>
      </p:sp>
      <p:sp>
        <p:nvSpPr>
          <p:cNvPr id="6" name="Text 4"/>
          <p:cNvSpPr txBox="1"/>
          <p:nvPr/>
        </p:nvSpPr>
        <p:spPr>
          <a:xfrm>
            <a:off x="868680" y="3840480"/>
            <a:ext cx="3429000" cy="1920240"/>
          </a:xfrm>
          <a:prstGeom prst="rect">
            <a:avLst/>
          </a:prstGeom>
          <a:noFill/>
          <a:ln/>
        </p:spPr>
        <p:txBody>
          <a:bodyPr wrap="square" lIns="0" tIns="0" rIns="0" bIns="0" rtlCol="0" anchor="t"/>
          <a:lstStyle/>
          <a:p>
            <a:pPr marL="0" indent="0">
              <a:buNone/>
            </a:pPr>
            <a:r>
              <a:rPr lang="en-US" sz="1500">
                <a:solidFill>
                  <a:schemeClr val="bg2"/>
                </a:solidFill>
              </a:rPr>
              <a:t>It runs on the free plans of well-known online services, with room for a few thousand households.</a:t>
            </a:r>
            <a:endParaRPr lang="en-US" sz="1500" dirty="0"/>
          </a:p>
        </p:txBody>
      </p:sp>
      <p:sp>
        <p:nvSpPr>
          <p:cNvPr id="7" name="Text 5"/>
          <p:cNvSpPr txBox="1"/>
          <p:nvPr/>
        </p:nvSpPr>
        <p:spPr>
          <a:xfrm>
            <a:off x="4983480" y="1463040"/>
            <a:ext cx="6659575" cy="411480"/>
          </a:xfrm>
          <a:prstGeom prst="rect">
            <a:avLst/>
          </a:prstGeom>
          <a:noFill/>
          <a:ln/>
        </p:spPr>
        <p:txBody>
          <a:bodyPr wrap="square" lIns="0" tIns="0" rIns="0" bIns="0" rtlCol="0" anchor="t"/>
          <a:lstStyle/>
          <a:p>
            <a:pPr marL="0" indent="0">
              <a:buNone/>
            </a:pPr>
            <a:r>
              <a:rPr lang="en-US" sz="1900" b="1">
                <a:solidFill>
                  <a:schemeClr val="tx2"/>
                </a:solidFill>
                <a:latin typeface="+mj-lt" pitchFamily="34" charset="0"/>
                <a:ea typeface="+mj-lt" pitchFamily="34" charset="-122"/>
                <a:cs typeface="+mj-lt" pitchFamily="34" charset="-120"/>
              </a:rPr>
              <a:t>Why the council can trust it</a:t>
            </a:r>
            <a:endParaRPr lang="en-US" sz="1900" dirty="0"/>
          </a:p>
        </p:txBody>
      </p:sp>
      <p:sp>
        <p:nvSpPr>
          <p:cNvPr id="8" name="Kept awake automatically circle"/>
          <p:cNvSpPr/>
          <p:nvPr/>
        </p:nvSpPr>
        <p:spPr>
          <a:xfrm>
            <a:off x="4983480" y="2057400"/>
            <a:ext cx="457200" cy="457200"/>
          </a:xfrm>
          <a:prstGeom prst="ellipse">
            <a:avLst/>
          </a:prstGeom>
          <a:solidFill>
            <a:schemeClr val="accent1"/>
          </a:solidFill>
          <a:ln/>
        </p:spPr>
      </p:sp>
      <p:sp>
        <p:nvSpPr>
          <p:cNvPr id="10" name="Text 7"/>
          <p:cNvSpPr txBox="1"/>
          <p:nvPr/>
        </p:nvSpPr>
        <p:spPr>
          <a:xfrm>
            <a:off x="5623560" y="2020824"/>
            <a:ext cx="6019495" cy="329184"/>
          </a:xfrm>
          <a:prstGeom prst="rect">
            <a:avLst/>
          </a:prstGeom>
          <a:noFill/>
          <a:ln/>
        </p:spPr>
        <p:txBody>
          <a:bodyPr wrap="square" lIns="0" tIns="0" rIns="0" bIns="0" rtlCol="0" anchor="t"/>
          <a:lstStyle/>
          <a:p>
            <a:pPr marL="0" indent="0">
              <a:buNone/>
            </a:pPr>
            <a:r>
              <a:rPr lang="en-US" sz="1600" b="1">
                <a:solidFill>
                  <a:schemeClr val="tx2"/>
                </a:solidFill>
              </a:rPr>
              <a:t>Private by design</a:t>
            </a:r>
            <a:endParaRPr lang="en-US" sz="1600" dirty="0"/>
          </a:p>
        </p:txBody>
      </p:sp>
      <p:sp>
        <p:nvSpPr>
          <p:cNvPr id="11" name="Text 8"/>
          <p:cNvSpPr txBox="1"/>
          <p:nvPr/>
        </p:nvSpPr>
        <p:spPr>
          <a:xfrm>
            <a:off x="5623560" y="2350008"/>
            <a:ext cx="6019495" cy="548640"/>
          </a:xfrm>
          <a:prstGeom prst="rect">
            <a:avLst/>
          </a:prstGeom>
          <a:noFill/>
          <a:ln/>
        </p:spPr>
        <p:txBody>
          <a:bodyPr wrap="square" lIns="0" tIns="0" rIns="0" bIns="0" rtlCol="0" anchor="t"/>
          <a:lstStyle/>
          <a:p>
            <a:pPr marL="0" indent="0">
              <a:buNone/>
            </a:pPr>
            <a:r>
              <a:rPr lang="en-US" sz="1400">
                <a:solidFill>
                  <a:schemeClr val="tx1"/>
                </a:solidFill>
              </a:rPr>
              <a:t>Each staff member sees only what their role allows. Nothing personal shows on the website.</a:t>
            </a:r>
            <a:endParaRPr lang="en-US" sz="1400" dirty="0"/>
          </a:p>
        </p:txBody>
      </p:sp>
      <p:sp>
        <p:nvSpPr>
          <p:cNvPr id="12" name="No paid support circle"/>
          <p:cNvSpPr/>
          <p:nvPr/>
        </p:nvSpPr>
        <p:spPr>
          <a:xfrm>
            <a:off x="4983480" y="2990088"/>
            <a:ext cx="457200" cy="457200"/>
          </a:xfrm>
          <a:prstGeom prst="ellipse">
            <a:avLst/>
          </a:prstGeom>
          <a:solidFill>
            <a:schemeClr val="accent1"/>
          </a:solidFill>
          <a:ln/>
        </p:spPr>
      </p:sp>
      <p:sp>
        <p:nvSpPr>
          <p:cNvPr id="14" name="Text 10"/>
          <p:cNvSpPr txBox="1"/>
          <p:nvPr/>
        </p:nvSpPr>
        <p:spPr>
          <a:xfrm>
            <a:off x="5623560" y="2953512"/>
            <a:ext cx="6019495" cy="329184"/>
          </a:xfrm>
          <a:prstGeom prst="rect">
            <a:avLst/>
          </a:prstGeom>
          <a:noFill/>
          <a:ln/>
        </p:spPr>
        <p:txBody>
          <a:bodyPr wrap="square" lIns="0" tIns="0" rIns="0" bIns="0" rtlCol="0" anchor="t"/>
          <a:lstStyle/>
          <a:p>
            <a:pPr marL="0" indent="0">
              <a:buNone/>
            </a:pPr>
            <a:r>
              <a:rPr lang="en-US" sz="1600" b="1">
                <a:solidFill>
                  <a:schemeClr val="tx2"/>
                </a:solidFill>
              </a:rPr>
              <a:t>Nothing is lost</a:t>
            </a:r>
            <a:endParaRPr lang="en-US" sz="1600" dirty="0"/>
          </a:p>
        </p:txBody>
      </p:sp>
      <p:sp>
        <p:nvSpPr>
          <p:cNvPr id="15" name="Text 11"/>
          <p:cNvSpPr txBox="1"/>
          <p:nvPr/>
        </p:nvSpPr>
        <p:spPr>
          <a:xfrm>
            <a:off x="5623560" y="3282696"/>
            <a:ext cx="6019495" cy="548640"/>
          </a:xfrm>
          <a:prstGeom prst="rect">
            <a:avLst/>
          </a:prstGeom>
          <a:noFill/>
          <a:ln/>
        </p:spPr>
        <p:txBody>
          <a:bodyPr wrap="square" lIns="0" tIns="0" rIns="0" bIns="0" rtlCol="0" anchor="t"/>
          <a:lstStyle/>
          <a:p>
            <a:pPr marL="0" indent="0">
              <a:buNone/>
            </a:pPr>
            <a:r>
              <a:rPr lang="en-US" sz="1400">
                <a:solidFill>
                  <a:schemeClr val="tx1"/>
                </a:solidFill>
              </a:rPr>
              <a:t>Every change is logged, deleted records come back for 30 days, and there is a weekly encrypted backup.</a:t>
            </a:r>
            <a:endParaRPr lang="en-US" sz="1400" dirty="0"/>
          </a:p>
        </p:txBody>
      </p:sp>
      <p:sp>
        <p:nvSpPr>
          <p:cNvPr id="16" name="If we ever outgrow it circle"/>
          <p:cNvSpPr/>
          <p:nvPr/>
        </p:nvSpPr>
        <p:spPr>
          <a:xfrm>
            <a:off x="4983480" y="3922776"/>
            <a:ext cx="457200" cy="457200"/>
          </a:xfrm>
          <a:prstGeom prst="ellipse">
            <a:avLst/>
          </a:prstGeom>
          <a:solidFill>
            <a:schemeClr val="accent1"/>
          </a:solidFill>
          <a:ln/>
        </p:spPr>
      </p:sp>
      <p:sp>
        <p:nvSpPr>
          <p:cNvPr id="18" name="Text 13"/>
          <p:cNvSpPr txBox="1"/>
          <p:nvPr/>
        </p:nvSpPr>
        <p:spPr>
          <a:xfrm>
            <a:off x="5623560" y="3886200"/>
            <a:ext cx="6019495" cy="329184"/>
          </a:xfrm>
          <a:prstGeom prst="rect">
            <a:avLst/>
          </a:prstGeom>
          <a:noFill/>
          <a:ln/>
        </p:spPr>
        <p:txBody>
          <a:bodyPr wrap="square" lIns="0" tIns="0" rIns="0" bIns="0" rtlCol="0" anchor="t"/>
          <a:lstStyle/>
          <a:p>
            <a:pPr marL="0" indent="0">
              <a:buNone/>
            </a:pPr>
            <a:r>
              <a:rPr lang="en-US" sz="1600" b="1">
                <a:solidFill>
                  <a:schemeClr val="tx2"/>
                </a:solidFill>
              </a:rPr>
              <a:t>Owned by the parish</a:t>
            </a:r>
            <a:endParaRPr lang="en-US" sz="1600" dirty="0"/>
          </a:p>
        </p:txBody>
      </p:sp>
      <p:sp>
        <p:nvSpPr>
          <p:cNvPr id="19" name="Text 14"/>
          <p:cNvSpPr txBox="1"/>
          <p:nvPr/>
        </p:nvSpPr>
        <p:spPr>
          <a:xfrm>
            <a:off x="5623560" y="4215384"/>
            <a:ext cx="6019495" cy="548640"/>
          </a:xfrm>
          <a:prstGeom prst="rect">
            <a:avLst/>
          </a:prstGeom>
          <a:noFill/>
          <a:ln/>
        </p:spPr>
        <p:txBody>
          <a:bodyPr wrap="square" lIns="0" tIns="0" rIns="0" bIns="0" rtlCol="0" anchor="t"/>
          <a:lstStyle/>
          <a:p>
            <a:pPr marL="0" indent="0">
              <a:buNone/>
            </a:pPr>
            <a:r>
              <a:rPr lang="en-US" sz="1400">
                <a:solidFill>
                  <a:schemeClr val="tx1"/>
                </a:solidFill>
              </a:rPr>
              <a:t>Every account is opened under the parish’s own Gmail, so the data stays with the parish.</a:t>
            </a:r>
            <a:endParaRPr lang="en-US" sz="1400" dirty="0"/>
          </a:p>
        </p:txBody>
      </p:sp>
      <p:sp>
        <p:nvSpPr>
          <p:cNvPr id="20" name="Domain option"/>
          <p:cNvSpPr/>
          <p:nvPr/>
        </p:nvSpPr>
        <p:spPr>
          <a:xfrm>
            <a:off x="4983480" y="4983480"/>
            <a:ext cx="6659575" cy="1051560"/>
          </a:xfrm>
          <a:prstGeom prst="roundRect">
            <a:avLst>
              <a:gd name="adj" fmla="val 10435"/>
            </a:avLst>
          </a:prstGeom>
          <a:solidFill>
            <a:schemeClr val="accent2">
              <a:alpha val="18000"/>
            </a:schemeClr>
          </a:solidFill>
          <a:ln/>
        </p:spPr>
      </p:sp>
      <p:sp>
        <p:nvSpPr>
          <p:cNvPr id="21" name="Domain circle"/>
          <p:cNvSpPr/>
          <p:nvPr/>
        </p:nvSpPr>
        <p:spPr>
          <a:xfrm>
            <a:off x="5212080" y="5248656"/>
            <a:ext cx="512064" cy="512064"/>
          </a:xfrm>
          <a:prstGeom prst="ellipse">
            <a:avLst/>
          </a:prstGeom>
          <a:solidFill>
            <a:schemeClr val="accent2"/>
          </a:solidFill>
          <a:ln/>
        </p:spPr>
      </p:sp>
      <p:sp>
        <p:nvSpPr>
          <p:cNvPr id="23" name="Text 17"/>
          <p:cNvSpPr txBox="1"/>
          <p:nvPr/>
        </p:nvSpPr>
        <p:spPr>
          <a:xfrm>
            <a:off x="5897880" y="4983480"/>
            <a:ext cx="5562295" cy="1051560"/>
          </a:xfrm>
          <a:prstGeom prst="rect">
            <a:avLst/>
          </a:prstGeom>
          <a:noFill/>
          <a:ln/>
        </p:spPr>
        <p:txBody>
          <a:bodyPr wrap="square" lIns="0" tIns="0" rIns="0" bIns="0" rtlCol="0" anchor="ctr"/>
          <a:lstStyle/>
          <a:p>
            <a:pPr marL="0" indent="0">
              <a:buNone/>
            </a:pPr>
            <a:r>
              <a:rPr lang="en-US" sz="1500" b="1">
                <a:solidFill>
                  <a:schemeClr val="tx2"/>
                </a:solidFill>
              </a:rPr>
              <a:t>Free for any parish to copy and use</a:t>
            </a:r>
            <a:endParaRPr lang="en-US" sz="1500" dirty="0"/>
          </a:p>
          <a:p>
            <a:pPr marL="0" indent="0">
              <a:buNone/>
            </a:pPr>
            <a:r>
              <a:rPr lang="en-US" sz="1500">
                <a:solidFill>
                  <a:schemeClr val="tx1"/>
                </a:solidFill>
              </a:rPr>
              <a:t>The one condition: keep the “Built For Free by DaveenDev” credit in the app. Setup help is available for a fee.</a:t>
            </a:r>
            <a:endParaRPr lang="en-US" sz="15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6" name="Kept awake automatically icon">
            <a:extLst>
              <a:ext uri="{FF2B5EF4-FFF2-40B4-BE49-F238E27FC236}">
                <a16:creationId xmlns:a16="http://schemas.microsoft.com/office/drawing/2014/main" id="{FD79B4C4-3831-425A-E55B-DBCC3B857275}"/>
              </a:ext>
            </a:extLst>
          </p:cNvPr>
          <p:cNvPicPr>
            <a:picLocks/>
          </p:cNvPicPr>
          <p:nvPr/>
        </p:nvPicPr>
        <p:blipFill>
          <a:blip r:embed="rId3"/>
          <a:stretch>
            <a:fillRect/>
          </a:stretch>
        </p:blipFill>
        <p:spPr>
          <a:xfrm>
            <a:off x="5097780" y="2171700"/>
            <a:ext cx="228600" cy="228600"/>
          </a:xfrm>
          <a:prstGeom prst="rect">
            <a:avLst/>
          </a:prstGeom>
        </p:spPr>
      </p:pic>
      <p:pic>
        <p:nvPicPr>
          <p:cNvPr id="28" name="No paid support icon">
            <a:extLst>
              <a:ext uri="{FF2B5EF4-FFF2-40B4-BE49-F238E27FC236}">
                <a16:creationId xmlns:a16="http://schemas.microsoft.com/office/drawing/2014/main" id="{82F65096-3D53-88A2-EFB0-AEC4542801DE}"/>
              </a:ext>
            </a:extLst>
          </p:cNvPr>
          <p:cNvPicPr>
            <a:picLocks/>
          </p:cNvPicPr>
          <p:nvPr/>
        </p:nvPicPr>
        <p:blipFill>
          <a:blip r:embed="rId4"/>
          <a:stretch>
            <a:fillRect/>
          </a:stretch>
        </p:blipFill>
        <p:spPr>
          <a:xfrm>
            <a:off x="5097780" y="3104388"/>
            <a:ext cx="228600" cy="228600"/>
          </a:xfrm>
          <a:prstGeom prst="rect">
            <a:avLst/>
          </a:prstGeom>
        </p:spPr>
      </p:pic>
      <p:pic>
        <p:nvPicPr>
          <p:cNvPr id="30" name="If we ever outgrow it icon">
            <a:extLst>
              <a:ext uri="{FF2B5EF4-FFF2-40B4-BE49-F238E27FC236}">
                <a16:creationId xmlns:a16="http://schemas.microsoft.com/office/drawing/2014/main" id="{4D5A8689-168A-6C0A-6D43-F3C7D76B46B1}"/>
              </a:ext>
            </a:extLst>
          </p:cNvPr>
          <p:cNvPicPr>
            <a:picLocks/>
          </p:cNvPicPr>
          <p:nvPr/>
        </p:nvPicPr>
        <p:blipFill>
          <a:blip r:embed="rId5"/>
          <a:stretch>
            <a:fillRect/>
          </a:stretch>
        </p:blipFill>
        <p:spPr>
          <a:xfrm>
            <a:off x="5097780" y="4037076"/>
            <a:ext cx="228600" cy="228600"/>
          </a:xfrm>
          <a:prstGeom prst="rect">
            <a:avLst/>
          </a:prstGeom>
        </p:spPr>
      </p:pic>
      <p:pic>
        <p:nvPicPr>
          <p:cNvPr id="32" name="Domain icon">
            <a:extLst>
              <a:ext uri="{FF2B5EF4-FFF2-40B4-BE49-F238E27FC236}">
                <a16:creationId xmlns:a16="http://schemas.microsoft.com/office/drawing/2014/main" id="{4CBA49B3-23C2-A059-0CBC-4DA7D369A3A0}"/>
              </a:ext>
            </a:extLst>
          </p:cNvPr>
          <p:cNvPicPr>
            <a:picLocks/>
          </p:cNvPicPr>
          <p:nvPr/>
        </p:nvPicPr>
        <p:blipFill>
          <a:blip r:embed="rId6"/>
          <a:stretch>
            <a:fillRect/>
          </a:stretch>
        </p:blipFill>
        <p:spPr>
          <a:xfrm>
            <a:off x="5340096" y="5376672"/>
            <a:ext cx="256032" cy="2560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a:solidFill>
                  <a:schemeClr val="tx2"/>
                </a:solidFill>
                <a:latin typeface="+mj-lt" pitchFamily="34" charset="0"/>
                <a:ea typeface="+mj-lt" pitchFamily="34" charset="-122"/>
                <a:cs typeface="+mj-lt" pitchFamily="34" charset="-120"/>
              </a:rPr>
              <a:t>It is ready today, and you can try it now</a:t>
            </a:r>
            <a:endParaRPr lang="en-US" sz="3200" dirty="0"/>
          </a:p>
        </p:txBody>
      </p:sp>
      <p:sp>
        <p:nvSpPr>
          <p:cNvPr id="3" name="Text 1"/>
          <p:cNvSpPr txBox="1"/>
          <p:nvPr/>
        </p:nvSpPr>
        <p:spPr>
          <a:xfrm>
            <a:off x="548640" y="1463040"/>
            <a:ext cx="5486400" cy="365760"/>
          </a:xfrm>
          <a:prstGeom prst="rect">
            <a:avLst/>
          </a:prstGeom>
          <a:noFill/>
          <a:ln/>
        </p:spPr>
        <p:txBody>
          <a:bodyPr wrap="square" lIns="0" tIns="0" rIns="0" bIns="0" rtlCol="0" anchor="t"/>
          <a:lstStyle/>
          <a:p>
            <a:pPr marL="0" indent="0">
              <a:buNone/>
            </a:pPr>
            <a:r>
              <a:rPr lang="en-US" sz="1700" b="1">
                <a:solidFill>
                  <a:schemeClr val="accent1"/>
                </a:solidFill>
              </a:rPr>
              <a:t>What the parish gets</a:t>
            </a:r>
            <a:endParaRPr lang="en-US" sz="1700" dirty="0"/>
          </a:p>
        </p:txBody>
      </p:sp>
      <p:sp>
        <p:nvSpPr>
          <p:cNvPr id="4" name="Shape 2"/>
          <p:cNvSpPr/>
          <p:nvPr/>
        </p:nvSpPr>
        <p:spPr>
          <a:xfrm>
            <a:off x="548640" y="2020824"/>
            <a:ext cx="384048" cy="384048"/>
          </a:xfrm>
          <a:prstGeom prst="ellipse">
            <a:avLst/>
          </a:prstGeom>
          <a:solidFill>
            <a:schemeClr val="accent1">
              <a:alpha val="15000"/>
            </a:schemeClr>
          </a:solidFill>
          <a:ln/>
        </p:spPr>
      </p:sp>
      <p:pic>
        <p:nvPicPr>
          <p:cNvPr id="5" name="Image 0" descr="preencoded.png"/>
          <p:cNvPicPr>
            <a:picLocks noChangeAspect="1"/>
          </p:cNvPicPr>
          <p:nvPr/>
        </p:nvPicPr>
        <p:blipFill>
          <a:blip r:embed="rId3"/>
          <a:stretch>
            <a:fillRect/>
          </a:stretch>
        </p:blipFill>
        <p:spPr>
          <a:xfrm>
            <a:off x="640080" y="2112264"/>
            <a:ext cx="201168" cy="201168"/>
          </a:xfrm>
          <a:prstGeom prst="rect">
            <a:avLst/>
          </a:prstGeom>
        </p:spPr>
      </p:pic>
      <p:sp>
        <p:nvSpPr>
          <p:cNvPr id="6" name="Text 3"/>
          <p:cNvSpPr txBox="1"/>
          <p:nvPr/>
        </p:nvSpPr>
        <p:spPr>
          <a:xfrm>
            <a:off x="1097280" y="1965960"/>
            <a:ext cx="5120640" cy="502920"/>
          </a:xfrm>
          <a:prstGeom prst="rect">
            <a:avLst/>
          </a:prstGeom>
          <a:noFill/>
          <a:ln/>
        </p:spPr>
        <p:txBody>
          <a:bodyPr wrap="square" lIns="0" tIns="0" rIns="0" bIns="0" rtlCol="0" anchor="ctr"/>
          <a:lstStyle/>
          <a:p>
            <a:pPr marL="0" indent="0">
              <a:buNone/>
            </a:pPr>
            <a:r>
              <a:rPr lang="en-US" sz="1500" dirty="0">
                <a:solidFill>
                  <a:schemeClr val="tx1"/>
                </a:solidFill>
              </a:rPr>
              <a:t>Online family registration in five steps, in Bisaya</a:t>
            </a:r>
            <a:endParaRPr lang="en-US" sz="1500" dirty="0"/>
          </a:p>
        </p:txBody>
      </p:sp>
      <p:sp>
        <p:nvSpPr>
          <p:cNvPr id="7" name="Shape 4"/>
          <p:cNvSpPr/>
          <p:nvPr/>
        </p:nvSpPr>
        <p:spPr>
          <a:xfrm>
            <a:off x="548640" y="2679192"/>
            <a:ext cx="384048" cy="384048"/>
          </a:xfrm>
          <a:prstGeom prst="ellipse">
            <a:avLst/>
          </a:prstGeom>
          <a:solidFill>
            <a:schemeClr val="accent1">
              <a:alpha val="15000"/>
            </a:schemeClr>
          </a:solidFill>
          <a:ln/>
        </p:spPr>
      </p:sp>
      <p:pic>
        <p:nvPicPr>
          <p:cNvPr id="8" name="Image 1" descr="preencoded.png"/>
          <p:cNvPicPr>
            <a:picLocks noChangeAspect="1"/>
          </p:cNvPicPr>
          <p:nvPr/>
        </p:nvPicPr>
        <p:blipFill>
          <a:blip r:embed="rId3"/>
          <a:stretch>
            <a:fillRect/>
          </a:stretch>
        </p:blipFill>
        <p:spPr>
          <a:xfrm>
            <a:off x="640080" y="2770632"/>
            <a:ext cx="201168" cy="201168"/>
          </a:xfrm>
          <a:prstGeom prst="rect">
            <a:avLst/>
          </a:prstGeom>
        </p:spPr>
      </p:pic>
      <p:sp>
        <p:nvSpPr>
          <p:cNvPr id="9" name="Text 5"/>
          <p:cNvSpPr txBox="1"/>
          <p:nvPr/>
        </p:nvSpPr>
        <p:spPr>
          <a:xfrm>
            <a:off x="1097280" y="2624328"/>
            <a:ext cx="5120640" cy="502920"/>
          </a:xfrm>
          <a:prstGeom prst="rect">
            <a:avLst/>
          </a:prstGeom>
          <a:noFill/>
          <a:ln/>
        </p:spPr>
        <p:txBody>
          <a:bodyPr wrap="square" lIns="0" tIns="0" rIns="0" bIns="0" rtlCol="0" anchor="ctr"/>
          <a:lstStyle/>
          <a:p>
            <a:pPr marL="0" indent="0">
              <a:buNone/>
            </a:pPr>
            <a:r>
              <a:rPr lang="en-US" sz="1500" dirty="0">
                <a:solidFill>
                  <a:schemeClr val="tx1"/>
                </a:solidFill>
              </a:rPr>
              <a:t>The census, with online updates and results by GKK</a:t>
            </a:r>
            <a:endParaRPr lang="en-US" sz="1500" dirty="0"/>
          </a:p>
        </p:txBody>
      </p:sp>
      <p:sp>
        <p:nvSpPr>
          <p:cNvPr id="10" name="Shape 6"/>
          <p:cNvSpPr/>
          <p:nvPr/>
        </p:nvSpPr>
        <p:spPr>
          <a:xfrm>
            <a:off x="548640" y="3337560"/>
            <a:ext cx="384048" cy="384048"/>
          </a:xfrm>
          <a:prstGeom prst="ellipse">
            <a:avLst/>
          </a:prstGeom>
          <a:solidFill>
            <a:schemeClr val="accent1">
              <a:alpha val="15000"/>
            </a:schemeClr>
          </a:solidFill>
          <a:ln/>
        </p:spPr>
      </p:sp>
      <p:pic>
        <p:nvPicPr>
          <p:cNvPr id="11" name="Image 2" descr="preencoded.png"/>
          <p:cNvPicPr>
            <a:picLocks noChangeAspect="1"/>
          </p:cNvPicPr>
          <p:nvPr/>
        </p:nvPicPr>
        <p:blipFill>
          <a:blip r:embed="rId3"/>
          <a:stretch>
            <a:fillRect/>
          </a:stretch>
        </p:blipFill>
        <p:spPr>
          <a:xfrm>
            <a:off x="640080" y="3429000"/>
            <a:ext cx="201168" cy="201168"/>
          </a:xfrm>
          <a:prstGeom prst="rect">
            <a:avLst/>
          </a:prstGeom>
        </p:spPr>
      </p:pic>
      <p:sp>
        <p:nvSpPr>
          <p:cNvPr id="12" name="Text 7"/>
          <p:cNvSpPr txBox="1"/>
          <p:nvPr/>
        </p:nvSpPr>
        <p:spPr>
          <a:xfrm>
            <a:off x="1097280" y="3282696"/>
            <a:ext cx="5120640" cy="502920"/>
          </a:xfrm>
          <a:prstGeom prst="rect">
            <a:avLst/>
          </a:prstGeom>
          <a:noFill/>
          <a:ln/>
        </p:spPr>
        <p:txBody>
          <a:bodyPr wrap="square" lIns="0" tIns="0" rIns="0" bIns="0" rtlCol="0" anchor="ctr"/>
          <a:lstStyle/>
          <a:p>
            <a:pPr marL="0" indent="0">
              <a:buNone/>
            </a:pPr>
            <a:r>
              <a:rPr lang="en-US" sz="1500" dirty="0">
                <a:solidFill>
                  <a:schemeClr val="tx1"/>
                </a:solidFill>
              </a:rPr>
              <a:t>Parish website: Masses, announcements, bulletin, events, sacrament guides</a:t>
            </a:r>
            <a:endParaRPr lang="en-US" sz="1500" dirty="0"/>
          </a:p>
        </p:txBody>
      </p:sp>
      <p:sp>
        <p:nvSpPr>
          <p:cNvPr id="13" name="Shape 8"/>
          <p:cNvSpPr/>
          <p:nvPr/>
        </p:nvSpPr>
        <p:spPr>
          <a:xfrm>
            <a:off x="548640" y="3995928"/>
            <a:ext cx="384048" cy="384048"/>
          </a:xfrm>
          <a:prstGeom prst="ellipse">
            <a:avLst/>
          </a:prstGeom>
          <a:solidFill>
            <a:schemeClr val="accent1">
              <a:alpha val="15000"/>
            </a:schemeClr>
          </a:solidFill>
          <a:ln/>
        </p:spPr>
      </p:sp>
      <p:pic>
        <p:nvPicPr>
          <p:cNvPr id="14" name="Image 3" descr="preencoded.png"/>
          <p:cNvPicPr>
            <a:picLocks noChangeAspect="1"/>
          </p:cNvPicPr>
          <p:nvPr/>
        </p:nvPicPr>
        <p:blipFill>
          <a:blip r:embed="rId3"/>
          <a:stretch>
            <a:fillRect/>
          </a:stretch>
        </p:blipFill>
        <p:spPr>
          <a:xfrm>
            <a:off x="640080" y="4087368"/>
            <a:ext cx="201168" cy="201168"/>
          </a:xfrm>
          <a:prstGeom prst="rect">
            <a:avLst/>
          </a:prstGeom>
        </p:spPr>
      </p:pic>
      <p:sp>
        <p:nvSpPr>
          <p:cNvPr id="15" name="Text 9"/>
          <p:cNvSpPr txBox="1"/>
          <p:nvPr/>
        </p:nvSpPr>
        <p:spPr>
          <a:xfrm>
            <a:off x="1097280" y="3941064"/>
            <a:ext cx="5120640" cy="502920"/>
          </a:xfrm>
          <a:prstGeom prst="rect">
            <a:avLst/>
          </a:prstGeom>
          <a:noFill/>
          <a:ln/>
        </p:spPr>
        <p:txBody>
          <a:bodyPr wrap="square" lIns="0" tIns="0" rIns="0" bIns="0" rtlCol="0" anchor="ctr"/>
          <a:lstStyle/>
          <a:p>
            <a:pPr marL="0" indent="0">
              <a:buNone/>
            </a:pPr>
            <a:r>
              <a:rPr lang="en-US" sz="1500" dirty="0">
                <a:solidFill>
                  <a:schemeClr val="tx1"/>
                </a:solidFill>
              </a:rPr>
              <a:t>Requests: certificates, sacraments, prayers and blood donors</a:t>
            </a:r>
            <a:endParaRPr lang="en-US" sz="1500" dirty="0"/>
          </a:p>
        </p:txBody>
      </p:sp>
      <p:sp>
        <p:nvSpPr>
          <p:cNvPr id="16" name="Shape 10"/>
          <p:cNvSpPr/>
          <p:nvPr/>
        </p:nvSpPr>
        <p:spPr>
          <a:xfrm>
            <a:off x="548640" y="4654296"/>
            <a:ext cx="384048" cy="384048"/>
          </a:xfrm>
          <a:prstGeom prst="ellipse">
            <a:avLst/>
          </a:prstGeom>
          <a:solidFill>
            <a:schemeClr val="accent1">
              <a:alpha val="15000"/>
            </a:schemeClr>
          </a:solidFill>
          <a:ln/>
        </p:spPr>
      </p:sp>
      <p:pic>
        <p:nvPicPr>
          <p:cNvPr id="17" name="Image 4" descr="preencoded.png"/>
          <p:cNvPicPr>
            <a:picLocks noChangeAspect="1"/>
          </p:cNvPicPr>
          <p:nvPr/>
        </p:nvPicPr>
        <p:blipFill>
          <a:blip r:embed="rId3"/>
          <a:stretch>
            <a:fillRect/>
          </a:stretch>
        </p:blipFill>
        <p:spPr>
          <a:xfrm>
            <a:off x="640080" y="4745736"/>
            <a:ext cx="201168" cy="201168"/>
          </a:xfrm>
          <a:prstGeom prst="rect">
            <a:avLst/>
          </a:prstGeom>
        </p:spPr>
      </p:pic>
      <p:sp>
        <p:nvSpPr>
          <p:cNvPr id="18" name="Text 11"/>
          <p:cNvSpPr txBox="1"/>
          <p:nvPr/>
        </p:nvSpPr>
        <p:spPr>
          <a:xfrm>
            <a:off x="1097280" y="4599432"/>
            <a:ext cx="5120640" cy="502920"/>
          </a:xfrm>
          <a:prstGeom prst="rect">
            <a:avLst/>
          </a:prstGeom>
          <a:noFill/>
          <a:ln/>
        </p:spPr>
        <p:txBody>
          <a:bodyPr wrap="square" lIns="0" tIns="0" rIns="0" bIns="0" rtlCol="0" anchor="ctr"/>
          <a:lstStyle/>
          <a:p>
            <a:pPr marL="0" indent="0">
              <a:buNone/>
            </a:pPr>
            <a:r>
              <a:rPr lang="en-US" sz="1500" dirty="0">
                <a:solidFill>
                  <a:schemeClr val="tx1"/>
                </a:solidFill>
              </a:rPr>
              <a:t>Reports for the council and spreadsheet exports for the diocese</a:t>
            </a:r>
            <a:endParaRPr lang="en-US" sz="1500" dirty="0"/>
          </a:p>
        </p:txBody>
      </p:sp>
      <p:sp>
        <p:nvSpPr>
          <p:cNvPr id="19" name="Shape 12"/>
          <p:cNvSpPr/>
          <p:nvPr/>
        </p:nvSpPr>
        <p:spPr>
          <a:xfrm>
            <a:off x="548640" y="5312664"/>
            <a:ext cx="384048" cy="384048"/>
          </a:xfrm>
          <a:prstGeom prst="ellipse">
            <a:avLst/>
          </a:prstGeom>
          <a:solidFill>
            <a:schemeClr val="accent1">
              <a:alpha val="15000"/>
            </a:schemeClr>
          </a:solidFill>
          <a:ln/>
        </p:spPr>
      </p:sp>
      <p:pic>
        <p:nvPicPr>
          <p:cNvPr id="20" name="Image 5" descr="preencoded.png"/>
          <p:cNvPicPr>
            <a:picLocks noChangeAspect="1"/>
          </p:cNvPicPr>
          <p:nvPr/>
        </p:nvPicPr>
        <p:blipFill>
          <a:blip r:embed="rId3"/>
          <a:stretch>
            <a:fillRect/>
          </a:stretch>
        </p:blipFill>
        <p:spPr>
          <a:xfrm>
            <a:off x="640080" y="5404104"/>
            <a:ext cx="201168" cy="201168"/>
          </a:xfrm>
          <a:prstGeom prst="rect">
            <a:avLst/>
          </a:prstGeom>
        </p:spPr>
      </p:pic>
      <p:sp>
        <p:nvSpPr>
          <p:cNvPr id="21" name="Text 13"/>
          <p:cNvSpPr txBox="1"/>
          <p:nvPr/>
        </p:nvSpPr>
        <p:spPr>
          <a:xfrm>
            <a:off x="1097280" y="5257800"/>
            <a:ext cx="5120640" cy="502920"/>
          </a:xfrm>
          <a:prstGeom prst="rect">
            <a:avLst/>
          </a:prstGeom>
          <a:noFill/>
          <a:ln/>
        </p:spPr>
        <p:txBody>
          <a:bodyPr wrap="square" lIns="0" tIns="0" rIns="0" bIns="0" rtlCol="0" anchor="ctr"/>
          <a:lstStyle/>
          <a:p>
            <a:pPr marL="0" indent="0">
              <a:buNone/>
            </a:pPr>
            <a:r>
              <a:rPr lang="en-US" sz="1500" dirty="0">
                <a:solidFill>
                  <a:schemeClr val="tx1"/>
                </a:solidFill>
              </a:rPr>
              <a:t>Staff accounts, each with its own access level</a:t>
            </a:r>
            <a:endParaRPr lang="en-US" sz="1500" dirty="0"/>
          </a:p>
        </p:txBody>
      </p:sp>
      <p:sp>
        <p:nvSpPr>
          <p:cNvPr id="22" name="Our live site"/>
          <p:cNvSpPr/>
          <p:nvPr/>
        </p:nvSpPr>
        <p:spPr>
          <a:xfrm>
            <a:off x="6705295" y="1463040"/>
            <a:ext cx="2331720" cy="4023360"/>
          </a:xfrm>
          <a:prstGeom prst="roundRect">
            <a:avLst>
              <a:gd name="adj" fmla="val 4706"/>
            </a:avLst>
          </a:prstGeom>
          <a:solidFill>
            <a:schemeClr val="bg2"/>
          </a:solidFill>
          <a:ln/>
        </p:spPr>
      </p:sp>
      <p:sp>
        <p:nvSpPr>
          <p:cNvPr id="24" name="Text 15"/>
          <p:cNvSpPr txBox="1"/>
          <p:nvPr/>
        </p:nvSpPr>
        <p:spPr>
          <a:xfrm>
            <a:off x="6888175" y="3703320"/>
            <a:ext cx="1965960" cy="365760"/>
          </a:xfrm>
          <a:prstGeom prst="rect">
            <a:avLst/>
          </a:prstGeom>
          <a:noFill/>
          <a:ln/>
        </p:spPr>
        <p:txBody>
          <a:bodyPr wrap="square" lIns="0" tIns="0" rIns="0" bIns="0" rtlCol="0" anchor="t"/>
          <a:lstStyle/>
          <a:p>
            <a:pPr marL="0" indent="0" algn="ctr">
              <a:buNone/>
            </a:pPr>
            <a:r>
              <a:rPr lang="en-US" sz="1700" b="1">
                <a:solidFill>
                  <a:schemeClr val="tx2"/>
                </a:solidFill>
                <a:latin typeface="+mj-lt" pitchFamily="34" charset="0"/>
                <a:ea typeface="+mj-lt" pitchFamily="34" charset="-122"/>
                <a:cs typeface="+mj-lt" pitchFamily="34" charset="-120"/>
              </a:rPr>
              <a:t>The website</a:t>
            </a:r>
            <a:endParaRPr lang="en-US" sz="1700" dirty="0"/>
          </a:p>
        </p:txBody>
      </p:sp>
      <p:sp>
        <p:nvSpPr>
          <p:cNvPr id="25" name="Text 16"/>
          <p:cNvSpPr txBox="1"/>
          <p:nvPr/>
        </p:nvSpPr>
        <p:spPr>
          <a:xfrm>
            <a:off x="6796735" y="4096512"/>
            <a:ext cx="2148840" cy="320040"/>
          </a:xfrm>
          <a:prstGeom prst="rect">
            <a:avLst/>
          </a:prstGeom>
          <a:noFill/>
          <a:ln/>
        </p:spPr>
        <p:txBody>
          <a:bodyPr wrap="square" lIns="0" tIns="0" rIns="0" bIns="0" rtlCol="0" anchor="t"/>
          <a:lstStyle/>
          <a:p>
            <a:pPr marL="0" indent="0" algn="ctr">
              <a:buNone/>
            </a:pPr>
            <a:r>
              <a:rPr lang="en-US" sz="1200" b="1">
                <a:solidFill>
                  <a:schemeClr val="accent1"/>
                </a:solidFill>
              </a:rPr>
              <a:t>parish-registry-demo.vercel.app</a:t>
            </a:r>
            <a:endParaRPr lang="en-US" sz="1200" dirty="0"/>
          </a:p>
        </p:txBody>
      </p:sp>
      <p:sp>
        <p:nvSpPr>
          <p:cNvPr id="26" name="Text 17"/>
          <p:cNvSpPr txBox="1"/>
          <p:nvPr/>
        </p:nvSpPr>
        <p:spPr>
          <a:xfrm>
            <a:off x="6933895" y="4480560"/>
            <a:ext cx="1874520" cy="868680"/>
          </a:xfrm>
          <a:prstGeom prst="rect">
            <a:avLst/>
          </a:prstGeom>
          <a:noFill/>
          <a:ln/>
        </p:spPr>
        <p:txBody>
          <a:bodyPr wrap="square" lIns="0" tIns="0" rIns="0" bIns="0" rtlCol="0" anchor="t"/>
          <a:lstStyle/>
          <a:p>
            <a:pPr marL="0" indent="0" algn="ctr">
              <a:buNone/>
            </a:pPr>
            <a:r>
              <a:rPr lang="en-US" sz="1200">
                <a:solidFill>
                  <a:schemeClr val="accent5"/>
                </a:solidFill>
              </a:rPr>
              <a:t>What families see. Try registering a family.</a:t>
            </a:r>
            <a:endParaRPr lang="en-US" sz="1200" dirty="0"/>
          </a:p>
        </p:txBody>
      </p:sp>
      <p:sp>
        <p:nvSpPr>
          <p:cNvPr id="27" name="Try the demo"/>
          <p:cNvSpPr/>
          <p:nvPr/>
        </p:nvSpPr>
        <p:spPr>
          <a:xfrm>
            <a:off x="9311335" y="1463040"/>
            <a:ext cx="2331720" cy="4023360"/>
          </a:xfrm>
          <a:prstGeom prst="roundRect">
            <a:avLst>
              <a:gd name="adj" fmla="val 4706"/>
            </a:avLst>
          </a:prstGeom>
          <a:solidFill>
            <a:schemeClr val="bg2"/>
          </a:solidFill>
          <a:ln/>
        </p:spPr>
      </p:sp>
      <p:sp>
        <p:nvSpPr>
          <p:cNvPr id="29" name="Text 19"/>
          <p:cNvSpPr txBox="1"/>
          <p:nvPr/>
        </p:nvSpPr>
        <p:spPr>
          <a:xfrm>
            <a:off x="9494215" y="3703320"/>
            <a:ext cx="1965960" cy="365760"/>
          </a:xfrm>
          <a:prstGeom prst="rect">
            <a:avLst/>
          </a:prstGeom>
          <a:noFill/>
          <a:ln/>
        </p:spPr>
        <p:txBody>
          <a:bodyPr wrap="square" lIns="0" tIns="0" rIns="0" bIns="0" rtlCol="0" anchor="t"/>
          <a:lstStyle/>
          <a:p>
            <a:pPr marL="0" indent="0" algn="ctr">
              <a:buNone/>
            </a:pPr>
            <a:r>
              <a:rPr lang="en-US" sz="1700" b="1">
                <a:solidFill>
                  <a:schemeClr val="tx2"/>
                </a:solidFill>
                <a:latin typeface="+mj-lt" pitchFamily="34" charset="0"/>
                <a:ea typeface="+mj-lt" pitchFamily="34" charset="-122"/>
                <a:cs typeface="+mj-lt" pitchFamily="34" charset="-120"/>
              </a:rPr>
              <a:t>The staff side</a:t>
            </a:r>
            <a:endParaRPr lang="en-US" sz="1700" dirty="0"/>
          </a:p>
        </p:txBody>
      </p:sp>
      <p:sp>
        <p:nvSpPr>
          <p:cNvPr id="30" name="Text 20"/>
          <p:cNvSpPr txBox="1"/>
          <p:nvPr/>
        </p:nvSpPr>
        <p:spPr>
          <a:xfrm>
            <a:off x="9402775" y="4096512"/>
            <a:ext cx="2148840" cy="320040"/>
          </a:xfrm>
          <a:prstGeom prst="rect">
            <a:avLst/>
          </a:prstGeom>
          <a:noFill/>
          <a:ln/>
        </p:spPr>
        <p:txBody>
          <a:bodyPr wrap="square" lIns="0" tIns="0" rIns="0" bIns="0" rtlCol="0" anchor="t"/>
          <a:lstStyle/>
          <a:p>
            <a:pPr marL="0" indent="0" algn="ctr">
              <a:buNone/>
            </a:pPr>
            <a:r>
              <a:rPr lang="en-US" sz="1200" b="1" dirty="0">
                <a:solidFill>
                  <a:schemeClr val="accent1"/>
                </a:solidFill>
              </a:rPr>
              <a:t>parish-registry-demo.vercel.app</a:t>
            </a:r>
            <a:endParaRPr lang="en-US" sz="1200" dirty="0"/>
          </a:p>
        </p:txBody>
      </p:sp>
      <p:sp>
        <p:nvSpPr>
          <p:cNvPr id="31" name="Text 21"/>
          <p:cNvSpPr txBox="1"/>
          <p:nvPr/>
        </p:nvSpPr>
        <p:spPr>
          <a:xfrm>
            <a:off x="9539935" y="4480560"/>
            <a:ext cx="1874520" cy="868680"/>
          </a:xfrm>
          <a:prstGeom prst="rect">
            <a:avLst/>
          </a:prstGeom>
          <a:noFill/>
          <a:ln/>
        </p:spPr>
        <p:txBody>
          <a:bodyPr wrap="square" lIns="0" tIns="0" rIns="0" bIns="0" rtlCol="0" anchor="t"/>
          <a:lstStyle/>
          <a:p>
            <a:pPr marL="0" indent="0" algn="ctr">
              <a:buNone/>
            </a:pPr>
            <a:r>
              <a:rPr lang="en-US" sz="1200">
                <a:solidFill>
                  <a:schemeClr val="accent5"/>
                </a:solidFill>
              </a:rPr>
              <a:t>Add /admin, then press “Login to Demo Site”.</a:t>
            </a:r>
            <a:endParaRPr lang="en-US" sz="12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34" name="QR code: Our live site">
            <a:extLst>
              <a:ext uri="{FF2B5EF4-FFF2-40B4-BE49-F238E27FC236}">
                <a16:creationId xmlns:a16="http://schemas.microsoft.com/office/drawing/2014/main" id="{CF23F273-953C-1116-7A0E-5CA9DF3174AF}"/>
              </a:ext>
            </a:extLst>
          </p:cNvPr>
          <p:cNvPicPr>
            <a:picLocks/>
          </p:cNvPicPr>
          <p:nvPr/>
        </p:nvPicPr>
        <p:blipFill>
          <a:blip r:embed="rId4"/>
          <a:stretch>
            <a:fillRect/>
          </a:stretch>
        </p:blipFill>
        <p:spPr>
          <a:xfrm>
            <a:off x="6979615" y="1737360"/>
            <a:ext cx="1783080" cy="1783080"/>
          </a:xfrm>
          <a:prstGeom prst="rect">
            <a:avLst/>
          </a:prstGeom>
        </p:spPr>
      </p:pic>
      <p:pic>
        <p:nvPicPr>
          <p:cNvPr id="36" name="QR code: Try the demo">
            <a:extLst>
              <a:ext uri="{FF2B5EF4-FFF2-40B4-BE49-F238E27FC236}">
                <a16:creationId xmlns:a16="http://schemas.microsoft.com/office/drawing/2014/main" id="{C25F66AD-17F5-38E0-EFCF-7B3190E80A9B}"/>
              </a:ext>
            </a:extLst>
          </p:cNvPr>
          <p:cNvPicPr>
            <a:picLocks/>
          </p:cNvPicPr>
          <p:nvPr/>
        </p:nvPicPr>
        <p:blipFill>
          <a:blip r:embed="rId5"/>
          <a:stretch>
            <a:fillRect/>
          </a:stretch>
        </p:blipFill>
        <p:spPr>
          <a:xfrm>
            <a:off x="9585655" y="1737360"/>
            <a:ext cx="1783080" cy="17830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84048"/>
            <a:ext cx="11091672" cy="822960"/>
          </a:xfrm>
          <a:prstGeom prst="rect">
            <a:avLst/>
          </a:prstGeom>
          <a:noFill/>
          <a:ln/>
        </p:spPr>
        <p:txBody>
          <a:bodyPr wrap="square" lIns="0" tIns="0" rIns="0" bIns="0" rtlCol="0" anchor="ctr"/>
          <a:lstStyle/>
          <a:p>
            <a:pPr marL="0" indent="0" algn="l">
              <a:buNone/>
            </a:pPr>
            <a:r>
              <a:rPr lang="en-US" sz="3200" b="1" dirty="0">
                <a:solidFill>
                  <a:schemeClr val="bg1"/>
                </a:solidFill>
                <a:latin typeface="+mj-lt" pitchFamily="34" charset="0"/>
                <a:ea typeface="+mj-lt" pitchFamily="34" charset="-122"/>
                <a:cs typeface="+mj-lt" pitchFamily="34" charset="-120"/>
              </a:rPr>
              <a:t>What we ask of the council</a:t>
            </a:r>
            <a:endParaRPr lang="en-US" sz="3200" dirty="0"/>
          </a:p>
        </p:txBody>
      </p:sp>
      <p:sp>
        <p:nvSpPr>
          <p:cNvPr id="3" name="Ask 1"/>
          <p:cNvSpPr/>
          <p:nvPr/>
        </p:nvSpPr>
        <p:spPr>
          <a:xfrm>
            <a:off x="548640" y="1463040"/>
            <a:ext cx="5394960" cy="1920240"/>
          </a:xfrm>
          <a:prstGeom prst="roundRect">
            <a:avLst>
              <a:gd name="adj" fmla="val 5714"/>
            </a:avLst>
          </a:prstGeom>
          <a:solidFill>
            <a:schemeClr val="bg1">
              <a:alpha val="9000"/>
            </a:schemeClr>
          </a:solidFill>
          <a:ln/>
        </p:spPr>
      </p:sp>
      <p:sp>
        <p:nvSpPr>
          <p:cNvPr id="4" name="Text 2"/>
          <p:cNvSpPr/>
          <p:nvPr/>
        </p:nvSpPr>
        <p:spPr>
          <a:xfrm>
            <a:off x="868680" y="178308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1</a:t>
            </a:r>
            <a:endParaRPr lang="en-US" sz="1800" dirty="0"/>
          </a:p>
        </p:txBody>
      </p:sp>
      <p:sp>
        <p:nvSpPr>
          <p:cNvPr id="5" name="Text 3"/>
          <p:cNvSpPr txBox="1"/>
          <p:nvPr/>
        </p:nvSpPr>
        <p:spPr>
          <a:xfrm>
            <a:off x="1783080" y="1783080"/>
            <a:ext cx="3886200" cy="457200"/>
          </a:xfrm>
          <a:prstGeom prst="rect">
            <a:avLst/>
          </a:prstGeom>
          <a:noFill/>
          <a:ln/>
        </p:spPr>
        <p:txBody>
          <a:bodyPr wrap="square" lIns="0" tIns="0" rIns="0" bIns="0" rtlCol="0" anchor="ctr"/>
          <a:lstStyle/>
          <a:p>
            <a:pPr marL="0" indent="0">
              <a:buNone/>
            </a:pPr>
            <a:r>
              <a:rPr lang="en-US" sz="2100" b="1">
                <a:solidFill>
                  <a:schemeClr val="bg1"/>
                </a:solidFill>
                <a:latin typeface="+mj-lt" pitchFamily="34" charset="0"/>
                <a:ea typeface="+mj-lt" pitchFamily="34" charset="-122"/>
                <a:cs typeface="+mj-lt" pitchFamily="34" charset="-120"/>
              </a:rPr>
              <a:t>Agree to adopt it</a:t>
            </a:r>
            <a:endParaRPr lang="en-US" sz="2100" dirty="0"/>
          </a:p>
        </p:txBody>
      </p:sp>
      <p:sp>
        <p:nvSpPr>
          <p:cNvPr id="6" name="Text 4"/>
          <p:cNvSpPr txBox="1"/>
          <p:nvPr/>
        </p:nvSpPr>
        <p:spPr>
          <a:xfrm>
            <a:off x="1783080" y="2331720"/>
            <a:ext cx="3886200" cy="914400"/>
          </a:xfrm>
          <a:prstGeom prst="rect">
            <a:avLst/>
          </a:prstGeom>
          <a:noFill/>
          <a:ln/>
        </p:spPr>
        <p:txBody>
          <a:bodyPr wrap="square" lIns="0" tIns="0" rIns="0" bIns="0" rtlCol="0" anchor="t"/>
          <a:lstStyle/>
          <a:p>
            <a:pPr marL="0" indent="0">
              <a:buNone/>
            </a:pPr>
            <a:r>
              <a:rPr lang="en-US" sz="1600">
                <a:solidFill>
                  <a:schemeClr val="bg2"/>
                </a:solidFill>
              </a:rPr>
              <a:t>As our parish’s record of families and our census tool.</a:t>
            </a:r>
            <a:endParaRPr lang="en-US" sz="1600" dirty="0"/>
          </a:p>
        </p:txBody>
      </p:sp>
      <p:sp>
        <p:nvSpPr>
          <p:cNvPr id="7" name="Ask 2"/>
          <p:cNvSpPr/>
          <p:nvPr/>
        </p:nvSpPr>
        <p:spPr>
          <a:xfrm>
            <a:off x="6245352" y="1463040"/>
            <a:ext cx="5394960" cy="1920240"/>
          </a:xfrm>
          <a:prstGeom prst="roundRect">
            <a:avLst>
              <a:gd name="adj" fmla="val 5714"/>
            </a:avLst>
          </a:prstGeom>
          <a:solidFill>
            <a:schemeClr val="bg1">
              <a:alpha val="9000"/>
            </a:schemeClr>
          </a:solidFill>
          <a:ln/>
        </p:spPr>
      </p:sp>
      <p:sp>
        <p:nvSpPr>
          <p:cNvPr id="8" name="Text 6"/>
          <p:cNvSpPr/>
          <p:nvPr/>
        </p:nvSpPr>
        <p:spPr>
          <a:xfrm>
            <a:off x="6565392" y="178308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2</a:t>
            </a:r>
            <a:endParaRPr lang="en-US" sz="1800" dirty="0"/>
          </a:p>
        </p:txBody>
      </p:sp>
      <p:sp>
        <p:nvSpPr>
          <p:cNvPr id="9" name="Text 7"/>
          <p:cNvSpPr txBox="1"/>
          <p:nvPr/>
        </p:nvSpPr>
        <p:spPr>
          <a:xfrm>
            <a:off x="7479792" y="1783080"/>
            <a:ext cx="3886200" cy="457200"/>
          </a:xfrm>
          <a:prstGeom prst="rect">
            <a:avLst/>
          </a:prstGeom>
          <a:noFill/>
          <a:ln/>
        </p:spPr>
        <p:txBody>
          <a:bodyPr wrap="square" lIns="0" tIns="0" rIns="0" bIns="0" rtlCol="0" anchor="ctr"/>
          <a:lstStyle/>
          <a:p>
            <a:pPr marL="0" indent="0">
              <a:buNone/>
            </a:pPr>
            <a:r>
              <a:rPr lang="en-US" sz="2100" b="1">
                <a:solidFill>
                  <a:schemeClr val="bg1"/>
                </a:solidFill>
                <a:latin typeface="+mj-lt" pitchFamily="34" charset="0"/>
                <a:ea typeface="+mj-lt" pitchFamily="34" charset="-122"/>
                <a:cs typeface="+mj-lt" pitchFamily="34" charset="-120"/>
              </a:rPr>
              <a:t>Choose who sets it up</a:t>
            </a:r>
            <a:endParaRPr lang="en-US" sz="2100" dirty="0"/>
          </a:p>
        </p:txBody>
      </p:sp>
      <p:sp>
        <p:nvSpPr>
          <p:cNvPr id="10" name="Text 8"/>
          <p:cNvSpPr txBox="1"/>
          <p:nvPr/>
        </p:nvSpPr>
        <p:spPr>
          <a:xfrm>
            <a:off x="7479792" y="2331720"/>
            <a:ext cx="3886200" cy="914400"/>
          </a:xfrm>
          <a:prstGeom prst="rect">
            <a:avLst/>
          </a:prstGeom>
          <a:noFill/>
          <a:ln/>
        </p:spPr>
        <p:txBody>
          <a:bodyPr wrap="square" lIns="0" tIns="0" rIns="0" bIns="0" rtlCol="0" anchor="t"/>
          <a:lstStyle/>
          <a:p>
            <a:pPr marL="0" indent="0">
              <a:buNone/>
            </a:pPr>
            <a:r>
              <a:rPr lang="en-US" sz="1600">
                <a:solidFill>
                  <a:schemeClr val="bg2"/>
                </a:solidFill>
              </a:rPr>
              <a:t>A parishioner who follows the free setup guide, or paid setup help.</a:t>
            </a:r>
            <a:endParaRPr lang="en-US" sz="1600" dirty="0"/>
          </a:p>
        </p:txBody>
      </p:sp>
      <p:sp>
        <p:nvSpPr>
          <p:cNvPr id="11" name="Ask 3"/>
          <p:cNvSpPr/>
          <p:nvPr/>
        </p:nvSpPr>
        <p:spPr>
          <a:xfrm>
            <a:off x="548640" y="3657600"/>
            <a:ext cx="5394960" cy="1920240"/>
          </a:xfrm>
          <a:prstGeom prst="roundRect">
            <a:avLst>
              <a:gd name="adj" fmla="val 5714"/>
            </a:avLst>
          </a:prstGeom>
          <a:solidFill>
            <a:schemeClr val="bg1">
              <a:alpha val="9000"/>
            </a:schemeClr>
          </a:solidFill>
          <a:ln/>
        </p:spPr>
      </p:sp>
      <p:sp>
        <p:nvSpPr>
          <p:cNvPr id="12" name="Text 10"/>
          <p:cNvSpPr/>
          <p:nvPr/>
        </p:nvSpPr>
        <p:spPr>
          <a:xfrm>
            <a:off x="868680" y="397764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3</a:t>
            </a:r>
            <a:endParaRPr lang="en-US" sz="1800" dirty="0"/>
          </a:p>
        </p:txBody>
      </p:sp>
      <p:sp>
        <p:nvSpPr>
          <p:cNvPr id="13" name="Text 11"/>
          <p:cNvSpPr txBox="1"/>
          <p:nvPr/>
        </p:nvSpPr>
        <p:spPr>
          <a:xfrm>
            <a:off x="1783080" y="3977640"/>
            <a:ext cx="3886200" cy="457200"/>
          </a:xfrm>
          <a:prstGeom prst="rect">
            <a:avLst/>
          </a:prstGeom>
          <a:noFill/>
          <a:ln/>
        </p:spPr>
        <p:txBody>
          <a:bodyPr wrap="square" lIns="0" tIns="0" rIns="0" bIns="0" rtlCol="0" anchor="ctr"/>
          <a:lstStyle/>
          <a:p>
            <a:pPr marL="0" indent="0">
              <a:buNone/>
            </a:pPr>
            <a:r>
              <a:rPr lang="en-US" sz="2100" b="1" dirty="0">
                <a:solidFill>
                  <a:schemeClr val="bg1"/>
                </a:solidFill>
                <a:latin typeface="+mj-lt" pitchFamily="34" charset="0"/>
                <a:ea typeface="+mj-lt" pitchFamily="34" charset="-122"/>
                <a:cs typeface="+mj-lt" pitchFamily="34" charset="-120"/>
              </a:rPr>
              <a:t>Name two data stewards</a:t>
            </a:r>
            <a:endParaRPr lang="en-US" sz="2100" dirty="0"/>
          </a:p>
        </p:txBody>
      </p:sp>
      <p:sp>
        <p:nvSpPr>
          <p:cNvPr id="14" name="Text 12"/>
          <p:cNvSpPr txBox="1"/>
          <p:nvPr/>
        </p:nvSpPr>
        <p:spPr>
          <a:xfrm>
            <a:off x="1783080" y="4526280"/>
            <a:ext cx="3886200" cy="914400"/>
          </a:xfrm>
          <a:prstGeom prst="rect">
            <a:avLst/>
          </a:prstGeom>
          <a:noFill/>
          <a:ln/>
        </p:spPr>
        <p:txBody>
          <a:bodyPr wrap="square" lIns="0" tIns="0" rIns="0" bIns="0" rtlCol="0" anchor="t"/>
          <a:lstStyle/>
          <a:p>
            <a:pPr marL="0" indent="0">
              <a:buNone/>
            </a:pPr>
            <a:r>
              <a:rPr lang="en-US" sz="1600" dirty="0">
                <a:solidFill>
                  <a:schemeClr val="bg2"/>
                </a:solidFill>
              </a:rPr>
              <a:t>Two trusted people who hold the parish logins with the office and look after privacy.</a:t>
            </a:r>
            <a:endParaRPr lang="en-US" sz="1600" dirty="0"/>
          </a:p>
        </p:txBody>
      </p:sp>
      <p:sp>
        <p:nvSpPr>
          <p:cNvPr id="15" name="Ask 4"/>
          <p:cNvSpPr/>
          <p:nvPr/>
        </p:nvSpPr>
        <p:spPr>
          <a:xfrm>
            <a:off x="6245352" y="3657600"/>
            <a:ext cx="5394960" cy="1920240"/>
          </a:xfrm>
          <a:prstGeom prst="roundRect">
            <a:avLst>
              <a:gd name="adj" fmla="val 5714"/>
            </a:avLst>
          </a:prstGeom>
          <a:solidFill>
            <a:schemeClr val="bg1">
              <a:alpha val="9000"/>
            </a:schemeClr>
          </a:solidFill>
          <a:ln/>
        </p:spPr>
      </p:sp>
      <p:sp>
        <p:nvSpPr>
          <p:cNvPr id="16" name="Text 14"/>
          <p:cNvSpPr/>
          <p:nvPr/>
        </p:nvSpPr>
        <p:spPr>
          <a:xfrm>
            <a:off x="6565392" y="3977640"/>
            <a:ext cx="658368" cy="658368"/>
          </a:xfrm>
          <a:prstGeom prst="ellipse">
            <a:avLst/>
          </a:prstGeom>
          <a:solidFill>
            <a:schemeClr val="accent2"/>
          </a:solidFill>
          <a:ln/>
        </p:spPr>
        <p:txBody>
          <a:bodyPr wrap="square" lIns="0" tIns="0" rIns="0" bIns="0" rtlCol="0" anchor="ctr"/>
          <a:lstStyle/>
          <a:p>
            <a:pPr marL="0" indent="0" algn="ctr">
              <a:buNone/>
            </a:pPr>
            <a:r>
              <a:rPr lang="en-US" sz="1800" b="1" dirty="0">
                <a:solidFill>
                  <a:schemeClr val="tx2"/>
                </a:solidFill>
                <a:latin typeface="+mj-lt" pitchFamily="34" charset="0"/>
                <a:ea typeface="+mj-lt" pitchFamily="34" charset="-122"/>
                <a:cs typeface="+mj-lt" pitchFamily="34" charset="-120"/>
              </a:rPr>
              <a:t>4</a:t>
            </a:r>
            <a:endParaRPr lang="en-US" sz="1800" dirty="0"/>
          </a:p>
        </p:txBody>
      </p:sp>
      <p:sp>
        <p:nvSpPr>
          <p:cNvPr id="17" name="Text 15"/>
          <p:cNvSpPr txBox="1"/>
          <p:nvPr/>
        </p:nvSpPr>
        <p:spPr>
          <a:xfrm>
            <a:off x="7479792" y="3977640"/>
            <a:ext cx="3886200" cy="457200"/>
          </a:xfrm>
          <a:prstGeom prst="rect">
            <a:avLst/>
          </a:prstGeom>
          <a:noFill/>
          <a:ln/>
        </p:spPr>
        <p:txBody>
          <a:bodyPr wrap="square" lIns="0" tIns="0" rIns="0" bIns="0" rtlCol="0" anchor="ctr"/>
          <a:lstStyle/>
          <a:p>
            <a:pPr marL="0" indent="0">
              <a:buNone/>
            </a:pPr>
            <a:r>
              <a:rPr lang="en-US" sz="2100" b="1">
                <a:solidFill>
                  <a:schemeClr val="bg1"/>
                </a:solidFill>
                <a:latin typeface="+mj-lt" pitchFamily="34" charset="0"/>
                <a:ea typeface="+mj-lt" pitchFamily="34" charset="-122"/>
                <a:cs typeface="+mj-lt" pitchFamily="34" charset="-120"/>
              </a:rPr>
              <a:t>Plan the first census</a:t>
            </a:r>
            <a:endParaRPr lang="en-US" sz="2100" dirty="0"/>
          </a:p>
        </p:txBody>
      </p:sp>
      <p:sp>
        <p:nvSpPr>
          <p:cNvPr id="18" name="Text 16"/>
          <p:cNvSpPr txBox="1"/>
          <p:nvPr/>
        </p:nvSpPr>
        <p:spPr>
          <a:xfrm>
            <a:off x="7479792" y="4526280"/>
            <a:ext cx="3886200" cy="914400"/>
          </a:xfrm>
          <a:prstGeom prst="rect">
            <a:avLst/>
          </a:prstGeom>
          <a:noFill/>
          <a:ln/>
        </p:spPr>
        <p:txBody>
          <a:bodyPr wrap="square" lIns="0" tIns="0" rIns="0" bIns="0" rtlCol="0" anchor="t"/>
          <a:lstStyle/>
          <a:p>
            <a:pPr marL="0" indent="0">
              <a:buNone/>
            </a:pPr>
            <a:r>
              <a:rPr lang="en-US" sz="1600">
                <a:solidFill>
                  <a:schemeClr val="bg2"/>
                </a:solidFill>
              </a:rPr>
              <a:t>With the GKK leaders, then announce it at every Mass and in the bulletin.</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Guadalupe Parish">
  <a:themeElements>
    <a:clrScheme name="Guadalupe Parish">
      <a:dk1>
        <a:srgbClr val="1C2B24"/>
      </a:dk1>
      <a:lt1>
        <a:srgbClr val="FFFFFF"/>
      </a:lt1>
      <a:dk2>
        <a:srgbClr val="14432F"/>
      </a:dk2>
      <a:lt2>
        <a:srgbClr val="F6F1E6"/>
      </a:lt2>
      <a:accent1>
        <a:srgbClr val="1F6B4F"/>
      </a:accent1>
      <a:accent2>
        <a:srgbClr val="C9A24A"/>
      </a:accent2>
      <a:accent3>
        <a:srgbClr val="A4432F"/>
      </a:accent3>
      <a:accent4>
        <a:srgbClr val="E8D9B0"/>
      </a:accent4>
      <a:accent5>
        <a:srgbClr val="66736B"/>
      </a:accent5>
      <a:accent6>
        <a:srgbClr val="3B7EA1"/>
      </a:accent6>
      <a:hlink>
        <a:srgbClr val="1F6B4F"/>
      </a:hlink>
      <a:folHlink>
        <a:srgbClr val="66736B"/>
      </a:folHlink>
    </a:clrScheme>
    <a:fontScheme name="Guadalupe Par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2155</Words>
  <Application>Microsoft Office PowerPoint</Application>
  <PresentationFormat>Widescreen</PresentationFormat>
  <Paragraphs>199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Guadalupe Parish</vt:lpstr>
      <vt:lpstr>PowerPoint Presentation</vt:lpstr>
      <vt:lpstr>Today, knowing our parish takes paper, time and retyping</vt:lpstr>
      <vt:lpstr>One registry serves the whole parish</vt:lpstr>
      <vt:lpstr>Families take part from their phones, in Bisaya</vt:lpstr>
      <vt:lpstr>The census is done once, online first, and counted for us</vt:lpstr>
      <vt:lpstr>Safe, private, and free to run</vt:lpstr>
      <vt:lpstr>It is ready today, and you can try it now</vt:lpstr>
      <vt:lpstr>What we ask of the council</vt:lpstr>
    </vt:vector>
  </TitlesOfParts>
  <Company>Our Lady of Guadalupe Quasi-Parish, Mua-an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Parish Members Registry: Council Pitch</dc:title>
  <dc:subject>Proposal to the Parish Pastoral Council</dc:subject>
  <dc:creator>PptxGenJS</dc:creator>
  <cp:lastModifiedBy>Dave</cp:lastModifiedBy>
  <cp:revision>3</cp:revision>
  <dcterms:created xsi:type="dcterms:W3CDTF">2026-10-17T01:04:39Z</dcterms:created>
  <dcterms:modified xsi:type="dcterms:W3CDTF">2026-10-17T01:41:02Z</dcterms:modified>
</cp:coreProperties>
</file>