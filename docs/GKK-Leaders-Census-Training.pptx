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70"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7D142D2-D998-AA94-60FA-B15077A5664D}">
          <p14:sldIdLst>
            <p14:sldId id="256"/>
          </p14:sldIdLst>
        </p14:section>
        <p14:section name="The census process" id="{0CD07F15-8EEE-06A4-D7AF-E4635C957552}">
          <p14:sldIdLst>
            <p14:sldId id="257"/>
          </p14:sldIdLst>
        </p14:section>
        <p14:section name="Before the census" id="{22881BFF-44BA-0A02-EBDF-5BE1342928B5}">
          <p14:sldIdLst>
            <p14:sldId id="258"/>
          </p14:sldIdLst>
        </p14:section>
        <p14:section name="Running the census" id="{BEF43605-0B32-E5F0-F05E-0B0C4C2C3482}">
          <p14:sldIdLst>
            <p14:sldId id="259"/>
            <p14:sldId id="260"/>
            <p14:sldId id="261"/>
            <p14:sldId id="262"/>
            <p14:sldId id="263"/>
            <p14:sldId id="264"/>
            <p14:sldId id="265"/>
          </p14:sldIdLst>
        </p14:section>
        <p14:section name="After the census" id="{EF986FBB-F153-DBF7-686A-C49DECC2D634}">
          <p14:sldIdLst>
            <p14:sldId id="266"/>
            <p14:sldId id="267"/>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7" d="100"/>
          <a:sy n="147" d="100"/>
        </p:scale>
        <p:origin x="56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0300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parish's first census in the Parish Members Registry, so this year is special: most families are not in the registry yet, and the census is how we get every family registered online. This session covers what to set up, how the census starts, how families register, how you check and follow up, and what will be different from next year on. Bring a phone and your sign-in details so you can follow along.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picture for this year. Because this is our first census, families are not in the registry yet, so the census is a registration drive. The parish office starts it. You invite every family in your GKK to register online. The registration form already asks each member the census questions, so a family that registers while the census is open is counted; there is no second step. You check the new registrations from your GKK and tick families off last year's paper list, and the parish office closes the census at the end. From next year on, everyone is already registered, so families will only update their record with the reference number and code they receive today.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these before the census opens. First, your account: the parish office creates it as a Census Coordinator tied to your GKK; on first sign-in you set your own password. Second, complete the chapel details in My GKK. Third, history and documents. Fourth, register your own family on the website first: you'll know the form when families ask, and your officers can only be named once they're registered. Fifth, load last year's list: the families from last year's paper census, typed in or uploaded. It is how you will see who hasn't registered yet. Sixth, turn on notifications so your phone tells you when a family from your GKK registers.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is the parish office's job: Census, Start a new census, a name and dates, Start census. From that moment, every family that registers is counted in the census. On your side: open Census and look at Registered vs last year, your main number this year. Make sure last year's list is loaded, because names tick themselves off as families register. Then announce it everywhere your GKK gathers: the parish website has a big button, Irehistro ang Inyong Pamilya. Share the follow-up with your officers by Family Grouping. Families without a phone can register on your phone, or you can add them in the app with New Household.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most families will be counted this year. On the parish website they tap Irehistro ang Inyong Pamilya and go through five steps in Bisaya: the family and its head, the members, their sacraments, Pag-apil, where each member answers the census questions and the family gives its privacy consent, and a final review before sending. A second family living in a house that's already registered chooses Moipon sa narehistro nang balay and enters that house's reference number and code. Because the census is open, the Pag-apil answers count as the census, so there's nothing more to do. Stress the last screen: the reference number and code. Families should screenshot it; they will use it to update their record next year.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home base during the census. This year, watch the Registered vs last year tile: how many families have registered compared with last year's census. The Last year's list tab shows who hasn't registered yet. On the Households tab, each family that registers shows Confirmed automatically, because the registration asked the census questions. Partly confirmed means at least one member still has no answer; open Record census to fill it in after talking with the family. The Online updates tab matters more from next year, when families update instead of registering.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new registration from your GKK lands on Households, On Queue for Verification. Please look through them within a few days: you know these families. Check the names, birthdays, address and Family Grouping. If something is wrong, ask the family and fix it. Look at Duplicates too, because a family may register twice, for example once by the father and once by a daughter. The parish office does the final verification. Several things happen without you: the census answers count as confirmed, the family is matched to last year's list, and your Registered vs last year number goes 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families have no phone, no load or no internet. They still need to be registered. Either sit with them and use the website form on your own phone, or use New Household in the app, which asks the same questions. Afterwards, open Get codes from the household's row menu and write the reference number and code on a piece of paper for them, so they can update their record next year. Either way, the family counts in the census immediately.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Families answer these in step 4 of the form, and you use the same grid if you register a family in the app. For each member and each of six activities: A for Aktibo, P for Panagsa, W for Wala. The form suggests Active or Inactive from the answers, but the family can choose. Young children, 8 and under, count as Active without the questions. Left the Church is only for someone who has joined another faith, and only when the family says so. Next year, when everyone is on record, two more statuses come in: Moved away and Deceased.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year's paper census is your checklist this year. Each name is matched automatically when that family registers; confirm the match, or mark it Not this household if it's a different family with a similar name. Families who moved away or died since last year can be marked so they no longer count as not yet registered. Every week, print the not-yet-registered sheet and share it with your officers by Family Grouping. Call or visit, and register them on the spot with your phone if they need help.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places to watch progress: the Dashboard for a quick look, Census Results by GKK for registered households against last year and the list of families not yet registered, and Reports for printable reports. All show your GKK only. When the parish office closes the census, the census becomes read-only; closing changes no data. Families can still register afterwards, but they won't count as confirmed in this census. Everything registered this year becomes next year's starting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preview so leaders know where this is going. Next year, every family is already in the registry. Instead of registering, they tap Narehistro na? I-update ang inyong rekord and sign in with the reference number and code from this year. Your main job becomes approving their online updates and resending codes to families who lost them. Your checklist becomes the registry itself: households that haven't answered show as Not started. Two more statuses appear, Moved away and Deceased. There will be a short refresher before next year's census.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that come up most. If the app says the census is closed, only the parish office can reopen it. Leave time here for leaders' own questions.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checklist on one page. Before the census, finish your setup, register your own family and load last year's list. During, invite every family, check new registrations, help families without a phone and visit the rest. After, check your results, follow up anyone not confirmed, and remind families to keep their reference number and code for next year. Thank the leaders: this first census builds the registry every future census will use.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046720" cy="822960"/>
          </a:xfrm>
          <a:prstGeom prst="rect">
            <a:avLst/>
          </a:prstGeom>
          <a:noFill/>
          <a:ln/>
        </p:spPr>
        <p:txBody>
          <a:bodyPr wrap="square" rtlCol="0"/>
          <a:lstStyle>
            <a:lvl1pPr marL="0" indent="0" algn="l">
              <a:buNone/>
              <a:defRPr lang="en-US" sz="36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548640" y="2697480"/>
            <a:ext cx="8046720" cy="457200"/>
          </a:xfrm>
          <a:prstGeom prst="rect">
            <a:avLst/>
          </a:prstGeom>
          <a:noFill/>
          <a:ln/>
        </p:spPr>
        <p:txBody>
          <a:bodyPr wrap="square" rtlCol="0"/>
          <a:lstStyle>
            <a:lvl1pPr marL="0" indent="0">
              <a:buNone/>
              <a:defRPr lang="en-US" sz="1600" dirty="0">
                <a:solidFill>
                  <a:schemeClr val="accent6"/>
                </a:solidFill>
                <a:latin typeface="Calibri" pitchFamily="34" charset="0"/>
                <a:ea typeface="Calibri" pitchFamily="34" charset="-122"/>
                <a:cs typeface="Calibri" pitchFamily="34" charset="-120"/>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rtlCol="0"/>
          <a:lstStyle>
            <a:lvl1pPr marL="0" indent="0" algn="l">
              <a:buNone/>
              <a:defRPr lang="en-US" sz="26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2600" dirty="0"/>
          </a:p>
        </p:txBody>
      </p:sp>
      <p:sp>
        <p:nvSpPr>
          <p:cNvPr id="3" name="Text 0"/>
          <p:cNvSpPr/>
          <p:nvPr/>
        </p:nvSpPr>
        <p:spPr>
          <a:xfrm>
            <a:off x="457200" y="4818888"/>
            <a:ext cx="6858000" cy="201168"/>
          </a:xfrm>
          <a:prstGeom prst="rect">
            <a:avLst/>
          </a:prstGeom>
          <a:noFill/>
          <a:ln/>
        </p:spPr>
        <p:txBody>
          <a:bodyPr wrap="square" lIns="0" tIns="0" rIns="0" bIns="0" rtlCol="0" anchor="ctr"/>
          <a:lstStyle/>
          <a:p>
            <a:pPr marL="0" indent="0">
              <a:buNone/>
            </a:pPr>
            <a:r>
              <a:rPr lang="en-US" sz="900" dirty="0">
                <a:solidFill>
                  <a:schemeClr val="tx2"/>
                </a:solidFill>
              </a:rPr>
              <a:t>Census Training for GKK Leaders  ·  Our Lady of Guadalupe Quasi-Parish, Mua-an</a:t>
            </a:r>
            <a:endParaRPr lang="en-US" sz="9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548640"/>
          </a:xfrm>
          <a:prstGeom prst="rect">
            <a:avLst/>
          </a:prstGeom>
          <a:noFill/>
          <a:ln/>
        </p:spPr>
        <p:txBody>
          <a:bodyPr wrap="square" rtlCol="0"/>
          <a:lstStyle>
            <a:lvl1pPr marL="0" indent="0" algn="l">
              <a:buNone/>
              <a:defRPr lang="en-US" sz="28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3.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31.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0.png"/><Relationship Id="rId5" Type="http://schemas.openxmlformats.org/officeDocument/2006/relationships/image" Target="../media/image13.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egistry mark" descr="Star and cross mark of the registry"/>
          <p:cNvPicPr>
            <a:picLocks noChangeAspect="1"/>
          </p:cNvPicPr>
          <p:nvPr/>
        </p:nvPicPr>
        <p:blipFill>
          <a:blip r:embed="rId3"/>
          <a:stretch>
            <a:fillRect/>
          </a:stretch>
        </p:blipFill>
        <p:spPr>
          <a:xfrm>
            <a:off x="548640" y="685800"/>
            <a:ext cx="822960" cy="822960"/>
          </a:xfrm>
          <a:prstGeom prst="rect">
            <a:avLst/>
          </a:prstGeom>
        </p:spPr>
      </p:pic>
      <p:sp>
        <p:nvSpPr>
          <p:cNvPr id="3" name="Text 0"/>
          <p:cNvSpPr>
            <a:spLocks noGrp="1"/>
          </p:cNvSpPr>
          <p:nvPr>
            <p:ph type="title" idx="100" hasCustomPrompt="1"/>
          </p:nvPr>
        </p:nvSpPr>
        <p:spPr>
          <a:xfrm>
            <a:off x="548640" y="1828800"/>
            <a:ext cx="8046720" cy="82296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Census Training for GKK Leaders</a:t>
            </a:r>
            <a:endParaRPr lang="en-US" sz="3600" dirty="0"/>
          </a:p>
        </p:txBody>
      </p:sp>
      <p:sp>
        <p:nvSpPr>
          <p:cNvPr id="4" name="Text 0"/>
          <p:cNvSpPr>
            <a:spLocks noGrp="1"/>
          </p:cNvSpPr>
          <p:nvPr>
            <p:ph type="body" idx="101" hasCustomPrompt="1"/>
          </p:nvPr>
        </p:nvSpPr>
        <p:spPr>
          <a:xfrm>
            <a:off x="548640" y="2697480"/>
            <a:ext cx="8046720" cy="457200"/>
          </a:xfrm>
          <a:prstGeom prst="rect">
            <a:avLst/>
          </a:prstGeom>
          <a:noFill/>
          <a:ln/>
        </p:spPr>
        <p:txBody>
          <a:bodyPr wrap="square" lIns="0" tIns="0" rIns="0" bIns="0" rtlCol="0" anchor="t"/>
          <a:lstStyle/>
          <a:p>
            <a:pPr marL="0" indent="0">
              <a:buNone/>
            </a:pPr>
            <a:r>
              <a:rPr lang="en-US" sz="1600" dirty="0">
                <a:solidFill>
                  <a:schemeClr val="accent6"/>
                </a:solidFill>
                <a:latin typeface="Calibri" pitchFamily="34" charset="0"/>
                <a:ea typeface="Calibri" pitchFamily="34" charset="-122"/>
                <a:cs typeface="Calibri" pitchFamily="34" charset="-120"/>
              </a:rPr>
              <a:t>Our first census: getting every family registered online</a:t>
            </a:r>
            <a:endParaRPr lang="en-US" sz="1600" dirty="0"/>
          </a:p>
        </p:txBody>
      </p:sp>
      <p:sp>
        <p:nvSpPr>
          <p:cNvPr id="5" name="Parish and date"/>
          <p:cNvSpPr txBox="1"/>
          <p:nvPr/>
        </p:nvSpPr>
        <p:spPr>
          <a:xfrm>
            <a:off x="548640" y="4206240"/>
            <a:ext cx="8046720" cy="274320"/>
          </a:xfrm>
          <a:prstGeom prst="rect">
            <a:avLst/>
          </a:prstGeom>
          <a:noFill/>
          <a:ln/>
        </p:spPr>
        <p:txBody>
          <a:bodyPr wrap="square" lIns="0" tIns="0" rIns="0" bIns="0" rtlCol="0" anchor="t"/>
          <a:lstStyle/>
          <a:p>
            <a:pPr marL="0" indent="0">
              <a:buNone/>
            </a:pPr>
            <a:r>
              <a:rPr lang="en-US" sz="1200" dirty="0">
                <a:solidFill>
                  <a:schemeClr val="bg1"/>
                </a:solidFill>
              </a:rPr>
              <a:t>Our Lady of Guadalupe Quasi-Parish, Mua-an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How this year’s census works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marL="0" indent="0">
              <a:buNone/>
            </a:pPr>
            <a:r>
              <a:rPr lang="en-US" sz="1300" dirty="0">
                <a:solidFill>
                  <a:schemeClr val="tx2"/>
                </a:solidFill>
              </a:rPr>
              <a:t>This is our first census, so every family registers online. You lead steps 2 to 4 for your GKK.</a:t>
            </a:r>
            <a:endParaRPr lang="en-US" sz="1300" dirty="0"/>
          </a:p>
        </p:txBody>
      </p:sp>
      <p:sp>
        <p:nvSpPr>
          <p:cNvPr id="4" name="Step 1 card"/>
          <p:cNvSpPr/>
          <p:nvPr/>
        </p:nvSpPr>
        <p:spPr>
          <a:xfrm>
            <a:off x="457200" y="1207008"/>
            <a:ext cx="1517904" cy="2286000"/>
          </a:xfrm>
          <a:prstGeom prst="roundRect">
            <a:avLst>
              <a:gd name="adj" fmla="val 4819"/>
            </a:avLst>
          </a:prstGeom>
          <a:solidFill>
            <a:schemeClr val="bg2"/>
          </a:solidFill>
          <a:ln/>
        </p:spPr>
      </p:sp>
      <p:sp>
        <p:nvSpPr>
          <p:cNvPr id="5" name="Step 1 circle"/>
          <p:cNvSpPr/>
          <p:nvPr/>
        </p:nvSpPr>
        <p:spPr>
          <a:xfrm>
            <a:off x="594360" y="1344168"/>
            <a:ext cx="438912" cy="438912"/>
          </a:xfrm>
          <a:prstGeom prst="ellipse">
            <a:avLst/>
          </a:prstGeom>
          <a:solidFill>
            <a:schemeClr val="tx1"/>
          </a:solidFill>
          <a:ln/>
        </p:spPr>
      </p:sp>
      <p:pic>
        <p:nvPicPr>
          <p:cNvPr id="6" name="Step 1 icon" descr="Step 1"/>
          <p:cNvPicPr>
            <a:picLocks noChangeAspect="1"/>
          </p:cNvPicPr>
          <p:nvPr/>
        </p:nvPicPr>
        <p:blipFill>
          <a:blip r:embed="rId3"/>
          <a:stretch>
            <a:fillRect/>
          </a:stretch>
        </p:blipFill>
        <p:spPr>
          <a:xfrm>
            <a:off x="699699" y="1449507"/>
            <a:ext cx="228234" cy="228234"/>
          </a:xfrm>
          <a:prstGeom prst="rect">
            <a:avLst/>
          </a:prstGeom>
        </p:spPr>
      </p:pic>
      <p:sp>
        <p:nvSpPr>
          <p:cNvPr id="7" name="Step 1 number"/>
          <p:cNvSpPr txBox="1"/>
          <p:nvPr/>
        </p:nvSpPr>
        <p:spPr>
          <a:xfrm>
            <a:off x="1563624" y="1344168"/>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1</a:t>
            </a:r>
            <a:endParaRPr lang="en-US" sz="1800" dirty="0"/>
          </a:p>
        </p:txBody>
      </p:sp>
      <p:sp>
        <p:nvSpPr>
          <p:cNvPr id="8" name="Step 1 heading"/>
          <p:cNvSpPr txBox="1"/>
          <p:nvPr/>
        </p:nvSpPr>
        <p:spPr>
          <a:xfrm>
            <a:off x="594360" y="1892808"/>
            <a:ext cx="1243584" cy="438912"/>
          </a:xfrm>
          <a:prstGeom prst="rect">
            <a:avLst/>
          </a:prstGeom>
          <a:noFill/>
          <a:ln/>
        </p:spPr>
        <p:txBody>
          <a:bodyPr wrap="square" lIns="0" tIns="0" rIns="0" bIns="0" rtlCol="0" anchor="t"/>
          <a:lstStyle/>
          <a:p>
            <a:pPr marL="0" indent="0">
              <a:buNone/>
            </a:pPr>
            <a:r>
              <a:rPr lang="en-US" sz="1250" b="1" dirty="0">
                <a:solidFill>
                  <a:schemeClr val="tx1"/>
                </a:solidFill>
              </a:rPr>
              <a:t>Parish office starts the census</a:t>
            </a:r>
            <a:endParaRPr lang="en-US" sz="1250" dirty="0"/>
          </a:p>
        </p:txBody>
      </p:sp>
      <p:sp>
        <p:nvSpPr>
          <p:cNvPr id="9" name="Step 1 text"/>
          <p:cNvSpPr txBox="1"/>
          <p:nvPr/>
        </p:nvSpPr>
        <p:spPr>
          <a:xfrm>
            <a:off x="594360" y="2350008"/>
            <a:ext cx="1243584" cy="731520"/>
          </a:xfrm>
          <a:prstGeom prst="rect">
            <a:avLst/>
          </a:prstGeom>
          <a:noFill/>
          <a:ln/>
        </p:spPr>
        <p:txBody>
          <a:bodyPr wrap="square" lIns="0" tIns="0" rIns="0" bIns="0" rtlCol="0" anchor="t"/>
          <a:lstStyle/>
          <a:p>
            <a:pPr marL="0" indent="0">
              <a:buNone/>
            </a:pPr>
            <a:r>
              <a:rPr lang="en-US" sz="1050" dirty="0">
                <a:solidFill>
                  <a:schemeClr val="tx2"/>
                </a:solidFill>
              </a:rPr>
              <a:t>It names the census (e.g. “2026 Census”) and sets the dates.</a:t>
            </a:r>
            <a:endParaRPr lang="en-US" sz="1050" dirty="0"/>
          </a:p>
        </p:txBody>
      </p:sp>
      <p:sp>
        <p:nvSpPr>
          <p:cNvPr id="10" name="Step 1 who chip"/>
          <p:cNvSpPr/>
          <p:nvPr/>
        </p:nvSpPr>
        <p:spPr>
          <a:xfrm>
            <a:off x="594360" y="3127248"/>
            <a:ext cx="1005840" cy="237744"/>
          </a:xfrm>
          <a:prstGeom prst="roundRect">
            <a:avLst>
              <a:gd name="adj" fmla="val 50000"/>
            </a:avLst>
          </a:prstGeom>
          <a:solidFill>
            <a:schemeClr val="accent1"/>
          </a:solidFill>
          <a:ln/>
        </p:spPr>
      </p:sp>
      <p:sp>
        <p:nvSpPr>
          <p:cNvPr id="11" name="Step 1 who label"/>
          <p:cNvSpPr txBox="1"/>
          <p:nvPr/>
        </p:nvSpPr>
        <p:spPr>
          <a:xfrm>
            <a:off x="594360" y="3127248"/>
            <a:ext cx="1005840" cy="237744"/>
          </a:xfrm>
          <a:prstGeom prst="rect">
            <a:avLst/>
          </a:prstGeom>
          <a:noFill/>
          <a:ln/>
        </p:spPr>
        <p:txBody>
          <a:bodyPr wrap="square" lIns="0" tIns="0" rIns="0" bIns="0" rtlCol="0" anchor="ctr"/>
          <a:lstStyle/>
          <a:p>
            <a:pPr marL="0" indent="0" algn="ctr">
              <a:buNone/>
            </a:pPr>
            <a:r>
              <a:rPr lang="en-US" sz="950" b="1" dirty="0">
                <a:solidFill>
                  <a:schemeClr val="bg1"/>
                </a:solidFill>
              </a:rPr>
              <a:t>Parish office</a:t>
            </a:r>
            <a:endParaRPr lang="en-US" sz="950" dirty="0"/>
          </a:p>
        </p:txBody>
      </p:sp>
      <p:pic>
        <p:nvPicPr>
          <p:cNvPr id="12" name="Arrow 1" descr="preencoded.png"/>
          <p:cNvPicPr>
            <a:picLocks noChangeAspect="1"/>
          </p:cNvPicPr>
          <p:nvPr/>
        </p:nvPicPr>
        <p:blipFill>
          <a:blip r:embed="rId4"/>
          <a:stretch>
            <a:fillRect/>
          </a:stretch>
        </p:blipFill>
        <p:spPr>
          <a:xfrm>
            <a:off x="1984248" y="2276856"/>
            <a:ext cx="146304" cy="146304"/>
          </a:xfrm>
          <a:prstGeom prst="rect">
            <a:avLst/>
          </a:prstGeom>
        </p:spPr>
      </p:pic>
      <p:sp>
        <p:nvSpPr>
          <p:cNvPr id="13" name="Step 2 card"/>
          <p:cNvSpPr/>
          <p:nvPr/>
        </p:nvSpPr>
        <p:spPr>
          <a:xfrm>
            <a:off x="2139696" y="1207008"/>
            <a:ext cx="1517904" cy="2286000"/>
          </a:xfrm>
          <a:prstGeom prst="roundRect">
            <a:avLst>
              <a:gd name="adj" fmla="val 4819"/>
            </a:avLst>
          </a:prstGeom>
          <a:solidFill>
            <a:schemeClr val="bg2"/>
          </a:solidFill>
          <a:ln/>
        </p:spPr>
      </p:sp>
      <p:sp>
        <p:nvSpPr>
          <p:cNvPr id="14" name="Step 2 circle"/>
          <p:cNvSpPr/>
          <p:nvPr/>
        </p:nvSpPr>
        <p:spPr>
          <a:xfrm>
            <a:off x="2276856" y="1344168"/>
            <a:ext cx="438912" cy="438912"/>
          </a:xfrm>
          <a:prstGeom prst="ellipse">
            <a:avLst/>
          </a:prstGeom>
          <a:solidFill>
            <a:schemeClr val="tx1"/>
          </a:solidFill>
          <a:ln/>
        </p:spPr>
      </p:sp>
      <p:pic>
        <p:nvPicPr>
          <p:cNvPr id="15" name="Step 2 icon" descr="Step 2"/>
          <p:cNvPicPr>
            <a:picLocks noChangeAspect="1"/>
          </p:cNvPicPr>
          <p:nvPr/>
        </p:nvPicPr>
        <p:blipFill>
          <a:blip r:embed="rId5"/>
          <a:stretch>
            <a:fillRect/>
          </a:stretch>
        </p:blipFill>
        <p:spPr>
          <a:xfrm>
            <a:off x="2382195" y="1449507"/>
            <a:ext cx="228234" cy="228234"/>
          </a:xfrm>
          <a:prstGeom prst="rect">
            <a:avLst/>
          </a:prstGeom>
        </p:spPr>
      </p:pic>
      <p:sp>
        <p:nvSpPr>
          <p:cNvPr id="16" name="Step 2 number"/>
          <p:cNvSpPr txBox="1"/>
          <p:nvPr/>
        </p:nvSpPr>
        <p:spPr>
          <a:xfrm>
            <a:off x="3246120" y="1344168"/>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2</a:t>
            </a:r>
            <a:endParaRPr lang="en-US" sz="1800" dirty="0"/>
          </a:p>
        </p:txBody>
      </p:sp>
      <p:sp>
        <p:nvSpPr>
          <p:cNvPr id="17" name="Step 2 heading"/>
          <p:cNvSpPr txBox="1"/>
          <p:nvPr/>
        </p:nvSpPr>
        <p:spPr>
          <a:xfrm>
            <a:off x="2276856" y="1892808"/>
            <a:ext cx="1243584" cy="438912"/>
          </a:xfrm>
          <a:prstGeom prst="rect">
            <a:avLst/>
          </a:prstGeom>
          <a:noFill/>
          <a:ln/>
        </p:spPr>
        <p:txBody>
          <a:bodyPr wrap="square" lIns="0" tIns="0" rIns="0" bIns="0" rtlCol="0" anchor="t"/>
          <a:lstStyle/>
          <a:p>
            <a:pPr marL="0" indent="0">
              <a:buNone/>
            </a:pPr>
            <a:r>
              <a:rPr lang="en-US" sz="1250" b="1" dirty="0">
                <a:solidFill>
                  <a:schemeClr val="tx1"/>
                </a:solidFill>
              </a:rPr>
              <a:t>You invite every family</a:t>
            </a:r>
            <a:endParaRPr lang="en-US" sz="1250" dirty="0"/>
          </a:p>
        </p:txBody>
      </p:sp>
      <p:sp>
        <p:nvSpPr>
          <p:cNvPr id="18" name="Step 2 text"/>
          <p:cNvSpPr txBox="1"/>
          <p:nvPr/>
        </p:nvSpPr>
        <p:spPr>
          <a:xfrm>
            <a:off x="2276856" y="2350008"/>
            <a:ext cx="1243584" cy="731520"/>
          </a:xfrm>
          <a:prstGeom prst="rect">
            <a:avLst/>
          </a:prstGeom>
          <a:noFill/>
          <a:ln/>
        </p:spPr>
        <p:txBody>
          <a:bodyPr wrap="square" lIns="0" tIns="0" rIns="0" bIns="0" rtlCol="0" anchor="t"/>
          <a:lstStyle/>
          <a:p>
            <a:pPr marL="0" indent="0">
              <a:buNone/>
            </a:pPr>
            <a:r>
              <a:rPr lang="en-US" sz="1050" dirty="0">
                <a:solidFill>
                  <a:schemeClr val="tx2"/>
                </a:solidFill>
              </a:rPr>
              <a:t>At Mass, GKK meetings and Bible sharing: register online on the parish website.</a:t>
            </a:r>
            <a:endParaRPr lang="en-US" sz="1050" dirty="0"/>
          </a:p>
        </p:txBody>
      </p:sp>
      <p:sp>
        <p:nvSpPr>
          <p:cNvPr id="19" name="Step 2 who chip"/>
          <p:cNvSpPr/>
          <p:nvPr/>
        </p:nvSpPr>
        <p:spPr>
          <a:xfrm>
            <a:off x="2276856" y="3127248"/>
            <a:ext cx="1005840" cy="237744"/>
          </a:xfrm>
          <a:prstGeom prst="roundRect">
            <a:avLst>
              <a:gd name="adj" fmla="val 50000"/>
            </a:avLst>
          </a:prstGeom>
          <a:solidFill>
            <a:schemeClr val="accent2"/>
          </a:solidFill>
          <a:ln/>
        </p:spPr>
      </p:sp>
      <p:sp>
        <p:nvSpPr>
          <p:cNvPr id="20" name="Step 2 who label"/>
          <p:cNvSpPr txBox="1"/>
          <p:nvPr/>
        </p:nvSpPr>
        <p:spPr>
          <a:xfrm>
            <a:off x="2276856" y="3127248"/>
            <a:ext cx="1005840" cy="237744"/>
          </a:xfrm>
          <a:prstGeom prst="rect">
            <a:avLst/>
          </a:prstGeom>
          <a:noFill/>
          <a:ln/>
        </p:spPr>
        <p:txBody>
          <a:bodyPr wrap="square" lIns="0" tIns="0" rIns="0" bIns="0" rtlCol="0" anchor="ctr"/>
          <a:lstStyle/>
          <a:p>
            <a:pPr marL="0" indent="0" algn="ctr">
              <a:buNone/>
            </a:pPr>
            <a:r>
              <a:rPr lang="en-US" sz="950" b="1" dirty="0">
                <a:solidFill>
                  <a:schemeClr val="bg1"/>
                </a:solidFill>
              </a:rPr>
              <a:t>You</a:t>
            </a:r>
            <a:endParaRPr lang="en-US" sz="950" dirty="0"/>
          </a:p>
        </p:txBody>
      </p:sp>
      <p:pic>
        <p:nvPicPr>
          <p:cNvPr id="21" name="Arrow 2" descr="preencoded.png"/>
          <p:cNvPicPr>
            <a:picLocks noChangeAspect="1"/>
          </p:cNvPicPr>
          <p:nvPr/>
        </p:nvPicPr>
        <p:blipFill>
          <a:blip r:embed="rId4"/>
          <a:stretch>
            <a:fillRect/>
          </a:stretch>
        </p:blipFill>
        <p:spPr>
          <a:xfrm>
            <a:off x="3666744" y="2276856"/>
            <a:ext cx="146304" cy="146304"/>
          </a:xfrm>
          <a:prstGeom prst="rect">
            <a:avLst/>
          </a:prstGeom>
        </p:spPr>
      </p:pic>
      <p:sp>
        <p:nvSpPr>
          <p:cNvPr id="22" name="Step 3 card"/>
          <p:cNvSpPr/>
          <p:nvPr/>
        </p:nvSpPr>
        <p:spPr>
          <a:xfrm>
            <a:off x="3822192" y="1207008"/>
            <a:ext cx="1517904" cy="2286000"/>
          </a:xfrm>
          <a:prstGeom prst="roundRect">
            <a:avLst>
              <a:gd name="adj" fmla="val 4819"/>
            </a:avLst>
          </a:prstGeom>
          <a:solidFill>
            <a:schemeClr val="bg2"/>
          </a:solidFill>
          <a:ln/>
        </p:spPr>
      </p:sp>
      <p:sp>
        <p:nvSpPr>
          <p:cNvPr id="23" name="Step 3 circle"/>
          <p:cNvSpPr/>
          <p:nvPr/>
        </p:nvSpPr>
        <p:spPr>
          <a:xfrm>
            <a:off x="3959352" y="1344168"/>
            <a:ext cx="438912" cy="438912"/>
          </a:xfrm>
          <a:prstGeom prst="ellipse">
            <a:avLst/>
          </a:prstGeom>
          <a:solidFill>
            <a:schemeClr val="tx1"/>
          </a:solidFill>
          <a:ln/>
        </p:spPr>
      </p:sp>
      <p:pic>
        <p:nvPicPr>
          <p:cNvPr id="24" name="Step 3 icon" descr="Step 3"/>
          <p:cNvPicPr>
            <a:picLocks noChangeAspect="1"/>
          </p:cNvPicPr>
          <p:nvPr/>
        </p:nvPicPr>
        <p:blipFill>
          <a:blip r:embed="rId6"/>
          <a:stretch>
            <a:fillRect/>
          </a:stretch>
        </p:blipFill>
        <p:spPr>
          <a:xfrm>
            <a:off x="4064691" y="1449507"/>
            <a:ext cx="228234" cy="228234"/>
          </a:xfrm>
          <a:prstGeom prst="rect">
            <a:avLst/>
          </a:prstGeom>
        </p:spPr>
      </p:pic>
      <p:sp>
        <p:nvSpPr>
          <p:cNvPr id="25" name="Step 3 number"/>
          <p:cNvSpPr txBox="1"/>
          <p:nvPr/>
        </p:nvSpPr>
        <p:spPr>
          <a:xfrm>
            <a:off x="4928616" y="1344168"/>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3</a:t>
            </a:r>
            <a:endParaRPr lang="en-US" sz="1800" dirty="0"/>
          </a:p>
        </p:txBody>
      </p:sp>
      <p:sp>
        <p:nvSpPr>
          <p:cNvPr id="26" name="Step 3 heading"/>
          <p:cNvSpPr txBox="1"/>
          <p:nvPr/>
        </p:nvSpPr>
        <p:spPr>
          <a:xfrm>
            <a:off x="3959352" y="1892808"/>
            <a:ext cx="1243584" cy="438912"/>
          </a:xfrm>
          <a:prstGeom prst="rect">
            <a:avLst/>
          </a:prstGeom>
          <a:noFill/>
          <a:ln/>
        </p:spPr>
        <p:txBody>
          <a:bodyPr wrap="square" lIns="0" tIns="0" rIns="0" bIns="0" rtlCol="0" anchor="t"/>
          <a:lstStyle/>
          <a:p>
            <a:pPr marL="0" indent="0">
              <a:buNone/>
            </a:pPr>
            <a:r>
              <a:rPr lang="en-US" sz="1250" b="1" dirty="0">
                <a:solidFill>
                  <a:schemeClr val="tx1"/>
                </a:solidFill>
              </a:rPr>
              <a:t>Families register online</a:t>
            </a:r>
            <a:endParaRPr lang="en-US" sz="1250" dirty="0"/>
          </a:p>
        </p:txBody>
      </p:sp>
      <p:sp>
        <p:nvSpPr>
          <p:cNvPr id="27" name="Step 3 text"/>
          <p:cNvSpPr txBox="1"/>
          <p:nvPr/>
        </p:nvSpPr>
        <p:spPr>
          <a:xfrm>
            <a:off x="3959352" y="2350008"/>
            <a:ext cx="1243584" cy="731520"/>
          </a:xfrm>
          <a:prstGeom prst="rect">
            <a:avLst/>
          </a:prstGeom>
          <a:noFill/>
          <a:ln/>
        </p:spPr>
        <p:txBody>
          <a:bodyPr wrap="square" lIns="0" tIns="0" rIns="0" bIns="0" rtlCol="0" anchor="t"/>
          <a:lstStyle/>
          <a:p>
            <a:pPr marL="0" indent="0">
              <a:buNone/>
            </a:pPr>
            <a:r>
              <a:rPr lang="en-US" sz="1050" dirty="0">
                <a:solidFill>
                  <a:schemeClr val="tx2"/>
                </a:solidFill>
              </a:rPr>
              <a:t>The form includes the census questions, so registering counts for the census.</a:t>
            </a:r>
            <a:endParaRPr lang="en-US" sz="1050" dirty="0"/>
          </a:p>
        </p:txBody>
      </p:sp>
      <p:sp>
        <p:nvSpPr>
          <p:cNvPr id="28" name="Step 3 who chip"/>
          <p:cNvSpPr/>
          <p:nvPr/>
        </p:nvSpPr>
        <p:spPr>
          <a:xfrm>
            <a:off x="3959352" y="3127248"/>
            <a:ext cx="1005840" cy="237744"/>
          </a:xfrm>
          <a:prstGeom prst="roundRect">
            <a:avLst>
              <a:gd name="adj" fmla="val 50000"/>
            </a:avLst>
          </a:prstGeom>
          <a:solidFill>
            <a:schemeClr val="accent3"/>
          </a:solidFill>
          <a:ln/>
        </p:spPr>
      </p:sp>
      <p:sp>
        <p:nvSpPr>
          <p:cNvPr id="29" name="Step 3 who label"/>
          <p:cNvSpPr txBox="1"/>
          <p:nvPr/>
        </p:nvSpPr>
        <p:spPr>
          <a:xfrm>
            <a:off x="3959352" y="3127248"/>
            <a:ext cx="1005840" cy="237744"/>
          </a:xfrm>
          <a:prstGeom prst="rect">
            <a:avLst/>
          </a:prstGeom>
          <a:noFill/>
          <a:ln/>
        </p:spPr>
        <p:txBody>
          <a:bodyPr wrap="square" lIns="0" tIns="0" rIns="0" bIns="0" rtlCol="0" anchor="ctr"/>
          <a:lstStyle/>
          <a:p>
            <a:pPr marL="0" indent="0" algn="ctr">
              <a:buNone/>
            </a:pPr>
            <a:r>
              <a:rPr lang="en-US" sz="950" b="1" dirty="0">
                <a:solidFill>
                  <a:schemeClr val="bg1"/>
                </a:solidFill>
              </a:rPr>
              <a:t>Families</a:t>
            </a:r>
            <a:endParaRPr lang="en-US" sz="950" dirty="0"/>
          </a:p>
        </p:txBody>
      </p:sp>
      <p:pic>
        <p:nvPicPr>
          <p:cNvPr id="30" name="Arrow 3" descr="preencoded.png"/>
          <p:cNvPicPr>
            <a:picLocks noChangeAspect="1"/>
          </p:cNvPicPr>
          <p:nvPr/>
        </p:nvPicPr>
        <p:blipFill>
          <a:blip r:embed="rId4"/>
          <a:stretch>
            <a:fillRect/>
          </a:stretch>
        </p:blipFill>
        <p:spPr>
          <a:xfrm>
            <a:off x="5349240" y="2276856"/>
            <a:ext cx="146304" cy="146304"/>
          </a:xfrm>
          <a:prstGeom prst="rect">
            <a:avLst/>
          </a:prstGeom>
        </p:spPr>
      </p:pic>
      <p:sp>
        <p:nvSpPr>
          <p:cNvPr id="31" name="Step 4 card"/>
          <p:cNvSpPr/>
          <p:nvPr/>
        </p:nvSpPr>
        <p:spPr>
          <a:xfrm>
            <a:off x="5504688" y="1207008"/>
            <a:ext cx="1517904" cy="2286000"/>
          </a:xfrm>
          <a:prstGeom prst="roundRect">
            <a:avLst>
              <a:gd name="adj" fmla="val 4819"/>
            </a:avLst>
          </a:prstGeom>
          <a:solidFill>
            <a:schemeClr val="bg2"/>
          </a:solidFill>
          <a:ln/>
        </p:spPr>
      </p:sp>
      <p:sp>
        <p:nvSpPr>
          <p:cNvPr id="32" name="Step 4 circle"/>
          <p:cNvSpPr/>
          <p:nvPr/>
        </p:nvSpPr>
        <p:spPr>
          <a:xfrm>
            <a:off x="5641848" y="1344168"/>
            <a:ext cx="438912" cy="438912"/>
          </a:xfrm>
          <a:prstGeom prst="ellipse">
            <a:avLst/>
          </a:prstGeom>
          <a:solidFill>
            <a:schemeClr val="tx1"/>
          </a:solidFill>
          <a:ln/>
        </p:spPr>
      </p:sp>
      <p:pic>
        <p:nvPicPr>
          <p:cNvPr id="33" name="Step 4 icon" descr="Step 4"/>
          <p:cNvPicPr>
            <a:picLocks noChangeAspect="1"/>
          </p:cNvPicPr>
          <p:nvPr/>
        </p:nvPicPr>
        <p:blipFill>
          <a:blip r:embed="rId7"/>
          <a:stretch>
            <a:fillRect/>
          </a:stretch>
        </p:blipFill>
        <p:spPr>
          <a:xfrm>
            <a:off x="5747187" y="1449507"/>
            <a:ext cx="228234" cy="228234"/>
          </a:xfrm>
          <a:prstGeom prst="rect">
            <a:avLst/>
          </a:prstGeom>
        </p:spPr>
      </p:pic>
      <p:sp>
        <p:nvSpPr>
          <p:cNvPr id="34" name="Step 4 number"/>
          <p:cNvSpPr txBox="1"/>
          <p:nvPr/>
        </p:nvSpPr>
        <p:spPr>
          <a:xfrm>
            <a:off x="6611112" y="1344168"/>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4</a:t>
            </a:r>
            <a:endParaRPr lang="en-US" sz="1800" dirty="0"/>
          </a:p>
        </p:txBody>
      </p:sp>
      <p:sp>
        <p:nvSpPr>
          <p:cNvPr id="35" name="Step 4 heading"/>
          <p:cNvSpPr txBox="1"/>
          <p:nvPr/>
        </p:nvSpPr>
        <p:spPr>
          <a:xfrm>
            <a:off x="5641848" y="1892808"/>
            <a:ext cx="1243584" cy="438912"/>
          </a:xfrm>
          <a:prstGeom prst="rect">
            <a:avLst/>
          </a:prstGeom>
          <a:noFill/>
          <a:ln/>
        </p:spPr>
        <p:txBody>
          <a:bodyPr wrap="square" lIns="0" tIns="0" rIns="0" bIns="0" rtlCol="0" anchor="t"/>
          <a:lstStyle/>
          <a:p>
            <a:pPr marL="0" indent="0">
              <a:buNone/>
            </a:pPr>
            <a:r>
              <a:rPr lang="en-US" sz="1250" b="1" dirty="0">
                <a:solidFill>
                  <a:schemeClr val="tx1"/>
                </a:solidFill>
              </a:rPr>
              <a:t>You check and follow up</a:t>
            </a:r>
            <a:endParaRPr lang="en-US" sz="1250" dirty="0"/>
          </a:p>
        </p:txBody>
      </p:sp>
      <p:sp>
        <p:nvSpPr>
          <p:cNvPr id="36" name="Step 4 text"/>
          <p:cNvSpPr txBox="1"/>
          <p:nvPr/>
        </p:nvSpPr>
        <p:spPr>
          <a:xfrm>
            <a:off x="5641848" y="2350008"/>
            <a:ext cx="1243584" cy="731520"/>
          </a:xfrm>
          <a:prstGeom prst="rect">
            <a:avLst/>
          </a:prstGeom>
          <a:noFill/>
          <a:ln/>
        </p:spPr>
        <p:txBody>
          <a:bodyPr wrap="square" lIns="0" tIns="0" rIns="0" bIns="0" rtlCol="0" anchor="t"/>
          <a:lstStyle/>
          <a:p>
            <a:pPr marL="0" indent="0">
              <a:buNone/>
            </a:pPr>
            <a:r>
              <a:rPr lang="en-US" sz="1050" dirty="0">
                <a:solidFill>
                  <a:schemeClr val="tx2"/>
                </a:solidFill>
              </a:rPr>
              <a:t>Check new registrations and tick families off last year’s list.</a:t>
            </a:r>
            <a:endParaRPr lang="en-US" sz="1050" dirty="0"/>
          </a:p>
        </p:txBody>
      </p:sp>
      <p:sp>
        <p:nvSpPr>
          <p:cNvPr id="37" name="Step 4 who chip"/>
          <p:cNvSpPr/>
          <p:nvPr/>
        </p:nvSpPr>
        <p:spPr>
          <a:xfrm>
            <a:off x="5641848" y="3127248"/>
            <a:ext cx="1005840" cy="237744"/>
          </a:xfrm>
          <a:prstGeom prst="roundRect">
            <a:avLst>
              <a:gd name="adj" fmla="val 50000"/>
            </a:avLst>
          </a:prstGeom>
          <a:solidFill>
            <a:schemeClr val="accent2"/>
          </a:solidFill>
          <a:ln/>
        </p:spPr>
      </p:sp>
      <p:sp>
        <p:nvSpPr>
          <p:cNvPr id="38" name="Step 4 who label"/>
          <p:cNvSpPr txBox="1"/>
          <p:nvPr/>
        </p:nvSpPr>
        <p:spPr>
          <a:xfrm>
            <a:off x="5641848" y="3127248"/>
            <a:ext cx="1005840" cy="237744"/>
          </a:xfrm>
          <a:prstGeom prst="rect">
            <a:avLst/>
          </a:prstGeom>
          <a:noFill/>
          <a:ln/>
        </p:spPr>
        <p:txBody>
          <a:bodyPr wrap="square" lIns="0" tIns="0" rIns="0" bIns="0" rtlCol="0" anchor="ctr"/>
          <a:lstStyle/>
          <a:p>
            <a:pPr marL="0" indent="0" algn="ctr">
              <a:buNone/>
            </a:pPr>
            <a:r>
              <a:rPr lang="en-US" sz="950" b="1" dirty="0">
                <a:solidFill>
                  <a:schemeClr val="bg1"/>
                </a:solidFill>
              </a:rPr>
              <a:t>You</a:t>
            </a:r>
            <a:endParaRPr lang="en-US" sz="950" dirty="0"/>
          </a:p>
        </p:txBody>
      </p:sp>
      <p:pic>
        <p:nvPicPr>
          <p:cNvPr id="39" name="Arrow 4" descr="preencoded.png"/>
          <p:cNvPicPr>
            <a:picLocks noChangeAspect="1"/>
          </p:cNvPicPr>
          <p:nvPr/>
        </p:nvPicPr>
        <p:blipFill>
          <a:blip r:embed="rId4"/>
          <a:stretch>
            <a:fillRect/>
          </a:stretch>
        </p:blipFill>
        <p:spPr>
          <a:xfrm>
            <a:off x="7031736" y="2276856"/>
            <a:ext cx="146304" cy="146304"/>
          </a:xfrm>
          <a:prstGeom prst="rect">
            <a:avLst/>
          </a:prstGeom>
        </p:spPr>
      </p:pic>
      <p:sp>
        <p:nvSpPr>
          <p:cNvPr id="40" name="Step 5 card"/>
          <p:cNvSpPr/>
          <p:nvPr/>
        </p:nvSpPr>
        <p:spPr>
          <a:xfrm>
            <a:off x="7187184" y="1207008"/>
            <a:ext cx="1517904" cy="2286000"/>
          </a:xfrm>
          <a:prstGeom prst="roundRect">
            <a:avLst>
              <a:gd name="adj" fmla="val 4819"/>
            </a:avLst>
          </a:prstGeom>
          <a:solidFill>
            <a:schemeClr val="bg2"/>
          </a:solidFill>
          <a:ln/>
        </p:spPr>
      </p:sp>
      <p:sp>
        <p:nvSpPr>
          <p:cNvPr id="41" name="Step 5 circle"/>
          <p:cNvSpPr/>
          <p:nvPr/>
        </p:nvSpPr>
        <p:spPr>
          <a:xfrm>
            <a:off x="7324344" y="1344168"/>
            <a:ext cx="438912" cy="438912"/>
          </a:xfrm>
          <a:prstGeom prst="ellipse">
            <a:avLst/>
          </a:prstGeom>
          <a:solidFill>
            <a:schemeClr val="tx1"/>
          </a:solidFill>
          <a:ln/>
        </p:spPr>
      </p:sp>
      <p:pic>
        <p:nvPicPr>
          <p:cNvPr id="42" name="Step 5 icon" descr="Step 5"/>
          <p:cNvPicPr>
            <a:picLocks noChangeAspect="1"/>
          </p:cNvPicPr>
          <p:nvPr/>
        </p:nvPicPr>
        <p:blipFill>
          <a:blip r:embed="rId8"/>
          <a:stretch>
            <a:fillRect/>
          </a:stretch>
        </p:blipFill>
        <p:spPr>
          <a:xfrm>
            <a:off x="7429683" y="1449507"/>
            <a:ext cx="228234" cy="228234"/>
          </a:xfrm>
          <a:prstGeom prst="rect">
            <a:avLst/>
          </a:prstGeom>
        </p:spPr>
      </p:pic>
      <p:sp>
        <p:nvSpPr>
          <p:cNvPr id="43" name="Step 5 number"/>
          <p:cNvSpPr txBox="1"/>
          <p:nvPr/>
        </p:nvSpPr>
        <p:spPr>
          <a:xfrm>
            <a:off x="8293608" y="1344168"/>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5</a:t>
            </a:r>
            <a:endParaRPr lang="en-US" sz="1800" dirty="0"/>
          </a:p>
        </p:txBody>
      </p:sp>
      <p:sp>
        <p:nvSpPr>
          <p:cNvPr id="44" name="Step 5 heading"/>
          <p:cNvSpPr txBox="1"/>
          <p:nvPr/>
        </p:nvSpPr>
        <p:spPr>
          <a:xfrm>
            <a:off x="7324344" y="1892808"/>
            <a:ext cx="1243584" cy="438912"/>
          </a:xfrm>
          <a:prstGeom prst="rect">
            <a:avLst/>
          </a:prstGeom>
          <a:noFill/>
          <a:ln/>
        </p:spPr>
        <p:txBody>
          <a:bodyPr wrap="square" lIns="0" tIns="0" rIns="0" bIns="0" rtlCol="0" anchor="t"/>
          <a:lstStyle/>
          <a:p>
            <a:pPr marL="0" indent="0">
              <a:buNone/>
            </a:pPr>
            <a:r>
              <a:rPr lang="en-US" sz="1250" b="1" dirty="0">
                <a:solidFill>
                  <a:schemeClr val="tx1"/>
                </a:solidFill>
              </a:rPr>
              <a:t>Parish office closes it</a:t>
            </a:r>
            <a:endParaRPr lang="en-US" sz="1250" dirty="0"/>
          </a:p>
        </p:txBody>
      </p:sp>
      <p:sp>
        <p:nvSpPr>
          <p:cNvPr id="45" name="Step 5 text"/>
          <p:cNvSpPr txBox="1"/>
          <p:nvPr/>
        </p:nvSpPr>
        <p:spPr>
          <a:xfrm>
            <a:off x="7324344" y="2350008"/>
            <a:ext cx="1243584" cy="731520"/>
          </a:xfrm>
          <a:prstGeom prst="rect">
            <a:avLst/>
          </a:prstGeom>
          <a:noFill/>
          <a:ln/>
        </p:spPr>
        <p:txBody>
          <a:bodyPr wrap="square" lIns="0" tIns="0" rIns="0" bIns="0" rtlCol="0" anchor="t"/>
          <a:lstStyle/>
          <a:p>
            <a:pPr marL="0" indent="0">
              <a:buNone/>
            </a:pPr>
            <a:r>
              <a:rPr lang="en-US" sz="1050" dirty="0">
                <a:solidFill>
                  <a:schemeClr val="tx2"/>
                </a:solidFill>
              </a:rPr>
              <a:t>Results by GKK, compared with last year’s paper census.</a:t>
            </a:r>
            <a:endParaRPr lang="en-US" sz="1050" dirty="0"/>
          </a:p>
        </p:txBody>
      </p:sp>
      <p:sp>
        <p:nvSpPr>
          <p:cNvPr id="46" name="Step 5 who chip"/>
          <p:cNvSpPr/>
          <p:nvPr/>
        </p:nvSpPr>
        <p:spPr>
          <a:xfrm>
            <a:off x="7324344" y="3127248"/>
            <a:ext cx="1005840" cy="237744"/>
          </a:xfrm>
          <a:prstGeom prst="roundRect">
            <a:avLst>
              <a:gd name="adj" fmla="val 50000"/>
            </a:avLst>
          </a:prstGeom>
          <a:solidFill>
            <a:schemeClr val="accent1"/>
          </a:solidFill>
          <a:ln/>
        </p:spPr>
      </p:sp>
      <p:sp>
        <p:nvSpPr>
          <p:cNvPr id="47" name="Step 5 who label"/>
          <p:cNvSpPr txBox="1"/>
          <p:nvPr/>
        </p:nvSpPr>
        <p:spPr>
          <a:xfrm>
            <a:off x="7324344" y="3127248"/>
            <a:ext cx="1005840" cy="237744"/>
          </a:xfrm>
          <a:prstGeom prst="rect">
            <a:avLst/>
          </a:prstGeom>
          <a:noFill/>
          <a:ln/>
        </p:spPr>
        <p:txBody>
          <a:bodyPr wrap="square" lIns="0" tIns="0" rIns="0" bIns="0" rtlCol="0" anchor="ctr"/>
          <a:lstStyle/>
          <a:p>
            <a:pPr marL="0" indent="0" algn="ctr">
              <a:buNone/>
            </a:pPr>
            <a:r>
              <a:rPr lang="en-US" sz="950" b="1" dirty="0">
                <a:solidFill>
                  <a:schemeClr val="bg1"/>
                </a:solidFill>
              </a:rPr>
              <a:t>Parish office</a:t>
            </a:r>
            <a:endParaRPr lang="en-US" sz="950" dirty="0"/>
          </a:p>
        </p:txBody>
      </p:sp>
      <p:sp>
        <p:nvSpPr>
          <p:cNvPr id="48" name="Year band"/>
          <p:cNvSpPr/>
          <p:nvPr/>
        </p:nvSpPr>
        <p:spPr>
          <a:xfrm>
            <a:off x="457200" y="3657600"/>
            <a:ext cx="8229600" cy="713232"/>
          </a:xfrm>
          <a:prstGeom prst="roundRect">
            <a:avLst>
              <a:gd name="adj" fmla="val 10256"/>
            </a:avLst>
          </a:prstGeom>
          <a:solidFill>
            <a:schemeClr val="tx1"/>
          </a:solidFill>
          <a:ln/>
        </p:spPr>
      </p:sp>
      <p:sp>
        <p:nvSpPr>
          <p:cNvPr id="49" name="This year"/>
          <p:cNvSpPr txBox="1"/>
          <p:nvPr/>
        </p:nvSpPr>
        <p:spPr>
          <a:xfrm>
            <a:off x="640080" y="3657600"/>
            <a:ext cx="3794760" cy="713232"/>
          </a:xfrm>
          <a:prstGeom prst="rect">
            <a:avLst/>
          </a:prstGeom>
          <a:noFill/>
          <a:ln/>
        </p:spPr>
        <p:txBody>
          <a:bodyPr wrap="square" lIns="0" tIns="0" rIns="0" bIns="0" rtlCol="0" anchor="ctr"/>
          <a:lstStyle/>
          <a:p>
            <a:pPr marL="0" indent="0">
              <a:buNone/>
            </a:pPr>
            <a:r>
              <a:rPr lang="en-US" sz="1150" b="1" dirty="0">
                <a:solidFill>
                  <a:schemeClr val="accent6"/>
                </a:solidFill>
              </a:rPr>
              <a:t>This year  </a:t>
            </a:r>
            <a:r>
              <a:rPr lang="en-US" sz="1150" dirty="0">
                <a:solidFill>
                  <a:schemeClr val="bg1"/>
                </a:solidFill>
              </a:rPr>
              <a:t>Families register: “Irehistro ang Inyong Pamilya”</a:t>
            </a:r>
            <a:endParaRPr lang="en-US" sz="1150" dirty="0"/>
          </a:p>
        </p:txBody>
      </p:sp>
      <p:pic>
        <p:nvPicPr>
          <p:cNvPr id="50" name="Year arrow" descr="preencoded.png"/>
          <p:cNvPicPr>
            <a:picLocks noChangeAspect="1"/>
          </p:cNvPicPr>
          <p:nvPr/>
        </p:nvPicPr>
        <p:blipFill>
          <a:blip r:embed="rId9"/>
          <a:stretch>
            <a:fillRect/>
          </a:stretch>
        </p:blipFill>
        <p:spPr>
          <a:xfrm>
            <a:off x="4462272" y="3904488"/>
            <a:ext cx="219456" cy="219456"/>
          </a:xfrm>
          <a:prstGeom prst="rect">
            <a:avLst/>
          </a:prstGeom>
        </p:spPr>
      </p:pic>
      <p:sp>
        <p:nvSpPr>
          <p:cNvPr id="51" name="Next year"/>
          <p:cNvSpPr txBox="1"/>
          <p:nvPr/>
        </p:nvSpPr>
        <p:spPr>
          <a:xfrm>
            <a:off x="4800600" y="3657600"/>
            <a:ext cx="3749040" cy="713232"/>
          </a:xfrm>
          <a:prstGeom prst="rect">
            <a:avLst/>
          </a:prstGeom>
          <a:noFill/>
          <a:ln/>
        </p:spPr>
        <p:txBody>
          <a:bodyPr wrap="square" lIns="0" tIns="0" rIns="0" bIns="0" rtlCol="0" anchor="ctr"/>
          <a:lstStyle/>
          <a:p>
            <a:pPr marL="0" indent="0">
              <a:buNone/>
            </a:pPr>
            <a:r>
              <a:rPr lang="en-US" sz="1150" b="1" dirty="0">
                <a:solidFill>
                  <a:schemeClr val="accent6"/>
                </a:solidFill>
              </a:rPr>
              <a:t>From next year  </a:t>
            </a:r>
            <a:r>
              <a:rPr lang="en-US" sz="1150" dirty="0">
                <a:solidFill>
                  <a:schemeClr val="bg1"/>
                </a:solidFill>
              </a:rPr>
              <a:t>They only update: “Narehistro na? I-update ang inyong rekord”</a:t>
            </a:r>
            <a:endParaRPr lang="en-US" sz="1150" dirty="0"/>
          </a:p>
        </p:txBody>
      </p:sp>
      <p:sp>
        <p:nvSpPr>
          <p:cNvPr id="52" name="Code note"/>
          <p:cNvSpPr txBox="1"/>
          <p:nvPr/>
        </p:nvSpPr>
        <p:spPr>
          <a:xfrm>
            <a:off x="457200" y="4443984"/>
            <a:ext cx="8229600" cy="274320"/>
          </a:xfrm>
          <a:prstGeom prst="rect">
            <a:avLst/>
          </a:prstGeom>
          <a:noFill/>
          <a:ln/>
        </p:spPr>
        <p:txBody>
          <a:bodyPr wrap="square" lIns="0" tIns="0" rIns="0" bIns="0" rtlCol="0" anchor="t"/>
          <a:lstStyle/>
          <a:p>
            <a:pPr marL="0" indent="0">
              <a:buNone/>
            </a:pPr>
            <a:r>
              <a:rPr lang="en-US" sz="1100" i="1" dirty="0">
                <a:solidFill>
                  <a:schemeClr val="accent4"/>
                </a:solidFill>
              </a:rPr>
              <a:t>Each family gets a reference number and code when it registers. They will need it next year.</a:t>
            </a:r>
            <a:endParaRPr lang="en-US" sz="1100" dirty="0"/>
          </a:p>
        </p:txBody>
      </p:sp>
      <p:sp>
        <p:nvSpPr>
          <p:cNvPr id="53"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Set up your GKK before the census starts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marL="0" indent="0">
              <a:buNone/>
            </a:pPr>
            <a:r>
              <a:rPr lang="en-US" sz="1300" dirty="0">
                <a:solidFill>
                  <a:schemeClr val="tx2"/>
                </a:solidFill>
              </a:rPr>
              <a:t>Do these once. Your chapel profile is under Settings → GKK Config → My GKK.</a:t>
            </a:r>
            <a:endParaRPr lang="en-US" sz="1300" dirty="0"/>
          </a:p>
        </p:txBody>
      </p:sp>
      <p:sp>
        <p:nvSpPr>
          <p:cNvPr id="4" name="Setup 1 card"/>
          <p:cNvSpPr/>
          <p:nvPr/>
        </p:nvSpPr>
        <p:spPr>
          <a:xfrm>
            <a:off x="457200" y="1188720"/>
            <a:ext cx="2624328" cy="1627632"/>
          </a:xfrm>
          <a:prstGeom prst="roundRect">
            <a:avLst>
              <a:gd name="adj" fmla="val 4494"/>
            </a:avLst>
          </a:prstGeom>
          <a:solidFill>
            <a:schemeClr val="bg2"/>
          </a:solidFill>
          <a:ln/>
        </p:spPr>
      </p:sp>
      <p:sp>
        <p:nvSpPr>
          <p:cNvPr id="5" name="Setup 1 circle"/>
          <p:cNvSpPr/>
          <p:nvPr/>
        </p:nvSpPr>
        <p:spPr>
          <a:xfrm>
            <a:off x="594360" y="1325880"/>
            <a:ext cx="420624" cy="420624"/>
          </a:xfrm>
          <a:prstGeom prst="ellipse">
            <a:avLst/>
          </a:prstGeom>
          <a:solidFill>
            <a:schemeClr val="tx1"/>
          </a:solidFill>
          <a:ln/>
        </p:spPr>
      </p:sp>
      <p:pic>
        <p:nvPicPr>
          <p:cNvPr id="6" name="Setup 1 icon" descr="Setup 1"/>
          <p:cNvPicPr>
            <a:picLocks noChangeAspect="1"/>
          </p:cNvPicPr>
          <p:nvPr/>
        </p:nvPicPr>
        <p:blipFill>
          <a:blip r:embed="rId3"/>
          <a:stretch>
            <a:fillRect/>
          </a:stretch>
        </p:blipFill>
        <p:spPr>
          <a:xfrm>
            <a:off x="695310" y="1426830"/>
            <a:ext cx="218724" cy="218724"/>
          </a:xfrm>
          <a:prstGeom prst="rect">
            <a:avLst/>
          </a:prstGeom>
        </p:spPr>
      </p:pic>
      <p:sp>
        <p:nvSpPr>
          <p:cNvPr id="7" name="Setup 1 heading"/>
          <p:cNvSpPr txBox="1"/>
          <p:nvPr/>
        </p:nvSpPr>
        <p:spPr>
          <a:xfrm>
            <a:off x="1115568" y="1325880"/>
            <a:ext cx="1847088" cy="420624"/>
          </a:xfrm>
          <a:prstGeom prst="rect">
            <a:avLst/>
          </a:prstGeom>
          <a:noFill/>
          <a:ln/>
        </p:spPr>
        <p:txBody>
          <a:bodyPr wrap="square" lIns="0" tIns="0" rIns="0" bIns="0" rtlCol="0" anchor="ctr"/>
          <a:lstStyle/>
          <a:p>
            <a:pPr marL="0" indent="0">
              <a:buNone/>
            </a:pPr>
            <a:r>
              <a:rPr lang="en-US" sz="1300" b="1" dirty="0">
                <a:solidFill>
                  <a:schemeClr val="tx1"/>
                </a:solidFill>
              </a:rPr>
              <a:t>Sign in and set your password</a:t>
            </a:r>
            <a:endParaRPr lang="en-US" sz="1300" dirty="0"/>
          </a:p>
        </p:txBody>
      </p:sp>
      <p:sp>
        <p:nvSpPr>
          <p:cNvPr id="8" name="Setup 1 text"/>
          <p:cNvSpPr txBox="1"/>
          <p:nvPr/>
        </p:nvSpPr>
        <p:spPr>
          <a:xfrm>
            <a:off x="594360" y="1847088"/>
            <a:ext cx="2350008" cy="850392"/>
          </a:xfrm>
          <a:prstGeom prst="rect">
            <a:avLst/>
          </a:prstGeom>
          <a:noFill/>
          <a:ln/>
        </p:spPr>
        <p:txBody>
          <a:bodyPr wrap="square" lIns="0" tIns="0" rIns="0" bIns="0" rtlCol="0" anchor="t"/>
          <a:lstStyle/>
          <a:p>
            <a:pPr marL="0" indent="0">
              <a:buNone/>
            </a:pPr>
            <a:r>
              <a:rPr lang="en-US" sz="1100" dirty="0">
                <a:solidFill>
                  <a:schemeClr val="tx2"/>
                </a:solidFill>
              </a:rPr>
              <a:t>The parish office creates your </a:t>
            </a:r>
            <a:r>
              <a:rPr lang="en-US" sz="1100" b="1" dirty="0">
                <a:solidFill>
                  <a:schemeClr val="tx1"/>
                </a:solidFill>
              </a:rPr>
              <a:t>Census Coordinator</a:t>
            </a:r>
            <a:r>
              <a:rPr lang="en-US" sz="1100" dirty="0">
                <a:solidFill>
                  <a:schemeClr val="tx2"/>
                </a:solidFill>
              </a:rPr>
              <a:t> account for your GKK. Sign in with the temporary password, then set your own (10+ characters).</a:t>
            </a:r>
            <a:endParaRPr lang="en-US" sz="1100" dirty="0"/>
          </a:p>
        </p:txBody>
      </p:sp>
      <p:sp>
        <p:nvSpPr>
          <p:cNvPr id="9" name="Setup 2 card"/>
          <p:cNvSpPr/>
          <p:nvPr/>
        </p:nvSpPr>
        <p:spPr>
          <a:xfrm>
            <a:off x="3264408" y="1188720"/>
            <a:ext cx="2624328" cy="1627632"/>
          </a:xfrm>
          <a:prstGeom prst="roundRect">
            <a:avLst>
              <a:gd name="adj" fmla="val 4494"/>
            </a:avLst>
          </a:prstGeom>
          <a:solidFill>
            <a:schemeClr val="bg2"/>
          </a:solidFill>
          <a:ln/>
        </p:spPr>
      </p:sp>
      <p:sp>
        <p:nvSpPr>
          <p:cNvPr id="10" name="Setup 2 circle"/>
          <p:cNvSpPr/>
          <p:nvPr/>
        </p:nvSpPr>
        <p:spPr>
          <a:xfrm>
            <a:off x="3401568" y="1325880"/>
            <a:ext cx="420624" cy="420624"/>
          </a:xfrm>
          <a:prstGeom prst="ellipse">
            <a:avLst/>
          </a:prstGeom>
          <a:solidFill>
            <a:schemeClr val="tx1"/>
          </a:solidFill>
          <a:ln/>
        </p:spPr>
      </p:sp>
      <p:pic>
        <p:nvPicPr>
          <p:cNvPr id="11" name="Setup 2 icon" descr="Setup 2"/>
          <p:cNvPicPr>
            <a:picLocks noChangeAspect="1"/>
          </p:cNvPicPr>
          <p:nvPr/>
        </p:nvPicPr>
        <p:blipFill>
          <a:blip r:embed="rId4"/>
          <a:stretch>
            <a:fillRect/>
          </a:stretch>
        </p:blipFill>
        <p:spPr>
          <a:xfrm>
            <a:off x="3502518" y="1426830"/>
            <a:ext cx="218724" cy="218724"/>
          </a:xfrm>
          <a:prstGeom prst="rect">
            <a:avLst/>
          </a:prstGeom>
        </p:spPr>
      </p:pic>
      <p:sp>
        <p:nvSpPr>
          <p:cNvPr id="12" name="Setup 2 heading"/>
          <p:cNvSpPr txBox="1"/>
          <p:nvPr/>
        </p:nvSpPr>
        <p:spPr>
          <a:xfrm>
            <a:off x="3922776" y="1325880"/>
            <a:ext cx="1847088" cy="420624"/>
          </a:xfrm>
          <a:prstGeom prst="rect">
            <a:avLst/>
          </a:prstGeom>
          <a:noFill/>
          <a:ln/>
        </p:spPr>
        <p:txBody>
          <a:bodyPr wrap="square" lIns="0" tIns="0" rIns="0" bIns="0" rtlCol="0" anchor="ctr"/>
          <a:lstStyle/>
          <a:p>
            <a:pPr marL="0" indent="0">
              <a:buNone/>
            </a:pPr>
            <a:r>
              <a:rPr lang="en-US" sz="1300" b="1" dirty="0">
                <a:solidFill>
                  <a:schemeClr val="tx1"/>
                </a:solidFill>
              </a:rPr>
              <a:t>Complete your chapel profile</a:t>
            </a:r>
            <a:endParaRPr lang="en-US" sz="1300" dirty="0"/>
          </a:p>
        </p:txBody>
      </p:sp>
      <p:sp>
        <p:nvSpPr>
          <p:cNvPr id="13" name="Setup 2 text"/>
          <p:cNvSpPr txBox="1"/>
          <p:nvPr/>
        </p:nvSpPr>
        <p:spPr>
          <a:xfrm>
            <a:off x="3401568" y="1847088"/>
            <a:ext cx="2350008" cy="850392"/>
          </a:xfrm>
          <a:prstGeom prst="rect">
            <a:avLst/>
          </a:prstGeom>
          <a:noFill/>
          <a:ln/>
        </p:spPr>
        <p:txBody>
          <a:bodyPr wrap="square" lIns="0" tIns="0" rIns="0" bIns="0" rtlCol="0" anchor="t"/>
          <a:lstStyle/>
          <a:p>
            <a:pPr marL="0" indent="0">
              <a:buNone/>
            </a:pPr>
            <a:r>
              <a:rPr lang="en-US" sz="1100" b="1" dirty="0">
                <a:solidFill>
                  <a:schemeClr val="tx1"/>
                </a:solidFill>
              </a:rPr>
              <a:t>Details tab: </a:t>
            </a:r>
            <a:r>
              <a:rPr lang="en-US" sz="1100" dirty="0">
                <a:solidFill>
                  <a:schemeClr val="tx2"/>
                </a:solidFill>
              </a:rPr>
              <a:t>chapel address (required), puroks / sitios, year established, Bible-sharing schedule, meeting place and photos. Click </a:t>
            </a:r>
            <a:r>
              <a:rPr lang="en-US" sz="1100" b="1" dirty="0">
                <a:solidFill>
                  <a:schemeClr val="tx1"/>
                </a:solidFill>
              </a:rPr>
              <a:t>Save details</a:t>
            </a:r>
            <a:r>
              <a:rPr lang="en-US" sz="1100" dirty="0">
                <a:solidFill>
                  <a:schemeClr val="tx2"/>
                </a:solidFill>
              </a:rPr>
              <a:t>.</a:t>
            </a:r>
            <a:endParaRPr lang="en-US" sz="1100" dirty="0"/>
          </a:p>
        </p:txBody>
      </p:sp>
      <p:sp>
        <p:nvSpPr>
          <p:cNvPr id="14" name="Setup 3 card"/>
          <p:cNvSpPr/>
          <p:nvPr/>
        </p:nvSpPr>
        <p:spPr>
          <a:xfrm>
            <a:off x="6071616" y="1188720"/>
            <a:ext cx="2624328" cy="1627632"/>
          </a:xfrm>
          <a:prstGeom prst="roundRect">
            <a:avLst>
              <a:gd name="adj" fmla="val 4494"/>
            </a:avLst>
          </a:prstGeom>
          <a:solidFill>
            <a:schemeClr val="bg2"/>
          </a:solidFill>
          <a:ln/>
        </p:spPr>
      </p:sp>
      <p:sp>
        <p:nvSpPr>
          <p:cNvPr id="15" name="Setup 3 circle"/>
          <p:cNvSpPr/>
          <p:nvPr/>
        </p:nvSpPr>
        <p:spPr>
          <a:xfrm>
            <a:off x="6208776" y="1325880"/>
            <a:ext cx="420624" cy="420624"/>
          </a:xfrm>
          <a:prstGeom prst="ellipse">
            <a:avLst/>
          </a:prstGeom>
          <a:solidFill>
            <a:schemeClr val="tx1"/>
          </a:solidFill>
          <a:ln/>
        </p:spPr>
      </p:sp>
      <p:pic>
        <p:nvPicPr>
          <p:cNvPr id="16" name="Setup 3 icon" descr="Setup 3"/>
          <p:cNvPicPr>
            <a:picLocks noChangeAspect="1"/>
          </p:cNvPicPr>
          <p:nvPr/>
        </p:nvPicPr>
        <p:blipFill>
          <a:blip r:embed="rId5"/>
          <a:stretch>
            <a:fillRect/>
          </a:stretch>
        </p:blipFill>
        <p:spPr>
          <a:xfrm>
            <a:off x="6309726" y="1426830"/>
            <a:ext cx="218724" cy="218724"/>
          </a:xfrm>
          <a:prstGeom prst="rect">
            <a:avLst/>
          </a:prstGeom>
        </p:spPr>
      </p:pic>
      <p:sp>
        <p:nvSpPr>
          <p:cNvPr id="17" name="Setup 3 heading"/>
          <p:cNvSpPr txBox="1"/>
          <p:nvPr/>
        </p:nvSpPr>
        <p:spPr>
          <a:xfrm>
            <a:off x="6729984" y="1325880"/>
            <a:ext cx="1847088" cy="420624"/>
          </a:xfrm>
          <a:prstGeom prst="rect">
            <a:avLst/>
          </a:prstGeom>
          <a:noFill/>
          <a:ln/>
        </p:spPr>
        <p:txBody>
          <a:bodyPr wrap="square" lIns="0" tIns="0" rIns="0" bIns="0" rtlCol="0" anchor="ctr"/>
          <a:lstStyle/>
          <a:p>
            <a:pPr marL="0" indent="0">
              <a:buNone/>
            </a:pPr>
            <a:r>
              <a:rPr lang="en-US" sz="1300" b="1" dirty="0">
                <a:solidFill>
                  <a:schemeClr val="tx1"/>
                </a:solidFill>
              </a:rPr>
              <a:t>Add history and documents</a:t>
            </a:r>
            <a:endParaRPr lang="en-US" sz="1300" dirty="0"/>
          </a:p>
        </p:txBody>
      </p:sp>
      <p:sp>
        <p:nvSpPr>
          <p:cNvPr id="18" name="Setup 3 text"/>
          <p:cNvSpPr txBox="1"/>
          <p:nvPr/>
        </p:nvSpPr>
        <p:spPr>
          <a:xfrm>
            <a:off x="6208776" y="1847088"/>
            <a:ext cx="2350008" cy="850392"/>
          </a:xfrm>
          <a:prstGeom prst="rect">
            <a:avLst/>
          </a:prstGeom>
          <a:noFill/>
          <a:ln/>
        </p:spPr>
        <p:txBody>
          <a:bodyPr wrap="square" lIns="0" tIns="0" rIns="0" bIns="0" rtlCol="0" anchor="t"/>
          <a:lstStyle/>
          <a:p>
            <a:pPr marL="0" indent="0">
              <a:buNone/>
            </a:pPr>
            <a:r>
              <a:rPr lang="en-US" sz="1100" b="1" dirty="0">
                <a:solidFill>
                  <a:schemeClr val="tx1"/>
                </a:solidFill>
              </a:rPr>
              <a:t>History tab: </a:t>
            </a:r>
            <a:r>
              <a:rPr lang="en-US" sz="1100" dirty="0">
                <a:solidFill>
                  <a:schemeClr val="tx2"/>
                </a:solidFill>
              </a:rPr>
              <a:t>write your GKK’s story; the parish office publishes it. </a:t>
            </a:r>
            <a:r>
              <a:rPr lang="en-US" sz="1100" b="1" dirty="0">
                <a:solidFill>
                  <a:schemeClr val="tx1"/>
                </a:solidFill>
              </a:rPr>
              <a:t>Documents tab: </a:t>
            </a:r>
            <a:r>
              <a:rPr lang="en-US" sz="1100" dirty="0">
                <a:solidFill>
                  <a:schemeClr val="tx2"/>
                </a:solidFill>
              </a:rPr>
              <a:t>keep private files such as land titles.</a:t>
            </a:r>
            <a:endParaRPr lang="en-US" sz="1100" dirty="0"/>
          </a:p>
        </p:txBody>
      </p:sp>
      <p:sp>
        <p:nvSpPr>
          <p:cNvPr id="19" name="Setup 4 card"/>
          <p:cNvSpPr/>
          <p:nvPr/>
        </p:nvSpPr>
        <p:spPr>
          <a:xfrm>
            <a:off x="457200" y="2971800"/>
            <a:ext cx="2624328" cy="1627632"/>
          </a:xfrm>
          <a:prstGeom prst="roundRect">
            <a:avLst>
              <a:gd name="adj" fmla="val 4494"/>
            </a:avLst>
          </a:prstGeom>
          <a:solidFill>
            <a:schemeClr val="bg2"/>
          </a:solidFill>
          <a:ln/>
        </p:spPr>
      </p:sp>
      <p:sp>
        <p:nvSpPr>
          <p:cNvPr id="20" name="Setup 4 circle"/>
          <p:cNvSpPr/>
          <p:nvPr/>
        </p:nvSpPr>
        <p:spPr>
          <a:xfrm>
            <a:off x="594360" y="3108960"/>
            <a:ext cx="420624" cy="420624"/>
          </a:xfrm>
          <a:prstGeom prst="ellipse">
            <a:avLst/>
          </a:prstGeom>
          <a:solidFill>
            <a:schemeClr val="tx1"/>
          </a:solidFill>
          <a:ln/>
        </p:spPr>
      </p:sp>
      <p:pic>
        <p:nvPicPr>
          <p:cNvPr id="21" name="Setup 4 icon" descr="Setup 4"/>
          <p:cNvPicPr>
            <a:picLocks noChangeAspect="1"/>
          </p:cNvPicPr>
          <p:nvPr/>
        </p:nvPicPr>
        <p:blipFill>
          <a:blip r:embed="rId6"/>
          <a:stretch>
            <a:fillRect/>
          </a:stretch>
        </p:blipFill>
        <p:spPr>
          <a:xfrm>
            <a:off x="695310" y="3209910"/>
            <a:ext cx="218724" cy="218724"/>
          </a:xfrm>
          <a:prstGeom prst="rect">
            <a:avLst/>
          </a:prstGeom>
        </p:spPr>
      </p:pic>
      <p:sp>
        <p:nvSpPr>
          <p:cNvPr id="22" name="Setup 4 heading"/>
          <p:cNvSpPr txBox="1"/>
          <p:nvPr/>
        </p:nvSpPr>
        <p:spPr>
          <a:xfrm>
            <a:off x="1115568" y="3108960"/>
            <a:ext cx="1847088" cy="420624"/>
          </a:xfrm>
          <a:prstGeom prst="rect">
            <a:avLst/>
          </a:prstGeom>
          <a:noFill/>
          <a:ln/>
        </p:spPr>
        <p:txBody>
          <a:bodyPr wrap="square" lIns="0" tIns="0" rIns="0" bIns="0" rtlCol="0" anchor="ctr"/>
          <a:lstStyle/>
          <a:p>
            <a:pPr marL="0" indent="0">
              <a:buNone/>
            </a:pPr>
            <a:r>
              <a:rPr lang="en-US" sz="1300" b="1" dirty="0">
                <a:solidFill>
                  <a:schemeClr val="tx1"/>
                </a:solidFill>
              </a:rPr>
              <a:t>Register your own family first</a:t>
            </a:r>
            <a:endParaRPr lang="en-US" sz="1300" dirty="0"/>
          </a:p>
        </p:txBody>
      </p:sp>
      <p:sp>
        <p:nvSpPr>
          <p:cNvPr id="23" name="Setup 4 text"/>
          <p:cNvSpPr txBox="1"/>
          <p:nvPr/>
        </p:nvSpPr>
        <p:spPr>
          <a:xfrm>
            <a:off x="594360" y="3630168"/>
            <a:ext cx="2350008" cy="850392"/>
          </a:xfrm>
          <a:prstGeom prst="rect">
            <a:avLst/>
          </a:prstGeom>
          <a:noFill/>
          <a:ln/>
        </p:spPr>
        <p:txBody>
          <a:bodyPr wrap="square" lIns="0" tIns="0" rIns="0" bIns="0" rtlCol="0" anchor="t"/>
          <a:lstStyle/>
          <a:p>
            <a:pPr marL="0" indent="0">
              <a:buNone/>
            </a:pPr>
            <a:r>
              <a:rPr lang="en-US" sz="1100" dirty="0">
                <a:solidFill>
                  <a:schemeClr val="tx2"/>
                </a:solidFill>
              </a:rPr>
              <a:t>Go through the online form yourself so you can guide others. Once your officers register, set their </a:t>
            </a:r>
            <a:r>
              <a:rPr lang="en-US" sz="1100" b="1" dirty="0">
                <a:solidFill>
                  <a:schemeClr val="tx1"/>
                </a:solidFill>
              </a:rPr>
              <a:t>Responsibility in GKK</a:t>
            </a:r>
            <a:r>
              <a:rPr lang="en-US" sz="1100" dirty="0">
                <a:solidFill>
                  <a:schemeClr val="tx2"/>
                </a:solidFill>
              </a:rPr>
              <a:t>.</a:t>
            </a:r>
            <a:endParaRPr lang="en-US" sz="1100" dirty="0"/>
          </a:p>
        </p:txBody>
      </p:sp>
      <p:sp>
        <p:nvSpPr>
          <p:cNvPr id="24" name="Setup 5 card"/>
          <p:cNvSpPr/>
          <p:nvPr/>
        </p:nvSpPr>
        <p:spPr>
          <a:xfrm>
            <a:off x="3264408" y="2971800"/>
            <a:ext cx="2624328" cy="1627632"/>
          </a:xfrm>
          <a:prstGeom prst="roundRect">
            <a:avLst>
              <a:gd name="adj" fmla="val 4494"/>
            </a:avLst>
          </a:prstGeom>
          <a:solidFill>
            <a:schemeClr val="bg2"/>
          </a:solidFill>
          <a:ln/>
        </p:spPr>
      </p:sp>
      <p:sp>
        <p:nvSpPr>
          <p:cNvPr id="25" name="Setup 5 circle"/>
          <p:cNvSpPr/>
          <p:nvPr/>
        </p:nvSpPr>
        <p:spPr>
          <a:xfrm>
            <a:off x="3401568" y="3108960"/>
            <a:ext cx="420624" cy="420624"/>
          </a:xfrm>
          <a:prstGeom prst="ellipse">
            <a:avLst/>
          </a:prstGeom>
          <a:solidFill>
            <a:schemeClr val="tx1"/>
          </a:solidFill>
          <a:ln/>
        </p:spPr>
      </p:sp>
      <p:pic>
        <p:nvPicPr>
          <p:cNvPr id="26" name="Setup 5 icon" descr="Setup 5"/>
          <p:cNvPicPr>
            <a:picLocks noChangeAspect="1"/>
          </p:cNvPicPr>
          <p:nvPr/>
        </p:nvPicPr>
        <p:blipFill>
          <a:blip r:embed="rId7"/>
          <a:stretch>
            <a:fillRect/>
          </a:stretch>
        </p:blipFill>
        <p:spPr>
          <a:xfrm>
            <a:off x="3502518" y="3209910"/>
            <a:ext cx="218724" cy="218724"/>
          </a:xfrm>
          <a:prstGeom prst="rect">
            <a:avLst/>
          </a:prstGeom>
        </p:spPr>
      </p:pic>
      <p:sp>
        <p:nvSpPr>
          <p:cNvPr id="27" name="Setup 5 heading"/>
          <p:cNvSpPr txBox="1"/>
          <p:nvPr/>
        </p:nvSpPr>
        <p:spPr>
          <a:xfrm>
            <a:off x="3922776" y="3108960"/>
            <a:ext cx="1847088" cy="420624"/>
          </a:xfrm>
          <a:prstGeom prst="rect">
            <a:avLst/>
          </a:prstGeom>
          <a:noFill/>
          <a:ln/>
        </p:spPr>
        <p:txBody>
          <a:bodyPr wrap="square" lIns="0" tIns="0" rIns="0" bIns="0" rtlCol="0" anchor="ctr"/>
          <a:lstStyle/>
          <a:p>
            <a:pPr marL="0" indent="0">
              <a:buNone/>
            </a:pPr>
            <a:r>
              <a:rPr lang="en-US" sz="1300" b="1" dirty="0">
                <a:solidFill>
                  <a:schemeClr val="tx1"/>
                </a:solidFill>
              </a:rPr>
              <a:t>Load last year’s list</a:t>
            </a:r>
            <a:endParaRPr lang="en-US" sz="1300" dirty="0"/>
          </a:p>
        </p:txBody>
      </p:sp>
      <p:sp>
        <p:nvSpPr>
          <p:cNvPr id="28" name="Setup 5 text"/>
          <p:cNvSpPr txBox="1"/>
          <p:nvPr/>
        </p:nvSpPr>
        <p:spPr>
          <a:xfrm>
            <a:off x="3401568" y="3630168"/>
            <a:ext cx="2350008" cy="850392"/>
          </a:xfrm>
          <a:prstGeom prst="rect">
            <a:avLst/>
          </a:prstGeom>
          <a:noFill/>
          <a:ln/>
        </p:spPr>
        <p:txBody>
          <a:bodyPr wrap="square" lIns="0" tIns="0" rIns="0" bIns="0" rtlCol="0" anchor="t"/>
          <a:lstStyle/>
          <a:p>
            <a:pPr marL="0" indent="0">
              <a:buNone/>
            </a:pPr>
            <a:r>
              <a:rPr lang="en-US" sz="1100" b="1" dirty="0">
                <a:solidFill>
                  <a:schemeClr val="tx1"/>
                </a:solidFill>
              </a:rPr>
              <a:t>My GKK → Last year’s list: </a:t>
            </a:r>
            <a:r>
              <a:rPr lang="en-US" sz="1100" dirty="0">
                <a:solidFill>
                  <a:schemeClr val="tx2"/>
                </a:solidFill>
              </a:rPr>
              <a:t>add each family from last year’s paper census, or upload a CSV. This is your checklist.</a:t>
            </a:r>
            <a:endParaRPr lang="en-US" sz="1100" dirty="0"/>
          </a:p>
        </p:txBody>
      </p:sp>
      <p:sp>
        <p:nvSpPr>
          <p:cNvPr id="29" name="Setup 6 card"/>
          <p:cNvSpPr/>
          <p:nvPr/>
        </p:nvSpPr>
        <p:spPr>
          <a:xfrm>
            <a:off x="6071616" y="2971800"/>
            <a:ext cx="2624328" cy="1627632"/>
          </a:xfrm>
          <a:prstGeom prst="roundRect">
            <a:avLst>
              <a:gd name="adj" fmla="val 4494"/>
            </a:avLst>
          </a:prstGeom>
          <a:solidFill>
            <a:schemeClr val="bg2"/>
          </a:solidFill>
          <a:ln/>
        </p:spPr>
      </p:sp>
      <p:sp>
        <p:nvSpPr>
          <p:cNvPr id="30" name="Setup 6 circle"/>
          <p:cNvSpPr/>
          <p:nvPr/>
        </p:nvSpPr>
        <p:spPr>
          <a:xfrm>
            <a:off x="6208776" y="3108960"/>
            <a:ext cx="420624" cy="420624"/>
          </a:xfrm>
          <a:prstGeom prst="ellipse">
            <a:avLst/>
          </a:prstGeom>
          <a:solidFill>
            <a:schemeClr val="tx1"/>
          </a:solidFill>
          <a:ln/>
        </p:spPr>
      </p:sp>
      <p:pic>
        <p:nvPicPr>
          <p:cNvPr id="31" name="Setup 6 icon" descr="Setup 6"/>
          <p:cNvPicPr>
            <a:picLocks noChangeAspect="1"/>
          </p:cNvPicPr>
          <p:nvPr/>
        </p:nvPicPr>
        <p:blipFill>
          <a:blip r:embed="rId8"/>
          <a:stretch>
            <a:fillRect/>
          </a:stretch>
        </p:blipFill>
        <p:spPr>
          <a:xfrm>
            <a:off x="6309726" y="3209910"/>
            <a:ext cx="218724" cy="218724"/>
          </a:xfrm>
          <a:prstGeom prst="rect">
            <a:avLst/>
          </a:prstGeom>
        </p:spPr>
      </p:pic>
      <p:sp>
        <p:nvSpPr>
          <p:cNvPr id="32" name="Setup 6 heading"/>
          <p:cNvSpPr txBox="1"/>
          <p:nvPr/>
        </p:nvSpPr>
        <p:spPr>
          <a:xfrm>
            <a:off x="6729984" y="3108960"/>
            <a:ext cx="1847088" cy="420624"/>
          </a:xfrm>
          <a:prstGeom prst="rect">
            <a:avLst/>
          </a:prstGeom>
          <a:noFill/>
          <a:ln/>
        </p:spPr>
        <p:txBody>
          <a:bodyPr wrap="square" lIns="0" tIns="0" rIns="0" bIns="0" rtlCol="0" anchor="ctr"/>
          <a:lstStyle/>
          <a:p>
            <a:pPr marL="0" indent="0">
              <a:buNone/>
            </a:pPr>
            <a:r>
              <a:rPr lang="en-US" sz="1300" b="1" dirty="0">
                <a:solidFill>
                  <a:schemeClr val="tx1"/>
                </a:solidFill>
              </a:rPr>
              <a:t>Turn on notifications</a:t>
            </a:r>
            <a:endParaRPr lang="en-US" sz="1300" dirty="0"/>
          </a:p>
        </p:txBody>
      </p:sp>
      <p:sp>
        <p:nvSpPr>
          <p:cNvPr id="33" name="Setup 6 text"/>
          <p:cNvSpPr txBox="1"/>
          <p:nvPr/>
        </p:nvSpPr>
        <p:spPr>
          <a:xfrm>
            <a:off x="6208776" y="3630168"/>
            <a:ext cx="2350008" cy="850392"/>
          </a:xfrm>
          <a:prstGeom prst="rect">
            <a:avLst/>
          </a:prstGeom>
          <a:noFill/>
          <a:ln/>
        </p:spPr>
        <p:txBody>
          <a:bodyPr wrap="square" lIns="0" tIns="0" rIns="0" bIns="0" rtlCol="0" anchor="t"/>
          <a:lstStyle/>
          <a:p>
            <a:pPr marL="0" indent="0">
              <a:buNone/>
            </a:pPr>
            <a:r>
              <a:rPr lang="en-US" sz="1100" b="1" dirty="0">
                <a:solidFill>
                  <a:schemeClr val="tx1"/>
                </a:solidFill>
              </a:rPr>
              <a:t>Settings → Notifications</a:t>
            </a:r>
            <a:r>
              <a:rPr lang="en-US" sz="1100" dirty="0">
                <a:solidFill>
                  <a:schemeClr val="tx2"/>
                </a:solidFill>
              </a:rPr>
              <a:t>, then “Turn on notifications on this device” to hear about each new registration. On iPhone, add the app to the Home Screen first.</a:t>
            </a:r>
            <a:endParaRPr lang="en-US" sz="1100" dirty="0"/>
          </a:p>
        </p:txBody>
      </p:sp>
      <p:sp>
        <p:nvSpPr>
          <p:cNvPr id="34"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Starting the census in your GKK</a:t>
            </a:r>
            <a:endParaRPr lang="en-US" sz="2600" dirty="0"/>
          </a:p>
        </p:txBody>
      </p:sp>
      <p:sp>
        <p:nvSpPr>
          <p:cNvPr id="3" name="Parish office panel"/>
          <p:cNvSpPr/>
          <p:nvPr/>
        </p:nvSpPr>
        <p:spPr>
          <a:xfrm>
            <a:off x="457200" y="1051560"/>
            <a:ext cx="2743200" cy="3639312"/>
          </a:xfrm>
          <a:prstGeom prst="roundRect">
            <a:avLst>
              <a:gd name="adj" fmla="val 2667"/>
            </a:avLst>
          </a:prstGeom>
          <a:solidFill>
            <a:schemeClr val="tx1"/>
          </a:solidFill>
          <a:ln/>
        </p:spPr>
      </p:sp>
      <p:sp>
        <p:nvSpPr>
          <p:cNvPr id="4" name="Start circle"/>
          <p:cNvSpPr/>
          <p:nvPr/>
        </p:nvSpPr>
        <p:spPr>
          <a:xfrm>
            <a:off x="640080" y="1234440"/>
            <a:ext cx="457200" cy="457200"/>
          </a:xfrm>
          <a:prstGeom prst="ellipse">
            <a:avLst/>
          </a:prstGeom>
          <a:solidFill>
            <a:schemeClr val="accent2"/>
          </a:solidFill>
          <a:ln/>
        </p:spPr>
      </p:sp>
      <p:pic>
        <p:nvPicPr>
          <p:cNvPr id="5" name="Start icon" descr="Start"/>
          <p:cNvPicPr>
            <a:picLocks noChangeAspect="1"/>
          </p:cNvPicPr>
          <p:nvPr/>
        </p:nvPicPr>
        <p:blipFill>
          <a:blip r:embed="rId3"/>
          <a:stretch>
            <a:fillRect/>
          </a:stretch>
        </p:blipFill>
        <p:spPr>
          <a:xfrm>
            <a:off x="749808" y="1344168"/>
            <a:ext cx="237744" cy="237744"/>
          </a:xfrm>
          <a:prstGeom prst="rect">
            <a:avLst/>
          </a:prstGeom>
        </p:spPr>
      </p:pic>
      <p:sp>
        <p:nvSpPr>
          <p:cNvPr id="6" name="Office heading"/>
          <p:cNvSpPr txBox="1"/>
          <p:nvPr/>
        </p:nvSpPr>
        <p:spPr>
          <a:xfrm>
            <a:off x="1207008" y="1234440"/>
            <a:ext cx="1874520" cy="457200"/>
          </a:xfrm>
          <a:prstGeom prst="rect">
            <a:avLst/>
          </a:prstGeom>
          <a:noFill/>
          <a:ln/>
        </p:spPr>
        <p:txBody>
          <a:bodyPr wrap="square" lIns="0" tIns="0" rIns="0" bIns="0" rtlCol="0" anchor="ctr"/>
          <a:lstStyle/>
          <a:p>
            <a:pPr marL="0" indent="0">
              <a:buNone/>
            </a:pPr>
            <a:r>
              <a:rPr lang="en-US" sz="1300" b="1" dirty="0">
                <a:solidFill>
                  <a:schemeClr val="accent6"/>
                </a:solidFill>
              </a:rPr>
              <a:t>The parish office opens it</a:t>
            </a:r>
            <a:endParaRPr lang="en-US" sz="1300" dirty="0"/>
          </a:p>
        </p:txBody>
      </p:sp>
      <p:sp>
        <p:nvSpPr>
          <p:cNvPr id="7" name="Office steps"/>
          <p:cNvSpPr txBox="1"/>
          <p:nvPr/>
        </p:nvSpPr>
        <p:spPr>
          <a:xfrm>
            <a:off x="640080" y="1874520"/>
            <a:ext cx="2423160" cy="1554480"/>
          </a:xfrm>
          <a:prstGeom prst="rect">
            <a:avLst/>
          </a:prstGeom>
          <a:noFill/>
          <a:ln/>
        </p:spPr>
        <p:txBody>
          <a:bodyPr wrap="square" lIns="0" tIns="0" rIns="0" bIns="0" rtlCol="0" anchor="t"/>
          <a:lstStyle/>
          <a:p>
            <a:pPr marL="0" indent="0">
              <a:spcAft>
                <a:spcPts val="600"/>
              </a:spcAft>
              <a:buNone/>
            </a:pPr>
            <a:r>
              <a:rPr lang="en-US" sz="1200" dirty="0">
                <a:solidFill>
                  <a:schemeClr val="bg1"/>
                </a:solidFill>
              </a:rPr>
              <a:t>Census → </a:t>
            </a:r>
            <a:r>
              <a:rPr lang="en-US" sz="1200" b="1" dirty="0">
                <a:solidFill>
                  <a:schemeClr val="bg1"/>
                </a:solidFill>
              </a:rPr>
              <a:t>Start a new census</a:t>
            </a:r>
            <a:endParaRPr lang="en-US" sz="1200" dirty="0"/>
          </a:p>
          <a:p>
            <a:pPr marL="0" indent="0">
              <a:spcAft>
                <a:spcPts val="600"/>
              </a:spcAft>
              <a:buNone/>
            </a:pPr>
            <a:r>
              <a:rPr lang="en-US" sz="1200" dirty="0">
                <a:solidFill>
                  <a:schemeClr val="bg1"/>
                </a:solidFill>
              </a:rPr>
              <a:t>Name: </a:t>
            </a:r>
            <a:r>
              <a:rPr lang="en-US" sz="1200" b="1" dirty="0">
                <a:solidFill>
                  <a:schemeClr val="bg1"/>
                </a:solidFill>
              </a:rPr>
              <a:t>“2026 Census”</a:t>
            </a:r>
            <a:endParaRPr lang="en-US" sz="1200" dirty="0"/>
          </a:p>
          <a:p>
            <a:pPr marL="0" indent="0">
              <a:spcAft>
                <a:spcPts val="600"/>
              </a:spcAft>
              <a:buNone/>
            </a:pPr>
            <a:r>
              <a:rPr lang="en-US" sz="1200" dirty="0">
                <a:solidFill>
                  <a:schemeClr val="bg1"/>
                </a:solidFill>
              </a:rPr>
              <a:t>Dates: </a:t>
            </a:r>
            <a:r>
              <a:rPr lang="en-US" sz="1200" b="1" dirty="0">
                <a:solidFill>
                  <a:schemeClr val="bg1"/>
                </a:solidFill>
              </a:rPr>
              <a:t>Starts on, Target end</a:t>
            </a:r>
            <a:endParaRPr lang="en-US" sz="1200" dirty="0"/>
          </a:p>
          <a:p>
            <a:pPr marL="0" indent="0">
              <a:spcAft>
                <a:spcPts val="600"/>
              </a:spcAft>
              <a:buNone/>
            </a:pPr>
            <a:r>
              <a:rPr lang="en-US" sz="1200" dirty="0">
                <a:solidFill>
                  <a:schemeClr val="bg1"/>
                </a:solidFill>
              </a:rPr>
              <a:t>Click </a:t>
            </a:r>
            <a:r>
              <a:rPr lang="en-US" sz="1200" b="1" dirty="0">
                <a:solidFill>
                  <a:schemeClr val="bg1"/>
                </a:solidFill>
              </a:rPr>
              <a:t>Start census</a:t>
            </a:r>
            <a:endParaRPr lang="en-US" sz="1200" dirty="0"/>
          </a:p>
        </p:txBody>
      </p:sp>
      <p:sp>
        <p:nvSpPr>
          <p:cNvPr id="8" name="Office note"/>
          <p:cNvSpPr txBox="1"/>
          <p:nvPr/>
        </p:nvSpPr>
        <p:spPr>
          <a:xfrm>
            <a:off x="640080" y="3337560"/>
            <a:ext cx="2423160" cy="1097280"/>
          </a:xfrm>
          <a:prstGeom prst="rect">
            <a:avLst/>
          </a:prstGeom>
          <a:noFill/>
          <a:ln/>
        </p:spPr>
        <p:txBody>
          <a:bodyPr wrap="square" lIns="0" tIns="0" rIns="0" bIns="0" rtlCol="0" anchor="t"/>
          <a:lstStyle/>
          <a:p>
            <a:pPr marL="0" indent="0">
              <a:buNone/>
            </a:pPr>
            <a:r>
              <a:rPr lang="en-US" sz="1100" i="1" dirty="0">
                <a:solidFill>
                  <a:schemeClr val="accent6"/>
                </a:solidFill>
              </a:rPr>
              <a:t>Once it is open, every family that registers is counted in the census. Only the parish office can start, close or reopen it.</a:t>
            </a:r>
            <a:endParaRPr lang="en-US" sz="1100" dirty="0"/>
          </a:p>
        </p:txBody>
      </p:sp>
      <p:sp>
        <p:nvSpPr>
          <p:cNvPr id="9" name="Then you"/>
          <p:cNvSpPr txBox="1"/>
          <p:nvPr/>
        </p:nvSpPr>
        <p:spPr>
          <a:xfrm>
            <a:off x="3474720" y="1051560"/>
            <a:ext cx="5212080" cy="274320"/>
          </a:xfrm>
          <a:prstGeom prst="rect">
            <a:avLst/>
          </a:prstGeom>
          <a:noFill/>
          <a:ln/>
        </p:spPr>
        <p:txBody>
          <a:bodyPr wrap="square" lIns="0" tIns="0" rIns="0" bIns="0" rtlCol="0" anchor="t"/>
          <a:lstStyle/>
          <a:p>
            <a:pPr marL="0" indent="0">
              <a:buNone/>
            </a:pPr>
            <a:r>
              <a:rPr lang="en-US" sz="1300" b="1" dirty="0">
                <a:solidFill>
                  <a:schemeClr val="accent2"/>
                </a:solidFill>
              </a:rPr>
              <a:t>Then you:</a:t>
            </a:r>
            <a:endParaRPr lang="en-US" sz="1300" dirty="0"/>
          </a:p>
        </p:txBody>
      </p:sp>
      <p:sp>
        <p:nvSpPr>
          <p:cNvPr id="10" name="You step 1 card"/>
          <p:cNvSpPr/>
          <p:nvPr/>
        </p:nvSpPr>
        <p:spPr>
          <a:xfrm>
            <a:off x="3474720" y="1371600"/>
            <a:ext cx="5212080" cy="658368"/>
          </a:xfrm>
          <a:prstGeom prst="roundRect">
            <a:avLst>
              <a:gd name="adj" fmla="val 11111"/>
            </a:avLst>
          </a:prstGeom>
          <a:solidFill>
            <a:schemeClr val="bg2"/>
          </a:solidFill>
          <a:ln/>
        </p:spPr>
      </p:sp>
      <p:sp>
        <p:nvSpPr>
          <p:cNvPr id="11" name="You step 1 number circle"/>
          <p:cNvSpPr/>
          <p:nvPr/>
        </p:nvSpPr>
        <p:spPr>
          <a:xfrm>
            <a:off x="3611880" y="1508760"/>
            <a:ext cx="384048" cy="384048"/>
          </a:xfrm>
          <a:prstGeom prst="ellipse">
            <a:avLst/>
          </a:prstGeom>
          <a:solidFill>
            <a:schemeClr val="accent2"/>
          </a:solidFill>
          <a:ln/>
        </p:spPr>
      </p:sp>
      <p:sp>
        <p:nvSpPr>
          <p:cNvPr id="12" name="You step 1 number"/>
          <p:cNvSpPr txBox="1"/>
          <p:nvPr/>
        </p:nvSpPr>
        <p:spPr>
          <a:xfrm>
            <a:off x="3611880" y="150876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3" name="You step 1 heading"/>
          <p:cNvSpPr txBox="1"/>
          <p:nvPr/>
        </p:nvSpPr>
        <p:spPr>
          <a:xfrm>
            <a:off x="4160520" y="1444752"/>
            <a:ext cx="4389120" cy="246888"/>
          </a:xfrm>
          <a:prstGeom prst="rect">
            <a:avLst/>
          </a:prstGeom>
          <a:noFill/>
          <a:ln/>
        </p:spPr>
        <p:txBody>
          <a:bodyPr wrap="square" lIns="0" tIns="0" rIns="0" bIns="0" rtlCol="0" anchor="t"/>
          <a:lstStyle/>
          <a:p>
            <a:pPr marL="0" indent="0">
              <a:buNone/>
            </a:pPr>
            <a:r>
              <a:rPr lang="en-US" sz="1250" b="1" dirty="0">
                <a:solidFill>
                  <a:schemeClr val="tx1"/>
                </a:solidFill>
              </a:rPr>
              <a:t>Open Census</a:t>
            </a:r>
            <a:endParaRPr lang="en-US" sz="1250" dirty="0"/>
          </a:p>
        </p:txBody>
      </p:sp>
      <p:sp>
        <p:nvSpPr>
          <p:cNvPr id="14" name="You step 1 text"/>
          <p:cNvSpPr txBox="1"/>
          <p:nvPr/>
        </p:nvSpPr>
        <p:spPr>
          <a:xfrm>
            <a:off x="4160520" y="1673352"/>
            <a:ext cx="4389120" cy="329184"/>
          </a:xfrm>
          <a:prstGeom prst="rect">
            <a:avLst/>
          </a:prstGeom>
          <a:noFill/>
          <a:ln/>
        </p:spPr>
        <p:txBody>
          <a:bodyPr wrap="square" lIns="0" tIns="0" rIns="0" bIns="0" rtlCol="0" anchor="t"/>
          <a:lstStyle/>
          <a:p>
            <a:pPr marL="0" indent="0">
              <a:buNone/>
            </a:pPr>
            <a:r>
              <a:rPr lang="en-US" sz="1050" dirty="0">
                <a:solidFill>
                  <a:schemeClr val="tx2"/>
                </a:solidFill>
              </a:rPr>
              <a:t>You see only your GKK. “Registered vs last year” shows how many families have registered so far.</a:t>
            </a:r>
            <a:endParaRPr lang="en-US" sz="1050" dirty="0"/>
          </a:p>
        </p:txBody>
      </p:sp>
      <p:sp>
        <p:nvSpPr>
          <p:cNvPr id="15" name="You step 2 card"/>
          <p:cNvSpPr/>
          <p:nvPr/>
        </p:nvSpPr>
        <p:spPr>
          <a:xfrm>
            <a:off x="3474720" y="2103120"/>
            <a:ext cx="5212080" cy="658368"/>
          </a:xfrm>
          <a:prstGeom prst="roundRect">
            <a:avLst>
              <a:gd name="adj" fmla="val 11111"/>
            </a:avLst>
          </a:prstGeom>
          <a:solidFill>
            <a:schemeClr val="bg2"/>
          </a:solidFill>
          <a:ln/>
        </p:spPr>
      </p:sp>
      <p:sp>
        <p:nvSpPr>
          <p:cNvPr id="16" name="You step 2 number circle"/>
          <p:cNvSpPr/>
          <p:nvPr/>
        </p:nvSpPr>
        <p:spPr>
          <a:xfrm>
            <a:off x="3611880" y="2240280"/>
            <a:ext cx="384048" cy="384048"/>
          </a:xfrm>
          <a:prstGeom prst="ellipse">
            <a:avLst/>
          </a:prstGeom>
          <a:solidFill>
            <a:schemeClr val="accent2"/>
          </a:solidFill>
          <a:ln/>
        </p:spPr>
      </p:sp>
      <p:sp>
        <p:nvSpPr>
          <p:cNvPr id="17" name="You step 2 number"/>
          <p:cNvSpPr txBox="1"/>
          <p:nvPr/>
        </p:nvSpPr>
        <p:spPr>
          <a:xfrm>
            <a:off x="3611880" y="22402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8" name="You step 2 heading"/>
          <p:cNvSpPr txBox="1"/>
          <p:nvPr/>
        </p:nvSpPr>
        <p:spPr>
          <a:xfrm>
            <a:off x="4160520" y="2176272"/>
            <a:ext cx="4389120" cy="246888"/>
          </a:xfrm>
          <a:prstGeom prst="rect">
            <a:avLst/>
          </a:prstGeom>
          <a:noFill/>
          <a:ln/>
        </p:spPr>
        <p:txBody>
          <a:bodyPr wrap="square" lIns="0" tIns="0" rIns="0" bIns="0" rtlCol="0" anchor="t"/>
          <a:lstStyle/>
          <a:p>
            <a:pPr marL="0" indent="0">
              <a:buNone/>
            </a:pPr>
            <a:r>
              <a:rPr lang="en-US" sz="1250" b="1" dirty="0">
                <a:solidFill>
                  <a:schemeClr val="tx1"/>
                </a:solidFill>
              </a:rPr>
              <a:t>Check your checklist</a:t>
            </a:r>
            <a:endParaRPr lang="en-US" sz="1250" dirty="0"/>
          </a:p>
        </p:txBody>
      </p:sp>
      <p:sp>
        <p:nvSpPr>
          <p:cNvPr id="19" name="You step 2 text"/>
          <p:cNvSpPr txBox="1"/>
          <p:nvPr/>
        </p:nvSpPr>
        <p:spPr>
          <a:xfrm>
            <a:off x="4160520" y="2404872"/>
            <a:ext cx="4389120" cy="329184"/>
          </a:xfrm>
          <a:prstGeom prst="rect">
            <a:avLst/>
          </a:prstGeom>
          <a:noFill/>
          <a:ln/>
        </p:spPr>
        <p:txBody>
          <a:bodyPr wrap="square" lIns="0" tIns="0" rIns="0" bIns="0" rtlCol="0" anchor="t"/>
          <a:lstStyle/>
          <a:p>
            <a:pPr marL="0" indent="0">
              <a:buNone/>
            </a:pPr>
            <a:r>
              <a:rPr lang="en-US" sz="1050" dirty="0">
                <a:solidFill>
                  <a:schemeClr val="tx2"/>
                </a:solidFill>
              </a:rPr>
              <a:t>Last year’s list holds every family you expect. Names tick off by themselves as families register.</a:t>
            </a:r>
            <a:endParaRPr lang="en-US" sz="1050" dirty="0"/>
          </a:p>
        </p:txBody>
      </p:sp>
      <p:sp>
        <p:nvSpPr>
          <p:cNvPr id="20" name="You step 3 card"/>
          <p:cNvSpPr/>
          <p:nvPr/>
        </p:nvSpPr>
        <p:spPr>
          <a:xfrm>
            <a:off x="3474720" y="2834640"/>
            <a:ext cx="5212080" cy="658368"/>
          </a:xfrm>
          <a:prstGeom prst="roundRect">
            <a:avLst>
              <a:gd name="adj" fmla="val 11111"/>
            </a:avLst>
          </a:prstGeom>
          <a:solidFill>
            <a:schemeClr val="bg2"/>
          </a:solidFill>
          <a:ln/>
        </p:spPr>
      </p:sp>
      <p:sp>
        <p:nvSpPr>
          <p:cNvPr id="21" name="You step 3 number circle"/>
          <p:cNvSpPr/>
          <p:nvPr/>
        </p:nvSpPr>
        <p:spPr>
          <a:xfrm>
            <a:off x="3611880" y="2971800"/>
            <a:ext cx="384048" cy="384048"/>
          </a:xfrm>
          <a:prstGeom prst="ellipse">
            <a:avLst/>
          </a:prstGeom>
          <a:solidFill>
            <a:schemeClr val="accent2"/>
          </a:solidFill>
          <a:ln/>
        </p:spPr>
      </p:sp>
      <p:sp>
        <p:nvSpPr>
          <p:cNvPr id="22" name="You step 3 number"/>
          <p:cNvSpPr txBox="1"/>
          <p:nvPr/>
        </p:nvSpPr>
        <p:spPr>
          <a:xfrm>
            <a:off x="3611880" y="29718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3" name="You step 3 heading"/>
          <p:cNvSpPr txBox="1"/>
          <p:nvPr/>
        </p:nvSpPr>
        <p:spPr>
          <a:xfrm>
            <a:off x="4160520" y="2907792"/>
            <a:ext cx="4389120" cy="246888"/>
          </a:xfrm>
          <a:prstGeom prst="rect">
            <a:avLst/>
          </a:prstGeom>
          <a:noFill/>
          <a:ln/>
        </p:spPr>
        <p:txBody>
          <a:bodyPr wrap="square" lIns="0" tIns="0" rIns="0" bIns="0" rtlCol="0" anchor="t"/>
          <a:lstStyle/>
          <a:p>
            <a:pPr marL="0" indent="0">
              <a:buNone/>
            </a:pPr>
            <a:r>
              <a:rPr lang="en-US" sz="1250" b="1" dirty="0">
                <a:solidFill>
                  <a:schemeClr val="tx1"/>
                </a:solidFill>
              </a:rPr>
              <a:t>Announce the census</a:t>
            </a:r>
            <a:endParaRPr lang="en-US" sz="1250" dirty="0"/>
          </a:p>
        </p:txBody>
      </p:sp>
      <p:sp>
        <p:nvSpPr>
          <p:cNvPr id="24" name="You step 3 text"/>
          <p:cNvSpPr txBox="1"/>
          <p:nvPr/>
        </p:nvSpPr>
        <p:spPr>
          <a:xfrm>
            <a:off x="4160520" y="3136392"/>
            <a:ext cx="4389120" cy="329184"/>
          </a:xfrm>
          <a:prstGeom prst="rect">
            <a:avLst/>
          </a:prstGeom>
          <a:noFill/>
          <a:ln/>
        </p:spPr>
        <p:txBody>
          <a:bodyPr wrap="square" lIns="0" tIns="0" rIns="0" bIns="0" rtlCol="0" anchor="t"/>
          <a:lstStyle/>
          <a:p>
            <a:pPr marL="0" indent="0">
              <a:buNone/>
            </a:pPr>
            <a:r>
              <a:rPr lang="en-US" sz="1050" dirty="0">
                <a:solidFill>
                  <a:schemeClr val="tx2"/>
                </a:solidFill>
              </a:rPr>
              <a:t>At Mass, GKK meetings, Bible sharing and group chats: open the parish website and tap “Irehistro ang Inyong Pamilya”.</a:t>
            </a:r>
            <a:endParaRPr lang="en-US" sz="1050" dirty="0"/>
          </a:p>
        </p:txBody>
      </p:sp>
      <p:sp>
        <p:nvSpPr>
          <p:cNvPr id="25" name="You step 4 card"/>
          <p:cNvSpPr/>
          <p:nvPr/>
        </p:nvSpPr>
        <p:spPr>
          <a:xfrm>
            <a:off x="3474720" y="3566160"/>
            <a:ext cx="5212080" cy="658368"/>
          </a:xfrm>
          <a:prstGeom prst="roundRect">
            <a:avLst>
              <a:gd name="adj" fmla="val 11111"/>
            </a:avLst>
          </a:prstGeom>
          <a:solidFill>
            <a:schemeClr val="bg2"/>
          </a:solidFill>
          <a:ln/>
        </p:spPr>
      </p:sp>
      <p:sp>
        <p:nvSpPr>
          <p:cNvPr id="26" name="You step 4 number circle"/>
          <p:cNvSpPr/>
          <p:nvPr/>
        </p:nvSpPr>
        <p:spPr>
          <a:xfrm>
            <a:off x="3611880" y="3703320"/>
            <a:ext cx="384048" cy="384048"/>
          </a:xfrm>
          <a:prstGeom prst="ellipse">
            <a:avLst/>
          </a:prstGeom>
          <a:solidFill>
            <a:schemeClr val="accent2"/>
          </a:solidFill>
          <a:ln/>
        </p:spPr>
      </p:sp>
      <p:sp>
        <p:nvSpPr>
          <p:cNvPr id="27" name="You step 4 number"/>
          <p:cNvSpPr txBox="1"/>
          <p:nvPr/>
        </p:nvSpPr>
        <p:spPr>
          <a:xfrm>
            <a:off x="3611880" y="37033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8" name="You step 4 heading"/>
          <p:cNvSpPr txBox="1"/>
          <p:nvPr/>
        </p:nvSpPr>
        <p:spPr>
          <a:xfrm>
            <a:off x="4160520" y="3639312"/>
            <a:ext cx="4389120" cy="246888"/>
          </a:xfrm>
          <a:prstGeom prst="rect">
            <a:avLst/>
          </a:prstGeom>
          <a:noFill/>
          <a:ln/>
        </p:spPr>
        <p:txBody>
          <a:bodyPr wrap="square" lIns="0" tIns="0" rIns="0" bIns="0" rtlCol="0" anchor="t"/>
          <a:lstStyle/>
          <a:p>
            <a:pPr marL="0" indent="0">
              <a:buNone/>
            </a:pPr>
            <a:r>
              <a:rPr lang="en-US" sz="1250" b="1" dirty="0">
                <a:solidFill>
                  <a:schemeClr val="tx1"/>
                </a:solidFill>
              </a:rPr>
              <a:t>Share the work</a:t>
            </a:r>
            <a:endParaRPr lang="en-US" sz="1250" dirty="0"/>
          </a:p>
        </p:txBody>
      </p:sp>
      <p:sp>
        <p:nvSpPr>
          <p:cNvPr id="29" name="You step 4 text"/>
          <p:cNvSpPr txBox="1"/>
          <p:nvPr/>
        </p:nvSpPr>
        <p:spPr>
          <a:xfrm>
            <a:off x="4160520" y="3867912"/>
            <a:ext cx="4389120" cy="329184"/>
          </a:xfrm>
          <a:prstGeom prst="rect">
            <a:avLst/>
          </a:prstGeom>
          <a:noFill/>
          <a:ln/>
        </p:spPr>
        <p:txBody>
          <a:bodyPr wrap="square" lIns="0" tIns="0" rIns="0" bIns="0" rtlCol="0" anchor="t"/>
          <a:lstStyle/>
          <a:p>
            <a:pPr marL="0" indent="0">
              <a:buNone/>
            </a:pPr>
            <a:r>
              <a:rPr lang="en-US" sz="1050" dirty="0">
                <a:solidFill>
                  <a:schemeClr val="tx2"/>
                </a:solidFill>
              </a:rPr>
              <a:t>Give each officer some Family Groupings to follow up, and aim to finish before the target end date.</a:t>
            </a:r>
            <a:endParaRPr lang="en-US" sz="1050" dirty="0"/>
          </a:p>
        </p:txBody>
      </p:sp>
      <p:sp>
        <p:nvSpPr>
          <p:cNvPr id="30" name="No phone card"/>
          <p:cNvSpPr/>
          <p:nvPr/>
        </p:nvSpPr>
        <p:spPr>
          <a:xfrm>
            <a:off x="3474720" y="4343400"/>
            <a:ext cx="5212080" cy="347472"/>
          </a:xfrm>
          <a:prstGeom prst="roundRect">
            <a:avLst>
              <a:gd name="adj" fmla="val 21053"/>
            </a:avLst>
          </a:prstGeom>
          <a:solidFill>
            <a:schemeClr val="bg1"/>
          </a:solidFill>
          <a:ln w="9525">
            <a:solidFill>
              <a:srgbClr val="C39B4E"/>
            </a:solidFill>
            <a:prstDash val="dash"/>
          </a:ln>
        </p:spPr>
      </p:sp>
      <p:pic>
        <p:nvPicPr>
          <p:cNvPr id="31" name="No phone icon" descr="preencoded.png"/>
          <p:cNvPicPr>
            <a:picLocks noChangeAspect="1"/>
          </p:cNvPicPr>
          <p:nvPr/>
        </p:nvPicPr>
        <p:blipFill>
          <a:blip r:embed="rId4"/>
          <a:stretch>
            <a:fillRect/>
          </a:stretch>
        </p:blipFill>
        <p:spPr>
          <a:xfrm>
            <a:off x="3611880" y="4407408"/>
            <a:ext cx="219456" cy="219456"/>
          </a:xfrm>
          <a:prstGeom prst="rect">
            <a:avLst/>
          </a:prstGeom>
        </p:spPr>
      </p:pic>
      <p:sp>
        <p:nvSpPr>
          <p:cNvPr id="32" name="No phone text"/>
          <p:cNvSpPr txBox="1"/>
          <p:nvPr/>
        </p:nvSpPr>
        <p:spPr>
          <a:xfrm>
            <a:off x="3931920" y="4343400"/>
            <a:ext cx="4663440" cy="347472"/>
          </a:xfrm>
          <a:prstGeom prst="rect">
            <a:avLst/>
          </a:prstGeom>
          <a:noFill/>
          <a:ln/>
        </p:spPr>
        <p:txBody>
          <a:bodyPr wrap="square" lIns="0" tIns="0" rIns="0" bIns="0" rtlCol="0" anchor="ctr"/>
          <a:lstStyle/>
          <a:p>
            <a:pPr marL="0" indent="0">
              <a:buNone/>
            </a:pPr>
            <a:r>
              <a:rPr lang="en-US" sz="1050" b="1" dirty="0">
                <a:solidFill>
                  <a:schemeClr val="accent4"/>
                </a:solidFill>
              </a:rPr>
              <a:t>No phone? </a:t>
            </a:r>
            <a:r>
              <a:rPr lang="en-US" sz="1050" dirty="0">
                <a:solidFill>
                  <a:schemeClr val="tx2"/>
                </a:solidFill>
              </a:rPr>
              <a:t>Register them on your phone, or with Households → New Household.</a:t>
            </a:r>
            <a:endParaRPr lang="en-US" sz="1050" dirty="0"/>
          </a:p>
        </p:txBody>
      </p:sp>
      <p:sp>
        <p:nvSpPr>
          <p:cNvPr id="33"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The main route: families register online</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marL="0" indent="0">
              <a:buNone/>
            </a:pPr>
            <a:r>
              <a:rPr lang="en-US" sz="1300" dirty="0">
                <a:solidFill>
                  <a:schemeClr val="tx2"/>
                </a:solidFill>
              </a:rPr>
              <a:t>Parish website → “Irehistro ang Inyong Pamilya” → a 5-step form in Bisaya, on any phone.</a:t>
            </a:r>
            <a:endParaRPr lang="en-US" sz="1300" dirty="0"/>
          </a:p>
        </p:txBody>
      </p:sp>
      <p:sp>
        <p:nvSpPr>
          <p:cNvPr id="4" name="Step 1 card"/>
          <p:cNvSpPr/>
          <p:nvPr/>
        </p:nvSpPr>
        <p:spPr>
          <a:xfrm>
            <a:off x="457200" y="1188720"/>
            <a:ext cx="1517904" cy="1828800"/>
          </a:xfrm>
          <a:prstGeom prst="roundRect">
            <a:avLst>
              <a:gd name="adj" fmla="val 4819"/>
            </a:avLst>
          </a:prstGeom>
          <a:solidFill>
            <a:schemeClr val="bg2"/>
          </a:solidFill>
          <a:ln/>
        </p:spPr>
      </p:sp>
      <p:sp>
        <p:nvSpPr>
          <p:cNvPr id="5" name="Step 1 circle"/>
          <p:cNvSpPr/>
          <p:nvPr/>
        </p:nvSpPr>
        <p:spPr>
          <a:xfrm>
            <a:off x="594360" y="1325880"/>
            <a:ext cx="438912" cy="438912"/>
          </a:xfrm>
          <a:prstGeom prst="ellipse">
            <a:avLst/>
          </a:prstGeom>
          <a:solidFill>
            <a:schemeClr val="tx1"/>
          </a:solidFill>
          <a:ln/>
        </p:spPr>
      </p:sp>
      <p:pic>
        <p:nvPicPr>
          <p:cNvPr id="6" name="Step 1 icon" descr="Step 1"/>
          <p:cNvPicPr>
            <a:picLocks noChangeAspect="1"/>
          </p:cNvPicPr>
          <p:nvPr/>
        </p:nvPicPr>
        <p:blipFill>
          <a:blip r:embed="rId3"/>
          <a:stretch>
            <a:fillRect/>
          </a:stretch>
        </p:blipFill>
        <p:spPr>
          <a:xfrm>
            <a:off x="699699" y="1431219"/>
            <a:ext cx="228234" cy="228234"/>
          </a:xfrm>
          <a:prstGeom prst="rect">
            <a:avLst/>
          </a:prstGeom>
        </p:spPr>
      </p:pic>
      <p:sp>
        <p:nvSpPr>
          <p:cNvPr id="7" name="Step 1 number"/>
          <p:cNvSpPr txBox="1"/>
          <p:nvPr/>
        </p:nvSpPr>
        <p:spPr>
          <a:xfrm>
            <a:off x="1563624" y="1325880"/>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1</a:t>
            </a:r>
            <a:endParaRPr lang="en-US" sz="1800" dirty="0"/>
          </a:p>
        </p:txBody>
      </p:sp>
      <p:sp>
        <p:nvSpPr>
          <p:cNvPr id="8" name="Step 1 heading"/>
          <p:cNvSpPr txBox="1"/>
          <p:nvPr/>
        </p:nvSpPr>
        <p:spPr>
          <a:xfrm>
            <a:off x="594360" y="1874520"/>
            <a:ext cx="1243584" cy="438912"/>
          </a:xfrm>
          <a:prstGeom prst="rect">
            <a:avLst/>
          </a:prstGeom>
          <a:noFill/>
          <a:ln/>
        </p:spPr>
        <p:txBody>
          <a:bodyPr wrap="square" lIns="0" tIns="0" rIns="0" bIns="0" rtlCol="0" anchor="t"/>
          <a:lstStyle/>
          <a:p>
            <a:pPr marL="0" indent="0">
              <a:buNone/>
            </a:pPr>
            <a:r>
              <a:rPr lang="en-US" sz="1250" b="1" dirty="0">
                <a:solidFill>
                  <a:schemeClr val="tx1"/>
                </a:solidFill>
              </a:rPr>
              <a:t>Pamilya ug Ulo</a:t>
            </a:r>
            <a:endParaRPr lang="en-US" sz="1250" dirty="0"/>
          </a:p>
        </p:txBody>
      </p:sp>
      <p:sp>
        <p:nvSpPr>
          <p:cNvPr id="9" name="Step 1 text"/>
          <p:cNvSpPr txBox="1"/>
          <p:nvPr/>
        </p:nvSpPr>
        <p:spPr>
          <a:xfrm>
            <a:off x="594360" y="2331720"/>
            <a:ext cx="1243584" cy="594360"/>
          </a:xfrm>
          <a:prstGeom prst="rect">
            <a:avLst/>
          </a:prstGeom>
          <a:noFill/>
          <a:ln/>
        </p:spPr>
        <p:txBody>
          <a:bodyPr wrap="square" lIns="0" tIns="0" rIns="0" bIns="0" rtlCol="0" anchor="t"/>
          <a:lstStyle/>
          <a:p>
            <a:pPr marL="0" indent="0">
              <a:buNone/>
            </a:pPr>
            <a:r>
              <a:rPr lang="en-US" sz="1050" dirty="0">
                <a:solidFill>
                  <a:schemeClr val="tx2"/>
                </a:solidFill>
              </a:rPr>
              <a:t>Family name, address, GKK and the head of the household.</a:t>
            </a:r>
            <a:endParaRPr lang="en-US" sz="1050" dirty="0"/>
          </a:p>
        </p:txBody>
      </p:sp>
      <p:pic>
        <p:nvPicPr>
          <p:cNvPr id="10" name="Arrow 1" descr="preencoded.png"/>
          <p:cNvPicPr>
            <a:picLocks noChangeAspect="1"/>
          </p:cNvPicPr>
          <p:nvPr/>
        </p:nvPicPr>
        <p:blipFill>
          <a:blip r:embed="rId4"/>
          <a:stretch>
            <a:fillRect/>
          </a:stretch>
        </p:blipFill>
        <p:spPr>
          <a:xfrm>
            <a:off x="1984248" y="2029968"/>
            <a:ext cx="146304" cy="146304"/>
          </a:xfrm>
          <a:prstGeom prst="rect">
            <a:avLst/>
          </a:prstGeom>
        </p:spPr>
      </p:pic>
      <p:sp>
        <p:nvSpPr>
          <p:cNvPr id="11" name="Step 2 card"/>
          <p:cNvSpPr/>
          <p:nvPr/>
        </p:nvSpPr>
        <p:spPr>
          <a:xfrm>
            <a:off x="2139696" y="1188720"/>
            <a:ext cx="1517904" cy="1828800"/>
          </a:xfrm>
          <a:prstGeom prst="roundRect">
            <a:avLst>
              <a:gd name="adj" fmla="val 4819"/>
            </a:avLst>
          </a:prstGeom>
          <a:solidFill>
            <a:schemeClr val="bg2"/>
          </a:solidFill>
          <a:ln/>
        </p:spPr>
      </p:sp>
      <p:sp>
        <p:nvSpPr>
          <p:cNvPr id="12" name="Step 2 circle"/>
          <p:cNvSpPr/>
          <p:nvPr/>
        </p:nvSpPr>
        <p:spPr>
          <a:xfrm>
            <a:off x="2276856" y="1325880"/>
            <a:ext cx="438912" cy="438912"/>
          </a:xfrm>
          <a:prstGeom prst="ellipse">
            <a:avLst/>
          </a:prstGeom>
          <a:solidFill>
            <a:schemeClr val="tx1"/>
          </a:solidFill>
          <a:ln/>
        </p:spPr>
      </p:sp>
      <p:pic>
        <p:nvPicPr>
          <p:cNvPr id="13" name="Step 2 icon" descr="Step 2"/>
          <p:cNvPicPr>
            <a:picLocks noChangeAspect="1"/>
          </p:cNvPicPr>
          <p:nvPr/>
        </p:nvPicPr>
        <p:blipFill>
          <a:blip r:embed="rId5"/>
          <a:stretch>
            <a:fillRect/>
          </a:stretch>
        </p:blipFill>
        <p:spPr>
          <a:xfrm>
            <a:off x="2382195" y="1431219"/>
            <a:ext cx="228234" cy="228234"/>
          </a:xfrm>
          <a:prstGeom prst="rect">
            <a:avLst/>
          </a:prstGeom>
        </p:spPr>
      </p:pic>
      <p:sp>
        <p:nvSpPr>
          <p:cNvPr id="14" name="Step 2 number"/>
          <p:cNvSpPr txBox="1"/>
          <p:nvPr/>
        </p:nvSpPr>
        <p:spPr>
          <a:xfrm>
            <a:off x="3246120" y="1325880"/>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2</a:t>
            </a:r>
            <a:endParaRPr lang="en-US" sz="1800" dirty="0"/>
          </a:p>
        </p:txBody>
      </p:sp>
      <p:sp>
        <p:nvSpPr>
          <p:cNvPr id="15" name="Step 2 heading"/>
          <p:cNvSpPr txBox="1"/>
          <p:nvPr/>
        </p:nvSpPr>
        <p:spPr>
          <a:xfrm>
            <a:off x="2276856" y="1874520"/>
            <a:ext cx="1243584" cy="438912"/>
          </a:xfrm>
          <a:prstGeom prst="rect">
            <a:avLst/>
          </a:prstGeom>
          <a:noFill/>
          <a:ln/>
        </p:spPr>
        <p:txBody>
          <a:bodyPr wrap="square" lIns="0" tIns="0" rIns="0" bIns="0" rtlCol="0" anchor="t"/>
          <a:lstStyle/>
          <a:p>
            <a:pPr marL="0" indent="0">
              <a:buNone/>
            </a:pPr>
            <a:r>
              <a:rPr lang="en-US" sz="1250" b="1" dirty="0">
                <a:solidFill>
                  <a:schemeClr val="tx1"/>
                </a:solidFill>
              </a:rPr>
              <a:t>Mga Miyembro</a:t>
            </a:r>
            <a:endParaRPr lang="en-US" sz="1250" dirty="0"/>
          </a:p>
        </p:txBody>
      </p:sp>
      <p:sp>
        <p:nvSpPr>
          <p:cNvPr id="16" name="Step 2 text"/>
          <p:cNvSpPr txBox="1"/>
          <p:nvPr/>
        </p:nvSpPr>
        <p:spPr>
          <a:xfrm>
            <a:off x="2276856" y="2331720"/>
            <a:ext cx="1243584" cy="594360"/>
          </a:xfrm>
          <a:prstGeom prst="rect">
            <a:avLst/>
          </a:prstGeom>
          <a:noFill/>
          <a:ln/>
        </p:spPr>
        <p:txBody>
          <a:bodyPr wrap="square" lIns="0" tIns="0" rIns="0" bIns="0" rtlCol="0" anchor="t"/>
          <a:lstStyle/>
          <a:p>
            <a:pPr marL="0" indent="0">
              <a:buNone/>
            </a:pPr>
            <a:r>
              <a:rPr lang="en-US" sz="1050" dirty="0">
                <a:solidFill>
                  <a:schemeClr val="tx2"/>
                </a:solidFill>
              </a:rPr>
              <a:t>Everyone who lives in the family, with birthdays.</a:t>
            </a:r>
            <a:endParaRPr lang="en-US" sz="1050" dirty="0"/>
          </a:p>
        </p:txBody>
      </p:sp>
      <p:pic>
        <p:nvPicPr>
          <p:cNvPr id="17" name="Arrow 2" descr="preencoded.png"/>
          <p:cNvPicPr>
            <a:picLocks noChangeAspect="1"/>
          </p:cNvPicPr>
          <p:nvPr/>
        </p:nvPicPr>
        <p:blipFill>
          <a:blip r:embed="rId4"/>
          <a:stretch>
            <a:fillRect/>
          </a:stretch>
        </p:blipFill>
        <p:spPr>
          <a:xfrm>
            <a:off x="3666744" y="2029968"/>
            <a:ext cx="146304" cy="146304"/>
          </a:xfrm>
          <a:prstGeom prst="rect">
            <a:avLst/>
          </a:prstGeom>
        </p:spPr>
      </p:pic>
      <p:sp>
        <p:nvSpPr>
          <p:cNvPr id="18" name="Step 3 card"/>
          <p:cNvSpPr/>
          <p:nvPr/>
        </p:nvSpPr>
        <p:spPr>
          <a:xfrm>
            <a:off x="3822192" y="1188720"/>
            <a:ext cx="1517904" cy="1828800"/>
          </a:xfrm>
          <a:prstGeom prst="roundRect">
            <a:avLst>
              <a:gd name="adj" fmla="val 4819"/>
            </a:avLst>
          </a:prstGeom>
          <a:solidFill>
            <a:schemeClr val="bg2"/>
          </a:solidFill>
          <a:ln/>
        </p:spPr>
      </p:sp>
      <p:sp>
        <p:nvSpPr>
          <p:cNvPr id="19" name="Step 3 circle"/>
          <p:cNvSpPr/>
          <p:nvPr/>
        </p:nvSpPr>
        <p:spPr>
          <a:xfrm>
            <a:off x="3959352" y="1325880"/>
            <a:ext cx="438912" cy="438912"/>
          </a:xfrm>
          <a:prstGeom prst="ellipse">
            <a:avLst/>
          </a:prstGeom>
          <a:solidFill>
            <a:schemeClr val="tx1"/>
          </a:solidFill>
          <a:ln/>
        </p:spPr>
      </p:sp>
      <p:pic>
        <p:nvPicPr>
          <p:cNvPr id="20" name="Step 3 icon" descr="Step 3"/>
          <p:cNvPicPr>
            <a:picLocks noChangeAspect="1"/>
          </p:cNvPicPr>
          <p:nvPr/>
        </p:nvPicPr>
        <p:blipFill>
          <a:blip r:embed="rId6"/>
          <a:stretch>
            <a:fillRect/>
          </a:stretch>
        </p:blipFill>
        <p:spPr>
          <a:xfrm>
            <a:off x="4064691" y="1431219"/>
            <a:ext cx="228234" cy="228234"/>
          </a:xfrm>
          <a:prstGeom prst="rect">
            <a:avLst/>
          </a:prstGeom>
        </p:spPr>
      </p:pic>
      <p:sp>
        <p:nvSpPr>
          <p:cNvPr id="21" name="Step 3 number"/>
          <p:cNvSpPr txBox="1"/>
          <p:nvPr/>
        </p:nvSpPr>
        <p:spPr>
          <a:xfrm>
            <a:off x="4928616" y="1325880"/>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3</a:t>
            </a:r>
            <a:endParaRPr lang="en-US" sz="1800" dirty="0"/>
          </a:p>
        </p:txBody>
      </p:sp>
      <p:sp>
        <p:nvSpPr>
          <p:cNvPr id="22" name="Step 3 heading"/>
          <p:cNvSpPr txBox="1"/>
          <p:nvPr/>
        </p:nvSpPr>
        <p:spPr>
          <a:xfrm>
            <a:off x="3959352" y="1874520"/>
            <a:ext cx="1243584" cy="438912"/>
          </a:xfrm>
          <a:prstGeom prst="rect">
            <a:avLst/>
          </a:prstGeom>
          <a:noFill/>
          <a:ln/>
        </p:spPr>
        <p:txBody>
          <a:bodyPr wrap="square" lIns="0" tIns="0" rIns="0" bIns="0" rtlCol="0" anchor="t"/>
          <a:lstStyle/>
          <a:p>
            <a:pPr marL="0" indent="0">
              <a:buNone/>
            </a:pPr>
            <a:r>
              <a:rPr lang="en-US" sz="1250" b="1" dirty="0">
                <a:solidFill>
                  <a:schemeClr val="tx1"/>
                </a:solidFill>
              </a:rPr>
              <a:t>Mga Sakramento</a:t>
            </a:r>
            <a:endParaRPr lang="en-US" sz="1250" dirty="0"/>
          </a:p>
        </p:txBody>
      </p:sp>
      <p:sp>
        <p:nvSpPr>
          <p:cNvPr id="23" name="Step 3 text"/>
          <p:cNvSpPr txBox="1"/>
          <p:nvPr/>
        </p:nvSpPr>
        <p:spPr>
          <a:xfrm>
            <a:off x="3959352" y="2331720"/>
            <a:ext cx="1243584" cy="594360"/>
          </a:xfrm>
          <a:prstGeom prst="rect">
            <a:avLst/>
          </a:prstGeom>
          <a:noFill/>
          <a:ln/>
        </p:spPr>
        <p:txBody>
          <a:bodyPr wrap="square" lIns="0" tIns="0" rIns="0" bIns="0" rtlCol="0" anchor="t"/>
          <a:lstStyle/>
          <a:p>
            <a:pPr marL="0" indent="0">
              <a:buNone/>
            </a:pPr>
            <a:r>
              <a:rPr lang="en-US" sz="1050" dirty="0">
                <a:solidFill>
                  <a:schemeClr val="tx2"/>
                </a:solidFill>
              </a:rPr>
              <a:t>The sacraments each member has received.</a:t>
            </a:r>
            <a:endParaRPr lang="en-US" sz="1050" dirty="0"/>
          </a:p>
        </p:txBody>
      </p:sp>
      <p:pic>
        <p:nvPicPr>
          <p:cNvPr id="24" name="Arrow 3" descr="preencoded.png"/>
          <p:cNvPicPr>
            <a:picLocks noChangeAspect="1"/>
          </p:cNvPicPr>
          <p:nvPr/>
        </p:nvPicPr>
        <p:blipFill>
          <a:blip r:embed="rId4"/>
          <a:stretch>
            <a:fillRect/>
          </a:stretch>
        </p:blipFill>
        <p:spPr>
          <a:xfrm>
            <a:off x="5349240" y="2029968"/>
            <a:ext cx="146304" cy="146304"/>
          </a:xfrm>
          <a:prstGeom prst="rect">
            <a:avLst/>
          </a:prstGeom>
        </p:spPr>
      </p:pic>
      <p:sp>
        <p:nvSpPr>
          <p:cNvPr id="25" name="Step 4 card"/>
          <p:cNvSpPr/>
          <p:nvPr/>
        </p:nvSpPr>
        <p:spPr>
          <a:xfrm>
            <a:off x="5504688" y="1188720"/>
            <a:ext cx="1517904" cy="1828800"/>
          </a:xfrm>
          <a:prstGeom prst="roundRect">
            <a:avLst>
              <a:gd name="adj" fmla="val 4819"/>
            </a:avLst>
          </a:prstGeom>
          <a:solidFill>
            <a:schemeClr val="bg2"/>
          </a:solidFill>
          <a:ln/>
        </p:spPr>
      </p:sp>
      <p:sp>
        <p:nvSpPr>
          <p:cNvPr id="26" name="Step 4 circle"/>
          <p:cNvSpPr/>
          <p:nvPr/>
        </p:nvSpPr>
        <p:spPr>
          <a:xfrm>
            <a:off x="5641848" y="1325880"/>
            <a:ext cx="438912" cy="438912"/>
          </a:xfrm>
          <a:prstGeom prst="ellipse">
            <a:avLst/>
          </a:prstGeom>
          <a:solidFill>
            <a:schemeClr val="tx1"/>
          </a:solidFill>
          <a:ln/>
        </p:spPr>
      </p:sp>
      <p:pic>
        <p:nvPicPr>
          <p:cNvPr id="27" name="Step 4 icon" descr="Step 4"/>
          <p:cNvPicPr>
            <a:picLocks noChangeAspect="1"/>
          </p:cNvPicPr>
          <p:nvPr/>
        </p:nvPicPr>
        <p:blipFill>
          <a:blip r:embed="rId7"/>
          <a:stretch>
            <a:fillRect/>
          </a:stretch>
        </p:blipFill>
        <p:spPr>
          <a:xfrm>
            <a:off x="5747187" y="1431219"/>
            <a:ext cx="228234" cy="228234"/>
          </a:xfrm>
          <a:prstGeom prst="rect">
            <a:avLst/>
          </a:prstGeom>
        </p:spPr>
      </p:pic>
      <p:sp>
        <p:nvSpPr>
          <p:cNvPr id="28" name="Step 4 number"/>
          <p:cNvSpPr txBox="1"/>
          <p:nvPr/>
        </p:nvSpPr>
        <p:spPr>
          <a:xfrm>
            <a:off x="6611112" y="1325880"/>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4</a:t>
            </a:r>
            <a:endParaRPr lang="en-US" sz="1800" dirty="0"/>
          </a:p>
        </p:txBody>
      </p:sp>
      <p:sp>
        <p:nvSpPr>
          <p:cNvPr id="29" name="Step 4 heading"/>
          <p:cNvSpPr txBox="1"/>
          <p:nvPr/>
        </p:nvSpPr>
        <p:spPr>
          <a:xfrm>
            <a:off x="5641848" y="1874520"/>
            <a:ext cx="1243584" cy="438912"/>
          </a:xfrm>
          <a:prstGeom prst="rect">
            <a:avLst/>
          </a:prstGeom>
          <a:noFill/>
          <a:ln/>
        </p:spPr>
        <p:txBody>
          <a:bodyPr wrap="square" lIns="0" tIns="0" rIns="0" bIns="0" rtlCol="0" anchor="t"/>
          <a:lstStyle/>
          <a:p>
            <a:pPr marL="0" indent="0">
              <a:buNone/>
            </a:pPr>
            <a:r>
              <a:rPr lang="en-US" sz="1250" b="1" dirty="0">
                <a:solidFill>
                  <a:schemeClr val="tx1"/>
                </a:solidFill>
              </a:rPr>
              <a:t>Pag-apil</a:t>
            </a:r>
            <a:endParaRPr lang="en-US" sz="1250" dirty="0"/>
          </a:p>
        </p:txBody>
      </p:sp>
      <p:sp>
        <p:nvSpPr>
          <p:cNvPr id="30" name="Step 4 text"/>
          <p:cNvSpPr txBox="1"/>
          <p:nvPr/>
        </p:nvSpPr>
        <p:spPr>
          <a:xfrm>
            <a:off x="5641848" y="2331720"/>
            <a:ext cx="1243584" cy="594360"/>
          </a:xfrm>
          <a:prstGeom prst="rect">
            <a:avLst/>
          </a:prstGeom>
          <a:noFill/>
          <a:ln/>
        </p:spPr>
        <p:txBody>
          <a:bodyPr wrap="square" lIns="0" tIns="0" rIns="0" bIns="0" rtlCol="0" anchor="t"/>
          <a:lstStyle/>
          <a:p>
            <a:pPr marL="0" indent="0">
              <a:buNone/>
            </a:pPr>
            <a:r>
              <a:rPr lang="en-US" sz="1050" dirty="0">
                <a:solidFill>
                  <a:schemeClr val="tx2"/>
                </a:solidFill>
              </a:rPr>
              <a:t>The census questions for each member, and the privacy consent.</a:t>
            </a:r>
            <a:endParaRPr lang="en-US" sz="1050" dirty="0"/>
          </a:p>
        </p:txBody>
      </p:sp>
      <p:pic>
        <p:nvPicPr>
          <p:cNvPr id="31" name="Arrow 4" descr="preencoded.png"/>
          <p:cNvPicPr>
            <a:picLocks noChangeAspect="1"/>
          </p:cNvPicPr>
          <p:nvPr/>
        </p:nvPicPr>
        <p:blipFill>
          <a:blip r:embed="rId4"/>
          <a:stretch>
            <a:fillRect/>
          </a:stretch>
        </p:blipFill>
        <p:spPr>
          <a:xfrm>
            <a:off x="7031736" y="2029968"/>
            <a:ext cx="146304" cy="146304"/>
          </a:xfrm>
          <a:prstGeom prst="rect">
            <a:avLst/>
          </a:prstGeom>
        </p:spPr>
      </p:pic>
      <p:sp>
        <p:nvSpPr>
          <p:cNvPr id="32" name="Step 5 card"/>
          <p:cNvSpPr/>
          <p:nvPr/>
        </p:nvSpPr>
        <p:spPr>
          <a:xfrm>
            <a:off x="7187184" y="1188720"/>
            <a:ext cx="1517904" cy="1828800"/>
          </a:xfrm>
          <a:prstGeom prst="roundRect">
            <a:avLst>
              <a:gd name="adj" fmla="val 4819"/>
            </a:avLst>
          </a:prstGeom>
          <a:solidFill>
            <a:schemeClr val="bg2"/>
          </a:solidFill>
          <a:ln/>
        </p:spPr>
      </p:sp>
      <p:sp>
        <p:nvSpPr>
          <p:cNvPr id="33" name="Step 5 circle"/>
          <p:cNvSpPr/>
          <p:nvPr/>
        </p:nvSpPr>
        <p:spPr>
          <a:xfrm>
            <a:off x="7324344" y="1325880"/>
            <a:ext cx="438912" cy="438912"/>
          </a:xfrm>
          <a:prstGeom prst="ellipse">
            <a:avLst/>
          </a:prstGeom>
          <a:solidFill>
            <a:schemeClr val="tx1"/>
          </a:solidFill>
          <a:ln/>
        </p:spPr>
      </p:sp>
      <p:pic>
        <p:nvPicPr>
          <p:cNvPr id="34" name="Step 5 icon" descr="Step 5"/>
          <p:cNvPicPr>
            <a:picLocks noChangeAspect="1"/>
          </p:cNvPicPr>
          <p:nvPr/>
        </p:nvPicPr>
        <p:blipFill>
          <a:blip r:embed="rId8"/>
          <a:stretch>
            <a:fillRect/>
          </a:stretch>
        </p:blipFill>
        <p:spPr>
          <a:xfrm>
            <a:off x="7429683" y="1431219"/>
            <a:ext cx="228234" cy="228234"/>
          </a:xfrm>
          <a:prstGeom prst="rect">
            <a:avLst/>
          </a:prstGeom>
        </p:spPr>
      </p:pic>
      <p:sp>
        <p:nvSpPr>
          <p:cNvPr id="35" name="Step 5 number"/>
          <p:cNvSpPr txBox="1"/>
          <p:nvPr/>
        </p:nvSpPr>
        <p:spPr>
          <a:xfrm>
            <a:off x="8293608" y="1325880"/>
            <a:ext cx="274320" cy="274320"/>
          </a:xfrm>
          <a:prstGeom prst="rect">
            <a:avLst/>
          </a:prstGeom>
          <a:noFill/>
          <a:ln/>
        </p:spPr>
        <p:txBody>
          <a:bodyPr wrap="square" lIns="0" tIns="0" rIns="0" bIns="0" rtlCol="0" anchor="t"/>
          <a:lstStyle/>
          <a:p>
            <a:pPr marL="0" indent="0" algn="r">
              <a:buNone/>
            </a:pPr>
            <a:r>
              <a:rPr lang="en-US" sz="1800" b="1" dirty="0">
                <a:solidFill>
                  <a:schemeClr val="accent2"/>
                </a:solidFill>
                <a:latin typeface="Cambria" pitchFamily="34" charset="0"/>
                <a:ea typeface="Cambria" pitchFamily="34" charset="-122"/>
                <a:cs typeface="Cambria" pitchFamily="34" charset="-120"/>
              </a:rPr>
              <a:t>5</a:t>
            </a:r>
            <a:endParaRPr lang="en-US" sz="1800" dirty="0"/>
          </a:p>
        </p:txBody>
      </p:sp>
      <p:sp>
        <p:nvSpPr>
          <p:cNvPr id="36" name="Step 5 heading"/>
          <p:cNvSpPr txBox="1"/>
          <p:nvPr/>
        </p:nvSpPr>
        <p:spPr>
          <a:xfrm>
            <a:off x="7324344" y="1874520"/>
            <a:ext cx="1243584" cy="438912"/>
          </a:xfrm>
          <a:prstGeom prst="rect">
            <a:avLst/>
          </a:prstGeom>
          <a:noFill/>
          <a:ln/>
        </p:spPr>
        <p:txBody>
          <a:bodyPr wrap="square" lIns="0" tIns="0" rIns="0" bIns="0" rtlCol="0" anchor="t"/>
          <a:lstStyle/>
          <a:p>
            <a:pPr marL="0" indent="0">
              <a:buNone/>
            </a:pPr>
            <a:r>
              <a:rPr lang="en-US" sz="1250" b="1" dirty="0">
                <a:solidFill>
                  <a:schemeClr val="tx1"/>
                </a:solidFill>
              </a:rPr>
              <a:t>Pagsusi</a:t>
            </a:r>
            <a:endParaRPr lang="en-US" sz="1250" dirty="0"/>
          </a:p>
        </p:txBody>
      </p:sp>
      <p:sp>
        <p:nvSpPr>
          <p:cNvPr id="37" name="Step 5 text"/>
          <p:cNvSpPr txBox="1"/>
          <p:nvPr/>
        </p:nvSpPr>
        <p:spPr>
          <a:xfrm>
            <a:off x="7324344" y="2331720"/>
            <a:ext cx="1243584" cy="594360"/>
          </a:xfrm>
          <a:prstGeom prst="rect">
            <a:avLst/>
          </a:prstGeom>
          <a:noFill/>
          <a:ln/>
        </p:spPr>
        <p:txBody>
          <a:bodyPr wrap="square" lIns="0" tIns="0" rIns="0" bIns="0" rtlCol="0" anchor="t"/>
          <a:lstStyle/>
          <a:p>
            <a:pPr marL="0" indent="0">
              <a:buNone/>
            </a:pPr>
            <a:r>
              <a:rPr lang="en-US" sz="1050" dirty="0">
                <a:solidFill>
                  <a:schemeClr val="tx2"/>
                </a:solidFill>
              </a:rPr>
              <a:t>Check everything, then “Ipadala ang Rehistro”.</a:t>
            </a:r>
            <a:endParaRPr lang="en-US" sz="1050" dirty="0"/>
          </a:p>
        </p:txBody>
      </p:sp>
      <p:sp>
        <p:nvSpPr>
          <p:cNvPr id="38" name="Register note 1 card"/>
          <p:cNvSpPr/>
          <p:nvPr/>
        </p:nvSpPr>
        <p:spPr>
          <a:xfrm>
            <a:off x="457200" y="3200400"/>
            <a:ext cx="2624328" cy="1481328"/>
          </a:xfrm>
          <a:prstGeom prst="roundRect">
            <a:avLst>
              <a:gd name="adj" fmla="val 4938"/>
            </a:avLst>
          </a:prstGeom>
          <a:solidFill>
            <a:schemeClr val="bg1"/>
          </a:solidFill>
          <a:ln/>
          <a:effectLst>
            <a:outerShdw blurRad="76200" dist="25400" dir="5400000" algn="bl" rotWithShape="0">
              <a:srgbClr val="1A2B4A">
                <a:alpha val="12000"/>
              </a:srgbClr>
            </a:outerShdw>
          </a:effectLst>
        </p:spPr>
      </p:sp>
      <p:sp>
        <p:nvSpPr>
          <p:cNvPr id="39" name="New house, or joining one circle"/>
          <p:cNvSpPr/>
          <p:nvPr/>
        </p:nvSpPr>
        <p:spPr>
          <a:xfrm>
            <a:off x="594360" y="3310128"/>
            <a:ext cx="384048" cy="384048"/>
          </a:xfrm>
          <a:prstGeom prst="ellipse">
            <a:avLst/>
          </a:prstGeom>
          <a:solidFill>
            <a:schemeClr val="accent2"/>
          </a:solidFill>
          <a:ln/>
        </p:spPr>
      </p:sp>
      <p:pic>
        <p:nvPicPr>
          <p:cNvPr id="40" name="New house, or joining one icon" descr="New house, or joining one"/>
          <p:cNvPicPr>
            <a:picLocks noChangeAspect="1"/>
          </p:cNvPicPr>
          <p:nvPr/>
        </p:nvPicPr>
        <p:blipFill>
          <a:blip r:embed="rId9"/>
          <a:stretch>
            <a:fillRect/>
          </a:stretch>
        </p:blipFill>
        <p:spPr>
          <a:xfrm>
            <a:off x="686532" y="3402300"/>
            <a:ext cx="199705" cy="199705"/>
          </a:xfrm>
          <a:prstGeom prst="rect">
            <a:avLst/>
          </a:prstGeom>
        </p:spPr>
      </p:pic>
      <p:sp>
        <p:nvSpPr>
          <p:cNvPr id="41" name="New house, or joining one heading"/>
          <p:cNvSpPr txBox="1"/>
          <p:nvPr/>
        </p:nvSpPr>
        <p:spPr>
          <a:xfrm>
            <a:off x="1069848" y="3310128"/>
            <a:ext cx="1892808" cy="384048"/>
          </a:xfrm>
          <a:prstGeom prst="rect">
            <a:avLst/>
          </a:prstGeom>
          <a:noFill/>
          <a:ln/>
        </p:spPr>
        <p:txBody>
          <a:bodyPr wrap="square" lIns="0" tIns="0" rIns="0" bIns="0" rtlCol="0" anchor="ctr"/>
          <a:lstStyle/>
          <a:p>
            <a:pPr marL="0" indent="0">
              <a:buNone/>
            </a:pPr>
            <a:r>
              <a:rPr lang="en-US" sz="1250" b="1" dirty="0">
                <a:solidFill>
                  <a:schemeClr val="tx1"/>
                </a:solidFill>
              </a:rPr>
              <a:t>New house, or joining one</a:t>
            </a:r>
            <a:endParaRPr lang="en-US" sz="1250" dirty="0"/>
          </a:p>
        </p:txBody>
      </p:sp>
      <p:sp>
        <p:nvSpPr>
          <p:cNvPr id="42" name="New house, or joining one text"/>
          <p:cNvSpPr txBox="1"/>
          <p:nvPr/>
        </p:nvSpPr>
        <p:spPr>
          <a:xfrm>
            <a:off x="594360" y="3767328"/>
            <a:ext cx="2350008" cy="841248"/>
          </a:xfrm>
          <a:prstGeom prst="rect">
            <a:avLst/>
          </a:prstGeom>
          <a:noFill/>
          <a:ln/>
        </p:spPr>
        <p:txBody>
          <a:bodyPr wrap="square" lIns="0" tIns="0" rIns="0" bIns="0" rtlCol="0" anchor="t"/>
          <a:lstStyle/>
          <a:p>
            <a:pPr marL="0" indent="0">
              <a:buNone/>
            </a:pPr>
            <a:r>
              <a:rPr lang="en-US" sz="1050" b="1" dirty="0">
                <a:solidFill>
                  <a:schemeClr val="tx1"/>
                </a:solidFill>
              </a:rPr>
              <a:t>Bag-ong panimalay</a:t>
            </a:r>
            <a:r>
              <a:rPr lang="en-US" sz="1050" dirty="0">
                <a:solidFill>
                  <a:schemeClr val="tx2"/>
                </a:solidFill>
              </a:rPr>
              <a:t> for a first registration. </a:t>
            </a:r>
            <a:r>
              <a:rPr lang="en-US" sz="1050" b="1" dirty="0">
                <a:solidFill>
                  <a:schemeClr val="tx1"/>
                </a:solidFill>
              </a:rPr>
              <a:t>Moipon sa narehistro nang balay</a:t>
            </a:r>
            <a:r>
              <a:rPr lang="en-US" sz="1050" dirty="0">
                <a:solidFill>
                  <a:schemeClr val="tx2"/>
                </a:solidFill>
              </a:rPr>
              <a:t> for another family in a registered house; they need its reference number and code.</a:t>
            </a:r>
            <a:endParaRPr lang="en-US" sz="1050" dirty="0"/>
          </a:p>
        </p:txBody>
      </p:sp>
      <p:sp>
        <p:nvSpPr>
          <p:cNvPr id="43" name="Register note 2 card"/>
          <p:cNvSpPr/>
          <p:nvPr/>
        </p:nvSpPr>
        <p:spPr>
          <a:xfrm>
            <a:off x="3264408" y="3200400"/>
            <a:ext cx="2624328" cy="1481328"/>
          </a:xfrm>
          <a:prstGeom prst="roundRect">
            <a:avLst>
              <a:gd name="adj" fmla="val 4938"/>
            </a:avLst>
          </a:prstGeom>
          <a:solidFill>
            <a:schemeClr val="bg1"/>
          </a:solidFill>
          <a:ln/>
          <a:effectLst>
            <a:outerShdw blurRad="76200" dist="25400" dir="5400000" algn="bl" rotWithShape="0">
              <a:srgbClr val="1A2B4A">
                <a:alpha val="12000"/>
              </a:srgbClr>
            </a:outerShdw>
          </a:effectLst>
        </p:spPr>
      </p:sp>
      <p:sp>
        <p:nvSpPr>
          <p:cNvPr id="44" name="It counts for the census circle"/>
          <p:cNvSpPr/>
          <p:nvPr/>
        </p:nvSpPr>
        <p:spPr>
          <a:xfrm>
            <a:off x="3401568" y="3310128"/>
            <a:ext cx="384048" cy="384048"/>
          </a:xfrm>
          <a:prstGeom prst="ellipse">
            <a:avLst/>
          </a:prstGeom>
          <a:solidFill>
            <a:schemeClr val="accent2"/>
          </a:solidFill>
          <a:ln/>
        </p:spPr>
      </p:sp>
      <p:pic>
        <p:nvPicPr>
          <p:cNvPr id="45" name="It counts for the census icon" descr="It counts for the census"/>
          <p:cNvPicPr>
            <a:picLocks noChangeAspect="1"/>
          </p:cNvPicPr>
          <p:nvPr/>
        </p:nvPicPr>
        <p:blipFill>
          <a:blip r:embed="rId10"/>
          <a:stretch>
            <a:fillRect/>
          </a:stretch>
        </p:blipFill>
        <p:spPr>
          <a:xfrm>
            <a:off x="3493740" y="3402300"/>
            <a:ext cx="199705" cy="199705"/>
          </a:xfrm>
          <a:prstGeom prst="rect">
            <a:avLst/>
          </a:prstGeom>
        </p:spPr>
      </p:pic>
      <p:sp>
        <p:nvSpPr>
          <p:cNvPr id="46" name="It counts for the census heading"/>
          <p:cNvSpPr txBox="1"/>
          <p:nvPr/>
        </p:nvSpPr>
        <p:spPr>
          <a:xfrm>
            <a:off x="3877056" y="3310128"/>
            <a:ext cx="1892808" cy="384048"/>
          </a:xfrm>
          <a:prstGeom prst="rect">
            <a:avLst/>
          </a:prstGeom>
          <a:noFill/>
          <a:ln/>
        </p:spPr>
        <p:txBody>
          <a:bodyPr wrap="square" lIns="0" tIns="0" rIns="0" bIns="0" rtlCol="0" anchor="ctr"/>
          <a:lstStyle/>
          <a:p>
            <a:pPr marL="0" indent="0">
              <a:buNone/>
            </a:pPr>
            <a:r>
              <a:rPr lang="en-US" sz="1250" b="1" dirty="0">
                <a:solidFill>
                  <a:schemeClr val="tx1"/>
                </a:solidFill>
              </a:rPr>
              <a:t>It counts for the census</a:t>
            </a:r>
            <a:endParaRPr lang="en-US" sz="1250" dirty="0"/>
          </a:p>
        </p:txBody>
      </p:sp>
      <p:sp>
        <p:nvSpPr>
          <p:cNvPr id="47" name="It counts for the census text"/>
          <p:cNvSpPr txBox="1"/>
          <p:nvPr/>
        </p:nvSpPr>
        <p:spPr>
          <a:xfrm>
            <a:off x="3401568" y="3767328"/>
            <a:ext cx="2350008" cy="841248"/>
          </a:xfrm>
          <a:prstGeom prst="rect">
            <a:avLst/>
          </a:prstGeom>
          <a:noFill/>
          <a:ln/>
        </p:spPr>
        <p:txBody>
          <a:bodyPr wrap="square" lIns="0" tIns="0" rIns="0" bIns="0" rtlCol="0" anchor="t"/>
          <a:lstStyle/>
          <a:p>
            <a:pPr marL="0" indent="0">
              <a:buNone/>
            </a:pPr>
            <a:r>
              <a:rPr lang="en-US" sz="1050" dirty="0">
                <a:solidFill>
                  <a:schemeClr val="tx2"/>
                </a:solidFill>
              </a:rPr>
              <a:t>While the census is open, the answers in Pag-apil count as </a:t>
            </a:r>
            <a:r>
              <a:rPr lang="en-US" sz="1050" b="1" dirty="0">
                <a:solidFill>
                  <a:schemeClr val="tx1"/>
                </a:solidFill>
              </a:rPr>
              <a:t>confirmed</a:t>
            </a:r>
            <a:r>
              <a:rPr lang="en-US" sz="1050" dirty="0">
                <a:solidFill>
                  <a:schemeClr val="tx2"/>
                </a:solidFill>
              </a:rPr>
              <a:t>. No second step is needed.</a:t>
            </a:r>
            <a:endParaRPr lang="en-US" sz="1050" dirty="0"/>
          </a:p>
        </p:txBody>
      </p:sp>
      <p:sp>
        <p:nvSpPr>
          <p:cNvPr id="48" name="Register note 3 card"/>
          <p:cNvSpPr/>
          <p:nvPr/>
        </p:nvSpPr>
        <p:spPr>
          <a:xfrm>
            <a:off x="6071616" y="3200400"/>
            <a:ext cx="2624328" cy="1481328"/>
          </a:xfrm>
          <a:prstGeom prst="roundRect">
            <a:avLst>
              <a:gd name="adj" fmla="val 4938"/>
            </a:avLst>
          </a:prstGeom>
          <a:solidFill>
            <a:schemeClr val="bg1"/>
          </a:solidFill>
          <a:ln/>
          <a:effectLst>
            <a:outerShdw blurRad="76200" dist="25400" dir="5400000" algn="bl" rotWithShape="0">
              <a:srgbClr val="1A2B4A">
                <a:alpha val="12000"/>
              </a:srgbClr>
            </a:outerShdw>
          </a:effectLst>
        </p:spPr>
      </p:sp>
      <p:sp>
        <p:nvSpPr>
          <p:cNvPr id="49" name="Save the number and code circle"/>
          <p:cNvSpPr/>
          <p:nvPr/>
        </p:nvSpPr>
        <p:spPr>
          <a:xfrm>
            <a:off x="6208776" y="3310128"/>
            <a:ext cx="384048" cy="384048"/>
          </a:xfrm>
          <a:prstGeom prst="ellipse">
            <a:avLst/>
          </a:prstGeom>
          <a:solidFill>
            <a:schemeClr val="accent2"/>
          </a:solidFill>
          <a:ln/>
        </p:spPr>
      </p:sp>
      <p:pic>
        <p:nvPicPr>
          <p:cNvPr id="50" name="Save the number and code icon" descr="Save the number and code"/>
          <p:cNvPicPr>
            <a:picLocks noChangeAspect="1"/>
          </p:cNvPicPr>
          <p:nvPr/>
        </p:nvPicPr>
        <p:blipFill>
          <a:blip r:embed="rId11"/>
          <a:stretch>
            <a:fillRect/>
          </a:stretch>
        </p:blipFill>
        <p:spPr>
          <a:xfrm>
            <a:off x="6300948" y="3402300"/>
            <a:ext cx="199705" cy="199705"/>
          </a:xfrm>
          <a:prstGeom prst="rect">
            <a:avLst/>
          </a:prstGeom>
        </p:spPr>
      </p:pic>
      <p:sp>
        <p:nvSpPr>
          <p:cNvPr id="51" name="Save the number and code heading"/>
          <p:cNvSpPr txBox="1"/>
          <p:nvPr/>
        </p:nvSpPr>
        <p:spPr>
          <a:xfrm>
            <a:off x="6684264" y="3310128"/>
            <a:ext cx="1892808" cy="384048"/>
          </a:xfrm>
          <a:prstGeom prst="rect">
            <a:avLst/>
          </a:prstGeom>
          <a:noFill/>
          <a:ln/>
        </p:spPr>
        <p:txBody>
          <a:bodyPr wrap="square" lIns="0" tIns="0" rIns="0" bIns="0" rtlCol="0" anchor="ctr"/>
          <a:lstStyle/>
          <a:p>
            <a:pPr marL="0" indent="0">
              <a:buNone/>
            </a:pPr>
            <a:r>
              <a:rPr lang="en-US" sz="1250" b="1" dirty="0">
                <a:solidFill>
                  <a:schemeClr val="tx1"/>
                </a:solidFill>
              </a:rPr>
              <a:t>Save the number and code</a:t>
            </a:r>
            <a:endParaRPr lang="en-US" sz="1250" dirty="0"/>
          </a:p>
        </p:txBody>
      </p:sp>
      <p:sp>
        <p:nvSpPr>
          <p:cNvPr id="52" name="Save the number and code text"/>
          <p:cNvSpPr txBox="1"/>
          <p:nvPr/>
        </p:nvSpPr>
        <p:spPr>
          <a:xfrm>
            <a:off x="6208776" y="3767328"/>
            <a:ext cx="2350008" cy="841248"/>
          </a:xfrm>
          <a:prstGeom prst="rect">
            <a:avLst/>
          </a:prstGeom>
          <a:noFill/>
          <a:ln/>
        </p:spPr>
        <p:txBody>
          <a:bodyPr wrap="square" lIns="0" tIns="0" rIns="0" bIns="0" rtlCol="0" anchor="t"/>
          <a:lstStyle/>
          <a:p>
            <a:pPr marL="0" indent="0">
              <a:buNone/>
            </a:pPr>
            <a:r>
              <a:rPr lang="en-US" sz="1050" dirty="0">
                <a:solidFill>
                  <a:schemeClr val="tx2"/>
                </a:solidFill>
              </a:rPr>
              <a:t>The last screen shows the reference number and code. Tell families to </a:t>
            </a:r>
            <a:r>
              <a:rPr lang="en-US" sz="1050" b="1" dirty="0">
                <a:solidFill>
                  <a:schemeClr val="tx1"/>
                </a:solidFill>
              </a:rPr>
              <a:t>screenshot it</a:t>
            </a:r>
            <a:r>
              <a:rPr lang="en-US" sz="1050" dirty="0">
                <a:solidFill>
                  <a:schemeClr val="tx2"/>
                </a:solidFill>
              </a:rPr>
              <a:t>: they need it next year.</a:t>
            </a:r>
            <a:endParaRPr lang="en-US" sz="1050" dirty="0"/>
          </a:p>
        </p:txBody>
      </p:sp>
      <p:sp>
        <p:nvSpPr>
          <p:cNvPr id="53"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Managing the census from the Census page</a:t>
            </a:r>
            <a:endParaRPr lang="en-US" sz="2600" dirty="0"/>
          </a:p>
        </p:txBody>
      </p:sp>
      <p:sp>
        <p:nvSpPr>
          <p:cNvPr id="3" name="Census page mock"/>
          <p:cNvSpPr/>
          <p:nvPr/>
        </p:nvSpPr>
        <p:spPr>
          <a:xfrm>
            <a:off x="457200" y="1051560"/>
            <a:ext cx="5166360" cy="3566160"/>
          </a:xfrm>
          <a:prstGeom prst="roundRect">
            <a:avLst>
              <a:gd name="adj" fmla="val 2051"/>
            </a:avLst>
          </a:prstGeom>
          <a:solidFill>
            <a:schemeClr val="bg1"/>
          </a:solidFill>
          <a:ln w="9525">
            <a:solidFill>
              <a:srgbClr val="D9DEE8"/>
            </a:solidFill>
            <a:prstDash val="solid"/>
          </a:ln>
          <a:effectLst>
            <a:outerShdw blurRad="76200" dist="25400" dir="5400000" algn="bl" rotWithShape="0">
              <a:srgbClr val="1A2B4A">
                <a:alpha val="12000"/>
              </a:srgbClr>
            </a:outerShdw>
          </a:effectLst>
        </p:spPr>
      </p:sp>
      <p:sp>
        <p:nvSpPr>
          <p:cNvPr id="4" name="Tab Households chip"/>
          <p:cNvSpPr/>
          <p:nvPr/>
        </p:nvSpPr>
        <p:spPr>
          <a:xfrm>
            <a:off x="621792" y="1188720"/>
            <a:ext cx="960120" cy="274320"/>
          </a:xfrm>
          <a:prstGeom prst="roundRect">
            <a:avLst>
              <a:gd name="adj" fmla="val 50000"/>
            </a:avLst>
          </a:prstGeom>
          <a:solidFill>
            <a:schemeClr val="tx1"/>
          </a:solidFill>
          <a:ln/>
        </p:spPr>
      </p:sp>
      <p:sp>
        <p:nvSpPr>
          <p:cNvPr id="5" name="Tab Households label"/>
          <p:cNvSpPr txBox="1"/>
          <p:nvPr/>
        </p:nvSpPr>
        <p:spPr>
          <a:xfrm>
            <a:off x="621792" y="1188720"/>
            <a:ext cx="960120" cy="274320"/>
          </a:xfrm>
          <a:prstGeom prst="rect">
            <a:avLst/>
          </a:prstGeom>
          <a:noFill/>
          <a:ln/>
        </p:spPr>
        <p:txBody>
          <a:bodyPr wrap="square" lIns="0" tIns="0" rIns="0" bIns="0" rtlCol="0" anchor="ctr"/>
          <a:lstStyle/>
          <a:p>
            <a:pPr marL="0" indent="0" algn="ctr">
              <a:buNone/>
            </a:pPr>
            <a:r>
              <a:rPr lang="en-US" sz="1000" b="1" dirty="0">
                <a:solidFill>
                  <a:schemeClr val="bg1"/>
                </a:solidFill>
              </a:rPr>
              <a:t>Households</a:t>
            </a:r>
            <a:endParaRPr lang="en-US" sz="1000" dirty="0"/>
          </a:p>
        </p:txBody>
      </p:sp>
      <p:sp>
        <p:nvSpPr>
          <p:cNvPr id="6" name="Tab Online updates chip"/>
          <p:cNvSpPr/>
          <p:nvPr/>
        </p:nvSpPr>
        <p:spPr>
          <a:xfrm>
            <a:off x="1655064" y="1188720"/>
            <a:ext cx="1051560" cy="274320"/>
          </a:xfrm>
          <a:prstGeom prst="roundRect">
            <a:avLst>
              <a:gd name="adj" fmla="val 50000"/>
            </a:avLst>
          </a:prstGeom>
          <a:solidFill>
            <a:schemeClr val="bg2"/>
          </a:solidFill>
          <a:ln/>
        </p:spPr>
      </p:sp>
      <p:sp>
        <p:nvSpPr>
          <p:cNvPr id="7" name="Tab Online updates label"/>
          <p:cNvSpPr txBox="1"/>
          <p:nvPr/>
        </p:nvSpPr>
        <p:spPr>
          <a:xfrm>
            <a:off x="1655064" y="1188720"/>
            <a:ext cx="1051560" cy="274320"/>
          </a:xfrm>
          <a:prstGeom prst="rect">
            <a:avLst/>
          </a:prstGeom>
          <a:noFill/>
          <a:ln/>
        </p:spPr>
        <p:txBody>
          <a:bodyPr wrap="square" lIns="0" tIns="0" rIns="0" bIns="0" rtlCol="0" anchor="ctr"/>
          <a:lstStyle/>
          <a:p>
            <a:pPr marL="0" indent="0" algn="ctr">
              <a:buNone/>
            </a:pPr>
            <a:r>
              <a:rPr lang="en-US" sz="1000" b="1" dirty="0">
                <a:solidFill>
                  <a:schemeClr val="tx1"/>
                </a:solidFill>
              </a:rPr>
              <a:t>Online updates</a:t>
            </a:r>
            <a:endParaRPr lang="en-US" sz="1000" dirty="0"/>
          </a:p>
        </p:txBody>
      </p:sp>
      <p:sp>
        <p:nvSpPr>
          <p:cNvPr id="8" name="Tab Results by GKK chip"/>
          <p:cNvSpPr/>
          <p:nvPr/>
        </p:nvSpPr>
        <p:spPr>
          <a:xfrm>
            <a:off x="2779776" y="1188720"/>
            <a:ext cx="1051560" cy="274320"/>
          </a:xfrm>
          <a:prstGeom prst="roundRect">
            <a:avLst>
              <a:gd name="adj" fmla="val 50000"/>
            </a:avLst>
          </a:prstGeom>
          <a:solidFill>
            <a:schemeClr val="bg2"/>
          </a:solidFill>
          <a:ln/>
        </p:spPr>
      </p:sp>
      <p:sp>
        <p:nvSpPr>
          <p:cNvPr id="9" name="Tab Results by GKK label"/>
          <p:cNvSpPr txBox="1"/>
          <p:nvPr/>
        </p:nvSpPr>
        <p:spPr>
          <a:xfrm>
            <a:off x="2779776" y="1188720"/>
            <a:ext cx="1051560" cy="274320"/>
          </a:xfrm>
          <a:prstGeom prst="rect">
            <a:avLst/>
          </a:prstGeom>
          <a:noFill/>
          <a:ln/>
        </p:spPr>
        <p:txBody>
          <a:bodyPr wrap="square" lIns="0" tIns="0" rIns="0" bIns="0" rtlCol="0" anchor="ctr"/>
          <a:lstStyle/>
          <a:p>
            <a:pPr marL="0" indent="0" algn="ctr">
              <a:buNone/>
            </a:pPr>
            <a:r>
              <a:rPr lang="en-US" sz="1000" b="1" dirty="0">
                <a:solidFill>
                  <a:schemeClr val="tx1"/>
                </a:solidFill>
              </a:rPr>
              <a:t>Results by GKK</a:t>
            </a:r>
            <a:endParaRPr lang="en-US" sz="1000" dirty="0"/>
          </a:p>
        </p:txBody>
      </p:sp>
      <p:sp>
        <p:nvSpPr>
          <p:cNvPr id="10" name="Tab Last year’s list chip"/>
          <p:cNvSpPr/>
          <p:nvPr/>
        </p:nvSpPr>
        <p:spPr>
          <a:xfrm>
            <a:off x="3904488" y="1188720"/>
            <a:ext cx="1051560" cy="274320"/>
          </a:xfrm>
          <a:prstGeom prst="roundRect">
            <a:avLst>
              <a:gd name="adj" fmla="val 50000"/>
            </a:avLst>
          </a:prstGeom>
          <a:solidFill>
            <a:schemeClr val="bg2"/>
          </a:solidFill>
          <a:ln/>
        </p:spPr>
      </p:sp>
      <p:sp>
        <p:nvSpPr>
          <p:cNvPr id="11" name="Tab Last year’s list label"/>
          <p:cNvSpPr txBox="1"/>
          <p:nvPr/>
        </p:nvSpPr>
        <p:spPr>
          <a:xfrm>
            <a:off x="3904488" y="1188720"/>
            <a:ext cx="1051560" cy="274320"/>
          </a:xfrm>
          <a:prstGeom prst="rect">
            <a:avLst/>
          </a:prstGeom>
          <a:noFill/>
          <a:ln/>
        </p:spPr>
        <p:txBody>
          <a:bodyPr wrap="square" lIns="0" tIns="0" rIns="0" bIns="0" rtlCol="0" anchor="ctr"/>
          <a:lstStyle/>
          <a:p>
            <a:pPr marL="0" indent="0" algn="ctr">
              <a:buNone/>
            </a:pPr>
            <a:r>
              <a:rPr lang="en-US" sz="1000" b="1" dirty="0">
                <a:solidFill>
                  <a:schemeClr val="tx1"/>
                </a:solidFill>
              </a:rPr>
              <a:t>Last year’s list</a:t>
            </a:r>
            <a:endParaRPr lang="en-US" sz="1000" dirty="0"/>
          </a:p>
        </p:txBody>
      </p:sp>
      <p:sp>
        <p:nvSpPr>
          <p:cNvPr id="12" name="Tile 1"/>
          <p:cNvSpPr/>
          <p:nvPr/>
        </p:nvSpPr>
        <p:spPr>
          <a:xfrm>
            <a:off x="621792" y="1627632"/>
            <a:ext cx="1124712" cy="685800"/>
          </a:xfrm>
          <a:prstGeom prst="roundRect">
            <a:avLst>
              <a:gd name="adj" fmla="val 10667"/>
            </a:avLst>
          </a:prstGeom>
          <a:solidFill>
            <a:schemeClr val="accent6"/>
          </a:solidFill>
          <a:ln/>
        </p:spPr>
      </p:sp>
      <p:sp>
        <p:nvSpPr>
          <p:cNvPr id="13" name="Tile 1 label"/>
          <p:cNvSpPr txBox="1"/>
          <p:nvPr/>
        </p:nvSpPr>
        <p:spPr>
          <a:xfrm>
            <a:off x="713232" y="1691640"/>
            <a:ext cx="1005840" cy="201168"/>
          </a:xfrm>
          <a:prstGeom prst="rect">
            <a:avLst/>
          </a:prstGeom>
          <a:noFill/>
          <a:ln/>
        </p:spPr>
        <p:txBody>
          <a:bodyPr wrap="square" lIns="0" tIns="0" rIns="0" bIns="0" rtlCol="0" anchor="t"/>
          <a:lstStyle/>
          <a:p>
            <a:pPr marL="0" indent="0">
              <a:buNone/>
            </a:pPr>
            <a:r>
              <a:rPr lang="en-US" sz="850" dirty="0">
                <a:solidFill>
                  <a:schemeClr val="tx1"/>
                </a:solidFill>
              </a:rPr>
              <a:t>Registered vs last year</a:t>
            </a:r>
            <a:endParaRPr lang="en-US" sz="850" dirty="0"/>
          </a:p>
        </p:txBody>
      </p:sp>
      <p:sp>
        <p:nvSpPr>
          <p:cNvPr id="14" name="Tile 1 value"/>
          <p:cNvSpPr txBox="1"/>
          <p:nvPr/>
        </p:nvSpPr>
        <p:spPr>
          <a:xfrm>
            <a:off x="713232" y="1892808"/>
            <a:ext cx="960120" cy="347472"/>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18 of 30</a:t>
            </a:r>
            <a:endParaRPr lang="en-US" sz="1800" dirty="0"/>
          </a:p>
        </p:txBody>
      </p:sp>
      <p:sp>
        <p:nvSpPr>
          <p:cNvPr id="15" name="Tile 2"/>
          <p:cNvSpPr/>
          <p:nvPr/>
        </p:nvSpPr>
        <p:spPr>
          <a:xfrm>
            <a:off x="1837944" y="1627632"/>
            <a:ext cx="1124712" cy="685800"/>
          </a:xfrm>
          <a:prstGeom prst="roundRect">
            <a:avLst>
              <a:gd name="adj" fmla="val 10667"/>
            </a:avLst>
          </a:prstGeom>
          <a:solidFill>
            <a:schemeClr val="bg2"/>
          </a:solidFill>
          <a:ln/>
        </p:spPr>
      </p:sp>
      <p:sp>
        <p:nvSpPr>
          <p:cNvPr id="16" name="Tile 2 label"/>
          <p:cNvSpPr txBox="1"/>
          <p:nvPr/>
        </p:nvSpPr>
        <p:spPr>
          <a:xfrm>
            <a:off x="1929384" y="1691640"/>
            <a:ext cx="1005840" cy="201168"/>
          </a:xfrm>
          <a:prstGeom prst="rect">
            <a:avLst/>
          </a:prstGeom>
          <a:noFill/>
          <a:ln/>
        </p:spPr>
        <p:txBody>
          <a:bodyPr wrap="square" lIns="0" tIns="0" rIns="0" bIns="0" rtlCol="0" anchor="t"/>
          <a:lstStyle/>
          <a:p>
            <a:pPr marL="0" indent="0">
              <a:buNone/>
            </a:pPr>
            <a:r>
              <a:rPr lang="en-US" sz="850" dirty="0">
                <a:solidFill>
                  <a:schemeClr val="tx2"/>
                </a:solidFill>
              </a:rPr>
              <a:t>Households done</a:t>
            </a:r>
            <a:endParaRPr lang="en-US" sz="850" dirty="0"/>
          </a:p>
        </p:txBody>
      </p:sp>
      <p:sp>
        <p:nvSpPr>
          <p:cNvPr id="17" name="Tile 2 value"/>
          <p:cNvSpPr txBox="1"/>
          <p:nvPr/>
        </p:nvSpPr>
        <p:spPr>
          <a:xfrm>
            <a:off x="1929384" y="1892808"/>
            <a:ext cx="960120" cy="347472"/>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17</a:t>
            </a:r>
            <a:endParaRPr lang="en-US" sz="1800" dirty="0"/>
          </a:p>
        </p:txBody>
      </p:sp>
      <p:sp>
        <p:nvSpPr>
          <p:cNvPr id="18" name="Tile 3"/>
          <p:cNvSpPr/>
          <p:nvPr/>
        </p:nvSpPr>
        <p:spPr>
          <a:xfrm>
            <a:off x="3054096" y="1627632"/>
            <a:ext cx="1124712" cy="685800"/>
          </a:xfrm>
          <a:prstGeom prst="roundRect">
            <a:avLst>
              <a:gd name="adj" fmla="val 10667"/>
            </a:avLst>
          </a:prstGeom>
          <a:solidFill>
            <a:schemeClr val="bg2"/>
          </a:solidFill>
          <a:ln/>
        </p:spPr>
      </p:sp>
      <p:sp>
        <p:nvSpPr>
          <p:cNvPr id="19" name="Tile 3 label"/>
          <p:cNvSpPr txBox="1"/>
          <p:nvPr/>
        </p:nvSpPr>
        <p:spPr>
          <a:xfrm>
            <a:off x="3145536" y="1691640"/>
            <a:ext cx="1005840" cy="201168"/>
          </a:xfrm>
          <a:prstGeom prst="rect">
            <a:avLst/>
          </a:prstGeom>
          <a:noFill/>
          <a:ln/>
        </p:spPr>
        <p:txBody>
          <a:bodyPr wrap="square" lIns="0" tIns="0" rIns="0" bIns="0" rtlCol="0" anchor="t"/>
          <a:lstStyle/>
          <a:p>
            <a:pPr marL="0" indent="0">
              <a:buNone/>
            </a:pPr>
            <a:r>
              <a:rPr lang="en-US" sz="850" dirty="0">
                <a:solidFill>
                  <a:schemeClr val="tx2"/>
                </a:solidFill>
              </a:rPr>
              <a:t>Members confirmed</a:t>
            </a:r>
            <a:endParaRPr lang="en-US" sz="850" dirty="0"/>
          </a:p>
        </p:txBody>
      </p:sp>
      <p:sp>
        <p:nvSpPr>
          <p:cNvPr id="20" name="Tile 3 value"/>
          <p:cNvSpPr txBox="1"/>
          <p:nvPr/>
        </p:nvSpPr>
        <p:spPr>
          <a:xfrm>
            <a:off x="3145536" y="1892808"/>
            <a:ext cx="960120" cy="347472"/>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96%</a:t>
            </a:r>
            <a:endParaRPr lang="en-US" sz="1800" dirty="0"/>
          </a:p>
        </p:txBody>
      </p:sp>
      <p:sp>
        <p:nvSpPr>
          <p:cNvPr id="21" name="Tile 4"/>
          <p:cNvSpPr/>
          <p:nvPr/>
        </p:nvSpPr>
        <p:spPr>
          <a:xfrm>
            <a:off x="4270248" y="1627632"/>
            <a:ext cx="1124712" cy="685800"/>
          </a:xfrm>
          <a:prstGeom prst="roundRect">
            <a:avLst>
              <a:gd name="adj" fmla="val 10667"/>
            </a:avLst>
          </a:prstGeom>
          <a:solidFill>
            <a:schemeClr val="bg2"/>
          </a:solidFill>
          <a:ln/>
        </p:spPr>
      </p:sp>
      <p:sp>
        <p:nvSpPr>
          <p:cNvPr id="22" name="Tile 4 label"/>
          <p:cNvSpPr txBox="1"/>
          <p:nvPr/>
        </p:nvSpPr>
        <p:spPr>
          <a:xfrm>
            <a:off x="4361688" y="1691640"/>
            <a:ext cx="1005840" cy="201168"/>
          </a:xfrm>
          <a:prstGeom prst="rect">
            <a:avLst/>
          </a:prstGeom>
          <a:noFill/>
          <a:ln/>
        </p:spPr>
        <p:txBody>
          <a:bodyPr wrap="square" lIns="0" tIns="0" rIns="0" bIns="0" rtlCol="0" anchor="t"/>
          <a:lstStyle/>
          <a:p>
            <a:pPr marL="0" indent="0">
              <a:buNone/>
            </a:pPr>
            <a:r>
              <a:rPr lang="en-US" sz="850" dirty="0">
                <a:solidFill>
                  <a:schemeClr val="tx2"/>
                </a:solidFill>
              </a:rPr>
              <a:t>Active</a:t>
            </a:r>
            <a:endParaRPr lang="en-US" sz="850" dirty="0"/>
          </a:p>
        </p:txBody>
      </p:sp>
      <p:sp>
        <p:nvSpPr>
          <p:cNvPr id="23" name="Tile 4 value"/>
          <p:cNvSpPr txBox="1"/>
          <p:nvPr/>
        </p:nvSpPr>
        <p:spPr>
          <a:xfrm>
            <a:off x="4361688" y="1892808"/>
            <a:ext cx="960120" cy="347472"/>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74</a:t>
            </a:r>
            <a:endParaRPr lang="en-US" sz="1800" dirty="0"/>
          </a:p>
        </p:txBody>
      </p:sp>
      <p:sp>
        <p:nvSpPr>
          <p:cNvPr id="24" name="Row 1 divider"/>
          <p:cNvSpPr/>
          <p:nvPr/>
        </p:nvSpPr>
        <p:spPr>
          <a:xfrm>
            <a:off x="621792" y="2441448"/>
            <a:ext cx="4837176" cy="0"/>
          </a:xfrm>
          <a:prstGeom prst="line">
            <a:avLst/>
          </a:prstGeom>
          <a:noFill/>
          <a:ln w="9525">
            <a:solidFill>
              <a:srgbClr val="E2E6EE"/>
            </a:solidFill>
            <a:prstDash val="solid"/>
          </a:ln>
        </p:spPr>
      </p:sp>
      <p:sp>
        <p:nvSpPr>
          <p:cNvPr id="25" name="Row 1 household"/>
          <p:cNvSpPr txBox="1"/>
          <p:nvPr/>
        </p:nvSpPr>
        <p:spPr>
          <a:xfrm>
            <a:off x="685800" y="2514600"/>
            <a:ext cx="1325880" cy="411480"/>
          </a:xfrm>
          <a:prstGeom prst="rect">
            <a:avLst/>
          </a:prstGeom>
          <a:noFill/>
          <a:ln/>
        </p:spPr>
        <p:txBody>
          <a:bodyPr wrap="square" lIns="0" tIns="0" rIns="0" bIns="0" rtlCol="0" anchor="t"/>
          <a:lstStyle/>
          <a:p>
            <a:pPr marL="0" indent="0">
              <a:buNone/>
            </a:pPr>
            <a:r>
              <a:rPr lang="en-US" sz="1100" b="1" dirty="0">
                <a:solidFill>
                  <a:schemeClr val="tx1"/>
                </a:solidFill>
              </a:rPr>
              <a:t>Dela Cruz Family</a:t>
            </a:r>
            <a:endParaRPr lang="en-US" sz="1100" dirty="0"/>
          </a:p>
          <a:p>
            <a:pPr marL="0" indent="0">
              <a:buNone/>
            </a:pPr>
            <a:r>
              <a:rPr lang="en-US" sz="900" dirty="0">
                <a:solidFill>
                  <a:schemeClr val="tx2"/>
                </a:solidFill>
              </a:rPr>
              <a:t>FG 1</a:t>
            </a:r>
            <a:endParaRPr lang="en-US" sz="1100" dirty="0"/>
          </a:p>
        </p:txBody>
      </p:sp>
      <p:sp>
        <p:nvSpPr>
          <p:cNvPr id="26" name="Row 1 progress chip"/>
          <p:cNvSpPr/>
          <p:nvPr/>
        </p:nvSpPr>
        <p:spPr>
          <a:xfrm>
            <a:off x="2011680" y="2578608"/>
            <a:ext cx="1097280" cy="237744"/>
          </a:xfrm>
          <a:prstGeom prst="roundRect">
            <a:avLst>
              <a:gd name="adj" fmla="val 50000"/>
            </a:avLst>
          </a:prstGeom>
          <a:solidFill>
            <a:schemeClr val="accent3"/>
          </a:solidFill>
          <a:ln/>
        </p:spPr>
      </p:sp>
      <p:sp>
        <p:nvSpPr>
          <p:cNvPr id="27" name="Row 1 progress label"/>
          <p:cNvSpPr txBox="1"/>
          <p:nvPr/>
        </p:nvSpPr>
        <p:spPr>
          <a:xfrm>
            <a:off x="2011680" y="2578608"/>
            <a:ext cx="1097280" cy="237744"/>
          </a:xfrm>
          <a:prstGeom prst="rect">
            <a:avLst/>
          </a:prstGeom>
          <a:noFill/>
          <a:ln/>
        </p:spPr>
        <p:txBody>
          <a:bodyPr wrap="square" lIns="0" tIns="0" rIns="0" bIns="0" rtlCol="0" anchor="ctr"/>
          <a:lstStyle/>
          <a:p>
            <a:pPr marL="0" indent="0" algn="ctr">
              <a:buNone/>
            </a:pPr>
            <a:r>
              <a:rPr lang="en-US" sz="900" b="1" dirty="0">
                <a:solidFill>
                  <a:schemeClr val="bg1"/>
                </a:solidFill>
              </a:rPr>
              <a:t>Confirmed</a:t>
            </a:r>
            <a:endParaRPr lang="en-US" sz="900" dirty="0"/>
          </a:p>
        </p:txBody>
      </p:sp>
      <p:sp>
        <p:nvSpPr>
          <p:cNvPr id="28" name="Row 1 button"/>
          <p:cNvSpPr/>
          <p:nvPr/>
        </p:nvSpPr>
        <p:spPr>
          <a:xfrm>
            <a:off x="4498848" y="2578608"/>
            <a:ext cx="896112" cy="237744"/>
          </a:xfrm>
          <a:prstGeom prst="roundRect">
            <a:avLst>
              <a:gd name="adj" fmla="val 50000"/>
            </a:avLst>
          </a:prstGeom>
          <a:solidFill>
            <a:schemeClr val="bg1"/>
          </a:solidFill>
          <a:ln w="9525">
            <a:solidFill>
              <a:srgbClr val="34589C"/>
            </a:solidFill>
            <a:prstDash val="solid"/>
          </a:ln>
        </p:spPr>
      </p:sp>
      <p:sp>
        <p:nvSpPr>
          <p:cNvPr id="29" name="Row 1 button label"/>
          <p:cNvSpPr txBox="1"/>
          <p:nvPr/>
        </p:nvSpPr>
        <p:spPr>
          <a:xfrm>
            <a:off x="4498848" y="2578608"/>
            <a:ext cx="896112" cy="237744"/>
          </a:xfrm>
          <a:prstGeom prst="rect">
            <a:avLst/>
          </a:prstGeom>
          <a:noFill/>
          <a:ln/>
        </p:spPr>
        <p:txBody>
          <a:bodyPr wrap="square" lIns="0" tIns="0" rIns="0" bIns="0" rtlCol="0" anchor="ctr"/>
          <a:lstStyle/>
          <a:p>
            <a:pPr marL="0" indent="0" algn="ctr">
              <a:buNone/>
            </a:pPr>
            <a:r>
              <a:rPr lang="en-US" sz="900" b="1" dirty="0">
                <a:solidFill>
                  <a:schemeClr val="accent1"/>
                </a:solidFill>
              </a:rPr>
              <a:t>Record census</a:t>
            </a:r>
            <a:endParaRPr lang="en-US" sz="900" dirty="0"/>
          </a:p>
        </p:txBody>
      </p:sp>
      <p:sp>
        <p:nvSpPr>
          <p:cNvPr id="30" name="Row 2 divider"/>
          <p:cNvSpPr/>
          <p:nvPr/>
        </p:nvSpPr>
        <p:spPr>
          <a:xfrm>
            <a:off x="621792" y="2990088"/>
            <a:ext cx="4837176" cy="0"/>
          </a:xfrm>
          <a:prstGeom prst="line">
            <a:avLst/>
          </a:prstGeom>
          <a:noFill/>
          <a:ln w="9525">
            <a:solidFill>
              <a:srgbClr val="E2E6EE"/>
            </a:solidFill>
            <a:prstDash val="solid"/>
          </a:ln>
        </p:spPr>
      </p:sp>
      <p:sp>
        <p:nvSpPr>
          <p:cNvPr id="31" name="Row 2 household"/>
          <p:cNvSpPr txBox="1"/>
          <p:nvPr/>
        </p:nvSpPr>
        <p:spPr>
          <a:xfrm>
            <a:off x="685800" y="3063240"/>
            <a:ext cx="1325880" cy="411480"/>
          </a:xfrm>
          <a:prstGeom prst="rect">
            <a:avLst/>
          </a:prstGeom>
          <a:noFill/>
          <a:ln/>
        </p:spPr>
        <p:txBody>
          <a:bodyPr wrap="square" lIns="0" tIns="0" rIns="0" bIns="0" rtlCol="0" anchor="t"/>
          <a:lstStyle/>
          <a:p>
            <a:pPr marL="0" indent="0">
              <a:buNone/>
            </a:pPr>
            <a:r>
              <a:rPr lang="en-US" sz="1100" b="1" dirty="0">
                <a:solidFill>
                  <a:schemeClr val="tx1"/>
                </a:solidFill>
              </a:rPr>
              <a:t>Santos Family</a:t>
            </a:r>
            <a:endParaRPr lang="en-US" sz="1100" dirty="0"/>
          </a:p>
          <a:p>
            <a:pPr marL="0" indent="0">
              <a:buNone/>
            </a:pPr>
            <a:r>
              <a:rPr lang="en-US" sz="900" dirty="0">
                <a:solidFill>
                  <a:schemeClr val="tx2"/>
                </a:solidFill>
              </a:rPr>
              <a:t>FG 2</a:t>
            </a:r>
            <a:endParaRPr lang="en-US" sz="1100" dirty="0"/>
          </a:p>
        </p:txBody>
      </p:sp>
      <p:sp>
        <p:nvSpPr>
          <p:cNvPr id="32" name="Row 2 progress chip"/>
          <p:cNvSpPr/>
          <p:nvPr/>
        </p:nvSpPr>
        <p:spPr>
          <a:xfrm>
            <a:off x="2011680" y="3127248"/>
            <a:ext cx="1097280" cy="237744"/>
          </a:xfrm>
          <a:prstGeom prst="roundRect">
            <a:avLst>
              <a:gd name="adj" fmla="val 50000"/>
            </a:avLst>
          </a:prstGeom>
          <a:solidFill>
            <a:schemeClr val="accent3"/>
          </a:solidFill>
          <a:ln/>
        </p:spPr>
      </p:sp>
      <p:sp>
        <p:nvSpPr>
          <p:cNvPr id="33" name="Row 2 progress label"/>
          <p:cNvSpPr txBox="1"/>
          <p:nvPr/>
        </p:nvSpPr>
        <p:spPr>
          <a:xfrm>
            <a:off x="2011680" y="3127248"/>
            <a:ext cx="1097280" cy="237744"/>
          </a:xfrm>
          <a:prstGeom prst="rect">
            <a:avLst/>
          </a:prstGeom>
          <a:noFill/>
          <a:ln/>
        </p:spPr>
        <p:txBody>
          <a:bodyPr wrap="square" lIns="0" tIns="0" rIns="0" bIns="0" rtlCol="0" anchor="ctr"/>
          <a:lstStyle/>
          <a:p>
            <a:pPr marL="0" indent="0" algn="ctr">
              <a:buNone/>
            </a:pPr>
            <a:r>
              <a:rPr lang="en-US" sz="900" b="1" dirty="0">
                <a:solidFill>
                  <a:schemeClr val="bg1"/>
                </a:solidFill>
              </a:rPr>
              <a:t>Confirmed</a:t>
            </a:r>
            <a:endParaRPr lang="en-US" sz="900" dirty="0"/>
          </a:p>
        </p:txBody>
      </p:sp>
      <p:sp>
        <p:nvSpPr>
          <p:cNvPr id="34" name="Row 2 button"/>
          <p:cNvSpPr/>
          <p:nvPr/>
        </p:nvSpPr>
        <p:spPr>
          <a:xfrm>
            <a:off x="4498848" y="3127248"/>
            <a:ext cx="896112" cy="237744"/>
          </a:xfrm>
          <a:prstGeom prst="roundRect">
            <a:avLst>
              <a:gd name="adj" fmla="val 50000"/>
            </a:avLst>
          </a:prstGeom>
          <a:solidFill>
            <a:schemeClr val="bg1"/>
          </a:solidFill>
          <a:ln w="9525">
            <a:solidFill>
              <a:srgbClr val="34589C"/>
            </a:solidFill>
            <a:prstDash val="solid"/>
          </a:ln>
        </p:spPr>
      </p:sp>
      <p:sp>
        <p:nvSpPr>
          <p:cNvPr id="35" name="Row 2 button label"/>
          <p:cNvSpPr txBox="1"/>
          <p:nvPr/>
        </p:nvSpPr>
        <p:spPr>
          <a:xfrm>
            <a:off x="4498848" y="3127248"/>
            <a:ext cx="896112" cy="237744"/>
          </a:xfrm>
          <a:prstGeom prst="rect">
            <a:avLst/>
          </a:prstGeom>
          <a:noFill/>
          <a:ln/>
        </p:spPr>
        <p:txBody>
          <a:bodyPr wrap="square" lIns="0" tIns="0" rIns="0" bIns="0" rtlCol="0" anchor="ctr"/>
          <a:lstStyle/>
          <a:p>
            <a:pPr marL="0" indent="0" algn="ctr">
              <a:buNone/>
            </a:pPr>
            <a:r>
              <a:rPr lang="en-US" sz="900" b="1" dirty="0">
                <a:solidFill>
                  <a:schemeClr val="accent1"/>
                </a:solidFill>
              </a:rPr>
              <a:t>Record census</a:t>
            </a:r>
            <a:endParaRPr lang="en-US" sz="900" dirty="0"/>
          </a:p>
        </p:txBody>
      </p:sp>
      <p:sp>
        <p:nvSpPr>
          <p:cNvPr id="36" name="Row 3 divider"/>
          <p:cNvSpPr/>
          <p:nvPr/>
        </p:nvSpPr>
        <p:spPr>
          <a:xfrm>
            <a:off x="621792" y="3538728"/>
            <a:ext cx="4837176" cy="0"/>
          </a:xfrm>
          <a:prstGeom prst="line">
            <a:avLst/>
          </a:prstGeom>
          <a:noFill/>
          <a:ln w="9525">
            <a:solidFill>
              <a:srgbClr val="E2E6EE"/>
            </a:solidFill>
            <a:prstDash val="solid"/>
          </a:ln>
        </p:spPr>
      </p:sp>
      <p:sp>
        <p:nvSpPr>
          <p:cNvPr id="37" name="Row 3 household"/>
          <p:cNvSpPr txBox="1"/>
          <p:nvPr/>
        </p:nvSpPr>
        <p:spPr>
          <a:xfrm>
            <a:off x="685800" y="3611880"/>
            <a:ext cx="1325880" cy="411480"/>
          </a:xfrm>
          <a:prstGeom prst="rect">
            <a:avLst/>
          </a:prstGeom>
          <a:noFill/>
          <a:ln/>
        </p:spPr>
        <p:txBody>
          <a:bodyPr wrap="square" lIns="0" tIns="0" rIns="0" bIns="0" rtlCol="0" anchor="t"/>
          <a:lstStyle/>
          <a:p>
            <a:pPr marL="0" indent="0">
              <a:buNone/>
            </a:pPr>
            <a:r>
              <a:rPr lang="en-US" sz="1100" b="1" dirty="0">
                <a:solidFill>
                  <a:schemeClr val="tx1"/>
                </a:solidFill>
              </a:rPr>
              <a:t>Reyes Family</a:t>
            </a:r>
            <a:endParaRPr lang="en-US" sz="1100" dirty="0"/>
          </a:p>
          <a:p>
            <a:pPr marL="0" indent="0">
              <a:buNone/>
            </a:pPr>
            <a:r>
              <a:rPr lang="en-US" sz="900" dirty="0">
                <a:solidFill>
                  <a:schemeClr val="tx2"/>
                </a:solidFill>
              </a:rPr>
              <a:t>FG 2</a:t>
            </a:r>
            <a:endParaRPr lang="en-US" sz="1100" dirty="0"/>
          </a:p>
        </p:txBody>
      </p:sp>
      <p:sp>
        <p:nvSpPr>
          <p:cNvPr id="38" name="Row 3 progress chip"/>
          <p:cNvSpPr/>
          <p:nvPr/>
        </p:nvSpPr>
        <p:spPr>
          <a:xfrm>
            <a:off x="2011680" y="3675888"/>
            <a:ext cx="1097280" cy="237744"/>
          </a:xfrm>
          <a:prstGeom prst="roundRect">
            <a:avLst>
              <a:gd name="adj" fmla="val 50000"/>
            </a:avLst>
          </a:prstGeom>
          <a:solidFill>
            <a:schemeClr val="accent2"/>
          </a:solidFill>
          <a:ln/>
        </p:spPr>
      </p:sp>
      <p:sp>
        <p:nvSpPr>
          <p:cNvPr id="39" name="Row 3 progress label"/>
          <p:cNvSpPr txBox="1"/>
          <p:nvPr/>
        </p:nvSpPr>
        <p:spPr>
          <a:xfrm>
            <a:off x="2011680" y="3675888"/>
            <a:ext cx="1097280" cy="237744"/>
          </a:xfrm>
          <a:prstGeom prst="rect">
            <a:avLst/>
          </a:prstGeom>
          <a:noFill/>
          <a:ln/>
        </p:spPr>
        <p:txBody>
          <a:bodyPr wrap="square" lIns="0" tIns="0" rIns="0" bIns="0" rtlCol="0" anchor="ctr"/>
          <a:lstStyle/>
          <a:p>
            <a:pPr marL="0" indent="0" algn="ctr">
              <a:buNone/>
            </a:pPr>
            <a:r>
              <a:rPr lang="en-US" sz="900" b="1" dirty="0">
                <a:solidFill>
                  <a:schemeClr val="bg1"/>
                </a:solidFill>
              </a:rPr>
              <a:t>Partly confirmed</a:t>
            </a:r>
            <a:endParaRPr lang="en-US" sz="900" dirty="0"/>
          </a:p>
        </p:txBody>
      </p:sp>
      <p:sp>
        <p:nvSpPr>
          <p:cNvPr id="40" name="Row 3 button"/>
          <p:cNvSpPr/>
          <p:nvPr/>
        </p:nvSpPr>
        <p:spPr>
          <a:xfrm>
            <a:off x="4498848" y="3675888"/>
            <a:ext cx="896112" cy="237744"/>
          </a:xfrm>
          <a:prstGeom prst="roundRect">
            <a:avLst>
              <a:gd name="adj" fmla="val 50000"/>
            </a:avLst>
          </a:prstGeom>
          <a:solidFill>
            <a:schemeClr val="bg1"/>
          </a:solidFill>
          <a:ln w="9525">
            <a:solidFill>
              <a:srgbClr val="34589C"/>
            </a:solidFill>
            <a:prstDash val="solid"/>
          </a:ln>
        </p:spPr>
      </p:sp>
      <p:sp>
        <p:nvSpPr>
          <p:cNvPr id="41" name="Row 3 button label"/>
          <p:cNvSpPr txBox="1"/>
          <p:nvPr/>
        </p:nvSpPr>
        <p:spPr>
          <a:xfrm>
            <a:off x="4498848" y="3675888"/>
            <a:ext cx="896112" cy="237744"/>
          </a:xfrm>
          <a:prstGeom prst="rect">
            <a:avLst/>
          </a:prstGeom>
          <a:noFill/>
          <a:ln/>
        </p:spPr>
        <p:txBody>
          <a:bodyPr wrap="square" lIns="0" tIns="0" rIns="0" bIns="0" rtlCol="0" anchor="ctr"/>
          <a:lstStyle/>
          <a:p>
            <a:pPr marL="0" indent="0" algn="ctr">
              <a:buNone/>
            </a:pPr>
            <a:r>
              <a:rPr lang="en-US" sz="900" b="1" dirty="0">
                <a:solidFill>
                  <a:schemeClr val="accent1"/>
                </a:solidFill>
              </a:rPr>
              <a:t>Record census</a:t>
            </a:r>
            <a:endParaRPr lang="en-US" sz="900" dirty="0"/>
          </a:p>
        </p:txBody>
      </p:sp>
      <p:sp>
        <p:nvSpPr>
          <p:cNvPr id="42" name="Mock caption"/>
          <p:cNvSpPr txBox="1"/>
          <p:nvPr/>
        </p:nvSpPr>
        <p:spPr>
          <a:xfrm>
            <a:off x="621792" y="4224528"/>
            <a:ext cx="1828800" cy="228600"/>
          </a:xfrm>
          <a:prstGeom prst="rect">
            <a:avLst/>
          </a:prstGeom>
          <a:noFill/>
          <a:ln/>
        </p:spPr>
        <p:txBody>
          <a:bodyPr wrap="square" lIns="0" tIns="0" rIns="0" bIns="0" rtlCol="0" anchor="t"/>
          <a:lstStyle/>
          <a:p>
            <a:pPr marL="0" indent="0">
              <a:buNone/>
            </a:pPr>
            <a:r>
              <a:rPr lang="en-US" sz="900" i="1" dirty="0">
                <a:solidFill>
                  <a:schemeClr val="tx2"/>
                </a:solidFill>
              </a:rPr>
              <a:t>Example numbers</a:t>
            </a:r>
            <a:endParaRPr lang="en-US" sz="900" dirty="0"/>
          </a:p>
        </p:txBody>
      </p:sp>
      <p:sp>
        <p:nvSpPr>
          <p:cNvPr id="43" name="Registered vs last year circle"/>
          <p:cNvSpPr/>
          <p:nvPr/>
        </p:nvSpPr>
        <p:spPr>
          <a:xfrm>
            <a:off x="5852160" y="1069848"/>
            <a:ext cx="384048" cy="384048"/>
          </a:xfrm>
          <a:prstGeom prst="ellipse">
            <a:avLst/>
          </a:prstGeom>
          <a:solidFill>
            <a:schemeClr val="bg2"/>
          </a:solidFill>
          <a:ln/>
        </p:spPr>
      </p:sp>
      <p:pic>
        <p:nvPicPr>
          <p:cNvPr id="44" name="Registered vs last year icon" descr="Registered vs last year"/>
          <p:cNvPicPr>
            <a:picLocks noChangeAspect="1"/>
          </p:cNvPicPr>
          <p:nvPr/>
        </p:nvPicPr>
        <p:blipFill>
          <a:blip r:embed="rId3"/>
          <a:stretch>
            <a:fillRect/>
          </a:stretch>
        </p:blipFill>
        <p:spPr>
          <a:xfrm>
            <a:off x="5944332" y="1162020"/>
            <a:ext cx="199705" cy="199705"/>
          </a:xfrm>
          <a:prstGeom prst="rect">
            <a:avLst/>
          </a:prstGeom>
        </p:spPr>
      </p:pic>
      <p:sp>
        <p:nvSpPr>
          <p:cNvPr id="45" name="Registered vs last year heading"/>
          <p:cNvSpPr txBox="1"/>
          <p:nvPr/>
        </p:nvSpPr>
        <p:spPr>
          <a:xfrm>
            <a:off x="6355080" y="1051560"/>
            <a:ext cx="2331720" cy="237744"/>
          </a:xfrm>
          <a:prstGeom prst="rect">
            <a:avLst/>
          </a:prstGeom>
          <a:noFill/>
          <a:ln/>
        </p:spPr>
        <p:txBody>
          <a:bodyPr wrap="square" lIns="0" tIns="0" rIns="0" bIns="0" rtlCol="0" anchor="t"/>
          <a:lstStyle/>
          <a:p>
            <a:pPr marL="0" indent="0">
              <a:buNone/>
            </a:pPr>
            <a:r>
              <a:rPr lang="en-US" sz="1250" b="1" dirty="0">
                <a:solidFill>
                  <a:schemeClr val="tx1"/>
                </a:solidFill>
              </a:rPr>
              <a:t>Registered vs last year</a:t>
            </a:r>
            <a:endParaRPr lang="en-US" sz="1250" dirty="0"/>
          </a:p>
        </p:txBody>
      </p:sp>
      <p:sp>
        <p:nvSpPr>
          <p:cNvPr id="46" name="Registered vs last year text"/>
          <p:cNvSpPr txBox="1"/>
          <p:nvPr/>
        </p:nvSpPr>
        <p:spPr>
          <a:xfrm>
            <a:off x="6355080" y="1307592"/>
            <a:ext cx="2331720" cy="566928"/>
          </a:xfrm>
          <a:prstGeom prst="rect">
            <a:avLst/>
          </a:prstGeom>
          <a:noFill/>
          <a:ln/>
        </p:spPr>
        <p:txBody>
          <a:bodyPr wrap="square" lIns="0" tIns="0" rIns="0" bIns="0" rtlCol="0" anchor="t"/>
          <a:lstStyle/>
          <a:p>
            <a:pPr marL="0" indent="0">
              <a:buNone/>
            </a:pPr>
            <a:r>
              <a:rPr lang="en-US" sz="1050" dirty="0">
                <a:solidFill>
                  <a:schemeClr val="tx2"/>
                </a:solidFill>
              </a:rPr>
              <a:t>Your main number this year: families registered so far against last year’s census.</a:t>
            </a:r>
            <a:endParaRPr lang="en-US" sz="1050" dirty="0"/>
          </a:p>
        </p:txBody>
      </p:sp>
      <p:sp>
        <p:nvSpPr>
          <p:cNvPr id="47" name="Last year’s list tab circle"/>
          <p:cNvSpPr/>
          <p:nvPr/>
        </p:nvSpPr>
        <p:spPr>
          <a:xfrm>
            <a:off x="5852160" y="1975104"/>
            <a:ext cx="384048" cy="384048"/>
          </a:xfrm>
          <a:prstGeom prst="ellipse">
            <a:avLst/>
          </a:prstGeom>
          <a:solidFill>
            <a:schemeClr val="bg2"/>
          </a:solidFill>
          <a:ln/>
        </p:spPr>
      </p:sp>
      <p:pic>
        <p:nvPicPr>
          <p:cNvPr id="48" name="Last year’s list tab icon" descr="Last year’s list tab"/>
          <p:cNvPicPr>
            <a:picLocks noChangeAspect="1"/>
          </p:cNvPicPr>
          <p:nvPr/>
        </p:nvPicPr>
        <p:blipFill>
          <a:blip r:embed="rId4"/>
          <a:stretch>
            <a:fillRect/>
          </a:stretch>
        </p:blipFill>
        <p:spPr>
          <a:xfrm>
            <a:off x="5944332" y="2067276"/>
            <a:ext cx="199705" cy="199705"/>
          </a:xfrm>
          <a:prstGeom prst="rect">
            <a:avLst/>
          </a:prstGeom>
        </p:spPr>
      </p:pic>
      <p:sp>
        <p:nvSpPr>
          <p:cNvPr id="49" name="Last year’s list tab heading"/>
          <p:cNvSpPr txBox="1"/>
          <p:nvPr/>
        </p:nvSpPr>
        <p:spPr>
          <a:xfrm>
            <a:off x="6355080" y="1956816"/>
            <a:ext cx="2331720" cy="237744"/>
          </a:xfrm>
          <a:prstGeom prst="rect">
            <a:avLst/>
          </a:prstGeom>
          <a:noFill/>
          <a:ln/>
        </p:spPr>
        <p:txBody>
          <a:bodyPr wrap="square" lIns="0" tIns="0" rIns="0" bIns="0" rtlCol="0" anchor="t"/>
          <a:lstStyle/>
          <a:p>
            <a:pPr marL="0" indent="0">
              <a:buNone/>
            </a:pPr>
            <a:r>
              <a:rPr lang="en-US" sz="1250" b="1" dirty="0">
                <a:solidFill>
                  <a:schemeClr val="tx1"/>
                </a:solidFill>
              </a:rPr>
              <a:t>Last year’s list tab</a:t>
            </a:r>
            <a:endParaRPr lang="en-US" sz="1250" dirty="0"/>
          </a:p>
        </p:txBody>
      </p:sp>
      <p:sp>
        <p:nvSpPr>
          <p:cNvPr id="50" name="Last year’s list tab text"/>
          <p:cNvSpPr txBox="1"/>
          <p:nvPr/>
        </p:nvSpPr>
        <p:spPr>
          <a:xfrm>
            <a:off x="6355080" y="2212848"/>
            <a:ext cx="2331720" cy="566928"/>
          </a:xfrm>
          <a:prstGeom prst="rect">
            <a:avLst/>
          </a:prstGeom>
          <a:noFill/>
          <a:ln/>
        </p:spPr>
        <p:txBody>
          <a:bodyPr wrap="square" lIns="0" tIns="0" rIns="0" bIns="0" rtlCol="0" anchor="t"/>
          <a:lstStyle/>
          <a:p>
            <a:pPr marL="0" indent="0">
              <a:buNone/>
            </a:pPr>
            <a:r>
              <a:rPr lang="en-US" sz="1050" dirty="0">
                <a:solidFill>
                  <a:schemeClr val="tx2"/>
                </a:solidFill>
              </a:rPr>
              <a:t>Who from last year’s list has not registered yet.</a:t>
            </a:r>
            <a:endParaRPr lang="en-US" sz="1050" dirty="0"/>
          </a:p>
        </p:txBody>
      </p:sp>
      <p:sp>
        <p:nvSpPr>
          <p:cNvPr id="51" name="Progress circle"/>
          <p:cNvSpPr/>
          <p:nvPr/>
        </p:nvSpPr>
        <p:spPr>
          <a:xfrm>
            <a:off x="5852160" y="2880360"/>
            <a:ext cx="384048" cy="384048"/>
          </a:xfrm>
          <a:prstGeom prst="ellipse">
            <a:avLst/>
          </a:prstGeom>
          <a:solidFill>
            <a:schemeClr val="bg2"/>
          </a:solidFill>
          <a:ln/>
        </p:spPr>
      </p:sp>
      <p:pic>
        <p:nvPicPr>
          <p:cNvPr id="52" name="Progress icon" descr="Progress"/>
          <p:cNvPicPr>
            <a:picLocks noChangeAspect="1"/>
          </p:cNvPicPr>
          <p:nvPr/>
        </p:nvPicPr>
        <p:blipFill>
          <a:blip r:embed="rId5"/>
          <a:stretch>
            <a:fillRect/>
          </a:stretch>
        </p:blipFill>
        <p:spPr>
          <a:xfrm>
            <a:off x="5944332" y="2972532"/>
            <a:ext cx="199705" cy="199705"/>
          </a:xfrm>
          <a:prstGeom prst="rect">
            <a:avLst/>
          </a:prstGeom>
        </p:spPr>
      </p:pic>
      <p:sp>
        <p:nvSpPr>
          <p:cNvPr id="53" name="Progress heading"/>
          <p:cNvSpPr txBox="1"/>
          <p:nvPr/>
        </p:nvSpPr>
        <p:spPr>
          <a:xfrm>
            <a:off x="6355080" y="2862072"/>
            <a:ext cx="2331720" cy="237744"/>
          </a:xfrm>
          <a:prstGeom prst="rect">
            <a:avLst/>
          </a:prstGeom>
          <a:noFill/>
          <a:ln/>
        </p:spPr>
        <p:txBody>
          <a:bodyPr wrap="square" lIns="0" tIns="0" rIns="0" bIns="0" rtlCol="0" anchor="t"/>
          <a:lstStyle/>
          <a:p>
            <a:pPr marL="0" indent="0">
              <a:buNone/>
            </a:pPr>
            <a:r>
              <a:rPr lang="en-US" sz="1250" b="1" dirty="0">
                <a:solidFill>
                  <a:schemeClr val="tx1"/>
                </a:solidFill>
              </a:rPr>
              <a:t>Progress</a:t>
            </a:r>
            <a:endParaRPr lang="en-US" sz="1250" dirty="0"/>
          </a:p>
        </p:txBody>
      </p:sp>
      <p:sp>
        <p:nvSpPr>
          <p:cNvPr id="54" name="Progress text"/>
          <p:cNvSpPr txBox="1"/>
          <p:nvPr/>
        </p:nvSpPr>
        <p:spPr>
          <a:xfrm>
            <a:off x="6355080" y="3118104"/>
            <a:ext cx="2331720" cy="566928"/>
          </a:xfrm>
          <a:prstGeom prst="rect">
            <a:avLst/>
          </a:prstGeom>
          <a:noFill/>
          <a:ln/>
        </p:spPr>
        <p:txBody>
          <a:bodyPr wrap="square" lIns="0" tIns="0" rIns="0" bIns="0" rtlCol="0" anchor="t"/>
          <a:lstStyle/>
          <a:p>
            <a:pPr marL="0" indent="0">
              <a:buNone/>
            </a:pPr>
            <a:r>
              <a:rPr lang="en-US" sz="1050" dirty="0">
                <a:solidFill>
                  <a:schemeClr val="tx2"/>
                </a:solidFill>
              </a:rPr>
              <a:t>A family that registers shows Confirmed by itself. Partly confirmed: a member still has no answer.</a:t>
            </a:r>
            <a:endParaRPr lang="en-US" sz="1050" dirty="0"/>
          </a:p>
        </p:txBody>
      </p:sp>
      <p:sp>
        <p:nvSpPr>
          <p:cNvPr id="55" name="Record census circle"/>
          <p:cNvSpPr/>
          <p:nvPr/>
        </p:nvSpPr>
        <p:spPr>
          <a:xfrm>
            <a:off x="5852160" y="3785616"/>
            <a:ext cx="384048" cy="384048"/>
          </a:xfrm>
          <a:prstGeom prst="ellipse">
            <a:avLst/>
          </a:prstGeom>
          <a:solidFill>
            <a:schemeClr val="bg2"/>
          </a:solidFill>
          <a:ln/>
        </p:spPr>
      </p:sp>
      <p:pic>
        <p:nvPicPr>
          <p:cNvPr id="56" name="Record census icon" descr="Record census"/>
          <p:cNvPicPr>
            <a:picLocks noChangeAspect="1"/>
          </p:cNvPicPr>
          <p:nvPr/>
        </p:nvPicPr>
        <p:blipFill>
          <a:blip r:embed="rId6"/>
          <a:stretch>
            <a:fillRect/>
          </a:stretch>
        </p:blipFill>
        <p:spPr>
          <a:xfrm>
            <a:off x="5944332" y="3877788"/>
            <a:ext cx="199705" cy="199705"/>
          </a:xfrm>
          <a:prstGeom prst="rect">
            <a:avLst/>
          </a:prstGeom>
        </p:spPr>
      </p:pic>
      <p:sp>
        <p:nvSpPr>
          <p:cNvPr id="57" name="Record census heading"/>
          <p:cNvSpPr txBox="1"/>
          <p:nvPr/>
        </p:nvSpPr>
        <p:spPr>
          <a:xfrm>
            <a:off x="6355080" y="3767328"/>
            <a:ext cx="2331720" cy="237744"/>
          </a:xfrm>
          <a:prstGeom prst="rect">
            <a:avLst/>
          </a:prstGeom>
          <a:noFill/>
          <a:ln/>
        </p:spPr>
        <p:txBody>
          <a:bodyPr wrap="square" lIns="0" tIns="0" rIns="0" bIns="0" rtlCol="0" anchor="t"/>
          <a:lstStyle/>
          <a:p>
            <a:pPr marL="0" indent="0">
              <a:buNone/>
            </a:pPr>
            <a:r>
              <a:rPr lang="en-US" sz="1250" b="1" dirty="0">
                <a:solidFill>
                  <a:schemeClr val="tx1"/>
                </a:solidFill>
              </a:rPr>
              <a:t>Record census</a:t>
            </a:r>
            <a:endParaRPr lang="en-US" sz="1250" dirty="0"/>
          </a:p>
        </p:txBody>
      </p:sp>
      <p:sp>
        <p:nvSpPr>
          <p:cNvPr id="58" name="Record census text"/>
          <p:cNvSpPr txBox="1"/>
          <p:nvPr/>
        </p:nvSpPr>
        <p:spPr>
          <a:xfrm>
            <a:off x="6355080" y="4023360"/>
            <a:ext cx="2331720" cy="566928"/>
          </a:xfrm>
          <a:prstGeom prst="rect">
            <a:avLst/>
          </a:prstGeom>
          <a:noFill/>
          <a:ln/>
        </p:spPr>
        <p:txBody>
          <a:bodyPr wrap="square" lIns="0" tIns="0" rIns="0" bIns="0" rtlCol="0" anchor="t"/>
          <a:lstStyle/>
          <a:p>
            <a:pPr marL="0" indent="0">
              <a:buNone/>
            </a:pPr>
            <a:r>
              <a:rPr lang="en-US" sz="1050" dirty="0">
                <a:solidFill>
                  <a:schemeClr val="tx2"/>
                </a:solidFill>
              </a:rPr>
              <a:t>Fix a member’s answers or status after you talk with the family.</a:t>
            </a:r>
            <a:endParaRPr lang="en-US" sz="1050" dirty="0"/>
          </a:p>
        </p:txBody>
      </p:sp>
      <p:sp>
        <p:nvSpPr>
          <p:cNvPr id="59"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Checking new registrations from your GKK</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marL="0" indent="0">
              <a:buNone/>
            </a:pPr>
            <a:r>
              <a:rPr lang="en-US" sz="1300" dirty="0">
                <a:solidFill>
                  <a:schemeClr val="tx2"/>
                </a:solidFill>
              </a:rPr>
              <a:t>New registrations wait under Households → “On Queue for Verification” until the parish office verifies them.</a:t>
            </a:r>
            <a:endParaRPr lang="en-US" sz="1300" dirty="0"/>
          </a:p>
        </p:txBody>
      </p:sp>
      <p:sp>
        <p:nvSpPr>
          <p:cNvPr id="4" name="Check step 1 number circle"/>
          <p:cNvSpPr/>
          <p:nvPr/>
        </p:nvSpPr>
        <p:spPr>
          <a:xfrm>
            <a:off x="457200" y="1252728"/>
            <a:ext cx="347472" cy="347472"/>
          </a:xfrm>
          <a:prstGeom prst="ellipse">
            <a:avLst/>
          </a:prstGeom>
          <a:solidFill>
            <a:schemeClr val="tx1"/>
          </a:solidFill>
          <a:ln/>
        </p:spPr>
      </p:sp>
      <p:sp>
        <p:nvSpPr>
          <p:cNvPr id="5" name="Check step 1 number"/>
          <p:cNvSpPr txBox="1"/>
          <p:nvPr/>
        </p:nvSpPr>
        <p:spPr>
          <a:xfrm>
            <a:off x="457200" y="1252728"/>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6" name="Check step 1 text"/>
          <p:cNvSpPr txBox="1"/>
          <p:nvPr/>
        </p:nvSpPr>
        <p:spPr>
          <a:xfrm>
            <a:off x="960120" y="1188720"/>
            <a:ext cx="3886200" cy="502920"/>
          </a:xfrm>
          <a:prstGeom prst="rect">
            <a:avLst/>
          </a:prstGeom>
          <a:noFill/>
          <a:ln/>
        </p:spPr>
        <p:txBody>
          <a:bodyPr wrap="square" lIns="0" tIns="0" rIns="0" bIns="0" rtlCol="0" anchor="ctr"/>
          <a:lstStyle/>
          <a:p>
            <a:pPr marL="0" indent="0">
              <a:buNone/>
            </a:pPr>
            <a:r>
              <a:rPr lang="en-US" sz="1200" b="1" dirty="0">
                <a:solidFill>
                  <a:schemeClr val="tx1"/>
                </a:solidFill>
              </a:rPr>
              <a:t>Open Households</a:t>
            </a:r>
            <a:r>
              <a:rPr lang="en-US" sz="1200" dirty="0">
                <a:solidFill>
                  <a:schemeClr val="tx2"/>
                </a:solidFill>
              </a:rPr>
              <a:t> → On Queue for Verification.</a:t>
            </a:r>
            <a:endParaRPr lang="en-US" sz="1200" dirty="0"/>
          </a:p>
        </p:txBody>
      </p:sp>
      <p:sp>
        <p:nvSpPr>
          <p:cNvPr id="7" name="Check step 2 number circle"/>
          <p:cNvSpPr/>
          <p:nvPr/>
        </p:nvSpPr>
        <p:spPr>
          <a:xfrm>
            <a:off x="457200" y="1828800"/>
            <a:ext cx="347472" cy="347472"/>
          </a:xfrm>
          <a:prstGeom prst="ellipse">
            <a:avLst/>
          </a:prstGeom>
          <a:solidFill>
            <a:schemeClr val="tx1"/>
          </a:solidFill>
          <a:ln/>
        </p:spPr>
      </p:sp>
      <p:sp>
        <p:nvSpPr>
          <p:cNvPr id="8" name="Check step 2 number"/>
          <p:cNvSpPr txBox="1"/>
          <p:nvPr/>
        </p:nvSpPr>
        <p:spPr>
          <a:xfrm>
            <a:off x="457200" y="1828800"/>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9" name="Check step 2 text"/>
          <p:cNvSpPr txBox="1"/>
          <p:nvPr/>
        </p:nvSpPr>
        <p:spPr>
          <a:xfrm>
            <a:off x="960120" y="1764792"/>
            <a:ext cx="3886200" cy="502920"/>
          </a:xfrm>
          <a:prstGeom prst="rect">
            <a:avLst/>
          </a:prstGeom>
          <a:noFill/>
          <a:ln/>
        </p:spPr>
        <p:txBody>
          <a:bodyPr wrap="square" lIns="0" tIns="0" rIns="0" bIns="0" rtlCol="0" anchor="ctr"/>
          <a:lstStyle/>
          <a:p>
            <a:pPr marL="0" indent="0">
              <a:buNone/>
            </a:pPr>
            <a:r>
              <a:rPr lang="en-US" sz="1200" b="1" dirty="0">
                <a:solidFill>
                  <a:schemeClr val="tx1"/>
                </a:solidFill>
              </a:rPr>
              <a:t>Open each new household</a:t>
            </a:r>
            <a:r>
              <a:rPr lang="en-US" sz="1200" dirty="0">
                <a:solidFill>
                  <a:schemeClr val="tx2"/>
                </a:solidFill>
              </a:rPr>
              <a:t> from your GKK.</a:t>
            </a:r>
            <a:endParaRPr lang="en-US" sz="1200" dirty="0"/>
          </a:p>
        </p:txBody>
      </p:sp>
      <p:sp>
        <p:nvSpPr>
          <p:cNvPr id="10" name="Check step 3 number circle"/>
          <p:cNvSpPr/>
          <p:nvPr/>
        </p:nvSpPr>
        <p:spPr>
          <a:xfrm>
            <a:off x="457200" y="2404872"/>
            <a:ext cx="347472" cy="347472"/>
          </a:xfrm>
          <a:prstGeom prst="ellipse">
            <a:avLst/>
          </a:prstGeom>
          <a:solidFill>
            <a:schemeClr val="tx1"/>
          </a:solidFill>
          <a:ln/>
        </p:spPr>
      </p:sp>
      <p:sp>
        <p:nvSpPr>
          <p:cNvPr id="11" name="Check step 3 number"/>
          <p:cNvSpPr txBox="1"/>
          <p:nvPr/>
        </p:nvSpPr>
        <p:spPr>
          <a:xfrm>
            <a:off x="457200" y="2404872"/>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2" name="Check step 3 text"/>
          <p:cNvSpPr txBox="1"/>
          <p:nvPr/>
        </p:nvSpPr>
        <p:spPr>
          <a:xfrm>
            <a:off x="960120" y="2340864"/>
            <a:ext cx="3886200" cy="502920"/>
          </a:xfrm>
          <a:prstGeom prst="rect">
            <a:avLst/>
          </a:prstGeom>
          <a:noFill/>
          <a:ln/>
        </p:spPr>
        <p:txBody>
          <a:bodyPr wrap="square" lIns="0" tIns="0" rIns="0" bIns="0" rtlCol="0" anchor="ctr"/>
          <a:lstStyle/>
          <a:p>
            <a:pPr marL="0" indent="0">
              <a:buNone/>
            </a:pPr>
            <a:r>
              <a:rPr lang="en-US" sz="1200" b="1" dirty="0">
                <a:solidFill>
                  <a:schemeClr val="tx1"/>
                </a:solidFill>
              </a:rPr>
              <a:t>Check names, birthdays and address</a:t>
            </a:r>
            <a:r>
              <a:rPr lang="en-US" sz="1200" dirty="0">
                <a:solidFill>
                  <a:schemeClr val="tx2"/>
                </a:solidFill>
              </a:rPr>
              <a:t>, and that the family chose the right Family Grouping.</a:t>
            </a:r>
            <a:endParaRPr lang="en-US" sz="1200" dirty="0"/>
          </a:p>
        </p:txBody>
      </p:sp>
      <p:sp>
        <p:nvSpPr>
          <p:cNvPr id="13" name="Check step 4 number circle"/>
          <p:cNvSpPr/>
          <p:nvPr/>
        </p:nvSpPr>
        <p:spPr>
          <a:xfrm>
            <a:off x="457200" y="2980944"/>
            <a:ext cx="347472" cy="347472"/>
          </a:xfrm>
          <a:prstGeom prst="ellipse">
            <a:avLst/>
          </a:prstGeom>
          <a:solidFill>
            <a:schemeClr val="tx1"/>
          </a:solidFill>
          <a:ln/>
        </p:spPr>
      </p:sp>
      <p:sp>
        <p:nvSpPr>
          <p:cNvPr id="14" name="Check step 4 number"/>
          <p:cNvSpPr txBox="1"/>
          <p:nvPr/>
        </p:nvSpPr>
        <p:spPr>
          <a:xfrm>
            <a:off x="457200" y="2980944"/>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5" name="Check step 4 text"/>
          <p:cNvSpPr txBox="1"/>
          <p:nvPr/>
        </p:nvSpPr>
        <p:spPr>
          <a:xfrm>
            <a:off x="960120" y="2916936"/>
            <a:ext cx="3886200" cy="502920"/>
          </a:xfrm>
          <a:prstGeom prst="rect">
            <a:avLst/>
          </a:prstGeom>
          <a:noFill/>
          <a:ln/>
        </p:spPr>
        <p:txBody>
          <a:bodyPr wrap="square" lIns="0" tIns="0" rIns="0" bIns="0" rtlCol="0" anchor="ctr"/>
          <a:lstStyle/>
          <a:p>
            <a:pPr marL="0" indent="0">
              <a:buNone/>
            </a:pPr>
            <a:r>
              <a:rPr lang="en-US" sz="1200" b="1" dirty="0">
                <a:solidFill>
                  <a:schemeClr val="tx1"/>
                </a:solidFill>
              </a:rPr>
              <a:t>Fix mistakes</a:t>
            </a:r>
            <a:r>
              <a:rPr lang="en-US" sz="1200" dirty="0">
                <a:solidFill>
                  <a:schemeClr val="tx2"/>
                </a:solidFill>
              </a:rPr>
              <a:t> in the household or member window, after asking the family.</a:t>
            </a:r>
            <a:endParaRPr lang="en-US" sz="1200" dirty="0"/>
          </a:p>
        </p:txBody>
      </p:sp>
      <p:sp>
        <p:nvSpPr>
          <p:cNvPr id="16" name="Check step 5 number circle"/>
          <p:cNvSpPr/>
          <p:nvPr/>
        </p:nvSpPr>
        <p:spPr>
          <a:xfrm>
            <a:off x="457200" y="3557016"/>
            <a:ext cx="347472" cy="347472"/>
          </a:xfrm>
          <a:prstGeom prst="ellipse">
            <a:avLst/>
          </a:prstGeom>
          <a:solidFill>
            <a:schemeClr val="tx1"/>
          </a:solidFill>
          <a:ln/>
        </p:spPr>
      </p:sp>
      <p:sp>
        <p:nvSpPr>
          <p:cNvPr id="17" name="Check step 5 number"/>
          <p:cNvSpPr txBox="1"/>
          <p:nvPr/>
        </p:nvSpPr>
        <p:spPr>
          <a:xfrm>
            <a:off x="457200" y="3557016"/>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18" name="Check step 5 text"/>
          <p:cNvSpPr txBox="1"/>
          <p:nvPr/>
        </p:nvSpPr>
        <p:spPr>
          <a:xfrm>
            <a:off x="960120" y="3493008"/>
            <a:ext cx="3886200" cy="502920"/>
          </a:xfrm>
          <a:prstGeom prst="rect">
            <a:avLst/>
          </a:prstGeom>
          <a:noFill/>
          <a:ln/>
        </p:spPr>
        <p:txBody>
          <a:bodyPr wrap="square" lIns="0" tIns="0" rIns="0" bIns="0" rtlCol="0" anchor="ctr"/>
          <a:lstStyle/>
          <a:p>
            <a:pPr marL="0" indent="0">
              <a:buNone/>
            </a:pPr>
            <a:r>
              <a:rPr lang="en-US" sz="1200" b="1" dirty="0">
                <a:solidFill>
                  <a:schemeClr val="tx1"/>
                </a:solidFill>
              </a:rPr>
              <a:t>Check Settings → Duplicates</a:t>
            </a:r>
            <a:r>
              <a:rPr lang="en-US" sz="1200" dirty="0">
                <a:solidFill>
                  <a:schemeClr val="tx2"/>
                </a:solidFill>
              </a:rPr>
              <a:t>: the same family may have registered twice.</a:t>
            </a:r>
            <a:endParaRPr lang="en-US" sz="1200" dirty="0"/>
          </a:p>
        </p:txBody>
      </p:sp>
      <p:sp>
        <p:nvSpPr>
          <p:cNvPr id="19" name="Check step 6 number circle"/>
          <p:cNvSpPr/>
          <p:nvPr/>
        </p:nvSpPr>
        <p:spPr>
          <a:xfrm>
            <a:off x="457200" y="4133088"/>
            <a:ext cx="347472" cy="347472"/>
          </a:xfrm>
          <a:prstGeom prst="ellipse">
            <a:avLst/>
          </a:prstGeom>
          <a:solidFill>
            <a:schemeClr val="tx1"/>
          </a:solidFill>
          <a:ln/>
        </p:spPr>
      </p:sp>
      <p:sp>
        <p:nvSpPr>
          <p:cNvPr id="20" name="Check step 6 number"/>
          <p:cNvSpPr txBox="1"/>
          <p:nvPr/>
        </p:nvSpPr>
        <p:spPr>
          <a:xfrm>
            <a:off x="457200" y="4133088"/>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6</a:t>
            </a:r>
            <a:endParaRPr lang="en-US" sz="1200" dirty="0"/>
          </a:p>
        </p:txBody>
      </p:sp>
      <p:sp>
        <p:nvSpPr>
          <p:cNvPr id="21" name="Check step 6 text"/>
          <p:cNvSpPr txBox="1"/>
          <p:nvPr/>
        </p:nvSpPr>
        <p:spPr>
          <a:xfrm>
            <a:off x="960120" y="4069080"/>
            <a:ext cx="3886200" cy="502920"/>
          </a:xfrm>
          <a:prstGeom prst="rect">
            <a:avLst/>
          </a:prstGeom>
          <a:noFill/>
          <a:ln/>
        </p:spPr>
        <p:txBody>
          <a:bodyPr wrap="square" lIns="0" tIns="0" rIns="0" bIns="0" rtlCol="0" anchor="ctr"/>
          <a:lstStyle/>
          <a:p>
            <a:pPr marL="0" indent="0">
              <a:buNone/>
            </a:pPr>
            <a:r>
              <a:rPr lang="en-US" sz="1200" b="1" dirty="0">
                <a:solidFill>
                  <a:schemeClr val="tx1"/>
                </a:solidFill>
              </a:rPr>
              <a:t>The parish office verifies it</a:t>
            </a:r>
            <a:r>
              <a:rPr lang="en-US" sz="1200" dirty="0">
                <a:solidFill>
                  <a:schemeClr val="tx2"/>
                </a:solidFill>
              </a:rPr>
              <a:t>; it moves to Verified Households.</a:t>
            </a:r>
            <a:endParaRPr lang="en-US" sz="1200" dirty="0"/>
          </a:p>
        </p:txBody>
      </p:sp>
      <p:sp>
        <p:nvSpPr>
          <p:cNvPr id="22" name="Automatic panel"/>
          <p:cNvSpPr/>
          <p:nvPr/>
        </p:nvSpPr>
        <p:spPr>
          <a:xfrm>
            <a:off x="5120640" y="1188720"/>
            <a:ext cx="3566160" cy="3474720"/>
          </a:xfrm>
          <a:prstGeom prst="roundRect">
            <a:avLst>
              <a:gd name="adj" fmla="val 2105"/>
            </a:avLst>
          </a:prstGeom>
          <a:solidFill>
            <a:schemeClr val="bg2"/>
          </a:solidFill>
          <a:ln/>
        </p:spPr>
      </p:sp>
      <p:sp>
        <p:nvSpPr>
          <p:cNvPr id="23" name="Automatic heading"/>
          <p:cNvSpPr txBox="1"/>
          <p:nvPr/>
        </p:nvSpPr>
        <p:spPr>
          <a:xfrm>
            <a:off x="5303520" y="1325880"/>
            <a:ext cx="3200400" cy="274320"/>
          </a:xfrm>
          <a:prstGeom prst="rect">
            <a:avLst/>
          </a:prstGeom>
          <a:noFill/>
          <a:ln/>
        </p:spPr>
        <p:txBody>
          <a:bodyPr wrap="square" lIns="0" tIns="0" rIns="0" bIns="0" rtlCol="0" anchor="t"/>
          <a:lstStyle/>
          <a:p>
            <a:pPr marL="0" indent="0">
              <a:buNone/>
            </a:pPr>
            <a:r>
              <a:rPr lang="en-US" sz="1400" b="1" dirty="0">
                <a:solidFill>
                  <a:schemeClr val="tx1"/>
                </a:solidFill>
              </a:rPr>
              <a:t>What happens by itself</a:t>
            </a:r>
            <a:endParaRPr lang="en-US" sz="1400" dirty="0"/>
          </a:p>
        </p:txBody>
      </p:sp>
      <p:pic>
        <p:nvPicPr>
          <p:cNvPr id="24" name="Automatic 1 check" descr="preencoded.png"/>
          <p:cNvPicPr>
            <a:picLocks noChangeAspect="1"/>
          </p:cNvPicPr>
          <p:nvPr/>
        </p:nvPicPr>
        <p:blipFill>
          <a:blip r:embed="rId3"/>
          <a:stretch>
            <a:fillRect/>
          </a:stretch>
        </p:blipFill>
        <p:spPr>
          <a:xfrm>
            <a:off x="5321808" y="1792224"/>
            <a:ext cx="219456" cy="219456"/>
          </a:xfrm>
          <a:prstGeom prst="rect">
            <a:avLst/>
          </a:prstGeom>
        </p:spPr>
      </p:pic>
      <p:sp>
        <p:nvSpPr>
          <p:cNvPr id="25" name="Automatic 1 text"/>
          <p:cNvSpPr txBox="1"/>
          <p:nvPr/>
        </p:nvSpPr>
        <p:spPr>
          <a:xfrm>
            <a:off x="5650992" y="1783080"/>
            <a:ext cx="2880360" cy="594360"/>
          </a:xfrm>
          <a:prstGeom prst="rect">
            <a:avLst/>
          </a:prstGeom>
          <a:noFill/>
          <a:ln/>
        </p:spPr>
        <p:txBody>
          <a:bodyPr wrap="square" lIns="0" tIns="0" rIns="0" bIns="0" rtlCol="0" anchor="t"/>
          <a:lstStyle/>
          <a:p>
            <a:pPr marL="0" indent="0">
              <a:buNone/>
            </a:pPr>
            <a:r>
              <a:rPr lang="en-US" sz="1150" dirty="0">
                <a:solidFill>
                  <a:schemeClr val="tx2"/>
                </a:solidFill>
              </a:rPr>
              <a:t>Each member’s census answers are saved as Confirmed.</a:t>
            </a:r>
            <a:endParaRPr lang="en-US" sz="1150" dirty="0"/>
          </a:p>
        </p:txBody>
      </p:sp>
      <p:pic>
        <p:nvPicPr>
          <p:cNvPr id="26" name="Automatic 2 check" descr="preencoded.png"/>
          <p:cNvPicPr>
            <a:picLocks noChangeAspect="1"/>
          </p:cNvPicPr>
          <p:nvPr/>
        </p:nvPicPr>
        <p:blipFill>
          <a:blip r:embed="rId3"/>
          <a:stretch>
            <a:fillRect/>
          </a:stretch>
        </p:blipFill>
        <p:spPr>
          <a:xfrm>
            <a:off x="5321808" y="2478024"/>
            <a:ext cx="219456" cy="219456"/>
          </a:xfrm>
          <a:prstGeom prst="rect">
            <a:avLst/>
          </a:prstGeom>
        </p:spPr>
      </p:pic>
      <p:sp>
        <p:nvSpPr>
          <p:cNvPr id="27" name="Automatic 2 text"/>
          <p:cNvSpPr txBox="1"/>
          <p:nvPr/>
        </p:nvSpPr>
        <p:spPr>
          <a:xfrm>
            <a:off x="5650992" y="2468880"/>
            <a:ext cx="2880360" cy="594360"/>
          </a:xfrm>
          <a:prstGeom prst="rect">
            <a:avLst/>
          </a:prstGeom>
          <a:noFill/>
          <a:ln/>
        </p:spPr>
        <p:txBody>
          <a:bodyPr wrap="square" lIns="0" tIns="0" rIns="0" bIns="0" rtlCol="0" anchor="t"/>
          <a:lstStyle/>
          <a:p>
            <a:pPr marL="0" indent="0">
              <a:buNone/>
            </a:pPr>
            <a:r>
              <a:rPr lang="en-US" sz="1150" dirty="0">
                <a:solidFill>
                  <a:schemeClr val="tx2"/>
                </a:solidFill>
              </a:rPr>
              <a:t>The family is matched to its name on last year’s list.</a:t>
            </a:r>
            <a:endParaRPr lang="en-US" sz="1150" dirty="0"/>
          </a:p>
        </p:txBody>
      </p:sp>
      <p:pic>
        <p:nvPicPr>
          <p:cNvPr id="28" name="Automatic 3 check" descr="preencoded.png"/>
          <p:cNvPicPr>
            <a:picLocks noChangeAspect="1"/>
          </p:cNvPicPr>
          <p:nvPr/>
        </p:nvPicPr>
        <p:blipFill>
          <a:blip r:embed="rId3"/>
          <a:stretch>
            <a:fillRect/>
          </a:stretch>
        </p:blipFill>
        <p:spPr>
          <a:xfrm>
            <a:off x="5321808" y="3163824"/>
            <a:ext cx="219456" cy="219456"/>
          </a:xfrm>
          <a:prstGeom prst="rect">
            <a:avLst/>
          </a:prstGeom>
        </p:spPr>
      </p:pic>
      <p:sp>
        <p:nvSpPr>
          <p:cNvPr id="29" name="Automatic 3 text"/>
          <p:cNvSpPr txBox="1"/>
          <p:nvPr/>
        </p:nvSpPr>
        <p:spPr>
          <a:xfrm>
            <a:off x="5650992" y="3154680"/>
            <a:ext cx="2880360" cy="594360"/>
          </a:xfrm>
          <a:prstGeom prst="rect">
            <a:avLst/>
          </a:prstGeom>
          <a:noFill/>
          <a:ln/>
        </p:spPr>
        <p:txBody>
          <a:bodyPr wrap="square" lIns="0" tIns="0" rIns="0" bIns="0" rtlCol="0" anchor="t"/>
          <a:lstStyle/>
          <a:p>
            <a:pPr marL="0" indent="0">
              <a:buNone/>
            </a:pPr>
            <a:r>
              <a:rPr lang="en-US" sz="1150" dirty="0">
                <a:solidFill>
                  <a:schemeClr val="tx2"/>
                </a:solidFill>
              </a:rPr>
              <a:t>Registered vs last year goes up.</a:t>
            </a:r>
            <a:endParaRPr lang="en-US" sz="1150" dirty="0"/>
          </a:p>
        </p:txBody>
      </p:sp>
      <p:pic>
        <p:nvPicPr>
          <p:cNvPr id="30" name="Automatic 4 check" descr="preencoded.png"/>
          <p:cNvPicPr>
            <a:picLocks noChangeAspect="1"/>
          </p:cNvPicPr>
          <p:nvPr/>
        </p:nvPicPr>
        <p:blipFill>
          <a:blip r:embed="rId3"/>
          <a:stretch>
            <a:fillRect/>
          </a:stretch>
        </p:blipFill>
        <p:spPr>
          <a:xfrm>
            <a:off x="5321808" y="3849624"/>
            <a:ext cx="219456" cy="219456"/>
          </a:xfrm>
          <a:prstGeom prst="rect">
            <a:avLst/>
          </a:prstGeom>
        </p:spPr>
      </p:pic>
      <p:sp>
        <p:nvSpPr>
          <p:cNvPr id="31" name="Automatic 4 text"/>
          <p:cNvSpPr txBox="1"/>
          <p:nvPr/>
        </p:nvSpPr>
        <p:spPr>
          <a:xfrm>
            <a:off x="5650992" y="3840480"/>
            <a:ext cx="2880360" cy="594360"/>
          </a:xfrm>
          <a:prstGeom prst="rect">
            <a:avLst/>
          </a:prstGeom>
          <a:noFill/>
          <a:ln/>
        </p:spPr>
        <p:txBody>
          <a:bodyPr wrap="square" lIns="0" tIns="0" rIns="0" bIns="0" rtlCol="0" anchor="t"/>
          <a:lstStyle/>
          <a:p>
            <a:pPr marL="0" indent="0">
              <a:buNone/>
            </a:pPr>
            <a:r>
              <a:rPr lang="en-US" sz="1150" dirty="0">
                <a:solidFill>
                  <a:schemeClr val="tx2"/>
                </a:solidFill>
              </a:rPr>
              <a:t>You get a notification for each new registration in your GKK.</a:t>
            </a:r>
            <a:endParaRPr lang="en-US" sz="1150" dirty="0"/>
          </a:p>
        </p:txBody>
      </p:sp>
      <p:sp>
        <p:nvSpPr>
          <p:cNvPr id="32"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Families without a phone or internet</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marL="0" indent="0">
              <a:buNone/>
            </a:pPr>
            <a:r>
              <a:rPr lang="en-US" sz="1300" dirty="0">
                <a:solidFill>
                  <a:schemeClr val="tx2"/>
                </a:solidFill>
              </a:rPr>
              <a:t>Nobody is left out. Visit them, or invite them to the chapel after Mass or Bible sharing.</a:t>
            </a:r>
            <a:endParaRPr lang="en-US" sz="1300" dirty="0"/>
          </a:p>
        </p:txBody>
      </p:sp>
      <p:sp>
        <p:nvSpPr>
          <p:cNvPr id="4" name="Option 1: Use your phone card"/>
          <p:cNvSpPr/>
          <p:nvPr/>
        </p:nvSpPr>
        <p:spPr>
          <a:xfrm>
            <a:off x="457200" y="1234440"/>
            <a:ext cx="2624328" cy="2606040"/>
          </a:xfrm>
          <a:prstGeom prst="roundRect">
            <a:avLst>
              <a:gd name="adj" fmla="val 2807"/>
            </a:avLst>
          </a:prstGeom>
          <a:solidFill>
            <a:schemeClr val="bg2"/>
          </a:solidFill>
          <a:ln/>
        </p:spPr>
      </p:sp>
      <p:sp>
        <p:nvSpPr>
          <p:cNvPr id="5" name="Option 1: Use your phone circle"/>
          <p:cNvSpPr/>
          <p:nvPr/>
        </p:nvSpPr>
        <p:spPr>
          <a:xfrm>
            <a:off x="640080" y="1417320"/>
            <a:ext cx="566928" cy="566928"/>
          </a:xfrm>
          <a:prstGeom prst="ellipse">
            <a:avLst/>
          </a:prstGeom>
          <a:solidFill>
            <a:schemeClr val="accent3"/>
          </a:solidFill>
          <a:ln/>
        </p:spPr>
      </p:sp>
      <p:pic>
        <p:nvPicPr>
          <p:cNvPr id="6" name="Option 1: Use your phone icon" descr="Option 1: Use your phone"/>
          <p:cNvPicPr>
            <a:picLocks noChangeAspect="1"/>
          </p:cNvPicPr>
          <p:nvPr/>
        </p:nvPicPr>
        <p:blipFill>
          <a:blip r:embed="rId3"/>
          <a:stretch>
            <a:fillRect/>
          </a:stretch>
        </p:blipFill>
        <p:spPr>
          <a:xfrm>
            <a:off x="776143" y="1553383"/>
            <a:ext cx="294803" cy="294803"/>
          </a:xfrm>
          <a:prstGeom prst="rect">
            <a:avLst/>
          </a:prstGeom>
        </p:spPr>
      </p:pic>
      <p:sp>
        <p:nvSpPr>
          <p:cNvPr id="7" name="Option 1: Use your phone heading"/>
          <p:cNvSpPr txBox="1"/>
          <p:nvPr/>
        </p:nvSpPr>
        <p:spPr>
          <a:xfrm>
            <a:off x="640080" y="2148840"/>
            <a:ext cx="2258568" cy="457200"/>
          </a:xfrm>
          <a:prstGeom prst="rect">
            <a:avLst/>
          </a:prstGeom>
          <a:noFill/>
          <a:ln/>
        </p:spPr>
        <p:txBody>
          <a:bodyPr wrap="square" lIns="0" tIns="0" rIns="0" bIns="0" rtlCol="0" anchor="t"/>
          <a:lstStyle/>
          <a:p>
            <a:pPr marL="0" indent="0">
              <a:buNone/>
            </a:pPr>
            <a:r>
              <a:rPr lang="en-US" sz="1400" b="1" dirty="0">
                <a:solidFill>
                  <a:schemeClr val="tx1"/>
                </a:solidFill>
                <a:latin typeface="Cambria" pitchFamily="34" charset="0"/>
                <a:ea typeface="Cambria" pitchFamily="34" charset="-122"/>
                <a:cs typeface="Cambria" pitchFamily="34" charset="-120"/>
              </a:rPr>
              <a:t>Option 1: Use your phone</a:t>
            </a:r>
            <a:endParaRPr lang="en-US" sz="1400" dirty="0"/>
          </a:p>
        </p:txBody>
      </p:sp>
      <p:sp>
        <p:nvSpPr>
          <p:cNvPr id="8" name="Option 1: Use your phone text"/>
          <p:cNvSpPr txBox="1"/>
          <p:nvPr/>
        </p:nvSpPr>
        <p:spPr>
          <a:xfrm>
            <a:off x="640080" y="2651760"/>
            <a:ext cx="2258568" cy="1097280"/>
          </a:xfrm>
          <a:prstGeom prst="rect">
            <a:avLst/>
          </a:prstGeom>
          <a:noFill/>
          <a:ln/>
        </p:spPr>
        <p:txBody>
          <a:bodyPr wrap="square" lIns="0" tIns="0" rIns="0" bIns="0" rtlCol="0" anchor="t"/>
          <a:lstStyle/>
          <a:p>
            <a:pPr marL="0" indent="0">
              <a:buNone/>
            </a:pPr>
            <a:r>
              <a:rPr lang="en-US" sz="1150" dirty="0">
                <a:solidFill>
                  <a:schemeClr val="tx2"/>
                </a:solidFill>
              </a:rPr>
              <a:t>Sit with the family and fill in the website form together: </a:t>
            </a:r>
            <a:r>
              <a:rPr lang="en-US" sz="1150" b="1" dirty="0">
                <a:solidFill>
                  <a:schemeClr val="tx1"/>
                </a:solidFill>
              </a:rPr>
              <a:t>Irehistro ang Inyong Pamilya</a:t>
            </a:r>
            <a:r>
              <a:rPr lang="en-US" sz="1150" dirty="0">
                <a:solidFill>
                  <a:schemeClr val="tx2"/>
                </a:solidFill>
              </a:rPr>
              <a:t>. It is the same 5-step form, in Bisaya.</a:t>
            </a:r>
            <a:endParaRPr lang="en-US" sz="1150" dirty="0"/>
          </a:p>
        </p:txBody>
      </p:sp>
      <p:sp>
        <p:nvSpPr>
          <p:cNvPr id="9" name="Option 2: New Household card"/>
          <p:cNvSpPr/>
          <p:nvPr/>
        </p:nvSpPr>
        <p:spPr>
          <a:xfrm>
            <a:off x="3264408" y="1234440"/>
            <a:ext cx="2624328" cy="2606040"/>
          </a:xfrm>
          <a:prstGeom prst="roundRect">
            <a:avLst>
              <a:gd name="adj" fmla="val 2807"/>
            </a:avLst>
          </a:prstGeom>
          <a:solidFill>
            <a:schemeClr val="bg2"/>
          </a:solidFill>
          <a:ln/>
        </p:spPr>
      </p:sp>
      <p:sp>
        <p:nvSpPr>
          <p:cNvPr id="10" name="Option 2: New Household circle"/>
          <p:cNvSpPr/>
          <p:nvPr/>
        </p:nvSpPr>
        <p:spPr>
          <a:xfrm>
            <a:off x="3447288" y="1417320"/>
            <a:ext cx="566928" cy="566928"/>
          </a:xfrm>
          <a:prstGeom prst="ellipse">
            <a:avLst/>
          </a:prstGeom>
          <a:solidFill>
            <a:schemeClr val="accent1"/>
          </a:solidFill>
          <a:ln/>
        </p:spPr>
      </p:sp>
      <p:pic>
        <p:nvPicPr>
          <p:cNvPr id="11" name="Option 2: New Household icon" descr="Option 2: New Household"/>
          <p:cNvPicPr>
            <a:picLocks noChangeAspect="1"/>
          </p:cNvPicPr>
          <p:nvPr/>
        </p:nvPicPr>
        <p:blipFill>
          <a:blip r:embed="rId4"/>
          <a:stretch>
            <a:fillRect/>
          </a:stretch>
        </p:blipFill>
        <p:spPr>
          <a:xfrm>
            <a:off x="3583351" y="1553383"/>
            <a:ext cx="294803" cy="294803"/>
          </a:xfrm>
          <a:prstGeom prst="rect">
            <a:avLst/>
          </a:prstGeom>
        </p:spPr>
      </p:pic>
      <p:sp>
        <p:nvSpPr>
          <p:cNvPr id="12" name="Option 2: New Household heading"/>
          <p:cNvSpPr txBox="1"/>
          <p:nvPr/>
        </p:nvSpPr>
        <p:spPr>
          <a:xfrm>
            <a:off x="3447288" y="2148840"/>
            <a:ext cx="2258568" cy="457200"/>
          </a:xfrm>
          <a:prstGeom prst="rect">
            <a:avLst/>
          </a:prstGeom>
          <a:noFill/>
          <a:ln/>
        </p:spPr>
        <p:txBody>
          <a:bodyPr wrap="square" lIns="0" tIns="0" rIns="0" bIns="0" rtlCol="0" anchor="t"/>
          <a:lstStyle/>
          <a:p>
            <a:pPr marL="0" indent="0">
              <a:buNone/>
            </a:pPr>
            <a:r>
              <a:rPr lang="en-US" sz="1400" b="1" dirty="0">
                <a:solidFill>
                  <a:schemeClr val="tx1"/>
                </a:solidFill>
                <a:latin typeface="Cambria" pitchFamily="34" charset="0"/>
                <a:ea typeface="Cambria" pitchFamily="34" charset="-122"/>
                <a:cs typeface="Cambria" pitchFamily="34" charset="-120"/>
              </a:rPr>
              <a:t>Option 2: New Household</a:t>
            </a:r>
            <a:endParaRPr lang="en-US" sz="1400" dirty="0"/>
          </a:p>
        </p:txBody>
      </p:sp>
      <p:sp>
        <p:nvSpPr>
          <p:cNvPr id="13" name="Option 2: New Household text"/>
          <p:cNvSpPr txBox="1"/>
          <p:nvPr/>
        </p:nvSpPr>
        <p:spPr>
          <a:xfrm>
            <a:off x="3447288" y="2651760"/>
            <a:ext cx="2258568" cy="1097280"/>
          </a:xfrm>
          <a:prstGeom prst="rect">
            <a:avLst/>
          </a:prstGeom>
          <a:noFill/>
          <a:ln/>
        </p:spPr>
        <p:txBody>
          <a:bodyPr wrap="square" lIns="0" tIns="0" rIns="0" bIns="0" rtlCol="0" anchor="t"/>
          <a:lstStyle/>
          <a:p>
            <a:pPr marL="0" indent="0">
              <a:buNone/>
            </a:pPr>
            <a:r>
              <a:rPr lang="en-US" sz="1150" b="1" dirty="0">
                <a:solidFill>
                  <a:schemeClr val="tx1"/>
                </a:solidFill>
              </a:rPr>
              <a:t>Households → New Household</a:t>
            </a:r>
            <a:r>
              <a:rPr lang="en-US" sz="1150" dirty="0">
                <a:solidFill>
                  <a:schemeClr val="tx2"/>
                </a:solidFill>
              </a:rPr>
              <a:t> in the app. It asks the same questions, including each member’s census answers.</a:t>
            </a:r>
            <a:endParaRPr lang="en-US" sz="1150" dirty="0"/>
          </a:p>
        </p:txBody>
      </p:sp>
      <p:sp>
        <p:nvSpPr>
          <p:cNvPr id="14" name="Then give them their code card"/>
          <p:cNvSpPr/>
          <p:nvPr/>
        </p:nvSpPr>
        <p:spPr>
          <a:xfrm>
            <a:off x="6071616" y="1234440"/>
            <a:ext cx="2624328" cy="2606040"/>
          </a:xfrm>
          <a:prstGeom prst="roundRect">
            <a:avLst>
              <a:gd name="adj" fmla="val 2807"/>
            </a:avLst>
          </a:prstGeom>
          <a:solidFill>
            <a:schemeClr val="bg2"/>
          </a:solidFill>
          <a:ln/>
        </p:spPr>
      </p:sp>
      <p:sp>
        <p:nvSpPr>
          <p:cNvPr id="15" name="Then give them their code circle"/>
          <p:cNvSpPr/>
          <p:nvPr/>
        </p:nvSpPr>
        <p:spPr>
          <a:xfrm>
            <a:off x="6254496" y="1417320"/>
            <a:ext cx="566928" cy="566928"/>
          </a:xfrm>
          <a:prstGeom prst="ellipse">
            <a:avLst/>
          </a:prstGeom>
          <a:solidFill>
            <a:schemeClr val="accent2"/>
          </a:solidFill>
          <a:ln/>
        </p:spPr>
      </p:sp>
      <p:pic>
        <p:nvPicPr>
          <p:cNvPr id="16" name="Then give them their code icon" descr="Then give them their code"/>
          <p:cNvPicPr>
            <a:picLocks noChangeAspect="1"/>
          </p:cNvPicPr>
          <p:nvPr/>
        </p:nvPicPr>
        <p:blipFill>
          <a:blip r:embed="rId5"/>
          <a:stretch>
            <a:fillRect/>
          </a:stretch>
        </p:blipFill>
        <p:spPr>
          <a:xfrm>
            <a:off x="6390559" y="1553383"/>
            <a:ext cx="294803" cy="294803"/>
          </a:xfrm>
          <a:prstGeom prst="rect">
            <a:avLst/>
          </a:prstGeom>
        </p:spPr>
      </p:pic>
      <p:sp>
        <p:nvSpPr>
          <p:cNvPr id="17" name="Then give them their code heading"/>
          <p:cNvSpPr txBox="1"/>
          <p:nvPr/>
        </p:nvSpPr>
        <p:spPr>
          <a:xfrm>
            <a:off x="6254496" y="2148840"/>
            <a:ext cx="2258568" cy="457200"/>
          </a:xfrm>
          <a:prstGeom prst="rect">
            <a:avLst/>
          </a:prstGeom>
          <a:noFill/>
          <a:ln/>
        </p:spPr>
        <p:txBody>
          <a:bodyPr wrap="square" lIns="0" tIns="0" rIns="0" bIns="0" rtlCol="0" anchor="t"/>
          <a:lstStyle/>
          <a:p>
            <a:pPr marL="0" indent="0">
              <a:buNone/>
            </a:pPr>
            <a:r>
              <a:rPr lang="en-US" sz="1400" b="1" dirty="0">
                <a:solidFill>
                  <a:schemeClr val="tx1"/>
                </a:solidFill>
                <a:latin typeface="Cambria" pitchFamily="34" charset="0"/>
                <a:ea typeface="Cambria" pitchFamily="34" charset="-122"/>
                <a:cs typeface="Cambria" pitchFamily="34" charset="-120"/>
              </a:rPr>
              <a:t>Then give them their code</a:t>
            </a:r>
            <a:endParaRPr lang="en-US" sz="1400" dirty="0"/>
          </a:p>
        </p:txBody>
      </p:sp>
      <p:sp>
        <p:nvSpPr>
          <p:cNvPr id="18" name="Then give them their code text"/>
          <p:cNvSpPr txBox="1"/>
          <p:nvPr/>
        </p:nvSpPr>
        <p:spPr>
          <a:xfrm>
            <a:off x="6254496" y="2651760"/>
            <a:ext cx="2258568" cy="1097280"/>
          </a:xfrm>
          <a:prstGeom prst="rect">
            <a:avLst/>
          </a:prstGeom>
          <a:noFill/>
          <a:ln/>
        </p:spPr>
        <p:txBody>
          <a:bodyPr wrap="square" lIns="0" tIns="0" rIns="0" bIns="0" rtlCol="0" anchor="t"/>
          <a:lstStyle/>
          <a:p>
            <a:pPr marL="0" indent="0">
              <a:buNone/>
            </a:pPr>
            <a:r>
              <a:rPr lang="en-US" sz="1150" dirty="0">
                <a:solidFill>
                  <a:schemeClr val="tx2"/>
                </a:solidFill>
              </a:rPr>
              <a:t>Write down the reference number and code for the family (</a:t>
            </a:r>
            <a:r>
              <a:rPr lang="en-US" sz="1150" b="1" dirty="0">
                <a:solidFill>
                  <a:schemeClr val="tx1"/>
                </a:solidFill>
              </a:rPr>
              <a:t>Get codes</a:t>
            </a:r>
            <a:r>
              <a:rPr lang="en-US" sz="1150" dirty="0">
                <a:solidFill>
                  <a:schemeClr val="tx2"/>
                </a:solidFill>
              </a:rPr>
              <a:t> in the household’s row menu). They will need it next year.</a:t>
            </a:r>
            <a:endParaRPr lang="en-US" sz="1150" dirty="0"/>
          </a:p>
        </p:txBody>
      </p:sp>
      <p:sp>
        <p:nvSpPr>
          <p:cNvPr id="19" name="Counted note"/>
          <p:cNvSpPr txBox="1"/>
          <p:nvPr/>
        </p:nvSpPr>
        <p:spPr>
          <a:xfrm>
            <a:off x="457200" y="4023360"/>
            <a:ext cx="8229600" cy="274320"/>
          </a:xfrm>
          <a:prstGeom prst="rect">
            <a:avLst/>
          </a:prstGeom>
          <a:noFill/>
          <a:ln/>
        </p:spPr>
        <p:txBody>
          <a:bodyPr wrap="square" lIns="0" tIns="0" rIns="0" bIns="0" rtlCol="0" anchor="t"/>
          <a:lstStyle/>
          <a:p>
            <a:pPr marL="0" indent="0">
              <a:buNone/>
            </a:pPr>
            <a:r>
              <a:rPr lang="en-US" sz="1100" i="1" dirty="0">
                <a:solidFill>
                  <a:schemeClr val="accent4"/>
                </a:solidFill>
              </a:rPr>
              <a:t>Either way, the family is counted in the census right away.</a:t>
            </a:r>
            <a:endParaRPr lang="en-US" sz="11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The census questions each member answers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marL="0" indent="0">
              <a:buNone/>
            </a:pPr>
            <a:r>
              <a:rPr lang="en-US" sz="1300" dirty="0">
                <a:solidFill>
                  <a:schemeClr val="tx2"/>
                </a:solidFill>
              </a:rPr>
              <a:t>Asked in step 4, Pag-apil. Help families answer honestly for each person.</a:t>
            </a:r>
            <a:endParaRPr lang="en-US" sz="1300" dirty="0"/>
          </a:p>
        </p:txBody>
      </p:sp>
      <p:sp>
        <p:nvSpPr>
          <p:cNvPr id="4" name="APW panel"/>
          <p:cNvSpPr/>
          <p:nvPr/>
        </p:nvSpPr>
        <p:spPr>
          <a:xfrm>
            <a:off x="457200" y="1188720"/>
            <a:ext cx="4114800" cy="3474720"/>
          </a:xfrm>
          <a:prstGeom prst="roundRect">
            <a:avLst>
              <a:gd name="adj" fmla="val 2105"/>
            </a:avLst>
          </a:prstGeom>
          <a:solidFill>
            <a:schemeClr val="bg2"/>
          </a:solidFill>
          <a:ln/>
        </p:spPr>
      </p:sp>
      <p:sp>
        <p:nvSpPr>
          <p:cNvPr id="5" name="APW heading"/>
          <p:cNvSpPr txBox="1"/>
          <p:nvPr/>
        </p:nvSpPr>
        <p:spPr>
          <a:xfrm>
            <a:off x="640080" y="1298448"/>
            <a:ext cx="3749040" cy="274320"/>
          </a:xfrm>
          <a:prstGeom prst="rect">
            <a:avLst/>
          </a:prstGeom>
          <a:noFill/>
          <a:ln/>
        </p:spPr>
        <p:txBody>
          <a:bodyPr wrap="square" lIns="0" tIns="0" rIns="0" bIns="0" rtlCol="0" anchor="t"/>
          <a:lstStyle/>
          <a:p>
            <a:pPr marL="0" indent="0">
              <a:buNone/>
            </a:pPr>
            <a:r>
              <a:rPr lang="en-US" sz="1400" b="1" dirty="0">
                <a:solidFill>
                  <a:schemeClr val="tx1"/>
                </a:solidFill>
              </a:rPr>
              <a:t>How active is each member?</a:t>
            </a:r>
            <a:endParaRPr lang="en-US" sz="1400" dirty="0"/>
          </a:p>
        </p:txBody>
      </p:sp>
      <p:sp>
        <p:nvSpPr>
          <p:cNvPr id="6" name="APW A number circle"/>
          <p:cNvSpPr/>
          <p:nvPr/>
        </p:nvSpPr>
        <p:spPr>
          <a:xfrm>
            <a:off x="640080" y="1691640"/>
            <a:ext cx="347472" cy="347472"/>
          </a:xfrm>
          <a:prstGeom prst="ellipse">
            <a:avLst/>
          </a:prstGeom>
          <a:solidFill>
            <a:schemeClr val="accent3"/>
          </a:solidFill>
          <a:ln/>
        </p:spPr>
      </p:sp>
      <p:sp>
        <p:nvSpPr>
          <p:cNvPr id="7" name="APW A number"/>
          <p:cNvSpPr txBox="1"/>
          <p:nvPr/>
        </p:nvSpPr>
        <p:spPr>
          <a:xfrm>
            <a:off x="640080" y="1691640"/>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A</a:t>
            </a:r>
            <a:endParaRPr lang="en-US" sz="1200" dirty="0"/>
          </a:p>
        </p:txBody>
      </p:sp>
      <p:sp>
        <p:nvSpPr>
          <p:cNvPr id="8" name="APW A label"/>
          <p:cNvSpPr txBox="1"/>
          <p:nvPr/>
        </p:nvSpPr>
        <p:spPr>
          <a:xfrm>
            <a:off x="1051560" y="1691640"/>
            <a:ext cx="731520" cy="347472"/>
          </a:xfrm>
          <a:prstGeom prst="rect">
            <a:avLst/>
          </a:prstGeom>
          <a:noFill/>
          <a:ln/>
        </p:spPr>
        <p:txBody>
          <a:bodyPr wrap="square" lIns="0" tIns="0" rIns="0" bIns="0" rtlCol="0" anchor="ctr"/>
          <a:lstStyle/>
          <a:p>
            <a:pPr marL="0" indent="0">
              <a:buNone/>
            </a:pPr>
            <a:r>
              <a:rPr lang="en-US" sz="1150" b="1" dirty="0">
                <a:solidFill>
                  <a:schemeClr val="tx1"/>
                </a:solidFill>
              </a:rPr>
              <a:t>Aktibo</a:t>
            </a:r>
            <a:endParaRPr lang="en-US" sz="1150" dirty="0"/>
          </a:p>
        </p:txBody>
      </p:sp>
      <p:sp>
        <p:nvSpPr>
          <p:cNvPr id="9" name="APW P number circle"/>
          <p:cNvSpPr/>
          <p:nvPr/>
        </p:nvSpPr>
        <p:spPr>
          <a:xfrm>
            <a:off x="1828800" y="1691640"/>
            <a:ext cx="347472" cy="347472"/>
          </a:xfrm>
          <a:prstGeom prst="ellipse">
            <a:avLst/>
          </a:prstGeom>
          <a:solidFill>
            <a:schemeClr val="accent2"/>
          </a:solidFill>
          <a:ln/>
        </p:spPr>
      </p:sp>
      <p:sp>
        <p:nvSpPr>
          <p:cNvPr id="10" name="APW P number"/>
          <p:cNvSpPr txBox="1"/>
          <p:nvPr/>
        </p:nvSpPr>
        <p:spPr>
          <a:xfrm>
            <a:off x="1828800" y="1691640"/>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P</a:t>
            </a:r>
            <a:endParaRPr lang="en-US" sz="1200" dirty="0"/>
          </a:p>
        </p:txBody>
      </p:sp>
      <p:sp>
        <p:nvSpPr>
          <p:cNvPr id="11" name="APW P label"/>
          <p:cNvSpPr txBox="1"/>
          <p:nvPr/>
        </p:nvSpPr>
        <p:spPr>
          <a:xfrm>
            <a:off x="2240280" y="1691640"/>
            <a:ext cx="731520" cy="347472"/>
          </a:xfrm>
          <a:prstGeom prst="rect">
            <a:avLst/>
          </a:prstGeom>
          <a:noFill/>
          <a:ln/>
        </p:spPr>
        <p:txBody>
          <a:bodyPr wrap="square" lIns="0" tIns="0" rIns="0" bIns="0" rtlCol="0" anchor="ctr"/>
          <a:lstStyle/>
          <a:p>
            <a:pPr marL="0" indent="0">
              <a:buNone/>
            </a:pPr>
            <a:r>
              <a:rPr lang="en-US" sz="1150" b="1" dirty="0">
                <a:solidFill>
                  <a:schemeClr val="tx1"/>
                </a:solidFill>
              </a:rPr>
              <a:t>Panagsa</a:t>
            </a:r>
            <a:endParaRPr lang="en-US" sz="1150" dirty="0"/>
          </a:p>
        </p:txBody>
      </p:sp>
      <p:sp>
        <p:nvSpPr>
          <p:cNvPr id="12" name="APW W number circle"/>
          <p:cNvSpPr/>
          <p:nvPr/>
        </p:nvSpPr>
        <p:spPr>
          <a:xfrm>
            <a:off x="3017520" y="1691640"/>
            <a:ext cx="347472" cy="347472"/>
          </a:xfrm>
          <a:prstGeom prst="ellipse">
            <a:avLst/>
          </a:prstGeom>
          <a:solidFill>
            <a:schemeClr val="accent5"/>
          </a:solidFill>
          <a:ln/>
        </p:spPr>
      </p:sp>
      <p:sp>
        <p:nvSpPr>
          <p:cNvPr id="13" name="APW W number"/>
          <p:cNvSpPr txBox="1"/>
          <p:nvPr/>
        </p:nvSpPr>
        <p:spPr>
          <a:xfrm>
            <a:off x="3017520" y="1691640"/>
            <a:ext cx="347472" cy="347472"/>
          </a:xfrm>
          <a:prstGeom prst="rect">
            <a:avLst/>
          </a:prstGeom>
          <a:noFill/>
          <a:ln/>
        </p:spPr>
        <p:txBody>
          <a:bodyPr wrap="square" lIns="0" tIns="0" rIns="0" bIns="0" rtlCol="0" anchor="ctr"/>
          <a:lstStyle/>
          <a:p>
            <a:pPr marL="0" indent="0" algn="ctr">
              <a:buNone/>
            </a:pPr>
            <a:r>
              <a:rPr lang="en-US" sz="1200" b="1" dirty="0">
                <a:solidFill>
                  <a:schemeClr val="bg1"/>
                </a:solidFill>
              </a:rPr>
              <a:t>W</a:t>
            </a:r>
            <a:endParaRPr lang="en-US" sz="1200" dirty="0"/>
          </a:p>
        </p:txBody>
      </p:sp>
      <p:sp>
        <p:nvSpPr>
          <p:cNvPr id="14" name="APW W label"/>
          <p:cNvSpPr txBox="1"/>
          <p:nvPr/>
        </p:nvSpPr>
        <p:spPr>
          <a:xfrm>
            <a:off x="3429000" y="1691640"/>
            <a:ext cx="731520" cy="347472"/>
          </a:xfrm>
          <a:prstGeom prst="rect">
            <a:avLst/>
          </a:prstGeom>
          <a:noFill/>
          <a:ln/>
        </p:spPr>
        <p:txBody>
          <a:bodyPr wrap="square" lIns="0" tIns="0" rIns="0" bIns="0" rtlCol="0" anchor="ctr"/>
          <a:lstStyle/>
          <a:p>
            <a:pPr marL="0" indent="0">
              <a:buNone/>
            </a:pPr>
            <a:r>
              <a:rPr lang="en-US" sz="1150" b="1" dirty="0">
                <a:solidFill>
                  <a:schemeClr val="tx1"/>
                </a:solidFill>
              </a:rPr>
              <a:t>Wala</a:t>
            </a:r>
            <a:endParaRPr lang="en-US" sz="1150" dirty="0"/>
          </a:p>
        </p:txBody>
      </p:sp>
      <p:sp>
        <p:nvSpPr>
          <p:cNvPr id="15" name="Items heading"/>
          <p:cNvSpPr txBox="1"/>
          <p:nvPr/>
        </p:nvSpPr>
        <p:spPr>
          <a:xfrm>
            <a:off x="640080" y="2176272"/>
            <a:ext cx="3749040" cy="228600"/>
          </a:xfrm>
          <a:prstGeom prst="rect">
            <a:avLst/>
          </a:prstGeom>
          <a:noFill/>
          <a:ln/>
        </p:spPr>
        <p:txBody>
          <a:bodyPr wrap="square" lIns="0" tIns="0" rIns="0" bIns="0" rtlCol="0" anchor="t"/>
          <a:lstStyle/>
          <a:p>
            <a:pPr marL="0" indent="0">
              <a:buNone/>
            </a:pPr>
            <a:r>
              <a:rPr lang="en-US" sz="1100" b="1" dirty="0">
                <a:solidFill>
                  <a:schemeClr val="tx2"/>
                </a:solidFill>
              </a:rPr>
              <a:t>Six items for each member</a:t>
            </a:r>
            <a:endParaRPr lang="en-US" sz="1100" dirty="0"/>
          </a:p>
        </p:txBody>
      </p:sp>
      <p:sp>
        <p:nvSpPr>
          <p:cNvPr id="16" name="Items column 1"/>
          <p:cNvSpPr txBox="1"/>
          <p:nvPr/>
        </p:nvSpPr>
        <p:spPr>
          <a:xfrm>
            <a:off x="640080" y="2423160"/>
            <a:ext cx="1965960" cy="685800"/>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tx1"/>
                </a:solidFill>
              </a:rPr>
              <a:t>Mass (Misa)</a:t>
            </a:r>
            <a:endParaRPr lang="en-US" sz="1050" dirty="0"/>
          </a:p>
          <a:p>
            <a:pPr marL="127000" indent="-127000">
              <a:spcAft>
                <a:spcPts val="200"/>
              </a:spcAft>
              <a:buSzPct val="100000"/>
              <a:buChar char="•"/>
            </a:pPr>
            <a:r>
              <a:rPr lang="en-US" sz="1050" dirty="0">
                <a:solidFill>
                  <a:schemeClr val="tx1"/>
                </a:solidFill>
              </a:rPr>
              <a:t>Bible Service (Kasaulogan)</a:t>
            </a:r>
            <a:endParaRPr lang="en-US" sz="1050" dirty="0"/>
          </a:p>
          <a:p>
            <a:pPr marL="127000" indent="-127000">
              <a:spcAft>
                <a:spcPts val="200"/>
              </a:spcAft>
              <a:buSzPct val="100000"/>
              <a:buChar char="•"/>
            </a:pPr>
            <a:r>
              <a:rPr lang="en-US" sz="1050" dirty="0">
                <a:solidFill>
                  <a:schemeClr val="tx1"/>
                </a:solidFill>
              </a:rPr>
              <a:t>Devotions / Rosary</a:t>
            </a:r>
            <a:endParaRPr lang="en-US" sz="1050" dirty="0"/>
          </a:p>
        </p:txBody>
      </p:sp>
      <p:sp>
        <p:nvSpPr>
          <p:cNvPr id="17" name="Items column 2"/>
          <p:cNvSpPr txBox="1"/>
          <p:nvPr/>
        </p:nvSpPr>
        <p:spPr>
          <a:xfrm>
            <a:off x="2651760" y="2423160"/>
            <a:ext cx="1783080" cy="685800"/>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tx1"/>
                </a:solidFill>
              </a:rPr>
              <a:t>Meetings / Seminars</a:t>
            </a:r>
            <a:endParaRPr lang="en-US" sz="1050" dirty="0"/>
          </a:p>
          <a:p>
            <a:pPr marL="127000" indent="-127000">
              <a:spcAft>
                <a:spcPts val="200"/>
              </a:spcAft>
              <a:buSzPct val="100000"/>
              <a:buChar char="•"/>
            </a:pPr>
            <a:r>
              <a:rPr lang="en-US" sz="1050" dirty="0">
                <a:solidFill>
                  <a:schemeClr val="tx1"/>
                </a:solidFill>
              </a:rPr>
              <a:t>Pintakasi</a:t>
            </a:r>
            <a:endParaRPr lang="en-US" sz="1050" dirty="0"/>
          </a:p>
          <a:p>
            <a:pPr marL="127000" indent="-127000">
              <a:spcAft>
                <a:spcPts val="200"/>
              </a:spcAft>
              <a:buSzPct val="100000"/>
              <a:buChar char="•"/>
            </a:pPr>
            <a:r>
              <a:rPr lang="en-US" sz="1050" dirty="0">
                <a:solidFill>
                  <a:schemeClr val="tx1"/>
                </a:solidFill>
              </a:rPr>
              <a:t>Suporta Pinansyal</a:t>
            </a:r>
            <a:endParaRPr lang="en-US" sz="1050" dirty="0"/>
          </a:p>
        </p:txBody>
      </p:sp>
      <p:sp>
        <p:nvSpPr>
          <p:cNvPr id="18" name="Suggestion box"/>
          <p:cNvSpPr/>
          <p:nvPr/>
        </p:nvSpPr>
        <p:spPr>
          <a:xfrm>
            <a:off x="640080" y="3246120"/>
            <a:ext cx="3749040" cy="1261872"/>
          </a:xfrm>
          <a:prstGeom prst="roundRect">
            <a:avLst>
              <a:gd name="adj" fmla="val 5797"/>
            </a:avLst>
          </a:prstGeom>
          <a:solidFill>
            <a:schemeClr val="bg1"/>
          </a:solidFill>
          <a:ln/>
        </p:spPr>
      </p:sp>
      <p:sp>
        <p:nvSpPr>
          <p:cNvPr id="19" name="Suggestion text"/>
          <p:cNvSpPr txBox="1"/>
          <p:nvPr/>
        </p:nvSpPr>
        <p:spPr>
          <a:xfrm>
            <a:off x="804672" y="3337560"/>
            <a:ext cx="3474720" cy="1097280"/>
          </a:xfrm>
          <a:prstGeom prst="rect">
            <a:avLst/>
          </a:prstGeom>
          <a:noFill/>
          <a:ln/>
        </p:spPr>
        <p:txBody>
          <a:bodyPr wrap="square" lIns="0" tIns="0" rIns="0" bIns="0" rtlCol="0" anchor="t"/>
          <a:lstStyle/>
          <a:p>
            <a:pPr marL="0" indent="0">
              <a:spcAft>
                <a:spcPts val="400"/>
              </a:spcAft>
              <a:buNone/>
            </a:pPr>
            <a:r>
              <a:rPr lang="en-US" sz="1100" b="1" dirty="0">
                <a:solidFill>
                  <a:schemeClr val="tx1"/>
                </a:solidFill>
              </a:rPr>
              <a:t>The form suggests a status</a:t>
            </a:r>
            <a:endParaRPr lang="en-US" sz="1100" dirty="0"/>
          </a:p>
          <a:p>
            <a:pPr marL="0" indent="0">
              <a:spcAft>
                <a:spcPts val="400"/>
              </a:spcAft>
              <a:buNone/>
            </a:pPr>
            <a:r>
              <a:rPr lang="en-US" sz="1100" dirty="0">
                <a:solidFill>
                  <a:schemeClr val="tx2"/>
                </a:solidFill>
              </a:rPr>
              <a:t>Mass A, or any two items A or P → </a:t>
            </a:r>
            <a:r>
              <a:rPr lang="en-US" sz="1100" b="1" dirty="0">
                <a:solidFill>
                  <a:schemeClr val="accent3"/>
                </a:solidFill>
              </a:rPr>
              <a:t>Active</a:t>
            </a:r>
            <a:endParaRPr lang="en-US" sz="1100" dirty="0"/>
          </a:p>
          <a:p>
            <a:pPr marL="0" indent="0">
              <a:spcAft>
                <a:spcPts val="400"/>
              </a:spcAft>
              <a:buNone/>
            </a:pPr>
            <a:r>
              <a:rPr lang="en-US" sz="1100" dirty="0">
                <a:solidFill>
                  <a:schemeClr val="tx2"/>
                </a:solidFill>
              </a:rPr>
              <a:t>All items W → </a:t>
            </a:r>
            <a:r>
              <a:rPr lang="en-US" sz="1100" b="1" dirty="0">
                <a:solidFill>
                  <a:schemeClr val="accent5"/>
                </a:solidFill>
              </a:rPr>
              <a:t>Inactive</a:t>
            </a:r>
            <a:endParaRPr lang="en-US" sz="1100" dirty="0"/>
          </a:p>
          <a:p>
            <a:pPr marL="0" indent="0">
              <a:spcAft>
                <a:spcPts val="400"/>
              </a:spcAft>
              <a:buNone/>
            </a:pPr>
            <a:r>
              <a:rPr lang="en-US" sz="1100" i="1" dirty="0">
                <a:solidFill>
                  <a:schemeClr val="tx2"/>
                </a:solidFill>
              </a:rPr>
              <a:t>The family can always choose the status.</a:t>
            </a:r>
            <a:endParaRPr lang="en-US" sz="1100" dirty="0"/>
          </a:p>
        </p:txBody>
      </p:sp>
      <p:sp>
        <p:nvSpPr>
          <p:cNvPr id="20" name="Status heading"/>
          <p:cNvSpPr txBox="1"/>
          <p:nvPr/>
        </p:nvSpPr>
        <p:spPr>
          <a:xfrm>
            <a:off x="4846320" y="1188720"/>
            <a:ext cx="3840480" cy="274320"/>
          </a:xfrm>
          <a:prstGeom prst="rect">
            <a:avLst/>
          </a:prstGeom>
          <a:noFill/>
          <a:ln/>
        </p:spPr>
        <p:txBody>
          <a:bodyPr wrap="square" lIns="0" tIns="0" rIns="0" bIns="0" rtlCol="0" anchor="t"/>
          <a:lstStyle/>
          <a:p>
            <a:pPr marL="0" indent="0">
              <a:buNone/>
            </a:pPr>
            <a:r>
              <a:rPr lang="en-US" sz="1300" b="1" dirty="0">
                <a:solidFill>
                  <a:schemeClr val="accent2"/>
                </a:solidFill>
              </a:rPr>
              <a:t>Each member’s status this year</a:t>
            </a:r>
            <a:endParaRPr lang="en-US" sz="1300" dirty="0"/>
          </a:p>
        </p:txBody>
      </p:sp>
      <p:sp>
        <p:nvSpPr>
          <p:cNvPr id="21" name="Active card"/>
          <p:cNvSpPr/>
          <p:nvPr/>
        </p:nvSpPr>
        <p:spPr>
          <a:xfrm>
            <a:off x="4846320" y="1572768"/>
            <a:ext cx="3840480" cy="731520"/>
          </a:xfrm>
          <a:prstGeom prst="roundRect">
            <a:avLst>
              <a:gd name="adj" fmla="val 10000"/>
            </a:avLst>
          </a:prstGeom>
          <a:solidFill>
            <a:schemeClr val="bg2"/>
          </a:solidFill>
          <a:ln/>
        </p:spPr>
      </p:sp>
      <p:sp>
        <p:nvSpPr>
          <p:cNvPr id="22" name="Active circle"/>
          <p:cNvSpPr/>
          <p:nvPr/>
        </p:nvSpPr>
        <p:spPr>
          <a:xfrm>
            <a:off x="4983480" y="1728216"/>
            <a:ext cx="420624" cy="420624"/>
          </a:xfrm>
          <a:prstGeom prst="ellipse">
            <a:avLst/>
          </a:prstGeom>
          <a:solidFill>
            <a:schemeClr val="accent3"/>
          </a:solidFill>
          <a:ln/>
        </p:spPr>
      </p:sp>
      <p:pic>
        <p:nvPicPr>
          <p:cNvPr id="23" name="Active icon" descr="Active"/>
          <p:cNvPicPr>
            <a:picLocks noChangeAspect="1"/>
          </p:cNvPicPr>
          <p:nvPr/>
        </p:nvPicPr>
        <p:blipFill>
          <a:blip r:embed="rId3"/>
          <a:stretch>
            <a:fillRect/>
          </a:stretch>
        </p:blipFill>
        <p:spPr>
          <a:xfrm>
            <a:off x="5084430" y="1829166"/>
            <a:ext cx="218724" cy="218724"/>
          </a:xfrm>
          <a:prstGeom prst="rect">
            <a:avLst/>
          </a:prstGeom>
        </p:spPr>
      </p:pic>
      <p:sp>
        <p:nvSpPr>
          <p:cNvPr id="24" name="Active heading"/>
          <p:cNvSpPr txBox="1"/>
          <p:nvPr/>
        </p:nvSpPr>
        <p:spPr>
          <a:xfrm>
            <a:off x="5532120" y="1645920"/>
            <a:ext cx="3017520" cy="246888"/>
          </a:xfrm>
          <a:prstGeom prst="rect">
            <a:avLst/>
          </a:prstGeom>
          <a:noFill/>
          <a:ln/>
        </p:spPr>
        <p:txBody>
          <a:bodyPr wrap="square" lIns="0" tIns="0" rIns="0" bIns="0" rtlCol="0" anchor="t"/>
          <a:lstStyle/>
          <a:p>
            <a:pPr marL="0" indent="0">
              <a:buNone/>
            </a:pPr>
            <a:r>
              <a:rPr lang="en-US" sz="1250" b="1" dirty="0">
                <a:solidFill>
                  <a:schemeClr val="tx1"/>
                </a:solidFill>
              </a:rPr>
              <a:t>Active</a:t>
            </a:r>
            <a:endParaRPr lang="en-US" sz="1250" dirty="0"/>
          </a:p>
        </p:txBody>
      </p:sp>
      <p:sp>
        <p:nvSpPr>
          <p:cNvPr id="25" name="Active text"/>
          <p:cNvSpPr txBox="1"/>
          <p:nvPr/>
        </p:nvSpPr>
        <p:spPr>
          <a:xfrm>
            <a:off x="5532120" y="1901952"/>
            <a:ext cx="3063240" cy="365760"/>
          </a:xfrm>
          <a:prstGeom prst="rect">
            <a:avLst/>
          </a:prstGeom>
          <a:noFill/>
          <a:ln/>
        </p:spPr>
        <p:txBody>
          <a:bodyPr wrap="square" lIns="0" tIns="0" rIns="0" bIns="0" rtlCol="0" anchor="t"/>
          <a:lstStyle/>
          <a:p>
            <a:pPr marL="0" indent="0">
              <a:buNone/>
            </a:pPr>
            <a:r>
              <a:rPr lang="en-US" sz="1050" dirty="0">
                <a:solidFill>
                  <a:schemeClr val="tx2"/>
                </a:solidFill>
              </a:rPr>
              <a:t>Takes part in parish life. Children 8 and under count as Active.</a:t>
            </a:r>
            <a:endParaRPr lang="en-US" sz="1050" dirty="0"/>
          </a:p>
        </p:txBody>
      </p:sp>
      <p:sp>
        <p:nvSpPr>
          <p:cNvPr id="26" name="Inactive card"/>
          <p:cNvSpPr/>
          <p:nvPr/>
        </p:nvSpPr>
        <p:spPr>
          <a:xfrm>
            <a:off x="4846320" y="2414016"/>
            <a:ext cx="3840480" cy="731520"/>
          </a:xfrm>
          <a:prstGeom prst="roundRect">
            <a:avLst>
              <a:gd name="adj" fmla="val 10000"/>
            </a:avLst>
          </a:prstGeom>
          <a:solidFill>
            <a:schemeClr val="bg2"/>
          </a:solidFill>
          <a:ln/>
        </p:spPr>
      </p:sp>
      <p:sp>
        <p:nvSpPr>
          <p:cNvPr id="27" name="Inactive circle"/>
          <p:cNvSpPr/>
          <p:nvPr/>
        </p:nvSpPr>
        <p:spPr>
          <a:xfrm>
            <a:off x="4983480" y="2569464"/>
            <a:ext cx="420624" cy="420624"/>
          </a:xfrm>
          <a:prstGeom prst="ellipse">
            <a:avLst/>
          </a:prstGeom>
          <a:solidFill>
            <a:schemeClr val="tx2"/>
          </a:solidFill>
          <a:ln/>
        </p:spPr>
      </p:sp>
      <p:pic>
        <p:nvPicPr>
          <p:cNvPr id="28" name="Inactive icon" descr="Inactive"/>
          <p:cNvPicPr>
            <a:picLocks noChangeAspect="1"/>
          </p:cNvPicPr>
          <p:nvPr/>
        </p:nvPicPr>
        <p:blipFill>
          <a:blip r:embed="rId4"/>
          <a:stretch>
            <a:fillRect/>
          </a:stretch>
        </p:blipFill>
        <p:spPr>
          <a:xfrm>
            <a:off x="5084430" y="2670414"/>
            <a:ext cx="218724" cy="218724"/>
          </a:xfrm>
          <a:prstGeom prst="rect">
            <a:avLst/>
          </a:prstGeom>
        </p:spPr>
      </p:pic>
      <p:sp>
        <p:nvSpPr>
          <p:cNvPr id="29" name="Inactive heading"/>
          <p:cNvSpPr txBox="1"/>
          <p:nvPr/>
        </p:nvSpPr>
        <p:spPr>
          <a:xfrm>
            <a:off x="5532120" y="2487168"/>
            <a:ext cx="3017520" cy="246888"/>
          </a:xfrm>
          <a:prstGeom prst="rect">
            <a:avLst/>
          </a:prstGeom>
          <a:noFill/>
          <a:ln/>
        </p:spPr>
        <p:txBody>
          <a:bodyPr wrap="square" lIns="0" tIns="0" rIns="0" bIns="0" rtlCol="0" anchor="t"/>
          <a:lstStyle/>
          <a:p>
            <a:pPr marL="0" indent="0">
              <a:buNone/>
            </a:pPr>
            <a:r>
              <a:rPr lang="en-US" sz="1250" b="1" dirty="0">
                <a:solidFill>
                  <a:schemeClr val="tx1"/>
                </a:solidFill>
              </a:rPr>
              <a:t>Inactive</a:t>
            </a:r>
            <a:endParaRPr lang="en-US" sz="1250" dirty="0"/>
          </a:p>
        </p:txBody>
      </p:sp>
      <p:sp>
        <p:nvSpPr>
          <p:cNvPr id="30" name="Inactive text"/>
          <p:cNvSpPr txBox="1"/>
          <p:nvPr/>
        </p:nvSpPr>
        <p:spPr>
          <a:xfrm>
            <a:off x="5532120" y="2743200"/>
            <a:ext cx="3063240" cy="365760"/>
          </a:xfrm>
          <a:prstGeom prst="rect">
            <a:avLst/>
          </a:prstGeom>
          <a:noFill/>
          <a:ln/>
        </p:spPr>
        <p:txBody>
          <a:bodyPr wrap="square" lIns="0" tIns="0" rIns="0" bIns="0" rtlCol="0" anchor="t"/>
          <a:lstStyle/>
          <a:p>
            <a:pPr marL="0" indent="0">
              <a:buNone/>
            </a:pPr>
            <a:r>
              <a:rPr lang="en-US" sz="1050" dirty="0">
                <a:solidFill>
                  <a:schemeClr val="tx2"/>
                </a:solidFill>
              </a:rPr>
              <a:t>Rarely or never takes part. Still a member of the parish.</a:t>
            </a:r>
            <a:endParaRPr lang="en-US" sz="1050" dirty="0"/>
          </a:p>
        </p:txBody>
      </p:sp>
      <p:sp>
        <p:nvSpPr>
          <p:cNvPr id="31" name="Left the Church card"/>
          <p:cNvSpPr/>
          <p:nvPr/>
        </p:nvSpPr>
        <p:spPr>
          <a:xfrm>
            <a:off x="4846320" y="3255264"/>
            <a:ext cx="3840480" cy="731520"/>
          </a:xfrm>
          <a:prstGeom prst="roundRect">
            <a:avLst>
              <a:gd name="adj" fmla="val 10000"/>
            </a:avLst>
          </a:prstGeom>
          <a:solidFill>
            <a:schemeClr val="bg2"/>
          </a:solidFill>
          <a:ln/>
        </p:spPr>
      </p:sp>
      <p:sp>
        <p:nvSpPr>
          <p:cNvPr id="32" name="Left the Church circle"/>
          <p:cNvSpPr/>
          <p:nvPr/>
        </p:nvSpPr>
        <p:spPr>
          <a:xfrm>
            <a:off x="4983480" y="3410712"/>
            <a:ext cx="420624" cy="420624"/>
          </a:xfrm>
          <a:prstGeom prst="ellipse">
            <a:avLst/>
          </a:prstGeom>
          <a:solidFill>
            <a:schemeClr val="accent5"/>
          </a:solidFill>
          <a:ln/>
        </p:spPr>
      </p:sp>
      <p:pic>
        <p:nvPicPr>
          <p:cNvPr id="33" name="Left the Church icon" descr="Left the Church"/>
          <p:cNvPicPr>
            <a:picLocks noChangeAspect="1"/>
          </p:cNvPicPr>
          <p:nvPr/>
        </p:nvPicPr>
        <p:blipFill>
          <a:blip r:embed="rId5"/>
          <a:stretch>
            <a:fillRect/>
          </a:stretch>
        </p:blipFill>
        <p:spPr>
          <a:xfrm>
            <a:off x="5084430" y="3511662"/>
            <a:ext cx="218724" cy="218724"/>
          </a:xfrm>
          <a:prstGeom prst="rect">
            <a:avLst/>
          </a:prstGeom>
        </p:spPr>
      </p:pic>
      <p:sp>
        <p:nvSpPr>
          <p:cNvPr id="34" name="Left the Church heading"/>
          <p:cNvSpPr txBox="1"/>
          <p:nvPr/>
        </p:nvSpPr>
        <p:spPr>
          <a:xfrm>
            <a:off x="5532120" y="3328416"/>
            <a:ext cx="3017520" cy="246888"/>
          </a:xfrm>
          <a:prstGeom prst="rect">
            <a:avLst/>
          </a:prstGeom>
          <a:noFill/>
          <a:ln/>
        </p:spPr>
        <p:txBody>
          <a:bodyPr wrap="square" lIns="0" tIns="0" rIns="0" bIns="0" rtlCol="0" anchor="t"/>
          <a:lstStyle/>
          <a:p>
            <a:pPr marL="0" indent="0">
              <a:buNone/>
            </a:pPr>
            <a:r>
              <a:rPr lang="en-US" sz="1250" b="1" dirty="0">
                <a:solidFill>
                  <a:schemeClr val="tx1"/>
                </a:solidFill>
              </a:rPr>
              <a:t>Left the Church</a:t>
            </a:r>
            <a:endParaRPr lang="en-US" sz="1250" dirty="0"/>
          </a:p>
        </p:txBody>
      </p:sp>
      <p:sp>
        <p:nvSpPr>
          <p:cNvPr id="35" name="Left the Church text"/>
          <p:cNvSpPr txBox="1"/>
          <p:nvPr/>
        </p:nvSpPr>
        <p:spPr>
          <a:xfrm>
            <a:off x="5532120" y="3584448"/>
            <a:ext cx="3063240" cy="365760"/>
          </a:xfrm>
          <a:prstGeom prst="rect">
            <a:avLst/>
          </a:prstGeom>
          <a:noFill/>
          <a:ln/>
        </p:spPr>
        <p:txBody>
          <a:bodyPr wrap="square" lIns="0" tIns="0" rIns="0" bIns="0" rtlCol="0" anchor="t"/>
          <a:lstStyle/>
          <a:p>
            <a:pPr marL="0" indent="0">
              <a:buNone/>
            </a:pPr>
            <a:r>
              <a:rPr lang="en-US" sz="1050" dirty="0">
                <a:solidFill>
                  <a:schemeClr val="tx2"/>
                </a:solidFill>
              </a:rPr>
              <a:t>Has joined another faith. Only when the family says so.</a:t>
            </a:r>
            <a:endParaRPr lang="en-US" sz="1050" dirty="0"/>
          </a:p>
        </p:txBody>
      </p:sp>
      <p:sp>
        <p:nvSpPr>
          <p:cNvPr id="36" name="Next year statuses"/>
          <p:cNvSpPr txBox="1"/>
          <p:nvPr/>
        </p:nvSpPr>
        <p:spPr>
          <a:xfrm>
            <a:off x="4846320" y="4114800"/>
            <a:ext cx="3840480" cy="502920"/>
          </a:xfrm>
          <a:prstGeom prst="rect">
            <a:avLst/>
          </a:prstGeom>
          <a:noFill/>
          <a:ln/>
        </p:spPr>
        <p:txBody>
          <a:bodyPr wrap="square" lIns="0" tIns="0" rIns="0" bIns="0" rtlCol="0" anchor="t"/>
          <a:lstStyle/>
          <a:p>
            <a:pPr marL="0" indent="0">
              <a:buNone/>
            </a:pPr>
            <a:r>
              <a:rPr lang="en-US" sz="1050" b="1" dirty="0">
                <a:solidFill>
                  <a:schemeClr val="accent4"/>
                </a:solidFill>
              </a:rPr>
              <a:t>From next year: </a:t>
            </a:r>
            <a:r>
              <a:rPr lang="en-US" sz="1050" dirty="0">
                <a:solidFill>
                  <a:schemeClr val="tx2"/>
                </a:solidFill>
              </a:rPr>
              <a:t>Moved away and Deceased are added, for families already on record.</a:t>
            </a:r>
            <a:endParaRPr lang="en-US" sz="1050" dirty="0"/>
          </a:p>
        </p:txBody>
      </p:sp>
      <p:sp>
        <p:nvSpPr>
          <p:cNvPr id="37"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Reaching families not yet registered</a:t>
            </a:r>
            <a:endParaRPr lang="en-US" sz="2600" dirty="0"/>
          </a:p>
        </p:txBody>
      </p:sp>
      <p:sp>
        <p:nvSpPr>
          <p:cNvPr id="3" name="Last year's list panel"/>
          <p:cNvSpPr/>
          <p:nvPr/>
        </p:nvSpPr>
        <p:spPr>
          <a:xfrm>
            <a:off x="457200" y="1051560"/>
            <a:ext cx="3977640" cy="3611880"/>
          </a:xfrm>
          <a:prstGeom prst="roundRect">
            <a:avLst>
              <a:gd name="adj" fmla="val 2025"/>
            </a:avLst>
          </a:prstGeom>
          <a:solidFill>
            <a:schemeClr val="bg2"/>
          </a:solidFill>
          <a:ln/>
        </p:spPr>
      </p:sp>
      <p:sp>
        <p:nvSpPr>
          <p:cNvPr id="4" name="Last year's list circle"/>
          <p:cNvSpPr/>
          <p:nvPr/>
        </p:nvSpPr>
        <p:spPr>
          <a:xfrm>
            <a:off x="640080" y="1216152"/>
            <a:ext cx="457200" cy="457200"/>
          </a:xfrm>
          <a:prstGeom prst="ellipse">
            <a:avLst/>
          </a:prstGeom>
          <a:solidFill>
            <a:schemeClr val="tx1"/>
          </a:solidFill>
          <a:ln/>
        </p:spPr>
      </p:sp>
      <p:pic>
        <p:nvPicPr>
          <p:cNvPr id="5" name="Last year's list icon" descr="Last year's list"/>
          <p:cNvPicPr>
            <a:picLocks noChangeAspect="1"/>
          </p:cNvPicPr>
          <p:nvPr/>
        </p:nvPicPr>
        <p:blipFill>
          <a:blip r:embed="rId3"/>
          <a:stretch>
            <a:fillRect/>
          </a:stretch>
        </p:blipFill>
        <p:spPr>
          <a:xfrm>
            <a:off x="749808" y="1325880"/>
            <a:ext cx="237744" cy="237744"/>
          </a:xfrm>
          <a:prstGeom prst="rect">
            <a:avLst/>
          </a:prstGeom>
        </p:spPr>
      </p:pic>
      <p:sp>
        <p:nvSpPr>
          <p:cNvPr id="6" name="Last year's list heading"/>
          <p:cNvSpPr txBox="1"/>
          <p:nvPr/>
        </p:nvSpPr>
        <p:spPr>
          <a:xfrm>
            <a:off x="1207008" y="1188720"/>
            <a:ext cx="3108960" cy="548640"/>
          </a:xfrm>
          <a:prstGeom prst="rect">
            <a:avLst/>
          </a:prstGeom>
          <a:noFill/>
          <a:ln/>
        </p:spPr>
        <p:txBody>
          <a:bodyPr wrap="square" lIns="0" tIns="0" rIns="0" bIns="0" rtlCol="0" anchor="t"/>
          <a:lstStyle/>
          <a:p>
            <a:pPr marL="0" indent="0">
              <a:buNone/>
            </a:pPr>
            <a:r>
              <a:rPr lang="en-US" sz="1400" b="1" dirty="0">
                <a:solidFill>
                  <a:schemeClr val="tx1"/>
                </a:solidFill>
              </a:rPr>
              <a:t>Last year’s list</a:t>
            </a:r>
            <a:endParaRPr lang="en-US" sz="1100" dirty="0"/>
          </a:p>
          <a:p>
            <a:pPr marL="0" indent="0">
              <a:buNone/>
            </a:pPr>
            <a:r>
              <a:rPr lang="en-US" sz="1050" dirty="0">
                <a:solidFill>
                  <a:schemeClr val="tx2"/>
                </a:solidFill>
              </a:rPr>
              <a:t>Your GKK’s families from last year’s paper census</a:t>
            </a:r>
            <a:endParaRPr lang="en-US" sz="1100" dirty="0"/>
          </a:p>
        </p:txBody>
      </p:sp>
      <p:pic>
        <p:nvPicPr>
          <p:cNvPr id="7" name="List point 1 check" descr="preencoded.png"/>
          <p:cNvPicPr>
            <a:picLocks noChangeAspect="1"/>
          </p:cNvPicPr>
          <p:nvPr/>
        </p:nvPicPr>
        <p:blipFill>
          <a:blip r:embed="rId4"/>
          <a:stretch>
            <a:fillRect/>
          </a:stretch>
        </p:blipFill>
        <p:spPr>
          <a:xfrm>
            <a:off x="658368" y="2112264"/>
            <a:ext cx="219456" cy="219456"/>
          </a:xfrm>
          <a:prstGeom prst="rect">
            <a:avLst/>
          </a:prstGeom>
        </p:spPr>
      </p:pic>
      <p:sp>
        <p:nvSpPr>
          <p:cNvPr id="8" name="List point 1"/>
          <p:cNvSpPr txBox="1"/>
          <p:nvPr/>
        </p:nvSpPr>
        <p:spPr>
          <a:xfrm>
            <a:off x="987552" y="2103120"/>
            <a:ext cx="3291840" cy="777240"/>
          </a:xfrm>
          <a:prstGeom prst="rect">
            <a:avLst/>
          </a:prstGeom>
          <a:noFill/>
          <a:ln/>
        </p:spPr>
        <p:txBody>
          <a:bodyPr wrap="square" lIns="0" tIns="0" rIns="0" bIns="0" rtlCol="0" anchor="t"/>
          <a:lstStyle/>
          <a:p>
            <a:pPr marL="0" indent="0">
              <a:buNone/>
            </a:pPr>
            <a:r>
              <a:rPr lang="en-US" sz="1150" b="1" dirty="0">
                <a:solidFill>
                  <a:schemeClr val="tx1"/>
                </a:solidFill>
              </a:rPr>
              <a:t>Add names</a:t>
            </a:r>
            <a:r>
              <a:rPr lang="en-US" sz="1150" dirty="0">
                <a:solidFill>
                  <a:schemeClr val="tx2"/>
                </a:solidFill>
              </a:rPr>
              <a:t> one per line (Name, Purok, note), or upload a spreadsheet (CSV).</a:t>
            </a:r>
            <a:endParaRPr lang="en-US" sz="1150" dirty="0"/>
          </a:p>
        </p:txBody>
      </p:sp>
      <p:pic>
        <p:nvPicPr>
          <p:cNvPr id="9" name="List point 2 check" descr="preencoded.png"/>
          <p:cNvPicPr>
            <a:picLocks noChangeAspect="1"/>
          </p:cNvPicPr>
          <p:nvPr/>
        </p:nvPicPr>
        <p:blipFill>
          <a:blip r:embed="rId4"/>
          <a:stretch>
            <a:fillRect/>
          </a:stretch>
        </p:blipFill>
        <p:spPr>
          <a:xfrm>
            <a:off x="658368" y="2935224"/>
            <a:ext cx="219456" cy="219456"/>
          </a:xfrm>
          <a:prstGeom prst="rect">
            <a:avLst/>
          </a:prstGeom>
        </p:spPr>
      </p:pic>
      <p:sp>
        <p:nvSpPr>
          <p:cNvPr id="10" name="List point 2"/>
          <p:cNvSpPr txBox="1"/>
          <p:nvPr/>
        </p:nvSpPr>
        <p:spPr>
          <a:xfrm>
            <a:off x="987552" y="2926080"/>
            <a:ext cx="3291840" cy="777240"/>
          </a:xfrm>
          <a:prstGeom prst="rect">
            <a:avLst/>
          </a:prstGeom>
          <a:noFill/>
          <a:ln/>
        </p:spPr>
        <p:txBody>
          <a:bodyPr wrap="square" lIns="0" tIns="0" rIns="0" bIns="0" rtlCol="0" anchor="t"/>
          <a:lstStyle/>
          <a:p>
            <a:pPr marL="0" indent="0">
              <a:buNone/>
            </a:pPr>
            <a:r>
              <a:rPr lang="en-US" sz="1150" b="1" dirty="0">
                <a:solidFill>
                  <a:schemeClr val="tx1"/>
                </a:solidFill>
              </a:rPr>
              <a:t>Names match new registrations by themselves. </a:t>
            </a:r>
            <a:r>
              <a:rPr lang="en-US" sz="1150" dirty="0">
                <a:solidFill>
                  <a:schemeClr val="tx2"/>
                </a:solidFill>
              </a:rPr>
              <a:t>Confirm with Mark as registered, or Not this household.</a:t>
            </a:r>
            <a:endParaRPr lang="en-US" sz="1150" dirty="0"/>
          </a:p>
        </p:txBody>
      </p:sp>
      <p:pic>
        <p:nvPicPr>
          <p:cNvPr id="11" name="List point 3 check" descr="preencoded.png"/>
          <p:cNvPicPr>
            <a:picLocks noChangeAspect="1"/>
          </p:cNvPicPr>
          <p:nvPr/>
        </p:nvPicPr>
        <p:blipFill>
          <a:blip r:embed="rId4"/>
          <a:stretch>
            <a:fillRect/>
          </a:stretch>
        </p:blipFill>
        <p:spPr>
          <a:xfrm>
            <a:off x="658368" y="3758184"/>
            <a:ext cx="219456" cy="219456"/>
          </a:xfrm>
          <a:prstGeom prst="rect">
            <a:avLst/>
          </a:prstGeom>
        </p:spPr>
      </p:pic>
      <p:sp>
        <p:nvSpPr>
          <p:cNvPr id="12" name="List point 3"/>
          <p:cNvSpPr txBox="1"/>
          <p:nvPr/>
        </p:nvSpPr>
        <p:spPr>
          <a:xfrm>
            <a:off x="987552" y="3749040"/>
            <a:ext cx="3291840" cy="777240"/>
          </a:xfrm>
          <a:prstGeom prst="rect">
            <a:avLst/>
          </a:prstGeom>
          <a:noFill/>
          <a:ln/>
        </p:spPr>
        <p:txBody>
          <a:bodyPr wrap="square" lIns="0" tIns="0" rIns="0" bIns="0" rtlCol="0" anchor="t"/>
          <a:lstStyle/>
          <a:p>
            <a:pPr marL="0" indent="0">
              <a:buNone/>
            </a:pPr>
            <a:r>
              <a:rPr lang="en-US" sz="1150" b="1" dirty="0">
                <a:solidFill>
                  <a:schemeClr val="tx1"/>
                </a:solidFill>
              </a:rPr>
              <a:t>Mark the others</a:t>
            </a:r>
            <a:r>
              <a:rPr lang="en-US" sz="1150" dirty="0">
                <a:solidFill>
                  <a:schemeClr val="tx2"/>
                </a:solidFill>
              </a:rPr>
              <a:t> as Moved away, Deceased or Duplicate when that applies.</a:t>
            </a:r>
            <a:endParaRPr lang="en-US" sz="1150" dirty="0"/>
          </a:p>
        </p:txBody>
      </p:sp>
      <p:sp>
        <p:nvSpPr>
          <p:cNvPr id="13" name="Visit heading"/>
          <p:cNvSpPr txBox="1"/>
          <p:nvPr/>
        </p:nvSpPr>
        <p:spPr>
          <a:xfrm>
            <a:off x="4709160" y="1051560"/>
            <a:ext cx="3977640" cy="274320"/>
          </a:xfrm>
          <a:prstGeom prst="rect">
            <a:avLst/>
          </a:prstGeom>
          <a:noFill/>
          <a:ln/>
        </p:spPr>
        <p:txBody>
          <a:bodyPr wrap="square" lIns="0" tIns="0" rIns="0" bIns="0" rtlCol="0" anchor="t"/>
          <a:lstStyle/>
          <a:p>
            <a:pPr marL="0" indent="0">
              <a:buNone/>
            </a:pPr>
            <a:r>
              <a:rPr lang="en-US" sz="1300" b="1" dirty="0">
                <a:solidFill>
                  <a:schemeClr val="accent2"/>
                </a:solidFill>
              </a:rPr>
              <a:t>Follow-up cycle</a:t>
            </a:r>
            <a:endParaRPr lang="en-US" sz="1300" dirty="0"/>
          </a:p>
        </p:txBody>
      </p:sp>
      <p:sp>
        <p:nvSpPr>
          <p:cNvPr id="14" name="Print the visit list circle"/>
          <p:cNvSpPr/>
          <p:nvPr/>
        </p:nvSpPr>
        <p:spPr>
          <a:xfrm>
            <a:off x="4709160" y="1417320"/>
            <a:ext cx="457200" cy="457200"/>
          </a:xfrm>
          <a:prstGeom prst="ellipse">
            <a:avLst/>
          </a:prstGeom>
          <a:solidFill>
            <a:schemeClr val="accent2"/>
          </a:solidFill>
          <a:ln/>
        </p:spPr>
      </p:sp>
      <p:pic>
        <p:nvPicPr>
          <p:cNvPr id="15" name="Print the visit list icon" descr="Print the visit list"/>
          <p:cNvPicPr>
            <a:picLocks noChangeAspect="1"/>
          </p:cNvPicPr>
          <p:nvPr/>
        </p:nvPicPr>
        <p:blipFill>
          <a:blip r:embed="rId5"/>
          <a:stretch>
            <a:fillRect/>
          </a:stretch>
        </p:blipFill>
        <p:spPr>
          <a:xfrm>
            <a:off x="4818888" y="1527048"/>
            <a:ext cx="237744" cy="237744"/>
          </a:xfrm>
          <a:prstGeom prst="rect">
            <a:avLst/>
          </a:prstGeom>
        </p:spPr>
      </p:pic>
      <p:sp>
        <p:nvSpPr>
          <p:cNvPr id="16" name="Visit connector 1"/>
          <p:cNvSpPr/>
          <p:nvPr/>
        </p:nvSpPr>
        <p:spPr>
          <a:xfrm>
            <a:off x="4937760" y="1920240"/>
            <a:ext cx="0" cy="548640"/>
          </a:xfrm>
          <a:prstGeom prst="line">
            <a:avLst/>
          </a:prstGeom>
          <a:noFill/>
          <a:ln w="19050">
            <a:solidFill>
              <a:srgbClr val="E4C06A"/>
            </a:solidFill>
            <a:prstDash val="dash"/>
          </a:ln>
        </p:spPr>
      </p:sp>
      <p:sp>
        <p:nvSpPr>
          <p:cNvPr id="17" name="Visit 1 heading"/>
          <p:cNvSpPr txBox="1"/>
          <p:nvPr/>
        </p:nvSpPr>
        <p:spPr>
          <a:xfrm>
            <a:off x="5303520" y="1435608"/>
            <a:ext cx="3383280" cy="246888"/>
          </a:xfrm>
          <a:prstGeom prst="rect">
            <a:avLst/>
          </a:prstGeom>
          <a:noFill/>
          <a:ln/>
        </p:spPr>
        <p:txBody>
          <a:bodyPr wrap="square" lIns="0" tIns="0" rIns="0" bIns="0" rtlCol="0" anchor="t"/>
          <a:lstStyle/>
          <a:p>
            <a:pPr marL="0" indent="0">
              <a:buNone/>
            </a:pPr>
            <a:r>
              <a:rPr lang="en-US" sz="1250" b="1" dirty="0">
                <a:solidFill>
                  <a:schemeClr val="tx1"/>
                </a:solidFill>
              </a:rPr>
              <a:t>Print the visit list</a:t>
            </a:r>
            <a:endParaRPr lang="en-US" sz="1250" dirty="0"/>
          </a:p>
        </p:txBody>
      </p:sp>
      <p:sp>
        <p:nvSpPr>
          <p:cNvPr id="18" name="Visit 1 text"/>
          <p:cNvSpPr txBox="1"/>
          <p:nvPr/>
        </p:nvSpPr>
        <p:spPr>
          <a:xfrm>
            <a:off x="5303520" y="1691640"/>
            <a:ext cx="3383280" cy="749808"/>
          </a:xfrm>
          <a:prstGeom prst="rect">
            <a:avLst/>
          </a:prstGeom>
          <a:noFill/>
          <a:ln/>
        </p:spPr>
        <p:txBody>
          <a:bodyPr wrap="square" lIns="0" tIns="0" rIns="0" bIns="0" rtlCol="0" anchor="t"/>
          <a:lstStyle/>
          <a:p>
            <a:pPr marL="0" indent="0">
              <a:buNone/>
            </a:pPr>
            <a:r>
              <a:rPr lang="en-US" sz="1050" dirty="0">
                <a:solidFill>
                  <a:schemeClr val="tx2"/>
                </a:solidFill>
              </a:rPr>
              <a:t>“Print not yet registered” gives a sheet of the remaining names, with a Resulta sa bisita column.</a:t>
            </a:r>
            <a:endParaRPr lang="en-US" sz="1050" dirty="0"/>
          </a:p>
        </p:txBody>
      </p:sp>
      <p:sp>
        <p:nvSpPr>
          <p:cNvPr id="19" name="Call or visit circle"/>
          <p:cNvSpPr/>
          <p:nvPr/>
        </p:nvSpPr>
        <p:spPr>
          <a:xfrm>
            <a:off x="4709160" y="2514600"/>
            <a:ext cx="457200" cy="457200"/>
          </a:xfrm>
          <a:prstGeom prst="ellipse">
            <a:avLst/>
          </a:prstGeom>
          <a:solidFill>
            <a:schemeClr val="accent2"/>
          </a:solidFill>
          <a:ln/>
        </p:spPr>
      </p:sp>
      <p:pic>
        <p:nvPicPr>
          <p:cNvPr id="20" name="Call or visit icon" descr="Call or visit"/>
          <p:cNvPicPr>
            <a:picLocks noChangeAspect="1"/>
          </p:cNvPicPr>
          <p:nvPr/>
        </p:nvPicPr>
        <p:blipFill>
          <a:blip r:embed="rId6"/>
          <a:stretch>
            <a:fillRect/>
          </a:stretch>
        </p:blipFill>
        <p:spPr>
          <a:xfrm>
            <a:off x="4818888" y="2624328"/>
            <a:ext cx="237744" cy="237744"/>
          </a:xfrm>
          <a:prstGeom prst="rect">
            <a:avLst/>
          </a:prstGeom>
        </p:spPr>
      </p:pic>
      <p:sp>
        <p:nvSpPr>
          <p:cNvPr id="21" name="Visit connector 2"/>
          <p:cNvSpPr/>
          <p:nvPr/>
        </p:nvSpPr>
        <p:spPr>
          <a:xfrm>
            <a:off x="4937760" y="3017520"/>
            <a:ext cx="0" cy="548640"/>
          </a:xfrm>
          <a:prstGeom prst="line">
            <a:avLst/>
          </a:prstGeom>
          <a:noFill/>
          <a:ln w="19050">
            <a:solidFill>
              <a:srgbClr val="E4C06A"/>
            </a:solidFill>
            <a:prstDash val="dash"/>
          </a:ln>
        </p:spPr>
      </p:sp>
      <p:sp>
        <p:nvSpPr>
          <p:cNvPr id="22" name="Visit 2 heading"/>
          <p:cNvSpPr txBox="1"/>
          <p:nvPr/>
        </p:nvSpPr>
        <p:spPr>
          <a:xfrm>
            <a:off x="5303520" y="2532888"/>
            <a:ext cx="3383280" cy="246888"/>
          </a:xfrm>
          <a:prstGeom prst="rect">
            <a:avLst/>
          </a:prstGeom>
          <a:noFill/>
          <a:ln/>
        </p:spPr>
        <p:txBody>
          <a:bodyPr wrap="square" lIns="0" tIns="0" rIns="0" bIns="0" rtlCol="0" anchor="t"/>
          <a:lstStyle/>
          <a:p>
            <a:pPr marL="0" indent="0">
              <a:buNone/>
            </a:pPr>
            <a:r>
              <a:rPr lang="en-US" sz="1250" b="1" dirty="0">
                <a:solidFill>
                  <a:schemeClr val="tx1"/>
                </a:solidFill>
              </a:rPr>
              <a:t>Call or visit</a:t>
            </a:r>
            <a:endParaRPr lang="en-US" sz="1250" dirty="0"/>
          </a:p>
        </p:txBody>
      </p:sp>
      <p:sp>
        <p:nvSpPr>
          <p:cNvPr id="23" name="Visit 2 text"/>
          <p:cNvSpPr txBox="1"/>
          <p:nvPr/>
        </p:nvSpPr>
        <p:spPr>
          <a:xfrm>
            <a:off x="5303520" y="2788920"/>
            <a:ext cx="3383280" cy="749808"/>
          </a:xfrm>
          <a:prstGeom prst="rect">
            <a:avLst/>
          </a:prstGeom>
          <a:noFill/>
          <a:ln/>
        </p:spPr>
        <p:txBody>
          <a:bodyPr wrap="square" lIns="0" tIns="0" rIns="0" bIns="0" rtlCol="0" anchor="t"/>
          <a:lstStyle/>
          <a:p>
            <a:pPr marL="0" indent="0">
              <a:buNone/>
            </a:pPr>
            <a:r>
              <a:rPr lang="en-US" sz="1050" dirty="0">
                <a:solidFill>
                  <a:schemeClr val="tx2"/>
                </a:solidFill>
              </a:rPr>
              <a:t>Remind them, or help them register on your phone right there.</a:t>
            </a:r>
            <a:endParaRPr lang="en-US" sz="1050" dirty="0"/>
          </a:p>
        </p:txBody>
      </p:sp>
      <p:sp>
        <p:nvSpPr>
          <p:cNvPr id="24" name="Check the list again circle"/>
          <p:cNvSpPr/>
          <p:nvPr/>
        </p:nvSpPr>
        <p:spPr>
          <a:xfrm>
            <a:off x="4709160" y="3611880"/>
            <a:ext cx="457200" cy="457200"/>
          </a:xfrm>
          <a:prstGeom prst="ellipse">
            <a:avLst/>
          </a:prstGeom>
          <a:solidFill>
            <a:schemeClr val="accent2"/>
          </a:solidFill>
          <a:ln/>
        </p:spPr>
      </p:sp>
      <p:pic>
        <p:nvPicPr>
          <p:cNvPr id="25" name="Check the list again icon" descr="Check the list again"/>
          <p:cNvPicPr>
            <a:picLocks noChangeAspect="1"/>
          </p:cNvPicPr>
          <p:nvPr/>
        </p:nvPicPr>
        <p:blipFill>
          <a:blip r:embed="rId7"/>
          <a:stretch>
            <a:fillRect/>
          </a:stretch>
        </p:blipFill>
        <p:spPr>
          <a:xfrm>
            <a:off x="4818888" y="3721608"/>
            <a:ext cx="237744" cy="237744"/>
          </a:xfrm>
          <a:prstGeom prst="rect">
            <a:avLst/>
          </a:prstGeom>
        </p:spPr>
      </p:pic>
      <p:sp>
        <p:nvSpPr>
          <p:cNvPr id="26" name="Visit 3 heading"/>
          <p:cNvSpPr txBox="1"/>
          <p:nvPr/>
        </p:nvSpPr>
        <p:spPr>
          <a:xfrm>
            <a:off x="5303520" y="3630168"/>
            <a:ext cx="3383280" cy="246888"/>
          </a:xfrm>
          <a:prstGeom prst="rect">
            <a:avLst/>
          </a:prstGeom>
          <a:noFill/>
          <a:ln/>
        </p:spPr>
        <p:txBody>
          <a:bodyPr wrap="square" lIns="0" tIns="0" rIns="0" bIns="0" rtlCol="0" anchor="t"/>
          <a:lstStyle/>
          <a:p>
            <a:pPr marL="0" indent="0">
              <a:buNone/>
            </a:pPr>
            <a:r>
              <a:rPr lang="en-US" sz="1250" b="1" dirty="0">
                <a:solidFill>
                  <a:schemeClr val="tx1"/>
                </a:solidFill>
              </a:rPr>
              <a:t>Check the list again</a:t>
            </a:r>
            <a:endParaRPr lang="en-US" sz="1250" dirty="0"/>
          </a:p>
        </p:txBody>
      </p:sp>
      <p:sp>
        <p:nvSpPr>
          <p:cNvPr id="27" name="Visit 3 text"/>
          <p:cNvSpPr txBox="1"/>
          <p:nvPr/>
        </p:nvSpPr>
        <p:spPr>
          <a:xfrm>
            <a:off x="5303520" y="3886200"/>
            <a:ext cx="3383280" cy="749808"/>
          </a:xfrm>
          <a:prstGeom prst="rect">
            <a:avLst/>
          </a:prstGeom>
          <a:noFill/>
          <a:ln/>
        </p:spPr>
        <p:txBody>
          <a:bodyPr wrap="square" lIns="0" tIns="0" rIns="0" bIns="0" rtlCol="0" anchor="t"/>
          <a:lstStyle/>
          <a:p>
            <a:pPr marL="0" indent="0">
              <a:buNone/>
            </a:pPr>
            <a:r>
              <a:rPr lang="en-US" sz="1050" dirty="0">
                <a:solidFill>
                  <a:schemeClr val="tx2"/>
                </a:solidFill>
              </a:rPr>
              <a:t>Names tick off as families register. Note anyone who moved away or died.</a:t>
            </a:r>
            <a:endParaRPr lang="en-US" sz="1050" dirty="0"/>
          </a:p>
        </p:txBody>
      </p:sp>
      <p:sp>
        <p:nvSpPr>
          <p:cNvPr id="28"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Tracking progress and results</a:t>
            </a:r>
            <a:endParaRPr lang="en-US" sz="2600" dirty="0"/>
          </a:p>
        </p:txBody>
      </p:sp>
      <p:sp>
        <p:nvSpPr>
          <p:cNvPr id="3" name="Dashboard card"/>
          <p:cNvSpPr/>
          <p:nvPr/>
        </p:nvSpPr>
        <p:spPr>
          <a:xfrm>
            <a:off x="457200" y="1051560"/>
            <a:ext cx="2624328" cy="1783080"/>
          </a:xfrm>
          <a:prstGeom prst="roundRect">
            <a:avLst>
              <a:gd name="adj" fmla="val 4103"/>
            </a:avLst>
          </a:prstGeom>
          <a:solidFill>
            <a:schemeClr val="bg2"/>
          </a:solidFill>
          <a:ln/>
        </p:spPr>
      </p:sp>
      <p:sp>
        <p:nvSpPr>
          <p:cNvPr id="4" name="Dashboard circle"/>
          <p:cNvSpPr/>
          <p:nvPr/>
        </p:nvSpPr>
        <p:spPr>
          <a:xfrm>
            <a:off x="621792" y="1216152"/>
            <a:ext cx="457200" cy="457200"/>
          </a:xfrm>
          <a:prstGeom prst="ellipse">
            <a:avLst/>
          </a:prstGeom>
          <a:solidFill>
            <a:schemeClr val="tx1"/>
          </a:solidFill>
          <a:ln/>
        </p:spPr>
      </p:sp>
      <p:pic>
        <p:nvPicPr>
          <p:cNvPr id="5" name="Dashboard icon" descr="Dashboard"/>
          <p:cNvPicPr>
            <a:picLocks noChangeAspect="1"/>
          </p:cNvPicPr>
          <p:nvPr/>
        </p:nvPicPr>
        <p:blipFill>
          <a:blip r:embed="rId3"/>
          <a:stretch>
            <a:fillRect/>
          </a:stretch>
        </p:blipFill>
        <p:spPr>
          <a:xfrm>
            <a:off x="731520" y="1325880"/>
            <a:ext cx="237744" cy="237744"/>
          </a:xfrm>
          <a:prstGeom prst="rect">
            <a:avLst/>
          </a:prstGeom>
        </p:spPr>
      </p:pic>
      <p:sp>
        <p:nvSpPr>
          <p:cNvPr id="6" name="Dashboard heading"/>
          <p:cNvSpPr txBox="1"/>
          <p:nvPr/>
        </p:nvSpPr>
        <p:spPr>
          <a:xfrm>
            <a:off x="621792" y="1783080"/>
            <a:ext cx="2295144" cy="274320"/>
          </a:xfrm>
          <a:prstGeom prst="rect">
            <a:avLst/>
          </a:prstGeom>
          <a:noFill/>
          <a:ln/>
        </p:spPr>
        <p:txBody>
          <a:bodyPr wrap="square" lIns="0" tIns="0" rIns="0" bIns="0" rtlCol="0" anchor="t"/>
          <a:lstStyle/>
          <a:p>
            <a:pPr marL="0" indent="0">
              <a:buNone/>
            </a:pPr>
            <a:r>
              <a:rPr lang="en-US" sz="1300" b="1" dirty="0">
                <a:solidFill>
                  <a:schemeClr val="tx1"/>
                </a:solidFill>
              </a:rPr>
              <a:t>Dashboard</a:t>
            </a:r>
            <a:endParaRPr lang="en-US" sz="1300" dirty="0"/>
          </a:p>
        </p:txBody>
      </p:sp>
      <p:sp>
        <p:nvSpPr>
          <p:cNvPr id="7" name="Dashboard text"/>
          <p:cNvSpPr txBox="1"/>
          <p:nvPr/>
        </p:nvSpPr>
        <p:spPr>
          <a:xfrm>
            <a:off x="621792" y="2084832"/>
            <a:ext cx="2295144" cy="685800"/>
          </a:xfrm>
          <a:prstGeom prst="rect">
            <a:avLst/>
          </a:prstGeom>
          <a:noFill/>
          <a:ln/>
        </p:spPr>
        <p:txBody>
          <a:bodyPr wrap="square" lIns="0" tIns="0" rIns="0" bIns="0" rtlCol="0" anchor="t"/>
          <a:lstStyle/>
          <a:p>
            <a:pPr marL="0" indent="0">
              <a:buNone/>
            </a:pPr>
            <a:r>
              <a:rPr lang="en-US" sz="1050" dirty="0">
                <a:solidFill>
                  <a:schemeClr val="tx2"/>
                </a:solidFill>
              </a:rPr>
              <a:t>The Today panel shows how many households are confirmed and what is waiting for you.</a:t>
            </a:r>
            <a:endParaRPr lang="en-US" sz="1050" dirty="0"/>
          </a:p>
        </p:txBody>
      </p:sp>
      <p:sp>
        <p:nvSpPr>
          <p:cNvPr id="8" name="Census → Results by GKK card"/>
          <p:cNvSpPr/>
          <p:nvPr/>
        </p:nvSpPr>
        <p:spPr>
          <a:xfrm>
            <a:off x="3264408" y="1051560"/>
            <a:ext cx="2624328" cy="1783080"/>
          </a:xfrm>
          <a:prstGeom prst="roundRect">
            <a:avLst>
              <a:gd name="adj" fmla="val 4103"/>
            </a:avLst>
          </a:prstGeom>
          <a:solidFill>
            <a:schemeClr val="bg2"/>
          </a:solidFill>
          <a:ln/>
        </p:spPr>
      </p:sp>
      <p:sp>
        <p:nvSpPr>
          <p:cNvPr id="9" name="Census → Results by GKK circle"/>
          <p:cNvSpPr/>
          <p:nvPr/>
        </p:nvSpPr>
        <p:spPr>
          <a:xfrm>
            <a:off x="3429000" y="1216152"/>
            <a:ext cx="457200" cy="457200"/>
          </a:xfrm>
          <a:prstGeom prst="ellipse">
            <a:avLst/>
          </a:prstGeom>
          <a:solidFill>
            <a:schemeClr val="tx1"/>
          </a:solidFill>
          <a:ln/>
        </p:spPr>
      </p:sp>
      <p:pic>
        <p:nvPicPr>
          <p:cNvPr id="10" name="Census → Results by GKK icon" descr="Census → Results by GKK"/>
          <p:cNvPicPr>
            <a:picLocks noChangeAspect="1"/>
          </p:cNvPicPr>
          <p:nvPr/>
        </p:nvPicPr>
        <p:blipFill>
          <a:blip r:embed="rId4"/>
          <a:stretch>
            <a:fillRect/>
          </a:stretch>
        </p:blipFill>
        <p:spPr>
          <a:xfrm>
            <a:off x="3538728" y="1325880"/>
            <a:ext cx="237744" cy="237744"/>
          </a:xfrm>
          <a:prstGeom prst="rect">
            <a:avLst/>
          </a:prstGeom>
        </p:spPr>
      </p:pic>
      <p:sp>
        <p:nvSpPr>
          <p:cNvPr id="11" name="Census → Results by GKK heading"/>
          <p:cNvSpPr txBox="1"/>
          <p:nvPr/>
        </p:nvSpPr>
        <p:spPr>
          <a:xfrm>
            <a:off x="3429000" y="1783080"/>
            <a:ext cx="2295144" cy="274320"/>
          </a:xfrm>
          <a:prstGeom prst="rect">
            <a:avLst/>
          </a:prstGeom>
          <a:noFill/>
          <a:ln/>
        </p:spPr>
        <p:txBody>
          <a:bodyPr wrap="square" lIns="0" tIns="0" rIns="0" bIns="0" rtlCol="0" anchor="t"/>
          <a:lstStyle/>
          <a:p>
            <a:pPr marL="0" indent="0">
              <a:buNone/>
            </a:pPr>
            <a:r>
              <a:rPr lang="en-US" sz="1300" b="1" dirty="0">
                <a:solidFill>
                  <a:schemeClr val="tx1"/>
                </a:solidFill>
              </a:rPr>
              <a:t>Census → Results by GKK</a:t>
            </a:r>
            <a:endParaRPr lang="en-US" sz="1300" dirty="0"/>
          </a:p>
        </p:txBody>
      </p:sp>
      <p:sp>
        <p:nvSpPr>
          <p:cNvPr id="12" name="Census → Results by GKK text"/>
          <p:cNvSpPr txBox="1"/>
          <p:nvPr/>
        </p:nvSpPr>
        <p:spPr>
          <a:xfrm>
            <a:off x="3429000" y="2084832"/>
            <a:ext cx="2295144" cy="685800"/>
          </a:xfrm>
          <a:prstGeom prst="rect">
            <a:avLst/>
          </a:prstGeom>
          <a:noFill/>
          <a:ln/>
        </p:spPr>
        <p:txBody>
          <a:bodyPr wrap="square" lIns="0" tIns="0" rIns="0" bIns="0" rtlCol="0" anchor="t"/>
          <a:lstStyle/>
          <a:p>
            <a:pPr marL="0" indent="0">
              <a:buNone/>
            </a:pPr>
            <a:r>
              <a:rPr lang="en-US" sz="1050" dirty="0">
                <a:solidFill>
                  <a:schemeClr val="tx2"/>
                </a:solidFill>
              </a:rPr>
              <a:t>Registered households against last year, the Not yet registered list with Print visit list, and Export CSV.</a:t>
            </a:r>
            <a:endParaRPr lang="en-US" sz="1050" dirty="0"/>
          </a:p>
        </p:txBody>
      </p:sp>
      <p:sp>
        <p:nvSpPr>
          <p:cNvPr id="13" name="Reports → Census card"/>
          <p:cNvSpPr/>
          <p:nvPr/>
        </p:nvSpPr>
        <p:spPr>
          <a:xfrm>
            <a:off x="6071616" y="1051560"/>
            <a:ext cx="2624328" cy="1783080"/>
          </a:xfrm>
          <a:prstGeom prst="roundRect">
            <a:avLst>
              <a:gd name="adj" fmla="val 4103"/>
            </a:avLst>
          </a:prstGeom>
          <a:solidFill>
            <a:schemeClr val="bg2"/>
          </a:solidFill>
          <a:ln/>
        </p:spPr>
      </p:sp>
      <p:sp>
        <p:nvSpPr>
          <p:cNvPr id="14" name="Reports → Census circle"/>
          <p:cNvSpPr/>
          <p:nvPr/>
        </p:nvSpPr>
        <p:spPr>
          <a:xfrm>
            <a:off x="6236208" y="1216152"/>
            <a:ext cx="457200" cy="457200"/>
          </a:xfrm>
          <a:prstGeom prst="ellipse">
            <a:avLst/>
          </a:prstGeom>
          <a:solidFill>
            <a:schemeClr val="tx1"/>
          </a:solidFill>
          <a:ln/>
        </p:spPr>
      </p:sp>
      <p:pic>
        <p:nvPicPr>
          <p:cNvPr id="15" name="Reports → Census icon" descr="Reports → Census"/>
          <p:cNvPicPr>
            <a:picLocks noChangeAspect="1"/>
          </p:cNvPicPr>
          <p:nvPr/>
        </p:nvPicPr>
        <p:blipFill>
          <a:blip r:embed="rId5"/>
          <a:stretch>
            <a:fillRect/>
          </a:stretch>
        </p:blipFill>
        <p:spPr>
          <a:xfrm>
            <a:off x="6345936" y="1325880"/>
            <a:ext cx="237744" cy="237744"/>
          </a:xfrm>
          <a:prstGeom prst="rect">
            <a:avLst/>
          </a:prstGeom>
        </p:spPr>
      </p:pic>
      <p:sp>
        <p:nvSpPr>
          <p:cNvPr id="16" name="Reports → Census heading"/>
          <p:cNvSpPr txBox="1"/>
          <p:nvPr/>
        </p:nvSpPr>
        <p:spPr>
          <a:xfrm>
            <a:off x="6236208" y="1783080"/>
            <a:ext cx="2295144" cy="274320"/>
          </a:xfrm>
          <a:prstGeom prst="rect">
            <a:avLst/>
          </a:prstGeom>
          <a:noFill/>
          <a:ln/>
        </p:spPr>
        <p:txBody>
          <a:bodyPr wrap="square" lIns="0" tIns="0" rIns="0" bIns="0" rtlCol="0" anchor="t"/>
          <a:lstStyle/>
          <a:p>
            <a:pPr marL="0" indent="0">
              <a:buNone/>
            </a:pPr>
            <a:r>
              <a:rPr lang="en-US" sz="1300" b="1" dirty="0">
                <a:solidFill>
                  <a:schemeClr val="tx1"/>
                </a:solidFill>
              </a:rPr>
              <a:t>Reports → Census</a:t>
            </a:r>
            <a:endParaRPr lang="en-US" sz="1300" dirty="0"/>
          </a:p>
        </p:txBody>
      </p:sp>
      <p:sp>
        <p:nvSpPr>
          <p:cNvPr id="17" name="Reports → Census text"/>
          <p:cNvSpPr txBox="1"/>
          <p:nvPr/>
        </p:nvSpPr>
        <p:spPr>
          <a:xfrm>
            <a:off x="6236208" y="2084832"/>
            <a:ext cx="2295144" cy="685800"/>
          </a:xfrm>
          <a:prstGeom prst="rect">
            <a:avLst/>
          </a:prstGeom>
          <a:noFill/>
          <a:ln/>
        </p:spPr>
        <p:txBody>
          <a:bodyPr wrap="square" lIns="0" tIns="0" rIns="0" bIns="0" rtlCol="0" anchor="t"/>
          <a:lstStyle/>
          <a:p>
            <a:pPr marL="0" indent="0">
              <a:buNone/>
            </a:pPr>
            <a:r>
              <a:rPr lang="en-US" sz="1050" dirty="0">
                <a:solidFill>
                  <a:schemeClr val="tx2"/>
                </a:solidFill>
              </a:rPr>
              <a:t>Results by GKK, Households vs last year, Not yet registered, and Members not confirmed.</a:t>
            </a:r>
            <a:endParaRPr lang="en-US" sz="1050" dirty="0"/>
          </a:p>
        </p:txBody>
      </p:sp>
      <p:sp>
        <p:nvSpPr>
          <p:cNvPr id="18" name="Scope note"/>
          <p:cNvSpPr txBox="1"/>
          <p:nvPr/>
        </p:nvSpPr>
        <p:spPr>
          <a:xfrm>
            <a:off x="457200" y="2898648"/>
            <a:ext cx="8229600" cy="228600"/>
          </a:xfrm>
          <a:prstGeom prst="rect">
            <a:avLst/>
          </a:prstGeom>
          <a:noFill/>
          <a:ln/>
        </p:spPr>
        <p:txBody>
          <a:bodyPr wrap="square" lIns="0" tIns="0" rIns="0" bIns="0" rtlCol="0" anchor="t"/>
          <a:lstStyle/>
          <a:p>
            <a:pPr marL="0" indent="0">
              <a:buNone/>
            </a:pPr>
            <a:r>
              <a:rPr lang="en-US" sz="1050" i="1" dirty="0">
                <a:solidFill>
                  <a:schemeClr val="accent4"/>
                </a:solidFill>
              </a:rPr>
              <a:t>Your dashboard, results and reports cover your GKK only.</a:t>
            </a:r>
            <a:endParaRPr lang="en-US" sz="1050" dirty="0"/>
          </a:p>
        </p:txBody>
      </p:sp>
      <p:sp>
        <p:nvSpPr>
          <p:cNvPr id="19" name="Closing panel"/>
          <p:cNvSpPr/>
          <p:nvPr/>
        </p:nvSpPr>
        <p:spPr>
          <a:xfrm>
            <a:off x="457200" y="3246120"/>
            <a:ext cx="8229600" cy="1371600"/>
          </a:xfrm>
          <a:prstGeom prst="roundRect">
            <a:avLst>
              <a:gd name="adj" fmla="val 5333"/>
            </a:avLst>
          </a:prstGeom>
          <a:solidFill>
            <a:schemeClr val="tx1"/>
          </a:solidFill>
          <a:ln/>
        </p:spPr>
      </p:sp>
      <p:sp>
        <p:nvSpPr>
          <p:cNvPr id="20" name="Closing circle"/>
          <p:cNvSpPr/>
          <p:nvPr/>
        </p:nvSpPr>
        <p:spPr>
          <a:xfrm>
            <a:off x="658368" y="3429000"/>
            <a:ext cx="457200" cy="457200"/>
          </a:xfrm>
          <a:prstGeom prst="ellipse">
            <a:avLst/>
          </a:prstGeom>
          <a:solidFill>
            <a:schemeClr val="accent2"/>
          </a:solidFill>
          <a:ln/>
        </p:spPr>
      </p:sp>
      <p:pic>
        <p:nvPicPr>
          <p:cNvPr id="21" name="Closing icon" descr="Closing"/>
          <p:cNvPicPr>
            <a:picLocks noChangeAspect="1"/>
          </p:cNvPicPr>
          <p:nvPr/>
        </p:nvPicPr>
        <p:blipFill>
          <a:blip r:embed="rId6"/>
          <a:stretch>
            <a:fillRect/>
          </a:stretch>
        </p:blipFill>
        <p:spPr>
          <a:xfrm>
            <a:off x="768096" y="3538728"/>
            <a:ext cx="237744" cy="237744"/>
          </a:xfrm>
          <a:prstGeom prst="rect">
            <a:avLst/>
          </a:prstGeom>
        </p:spPr>
      </p:pic>
      <p:sp>
        <p:nvSpPr>
          <p:cNvPr id="22" name="Closing heading"/>
          <p:cNvSpPr txBox="1"/>
          <p:nvPr/>
        </p:nvSpPr>
        <p:spPr>
          <a:xfrm>
            <a:off x="1234440" y="3429000"/>
            <a:ext cx="7223760" cy="457200"/>
          </a:xfrm>
          <a:prstGeom prst="rect">
            <a:avLst/>
          </a:prstGeom>
          <a:noFill/>
          <a:ln/>
        </p:spPr>
        <p:txBody>
          <a:bodyPr wrap="square" lIns="0" tIns="0" rIns="0" bIns="0" rtlCol="0" anchor="ctr"/>
          <a:lstStyle/>
          <a:p>
            <a:pPr marL="0" indent="0">
              <a:buNone/>
            </a:pPr>
            <a:r>
              <a:rPr lang="en-US" sz="1400" b="1" dirty="0">
                <a:solidFill>
                  <a:schemeClr val="accent6"/>
                </a:solidFill>
              </a:rPr>
              <a:t>When the parish office closes the census</a:t>
            </a:r>
            <a:endParaRPr lang="en-US" sz="1400" dirty="0"/>
          </a:p>
        </p:txBody>
      </p:sp>
      <p:sp>
        <p:nvSpPr>
          <p:cNvPr id="23" name="Closing point 1"/>
          <p:cNvSpPr txBox="1"/>
          <p:nvPr/>
        </p:nvSpPr>
        <p:spPr>
          <a:xfrm>
            <a:off x="1234440" y="3950208"/>
            <a:ext cx="2240280" cy="594360"/>
          </a:xfrm>
          <a:prstGeom prst="rect">
            <a:avLst/>
          </a:prstGeom>
          <a:noFill/>
          <a:ln/>
        </p:spPr>
        <p:txBody>
          <a:bodyPr wrap="square" lIns="0" tIns="0" rIns="0" bIns="0" rtlCol="0" anchor="t"/>
          <a:lstStyle/>
          <a:p>
            <a:pPr marL="0" indent="0">
              <a:buNone/>
            </a:pPr>
            <a:r>
              <a:rPr lang="en-US" sz="1050" dirty="0">
                <a:solidFill>
                  <a:schemeClr val="bg1"/>
                </a:solidFill>
              </a:rPr>
              <a:t>Record census becomes View; everything is read-only.</a:t>
            </a:r>
            <a:endParaRPr lang="en-US" sz="1050" dirty="0"/>
          </a:p>
        </p:txBody>
      </p:sp>
      <p:sp>
        <p:nvSpPr>
          <p:cNvPr id="24" name="Closing point 2"/>
          <p:cNvSpPr txBox="1"/>
          <p:nvPr/>
        </p:nvSpPr>
        <p:spPr>
          <a:xfrm>
            <a:off x="3675888" y="3950208"/>
            <a:ext cx="2240280" cy="594360"/>
          </a:xfrm>
          <a:prstGeom prst="rect">
            <a:avLst/>
          </a:prstGeom>
          <a:noFill/>
          <a:ln/>
        </p:spPr>
        <p:txBody>
          <a:bodyPr wrap="square" lIns="0" tIns="0" rIns="0" bIns="0" rtlCol="0" anchor="t"/>
          <a:lstStyle/>
          <a:p>
            <a:pPr marL="0" indent="0">
              <a:buNone/>
            </a:pPr>
            <a:r>
              <a:rPr lang="en-US" sz="1050" dirty="0">
                <a:solidFill>
                  <a:schemeClr val="bg1"/>
                </a:solidFill>
              </a:rPr>
              <a:t>Closing changes no data. Families who register later are not counted in this census.</a:t>
            </a:r>
            <a:endParaRPr lang="en-US" sz="1050" dirty="0"/>
          </a:p>
        </p:txBody>
      </p:sp>
      <p:sp>
        <p:nvSpPr>
          <p:cNvPr id="25" name="Closing point 3"/>
          <p:cNvSpPr txBox="1"/>
          <p:nvPr/>
        </p:nvSpPr>
        <p:spPr>
          <a:xfrm>
            <a:off x="6117336" y="3950208"/>
            <a:ext cx="2240280" cy="594360"/>
          </a:xfrm>
          <a:prstGeom prst="rect">
            <a:avLst/>
          </a:prstGeom>
          <a:noFill/>
          <a:ln/>
        </p:spPr>
        <p:txBody>
          <a:bodyPr wrap="square" lIns="0" tIns="0" rIns="0" bIns="0" rtlCol="0" anchor="t"/>
          <a:lstStyle/>
          <a:p>
            <a:pPr marL="0" indent="0">
              <a:buNone/>
            </a:pPr>
            <a:r>
              <a:rPr lang="en-US" sz="1050" dirty="0">
                <a:solidFill>
                  <a:schemeClr val="bg1"/>
                </a:solidFill>
              </a:rPr>
              <a:t>This year’s registry becomes the starting list for next year’s census.</a:t>
            </a:r>
            <a:endParaRPr lang="en-US" sz="1050" dirty="0"/>
          </a:p>
        </p:txBody>
      </p:sp>
      <p:sp>
        <p:nvSpPr>
          <p:cNvPr id="26"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From next year: update, not register</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marL="0" indent="0">
              <a:buNone/>
            </a:pPr>
            <a:r>
              <a:rPr lang="en-US" sz="1300" dirty="0">
                <a:solidFill>
                  <a:schemeClr val="tx2"/>
                </a:solidFill>
              </a:rPr>
              <a:t>Once every family is in the registry, the census becomes a yearly check of each family’s record.</a:t>
            </a:r>
            <a:endParaRPr lang="en-US" sz="1300" dirty="0"/>
          </a:p>
        </p:txBody>
      </p:sp>
      <p:sp>
        <p:nvSpPr>
          <p:cNvPr id="4" name="This year header chip"/>
          <p:cNvSpPr/>
          <p:nvPr/>
        </p:nvSpPr>
        <p:spPr>
          <a:xfrm>
            <a:off x="2286000" y="1188720"/>
            <a:ext cx="3063240" cy="329184"/>
          </a:xfrm>
          <a:prstGeom prst="roundRect">
            <a:avLst>
              <a:gd name="adj" fmla="val 50000"/>
            </a:avLst>
          </a:prstGeom>
          <a:solidFill>
            <a:schemeClr val="accent2"/>
          </a:solidFill>
          <a:ln/>
        </p:spPr>
      </p:sp>
      <p:sp>
        <p:nvSpPr>
          <p:cNvPr id="5" name="This year header label"/>
          <p:cNvSpPr txBox="1"/>
          <p:nvPr/>
        </p:nvSpPr>
        <p:spPr>
          <a:xfrm>
            <a:off x="2286000" y="1188720"/>
            <a:ext cx="3063240" cy="329184"/>
          </a:xfrm>
          <a:prstGeom prst="rect">
            <a:avLst/>
          </a:prstGeom>
          <a:noFill/>
          <a:ln/>
        </p:spPr>
        <p:txBody>
          <a:bodyPr wrap="square" lIns="0" tIns="0" rIns="0" bIns="0" rtlCol="0" anchor="ctr"/>
          <a:lstStyle/>
          <a:p>
            <a:pPr marL="0" indent="0" algn="ctr">
              <a:buNone/>
            </a:pPr>
            <a:r>
              <a:rPr lang="en-US" sz="1200" b="1" dirty="0">
                <a:solidFill>
                  <a:schemeClr val="bg1"/>
                </a:solidFill>
              </a:rPr>
              <a:t>This year: first census</a:t>
            </a:r>
            <a:endParaRPr lang="en-US" sz="1200" dirty="0"/>
          </a:p>
        </p:txBody>
      </p:sp>
      <p:sp>
        <p:nvSpPr>
          <p:cNvPr id="6" name="Next year header chip"/>
          <p:cNvSpPr/>
          <p:nvPr/>
        </p:nvSpPr>
        <p:spPr>
          <a:xfrm>
            <a:off x="5532120" y="1188720"/>
            <a:ext cx="3063240" cy="329184"/>
          </a:xfrm>
          <a:prstGeom prst="roundRect">
            <a:avLst>
              <a:gd name="adj" fmla="val 50000"/>
            </a:avLst>
          </a:prstGeom>
          <a:solidFill>
            <a:schemeClr val="accent1"/>
          </a:solidFill>
          <a:ln/>
        </p:spPr>
      </p:sp>
      <p:sp>
        <p:nvSpPr>
          <p:cNvPr id="7" name="Next year header label"/>
          <p:cNvSpPr txBox="1"/>
          <p:nvPr/>
        </p:nvSpPr>
        <p:spPr>
          <a:xfrm>
            <a:off x="5532120" y="1188720"/>
            <a:ext cx="3063240" cy="329184"/>
          </a:xfrm>
          <a:prstGeom prst="rect">
            <a:avLst/>
          </a:prstGeom>
          <a:noFill/>
          <a:ln/>
        </p:spPr>
        <p:txBody>
          <a:bodyPr wrap="square" lIns="0" tIns="0" rIns="0" bIns="0" rtlCol="0" anchor="ctr"/>
          <a:lstStyle/>
          <a:p>
            <a:pPr marL="0" indent="0" algn="ctr">
              <a:buNone/>
            </a:pPr>
            <a:r>
              <a:rPr lang="en-US" sz="1200" b="1" dirty="0">
                <a:solidFill>
                  <a:schemeClr val="bg1"/>
                </a:solidFill>
              </a:rPr>
              <a:t>From next year</a:t>
            </a:r>
            <a:endParaRPr lang="en-US" sz="1200" dirty="0"/>
          </a:p>
        </p:txBody>
      </p:sp>
      <p:sp>
        <p:nvSpPr>
          <p:cNvPr id="8" name="Compare row 1"/>
          <p:cNvSpPr/>
          <p:nvPr/>
        </p:nvSpPr>
        <p:spPr>
          <a:xfrm>
            <a:off x="457200" y="1645920"/>
            <a:ext cx="8229600" cy="530352"/>
          </a:xfrm>
          <a:prstGeom prst="roundRect">
            <a:avLst>
              <a:gd name="adj" fmla="val 13793"/>
            </a:avLst>
          </a:prstGeom>
          <a:solidFill>
            <a:schemeClr val="bg2"/>
          </a:solidFill>
          <a:ln/>
        </p:spPr>
      </p:sp>
      <p:sp>
        <p:nvSpPr>
          <p:cNvPr id="9" name="Compare row 1 label"/>
          <p:cNvSpPr txBox="1"/>
          <p:nvPr/>
        </p:nvSpPr>
        <p:spPr>
          <a:xfrm>
            <a:off x="594360" y="1645920"/>
            <a:ext cx="1554480" cy="530352"/>
          </a:xfrm>
          <a:prstGeom prst="rect">
            <a:avLst/>
          </a:prstGeom>
          <a:noFill/>
          <a:ln/>
        </p:spPr>
        <p:txBody>
          <a:bodyPr wrap="square" lIns="0" tIns="0" rIns="0" bIns="0" rtlCol="0" anchor="ctr"/>
          <a:lstStyle/>
          <a:p>
            <a:pPr marL="0" indent="0">
              <a:buNone/>
            </a:pPr>
            <a:r>
              <a:rPr lang="en-US" sz="1150" b="1" dirty="0">
                <a:solidFill>
                  <a:schemeClr val="tx1"/>
                </a:solidFill>
              </a:rPr>
              <a:t>Families</a:t>
            </a:r>
            <a:endParaRPr lang="en-US" sz="1150" dirty="0"/>
          </a:p>
        </p:txBody>
      </p:sp>
      <p:sp>
        <p:nvSpPr>
          <p:cNvPr id="10" name="Compare row 1 this year"/>
          <p:cNvSpPr txBox="1"/>
          <p:nvPr/>
        </p:nvSpPr>
        <p:spPr>
          <a:xfrm>
            <a:off x="2331720" y="1645920"/>
            <a:ext cx="2926080" cy="530352"/>
          </a:xfrm>
          <a:prstGeom prst="rect">
            <a:avLst/>
          </a:prstGeom>
          <a:noFill/>
          <a:ln/>
        </p:spPr>
        <p:txBody>
          <a:bodyPr wrap="square" lIns="0" tIns="0" rIns="0" bIns="0" rtlCol="0" anchor="ctr"/>
          <a:lstStyle/>
          <a:p>
            <a:pPr marL="0" indent="0">
              <a:buNone/>
            </a:pPr>
            <a:r>
              <a:rPr lang="en-US" sz="1100" dirty="0">
                <a:solidFill>
                  <a:schemeClr val="tx2"/>
                </a:solidFill>
              </a:rPr>
              <a:t>Register: “Irehistro ang Inyong Pamilya”</a:t>
            </a:r>
            <a:endParaRPr lang="en-US" sz="1100" dirty="0"/>
          </a:p>
        </p:txBody>
      </p:sp>
      <p:sp>
        <p:nvSpPr>
          <p:cNvPr id="11" name="Compare row 1 next year"/>
          <p:cNvSpPr txBox="1"/>
          <p:nvPr/>
        </p:nvSpPr>
        <p:spPr>
          <a:xfrm>
            <a:off x="5577840" y="1645920"/>
            <a:ext cx="2926080" cy="530352"/>
          </a:xfrm>
          <a:prstGeom prst="rect">
            <a:avLst/>
          </a:prstGeom>
          <a:noFill/>
          <a:ln/>
        </p:spPr>
        <p:txBody>
          <a:bodyPr wrap="square" lIns="0" tIns="0" rIns="0" bIns="0" rtlCol="0" anchor="ctr"/>
          <a:lstStyle/>
          <a:p>
            <a:pPr marL="0" indent="0">
              <a:buNone/>
            </a:pPr>
            <a:r>
              <a:rPr lang="en-US" sz="1100" dirty="0">
                <a:solidFill>
                  <a:schemeClr val="tx2"/>
                </a:solidFill>
              </a:rPr>
              <a:t>Update: “Narehistro na? I-update ang inyong rekord”</a:t>
            </a:r>
            <a:endParaRPr lang="en-US" sz="1100" dirty="0"/>
          </a:p>
        </p:txBody>
      </p:sp>
      <p:sp>
        <p:nvSpPr>
          <p:cNvPr id="12" name="Compare row 2"/>
          <p:cNvSpPr/>
          <p:nvPr/>
        </p:nvSpPr>
        <p:spPr>
          <a:xfrm>
            <a:off x="457200" y="2249424"/>
            <a:ext cx="8229600" cy="530352"/>
          </a:xfrm>
          <a:prstGeom prst="roundRect">
            <a:avLst>
              <a:gd name="adj" fmla="val 13793"/>
            </a:avLst>
          </a:prstGeom>
          <a:solidFill>
            <a:schemeClr val="bg1"/>
          </a:solidFill>
          <a:ln/>
        </p:spPr>
      </p:sp>
      <p:sp>
        <p:nvSpPr>
          <p:cNvPr id="13" name="Compare row 2 label"/>
          <p:cNvSpPr txBox="1"/>
          <p:nvPr/>
        </p:nvSpPr>
        <p:spPr>
          <a:xfrm>
            <a:off x="594360" y="2249424"/>
            <a:ext cx="1554480" cy="530352"/>
          </a:xfrm>
          <a:prstGeom prst="rect">
            <a:avLst/>
          </a:prstGeom>
          <a:noFill/>
          <a:ln/>
        </p:spPr>
        <p:txBody>
          <a:bodyPr wrap="square" lIns="0" tIns="0" rIns="0" bIns="0" rtlCol="0" anchor="ctr"/>
          <a:lstStyle/>
          <a:p>
            <a:pPr marL="0" indent="0">
              <a:buNone/>
            </a:pPr>
            <a:r>
              <a:rPr lang="en-US" sz="1150" b="1" dirty="0">
                <a:solidFill>
                  <a:schemeClr val="tx1"/>
                </a:solidFill>
              </a:rPr>
              <a:t>They sign in with</a:t>
            </a:r>
            <a:endParaRPr lang="en-US" sz="1150" dirty="0"/>
          </a:p>
        </p:txBody>
      </p:sp>
      <p:sp>
        <p:nvSpPr>
          <p:cNvPr id="14" name="Compare row 2 this year"/>
          <p:cNvSpPr txBox="1"/>
          <p:nvPr/>
        </p:nvSpPr>
        <p:spPr>
          <a:xfrm>
            <a:off x="2331720" y="2249424"/>
            <a:ext cx="2926080" cy="530352"/>
          </a:xfrm>
          <a:prstGeom prst="rect">
            <a:avLst/>
          </a:prstGeom>
          <a:noFill/>
          <a:ln/>
        </p:spPr>
        <p:txBody>
          <a:bodyPr wrap="square" lIns="0" tIns="0" rIns="0" bIns="0" rtlCol="0" anchor="ctr"/>
          <a:lstStyle/>
          <a:p>
            <a:pPr marL="0" indent="0">
              <a:buNone/>
            </a:pPr>
            <a:r>
              <a:rPr lang="en-US" sz="1100" dirty="0">
                <a:solidFill>
                  <a:schemeClr val="tx2"/>
                </a:solidFill>
              </a:rPr>
              <a:t>Nothing yet; they get a code at the end</a:t>
            </a:r>
            <a:endParaRPr lang="en-US" sz="1100" dirty="0"/>
          </a:p>
        </p:txBody>
      </p:sp>
      <p:sp>
        <p:nvSpPr>
          <p:cNvPr id="15" name="Compare row 2 next year"/>
          <p:cNvSpPr txBox="1"/>
          <p:nvPr/>
        </p:nvSpPr>
        <p:spPr>
          <a:xfrm>
            <a:off x="5577840" y="2249424"/>
            <a:ext cx="2926080" cy="530352"/>
          </a:xfrm>
          <a:prstGeom prst="rect">
            <a:avLst/>
          </a:prstGeom>
          <a:noFill/>
          <a:ln/>
        </p:spPr>
        <p:txBody>
          <a:bodyPr wrap="square" lIns="0" tIns="0" rIns="0" bIns="0" rtlCol="0" anchor="ctr"/>
          <a:lstStyle/>
          <a:p>
            <a:pPr marL="0" indent="0">
              <a:buNone/>
            </a:pPr>
            <a:r>
              <a:rPr lang="en-US" sz="1100" dirty="0">
                <a:solidFill>
                  <a:schemeClr val="tx2"/>
                </a:solidFill>
              </a:rPr>
              <a:t>Their reference number and code</a:t>
            </a:r>
            <a:endParaRPr lang="en-US" sz="1100" dirty="0"/>
          </a:p>
        </p:txBody>
      </p:sp>
      <p:sp>
        <p:nvSpPr>
          <p:cNvPr id="16" name="Compare row 3"/>
          <p:cNvSpPr/>
          <p:nvPr/>
        </p:nvSpPr>
        <p:spPr>
          <a:xfrm>
            <a:off x="457200" y="2852928"/>
            <a:ext cx="8229600" cy="530352"/>
          </a:xfrm>
          <a:prstGeom prst="roundRect">
            <a:avLst>
              <a:gd name="adj" fmla="val 13793"/>
            </a:avLst>
          </a:prstGeom>
          <a:solidFill>
            <a:schemeClr val="bg2"/>
          </a:solidFill>
          <a:ln/>
        </p:spPr>
      </p:sp>
      <p:sp>
        <p:nvSpPr>
          <p:cNvPr id="17" name="Compare row 3 label"/>
          <p:cNvSpPr txBox="1"/>
          <p:nvPr/>
        </p:nvSpPr>
        <p:spPr>
          <a:xfrm>
            <a:off x="594360" y="2852928"/>
            <a:ext cx="1554480" cy="530352"/>
          </a:xfrm>
          <a:prstGeom prst="rect">
            <a:avLst/>
          </a:prstGeom>
          <a:noFill/>
          <a:ln/>
        </p:spPr>
        <p:txBody>
          <a:bodyPr wrap="square" lIns="0" tIns="0" rIns="0" bIns="0" rtlCol="0" anchor="ctr"/>
          <a:lstStyle/>
          <a:p>
            <a:pPr marL="0" indent="0">
              <a:buNone/>
            </a:pPr>
            <a:r>
              <a:rPr lang="en-US" sz="1150" b="1" dirty="0">
                <a:solidFill>
                  <a:schemeClr val="tx1"/>
                </a:solidFill>
              </a:rPr>
              <a:t>Your main job</a:t>
            </a:r>
            <a:endParaRPr lang="en-US" sz="1150" dirty="0"/>
          </a:p>
        </p:txBody>
      </p:sp>
      <p:sp>
        <p:nvSpPr>
          <p:cNvPr id="18" name="Compare row 3 this year"/>
          <p:cNvSpPr txBox="1"/>
          <p:nvPr/>
        </p:nvSpPr>
        <p:spPr>
          <a:xfrm>
            <a:off x="2331720" y="2852928"/>
            <a:ext cx="2926080" cy="530352"/>
          </a:xfrm>
          <a:prstGeom prst="rect">
            <a:avLst/>
          </a:prstGeom>
          <a:noFill/>
          <a:ln/>
        </p:spPr>
        <p:txBody>
          <a:bodyPr wrap="square" lIns="0" tIns="0" rIns="0" bIns="0" rtlCol="0" anchor="ctr"/>
          <a:lstStyle/>
          <a:p>
            <a:pPr marL="0" indent="0">
              <a:buNone/>
            </a:pPr>
            <a:r>
              <a:rPr lang="en-US" sz="1100" dirty="0">
                <a:solidFill>
                  <a:schemeClr val="tx2"/>
                </a:solidFill>
              </a:rPr>
              <a:t>Check new registrations</a:t>
            </a:r>
            <a:endParaRPr lang="en-US" sz="1100" dirty="0"/>
          </a:p>
        </p:txBody>
      </p:sp>
      <p:sp>
        <p:nvSpPr>
          <p:cNvPr id="19" name="Compare row 3 next year"/>
          <p:cNvSpPr txBox="1"/>
          <p:nvPr/>
        </p:nvSpPr>
        <p:spPr>
          <a:xfrm>
            <a:off x="5577840" y="2852928"/>
            <a:ext cx="2926080" cy="530352"/>
          </a:xfrm>
          <a:prstGeom prst="rect">
            <a:avLst/>
          </a:prstGeom>
          <a:noFill/>
          <a:ln/>
        </p:spPr>
        <p:txBody>
          <a:bodyPr wrap="square" lIns="0" tIns="0" rIns="0" bIns="0" rtlCol="0" anchor="ctr"/>
          <a:lstStyle/>
          <a:p>
            <a:pPr marL="0" indent="0">
              <a:buNone/>
            </a:pPr>
            <a:r>
              <a:rPr lang="en-US" sz="1100" dirty="0">
                <a:solidFill>
                  <a:schemeClr val="tx2"/>
                </a:solidFill>
              </a:rPr>
              <a:t>Approve Online updates; resend codes with Get codes</a:t>
            </a:r>
            <a:endParaRPr lang="en-US" sz="1100" dirty="0"/>
          </a:p>
        </p:txBody>
      </p:sp>
      <p:sp>
        <p:nvSpPr>
          <p:cNvPr id="20" name="Compare row 4"/>
          <p:cNvSpPr/>
          <p:nvPr/>
        </p:nvSpPr>
        <p:spPr>
          <a:xfrm>
            <a:off x="457200" y="3456432"/>
            <a:ext cx="8229600" cy="530352"/>
          </a:xfrm>
          <a:prstGeom prst="roundRect">
            <a:avLst>
              <a:gd name="adj" fmla="val 13793"/>
            </a:avLst>
          </a:prstGeom>
          <a:solidFill>
            <a:schemeClr val="bg1"/>
          </a:solidFill>
          <a:ln/>
        </p:spPr>
      </p:sp>
      <p:sp>
        <p:nvSpPr>
          <p:cNvPr id="21" name="Compare row 4 label"/>
          <p:cNvSpPr txBox="1"/>
          <p:nvPr/>
        </p:nvSpPr>
        <p:spPr>
          <a:xfrm>
            <a:off x="594360" y="3456432"/>
            <a:ext cx="1554480" cy="530352"/>
          </a:xfrm>
          <a:prstGeom prst="rect">
            <a:avLst/>
          </a:prstGeom>
          <a:noFill/>
          <a:ln/>
        </p:spPr>
        <p:txBody>
          <a:bodyPr wrap="square" lIns="0" tIns="0" rIns="0" bIns="0" rtlCol="0" anchor="ctr"/>
          <a:lstStyle/>
          <a:p>
            <a:pPr marL="0" indent="0">
              <a:buNone/>
            </a:pPr>
            <a:r>
              <a:rPr lang="en-US" sz="1150" b="1" dirty="0">
                <a:solidFill>
                  <a:schemeClr val="tx1"/>
                </a:solidFill>
              </a:rPr>
              <a:t>Your checklist</a:t>
            </a:r>
            <a:endParaRPr lang="en-US" sz="1150" dirty="0"/>
          </a:p>
        </p:txBody>
      </p:sp>
      <p:sp>
        <p:nvSpPr>
          <p:cNvPr id="22" name="Compare row 4 this year"/>
          <p:cNvSpPr txBox="1"/>
          <p:nvPr/>
        </p:nvSpPr>
        <p:spPr>
          <a:xfrm>
            <a:off x="2331720" y="3456432"/>
            <a:ext cx="2926080" cy="530352"/>
          </a:xfrm>
          <a:prstGeom prst="rect">
            <a:avLst/>
          </a:prstGeom>
          <a:noFill/>
          <a:ln/>
        </p:spPr>
        <p:txBody>
          <a:bodyPr wrap="square" lIns="0" tIns="0" rIns="0" bIns="0" rtlCol="0" anchor="ctr"/>
          <a:lstStyle/>
          <a:p>
            <a:pPr marL="0" indent="0">
              <a:buNone/>
            </a:pPr>
            <a:r>
              <a:rPr lang="en-US" sz="1100" dirty="0">
                <a:solidFill>
                  <a:schemeClr val="tx2"/>
                </a:solidFill>
              </a:rPr>
              <a:t>Last year’s paper list</a:t>
            </a:r>
            <a:endParaRPr lang="en-US" sz="1100" dirty="0"/>
          </a:p>
        </p:txBody>
      </p:sp>
      <p:sp>
        <p:nvSpPr>
          <p:cNvPr id="23" name="Compare row 4 next year"/>
          <p:cNvSpPr txBox="1"/>
          <p:nvPr/>
        </p:nvSpPr>
        <p:spPr>
          <a:xfrm>
            <a:off x="5577840" y="3456432"/>
            <a:ext cx="2926080" cy="530352"/>
          </a:xfrm>
          <a:prstGeom prst="rect">
            <a:avLst/>
          </a:prstGeom>
          <a:noFill/>
          <a:ln/>
        </p:spPr>
        <p:txBody>
          <a:bodyPr wrap="square" lIns="0" tIns="0" rIns="0" bIns="0" rtlCol="0" anchor="ctr"/>
          <a:lstStyle/>
          <a:p>
            <a:pPr marL="0" indent="0">
              <a:buNone/>
            </a:pPr>
            <a:r>
              <a:rPr lang="en-US" sz="1100" dirty="0">
                <a:solidFill>
                  <a:schemeClr val="tx2"/>
                </a:solidFill>
              </a:rPr>
              <a:t>Households filtered by Not started</a:t>
            </a:r>
            <a:endParaRPr lang="en-US" sz="1100" dirty="0"/>
          </a:p>
        </p:txBody>
      </p:sp>
      <p:sp>
        <p:nvSpPr>
          <p:cNvPr id="24" name="Compare row 5"/>
          <p:cNvSpPr/>
          <p:nvPr/>
        </p:nvSpPr>
        <p:spPr>
          <a:xfrm>
            <a:off x="457200" y="4059936"/>
            <a:ext cx="8229600" cy="530352"/>
          </a:xfrm>
          <a:prstGeom prst="roundRect">
            <a:avLst>
              <a:gd name="adj" fmla="val 13793"/>
            </a:avLst>
          </a:prstGeom>
          <a:solidFill>
            <a:schemeClr val="bg2"/>
          </a:solidFill>
          <a:ln/>
        </p:spPr>
      </p:sp>
      <p:sp>
        <p:nvSpPr>
          <p:cNvPr id="25" name="Compare row 5 label"/>
          <p:cNvSpPr txBox="1"/>
          <p:nvPr/>
        </p:nvSpPr>
        <p:spPr>
          <a:xfrm>
            <a:off x="594360" y="4059936"/>
            <a:ext cx="1554480" cy="530352"/>
          </a:xfrm>
          <a:prstGeom prst="rect">
            <a:avLst/>
          </a:prstGeom>
          <a:noFill/>
          <a:ln/>
        </p:spPr>
        <p:txBody>
          <a:bodyPr wrap="square" lIns="0" tIns="0" rIns="0" bIns="0" rtlCol="0" anchor="ctr"/>
          <a:lstStyle/>
          <a:p>
            <a:pPr marL="0" indent="0">
              <a:buNone/>
            </a:pPr>
            <a:r>
              <a:rPr lang="en-US" sz="1150" b="1" dirty="0">
                <a:solidFill>
                  <a:schemeClr val="tx1"/>
                </a:solidFill>
              </a:rPr>
              <a:t>Statuses</a:t>
            </a:r>
            <a:endParaRPr lang="en-US" sz="1150" dirty="0"/>
          </a:p>
        </p:txBody>
      </p:sp>
      <p:sp>
        <p:nvSpPr>
          <p:cNvPr id="26" name="Compare row 5 this year"/>
          <p:cNvSpPr txBox="1"/>
          <p:nvPr/>
        </p:nvSpPr>
        <p:spPr>
          <a:xfrm>
            <a:off x="2331720" y="4059936"/>
            <a:ext cx="2926080" cy="530352"/>
          </a:xfrm>
          <a:prstGeom prst="rect">
            <a:avLst/>
          </a:prstGeom>
          <a:noFill/>
          <a:ln/>
        </p:spPr>
        <p:txBody>
          <a:bodyPr wrap="square" lIns="0" tIns="0" rIns="0" bIns="0" rtlCol="0" anchor="ctr"/>
          <a:lstStyle/>
          <a:p>
            <a:pPr marL="0" indent="0">
              <a:buNone/>
            </a:pPr>
            <a:r>
              <a:rPr lang="en-US" sz="1100" dirty="0">
                <a:solidFill>
                  <a:schemeClr val="tx2"/>
                </a:solidFill>
              </a:rPr>
              <a:t>Active, Inactive, Left the Church</a:t>
            </a:r>
            <a:endParaRPr lang="en-US" sz="1100" dirty="0"/>
          </a:p>
        </p:txBody>
      </p:sp>
      <p:sp>
        <p:nvSpPr>
          <p:cNvPr id="27" name="Compare row 5 next year"/>
          <p:cNvSpPr txBox="1"/>
          <p:nvPr/>
        </p:nvSpPr>
        <p:spPr>
          <a:xfrm>
            <a:off x="5577840" y="4059936"/>
            <a:ext cx="2926080" cy="530352"/>
          </a:xfrm>
          <a:prstGeom prst="rect">
            <a:avLst/>
          </a:prstGeom>
          <a:noFill/>
          <a:ln/>
        </p:spPr>
        <p:txBody>
          <a:bodyPr wrap="square" lIns="0" tIns="0" rIns="0" bIns="0" rtlCol="0" anchor="ctr"/>
          <a:lstStyle/>
          <a:p>
            <a:pPr marL="0" indent="0">
              <a:buNone/>
            </a:pPr>
            <a:r>
              <a:rPr lang="en-US" sz="1100" dirty="0">
                <a:solidFill>
                  <a:schemeClr val="tx2"/>
                </a:solidFill>
              </a:rPr>
              <a:t>Also Moved away and Deceased</a:t>
            </a:r>
            <a:endParaRPr lang="en-US" sz="1100" dirty="0"/>
          </a:p>
        </p:txBody>
      </p:sp>
      <p:sp>
        <p:nvSpPr>
          <p:cNvPr id="28"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502920"/>
          </a:xfrm>
          <a:prstGeom prst="rect">
            <a:avLst/>
          </a:prstGeom>
          <a:noFill/>
          <a:ln/>
        </p:spPr>
        <p:txBody>
          <a:bodyPr wrap="square" lIns="0" tIns="0" rIns="0" bIns="0" rtlCol="0" anchor="ctr"/>
          <a:lstStyle/>
          <a:p>
            <a:pPr marL="0" indent="0" algn="l">
              <a:buNone/>
            </a:pPr>
            <a:r>
              <a:rPr lang="en-US" sz="2600" b="1" dirty="0">
                <a:solidFill>
                  <a:schemeClr val="tx1"/>
                </a:solidFill>
                <a:latin typeface="Cambria" pitchFamily="34" charset="0"/>
                <a:ea typeface="Cambria" pitchFamily="34" charset="-122"/>
                <a:cs typeface="Cambria" pitchFamily="34" charset="-120"/>
              </a:rPr>
              <a:t>Common questions</a:t>
            </a:r>
            <a:endParaRPr lang="en-US" sz="2600" dirty="0"/>
          </a:p>
        </p:txBody>
      </p:sp>
      <p:sp>
        <p:nvSpPr>
          <p:cNvPr id="3" name="FAQ 1 card"/>
          <p:cNvSpPr/>
          <p:nvPr/>
        </p:nvSpPr>
        <p:spPr>
          <a:xfrm>
            <a:off x="457200" y="1051560"/>
            <a:ext cx="4023360" cy="1097280"/>
          </a:xfrm>
          <a:prstGeom prst="roundRect">
            <a:avLst>
              <a:gd name="adj" fmla="val 6667"/>
            </a:avLst>
          </a:prstGeom>
          <a:solidFill>
            <a:schemeClr val="bg2"/>
          </a:solidFill>
          <a:ln/>
        </p:spPr>
      </p:sp>
      <p:sp>
        <p:nvSpPr>
          <p:cNvPr id="4" name="FAQ 1 circle"/>
          <p:cNvSpPr/>
          <p:nvPr/>
        </p:nvSpPr>
        <p:spPr>
          <a:xfrm>
            <a:off x="612648" y="1207008"/>
            <a:ext cx="365760" cy="365760"/>
          </a:xfrm>
          <a:prstGeom prst="ellipse">
            <a:avLst/>
          </a:prstGeom>
          <a:solidFill>
            <a:schemeClr val="accent2"/>
          </a:solidFill>
          <a:ln/>
        </p:spPr>
      </p:sp>
      <p:pic>
        <p:nvPicPr>
          <p:cNvPr id="5" name="FAQ 1 icon" descr="FAQ 1"/>
          <p:cNvPicPr>
            <a:picLocks noChangeAspect="1"/>
          </p:cNvPicPr>
          <p:nvPr/>
        </p:nvPicPr>
        <p:blipFill>
          <a:blip r:embed="rId3"/>
          <a:stretch>
            <a:fillRect/>
          </a:stretch>
        </p:blipFill>
        <p:spPr>
          <a:xfrm>
            <a:off x="700430" y="1294790"/>
            <a:ext cx="190195" cy="190195"/>
          </a:xfrm>
          <a:prstGeom prst="rect">
            <a:avLst/>
          </a:prstGeom>
        </p:spPr>
      </p:pic>
      <p:sp>
        <p:nvSpPr>
          <p:cNvPr id="6" name="FAQ 1 question"/>
          <p:cNvSpPr txBox="1"/>
          <p:nvPr/>
        </p:nvSpPr>
        <p:spPr>
          <a:xfrm>
            <a:off x="1097280" y="1207008"/>
            <a:ext cx="3246120" cy="365760"/>
          </a:xfrm>
          <a:prstGeom prst="rect">
            <a:avLst/>
          </a:prstGeom>
          <a:noFill/>
          <a:ln/>
        </p:spPr>
        <p:txBody>
          <a:bodyPr wrap="square" lIns="0" tIns="0" rIns="0" bIns="0" rtlCol="0" anchor="ctr"/>
          <a:lstStyle/>
          <a:p>
            <a:pPr marL="0" indent="0">
              <a:buNone/>
            </a:pPr>
            <a:r>
              <a:rPr lang="en-US" sz="1250" b="1" dirty="0">
                <a:solidFill>
                  <a:schemeClr val="tx1"/>
                </a:solidFill>
              </a:rPr>
              <a:t>I forgot my password.</a:t>
            </a:r>
            <a:endParaRPr lang="en-US" sz="1250" dirty="0"/>
          </a:p>
        </p:txBody>
      </p:sp>
      <p:sp>
        <p:nvSpPr>
          <p:cNvPr id="7" name="FAQ 1 answer"/>
          <p:cNvSpPr txBox="1"/>
          <p:nvPr/>
        </p:nvSpPr>
        <p:spPr>
          <a:xfrm>
            <a:off x="1097280" y="1600200"/>
            <a:ext cx="3246120" cy="502920"/>
          </a:xfrm>
          <a:prstGeom prst="rect">
            <a:avLst/>
          </a:prstGeom>
          <a:noFill/>
          <a:ln/>
        </p:spPr>
        <p:txBody>
          <a:bodyPr wrap="square" lIns="0" tIns="0" rIns="0" bIns="0" rtlCol="0" anchor="t"/>
          <a:lstStyle/>
          <a:p>
            <a:pPr marL="0" indent="0">
              <a:buNone/>
            </a:pPr>
            <a:r>
              <a:rPr lang="en-US" sz="1050" dirty="0">
                <a:solidFill>
                  <a:schemeClr val="tx2"/>
                </a:solidFill>
              </a:rPr>
              <a:t>Click “Forgot password?” on the staff sign-in page. A reset link is emailed to you.</a:t>
            </a:r>
            <a:endParaRPr lang="en-US" sz="1050" dirty="0"/>
          </a:p>
        </p:txBody>
      </p:sp>
      <p:sp>
        <p:nvSpPr>
          <p:cNvPr id="8" name="FAQ 2 card"/>
          <p:cNvSpPr/>
          <p:nvPr/>
        </p:nvSpPr>
        <p:spPr>
          <a:xfrm>
            <a:off x="4663440" y="1051560"/>
            <a:ext cx="4023360" cy="1097280"/>
          </a:xfrm>
          <a:prstGeom prst="roundRect">
            <a:avLst>
              <a:gd name="adj" fmla="val 6667"/>
            </a:avLst>
          </a:prstGeom>
          <a:solidFill>
            <a:schemeClr val="bg2"/>
          </a:solidFill>
          <a:ln/>
        </p:spPr>
      </p:sp>
      <p:sp>
        <p:nvSpPr>
          <p:cNvPr id="9" name="FAQ 2 circle"/>
          <p:cNvSpPr/>
          <p:nvPr/>
        </p:nvSpPr>
        <p:spPr>
          <a:xfrm>
            <a:off x="4818888" y="1207008"/>
            <a:ext cx="365760" cy="365760"/>
          </a:xfrm>
          <a:prstGeom prst="ellipse">
            <a:avLst/>
          </a:prstGeom>
          <a:solidFill>
            <a:schemeClr val="accent2"/>
          </a:solidFill>
          <a:ln/>
        </p:spPr>
      </p:sp>
      <p:pic>
        <p:nvPicPr>
          <p:cNvPr id="10" name="FAQ 2 icon" descr="FAQ 2"/>
          <p:cNvPicPr>
            <a:picLocks noChangeAspect="1"/>
          </p:cNvPicPr>
          <p:nvPr/>
        </p:nvPicPr>
        <p:blipFill>
          <a:blip r:embed="rId3"/>
          <a:stretch>
            <a:fillRect/>
          </a:stretch>
        </p:blipFill>
        <p:spPr>
          <a:xfrm>
            <a:off x="4906670" y="1294790"/>
            <a:ext cx="190195" cy="190195"/>
          </a:xfrm>
          <a:prstGeom prst="rect">
            <a:avLst/>
          </a:prstGeom>
        </p:spPr>
      </p:pic>
      <p:sp>
        <p:nvSpPr>
          <p:cNvPr id="11" name="FAQ 2 question"/>
          <p:cNvSpPr txBox="1"/>
          <p:nvPr/>
        </p:nvSpPr>
        <p:spPr>
          <a:xfrm>
            <a:off x="5303520" y="1207008"/>
            <a:ext cx="3246120" cy="365760"/>
          </a:xfrm>
          <a:prstGeom prst="rect">
            <a:avLst/>
          </a:prstGeom>
          <a:noFill/>
          <a:ln/>
        </p:spPr>
        <p:txBody>
          <a:bodyPr wrap="square" lIns="0" tIns="0" rIns="0" bIns="0" rtlCol="0" anchor="ctr"/>
          <a:lstStyle/>
          <a:p>
            <a:pPr marL="0" indent="0">
              <a:buNone/>
            </a:pPr>
            <a:r>
              <a:rPr lang="en-US" sz="1250" b="1" dirty="0">
                <a:solidFill>
                  <a:schemeClr val="tx1"/>
                </a:solidFill>
              </a:rPr>
              <a:t>A family lost its reference number or code.</a:t>
            </a:r>
            <a:endParaRPr lang="en-US" sz="1250" dirty="0"/>
          </a:p>
        </p:txBody>
      </p:sp>
      <p:sp>
        <p:nvSpPr>
          <p:cNvPr id="12" name="FAQ 2 answer"/>
          <p:cNvSpPr txBox="1"/>
          <p:nvPr/>
        </p:nvSpPr>
        <p:spPr>
          <a:xfrm>
            <a:off x="5303520" y="1600200"/>
            <a:ext cx="3246120" cy="502920"/>
          </a:xfrm>
          <a:prstGeom prst="rect">
            <a:avLst/>
          </a:prstGeom>
          <a:noFill/>
          <a:ln/>
        </p:spPr>
        <p:txBody>
          <a:bodyPr wrap="square" lIns="0" tIns="0" rIns="0" bIns="0" rtlCol="0" anchor="t"/>
          <a:lstStyle/>
          <a:p>
            <a:pPr marL="0" indent="0">
              <a:buNone/>
            </a:pPr>
            <a:r>
              <a:rPr lang="en-US" sz="1050" dirty="0">
                <a:solidFill>
                  <a:schemeClr val="tx2"/>
                </a:solidFill>
              </a:rPr>
              <a:t>Households → row menu → Get codes, then send it to them privately.</a:t>
            </a:r>
            <a:endParaRPr lang="en-US" sz="1050" dirty="0"/>
          </a:p>
        </p:txBody>
      </p:sp>
      <p:sp>
        <p:nvSpPr>
          <p:cNvPr id="13" name="FAQ 3 card"/>
          <p:cNvSpPr/>
          <p:nvPr/>
        </p:nvSpPr>
        <p:spPr>
          <a:xfrm>
            <a:off x="457200" y="2286000"/>
            <a:ext cx="4023360" cy="1097280"/>
          </a:xfrm>
          <a:prstGeom prst="roundRect">
            <a:avLst>
              <a:gd name="adj" fmla="val 6667"/>
            </a:avLst>
          </a:prstGeom>
          <a:solidFill>
            <a:schemeClr val="bg2"/>
          </a:solidFill>
          <a:ln/>
        </p:spPr>
      </p:sp>
      <p:sp>
        <p:nvSpPr>
          <p:cNvPr id="14" name="FAQ 3 circle"/>
          <p:cNvSpPr/>
          <p:nvPr/>
        </p:nvSpPr>
        <p:spPr>
          <a:xfrm>
            <a:off x="612648" y="2441448"/>
            <a:ext cx="365760" cy="365760"/>
          </a:xfrm>
          <a:prstGeom prst="ellipse">
            <a:avLst/>
          </a:prstGeom>
          <a:solidFill>
            <a:schemeClr val="accent2"/>
          </a:solidFill>
          <a:ln/>
        </p:spPr>
      </p:sp>
      <p:pic>
        <p:nvPicPr>
          <p:cNvPr id="15" name="FAQ 3 icon" descr="FAQ 3"/>
          <p:cNvPicPr>
            <a:picLocks noChangeAspect="1"/>
          </p:cNvPicPr>
          <p:nvPr/>
        </p:nvPicPr>
        <p:blipFill>
          <a:blip r:embed="rId3"/>
          <a:stretch>
            <a:fillRect/>
          </a:stretch>
        </p:blipFill>
        <p:spPr>
          <a:xfrm>
            <a:off x="700430" y="2529230"/>
            <a:ext cx="190195" cy="190195"/>
          </a:xfrm>
          <a:prstGeom prst="rect">
            <a:avLst/>
          </a:prstGeom>
        </p:spPr>
      </p:pic>
      <p:sp>
        <p:nvSpPr>
          <p:cNvPr id="16" name="FAQ 3 question"/>
          <p:cNvSpPr txBox="1"/>
          <p:nvPr/>
        </p:nvSpPr>
        <p:spPr>
          <a:xfrm>
            <a:off x="1097280" y="2441448"/>
            <a:ext cx="3246120" cy="365760"/>
          </a:xfrm>
          <a:prstGeom prst="rect">
            <a:avLst/>
          </a:prstGeom>
          <a:noFill/>
          <a:ln/>
        </p:spPr>
        <p:txBody>
          <a:bodyPr wrap="square" lIns="0" tIns="0" rIns="0" bIns="0" rtlCol="0" anchor="ctr"/>
          <a:lstStyle/>
          <a:p>
            <a:pPr marL="0" indent="0">
              <a:buNone/>
            </a:pPr>
            <a:r>
              <a:rPr lang="en-US" sz="1250" b="1" dirty="0">
                <a:solidFill>
                  <a:schemeClr val="tx1"/>
                </a:solidFill>
              </a:rPr>
              <a:t>A family registered twice.</a:t>
            </a:r>
            <a:endParaRPr lang="en-US" sz="1250" dirty="0"/>
          </a:p>
        </p:txBody>
      </p:sp>
      <p:sp>
        <p:nvSpPr>
          <p:cNvPr id="17" name="FAQ 3 answer"/>
          <p:cNvSpPr txBox="1"/>
          <p:nvPr/>
        </p:nvSpPr>
        <p:spPr>
          <a:xfrm>
            <a:off x="1097280" y="2834640"/>
            <a:ext cx="3246120" cy="502920"/>
          </a:xfrm>
          <a:prstGeom prst="rect">
            <a:avLst/>
          </a:prstGeom>
          <a:noFill/>
          <a:ln/>
        </p:spPr>
        <p:txBody>
          <a:bodyPr wrap="square" lIns="0" tIns="0" rIns="0" bIns="0" rtlCol="0" anchor="t"/>
          <a:lstStyle/>
          <a:p>
            <a:pPr marL="0" indent="0">
              <a:buNone/>
            </a:pPr>
            <a:r>
              <a:rPr lang="en-US" sz="1050" dirty="0">
                <a:solidFill>
                  <a:schemeClr val="tx2"/>
                </a:solidFill>
              </a:rPr>
              <a:t>Check Settings → Duplicates and tell the parish office. Leaders can’t delete records.</a:t>
            </a:r>
            <a:endParaRPr lang="en-US" sz="1050" dirty="0"/>
          </a:p>
        </p:txBody>
      </p:sp>
      <p:sp>
        <p:nvSpPr>
          <p:cNvPr id="18" name="FAQ 4 card"/>
          <p:cNvSpPr/>
          <p:nvPr/>
        </p:nvSpPr>
        <p:spPr>
          <a:xfrm>
            <a:off x="4663440" y="2286000"/>
            <a:ext cx="4023360" cy="1097280"/>
          </a:xfrm>
          <a:prstGeom prst="roundRect">
            <a:avLst>
              <a:gd name="adj" fmla="val 6667"/>
            </a:avLst>
          </a:prstGeom>
          <a:solidFill>
            <a:schemeClr val="bg2"/>
          </a:solidFill>
          <a:ln/>
        </p:spPr>
      </p:sp>
      <p:sp>
        <p:nvSpPr>
          <p:cNvPr id="19" name="FAQ 4 circle"/>
          <p:cNvSpPr/>
          <p:nvPr/>
        </p:nvSpPr>
        <p:spPr>
          <a:xfrm>
            <a:off x="4818888" y="2441448"/>
            <a:ext cx="365760" cy="365760"/>
          </a:xfrm>
          <a:prstGeom prst="ellipse">
            <a:avLst/>
          </a:prstGeom>
          <a:solidFill>
            <a:schemeClr val="accent2"/>
          </a:solidFill>
          <a:ln/>
        </p:spPr>
      </p:sp>
      <p:pic>
        <p:nvPicPr>
          <p:cNvPr id="20" name="FAQ 4 icon" descr="FAQ 4"/>
          <p:cNvPicPr>
            <a:picLocks noChangeAspect="1"/>
          </p:cNvPicPr>
          <p:nvPr/>
        </p:nvPicPr>
        <p:blipFill>
          <a:blip r:embed="rId3"/>
          <a:stretch>
            <a:fillRect/>
          </a:stretch>
        </p:blipFill>
        <p:spPr>
          <a:xfrm>
            <a:off x="4906670" y="2529230"/>
            <a:ext cx="190195" cy="190195"/>
          </a:xfrm>
          <a:prstGeom prst="rect">
            <a:avLst/>
          </a:prstGeom>
        </p:spPr>
      </p:pic>
      <p:sp>
        <p:nvSpPr>
          <p:cNvPr id="21" name="FAQ 4 question"/>
          <p:cNvSpPr txBox="1"/>
          <p:nvPr/>
        </p:nvSpPr>
        <p:spPr>
          <a:xfrm>
            <a:off x="5303520" y="2441448"/>
            <a:ext cx="3246120" cy="365760"/>
          </a:xfrm>
          <a:prstGeom prst="rect">
            <a:avLst/>
          </a:prstGeom>
          <a:noFill/>
          <a:ln/>
        </p:spPr>
        <p:txBody>
          <a:bodyPr wrap="square" lIns="0" tIns="0" rIns="0" bIns="0" rtlCol="0" anchor="ctr"/>
          <a:lstStyle/>
          <a:p>
            <a:pPr marL="0" indent="0">
              <a:buNone/>
            </a:pPr>
            <a:r>
              <a:rPr lang="en-US" sz="1250" b="1" dirty="0">
                <a:solidFill>
                  <a:schemeClr val="tx1"/>
                </a:solidFill>
              </a:rPr>
              <a:t>A family picked the wrong GKK.</a:t>
            </a:r>
            <a:endParaRPr lang="en-US" sz="1250" dirty="0"/>
          </a:p>
        </p:txBody>
      </p:sp>
      <p:sp>
        <p:nvSpPr>
          <p:cNvPr id="22" name="FAQ 4 answer"/>
          <p:cNvSpPr txBox="1"/>
          <p:nvPr/>
        </p:nvSpPr>
        <p:spPr>
          <a:xfrm>
            <a:off x="5303520" y="2834640"/>
            <a:ext cx="3246120" cy="502920"/>
          </a:xfrm>
          <a:prstGeom prst="rect">
            <a:avLst/>
          </a:prstGeom>
          <a:noFill/>
          <a:ln/>
        </p:spPr>
        <p:txBody>
          <a:bodyPr wrap="square" lIns="0" tIns="0" rIns="0" bIns="0" rtlCol="0" anchor="t"/>
          <a:lstStyle/>
          <a:p>
            <a:pPr marL="0" indent="0">
              <a:buNone/>
            </a:pPr>
            <a:r>
              <a:rPr lang="en-US" sz="1050" dirty="0">
                <a:solidFill>
                  <a:schemeClr val="tx2"/>
                </a:solidFill>
              </a:rPr>
              <a:t>Ask the parish office to move the household to the right GKK.</a:t>
            </a:r>
            <a:endParaRPr lang="en-US" sz="1050" dirty="0"/>
          </a:p>
        </p:txBody>
      </p:sp>
      <p:sp>
        <p:nvSpPr>
          <p:cNvPr id="23" name="FAQ 5 card"/>
          <p:cNvSpPr/>
          <p:nvPr/>
        </p:nvSpPr>
        <p:spPr>
          <a:xfrm>
            <a:off x="457200" y="3520440"/>
            <a:ext cx="4023360" cy="1097280"/>
          </a:xfrm>
          <a:prstGeom prst="roundRect">
            <a:avLst>
              <a:gd name="adj" fmla="val 6667"/>
            </a:avLst>
          </a:prstGeom>
          <a:solidFill>
            <a:schemeClr val="bg2"/>
          </a:solidFill>
          <a:ln/>
        </p:spPr>
      </p:sp>
      <p:sp>
        <p:nvSpPr>
          <p:cNvPr id="24" name="FAQ 5 circle"/>
          <p:cNvSpPr/>
          <p:nvPr/>
        </p:nvSpPr>
        <p:spPr>
          <a:xfrm>
            <a:off x="612648" y="3675888"/>
            <a:ext cx="365760" cy="365760"/>
          </a:xfrm>
          <a:prstGeom prst="ellipse">
            <a:avLst/>
          </a:prstGeom>
          <a:solidFill>
            <a:schemeClr val="accent2"/>
          </a:solidFill>
          <a:ln/>
        </p:spPr>
      </p:sp>
      <p:pic>
        <p:nvPicPr>
          <p:cNvPr id="25" name="FAQ 5 icon" descr="FAQ 5"/>
          <p:cNvPicPr>
            <a:picLocks noChangeAspect="1"/>
          </p:cNvPicPr>
          <p:nvPr/>
        </p:nvPicPr>
        <p:blipFill>
          <a:blip r:embed="rId3"/>
          <a:stretch>
            <a:fillRect/>
          </a:stretch>
        </p:blipFill>
        <p:spPr>
          <a:xfrm>
            <a:off x="700430" y="3763670"/>
            <a:ext cx="190195" cy="190195"/>
          </a:xfrm>
          <a:prstGeom prst="rect">
            <a:avLst/>
          </a:prstGeom>
        </p:spPr>
      </p:pic>
      <p:sp>
        <p:nvSpPr>
          <p:cNvPr id="26" name="FAQ 5 question"/>
          <p:cNvSpPr txBox="1"/>
          <p:nvPr/>
        </p:nvSpPr>
        <p:spPr>
          <a:xfrm>
            <a:off x="1097280" y="3675888"/>
            <a:ext cx="3246120" cy="365760"/>
          </a:xfrm>
          <a:prstGeom prst="rect">
            <a:avLst/>
          </a:prstGeom>
          <a:noFill/>
          <a:ln/>
        </p:spPr>
        <p:txBody>
          <a:bodyPr wrap="square" lIns="0" tIns="0" rIns="0" bIns="0" rtlCol="0" anchor="ctr"/>
          <a:lstStyle/>
          <a:p>
            <a:pPr marL="0" indent="0">
              <a:buNone/>
            </a:pPr>
            <a:r>
              <a:rPr lang="en-US" sz="1250" b="1" dirty="0">
                <a:solidFill>
                  <a:schemeClr val="tx1"/>
                </a:solidFill>
              </a:rPr>
              <a:t>Two families live in one house.</a:t>
            </a:r>
            <a:endParaRPr lang="en-US" sz="1250" dirty="0"/>
          </a:p>
        </p:txBody>
      </p:sp>
      <p:sp>
        <p:nvSpPr>
          <p:cNvPr id="27" name="FAQ 5 answer"/>
          <p:cNvSpPr txBox="1"/>
          <p:nvPr/>
        </p:nvSpPr>
        <p:spPr>
          <a:xfrm>
            <a:off x="1097280" y="4069080"/>
            <a:ext cx="3246120" cy="502920"/>
          </a:xfrm>
          <a:prstGeom prst="rect">
            <a:avLst/>
          </a:prstGeom>
          <a:noFill/>
          <a:ln/>
        </p:spPr>
        <p:txBody>
          <a:bodyPr wrap="square" lIns="0" tIns="0" rIns="0" bIns="0" rtlCol="0" anchor="t"/>
          <a:lstStyle/>
          <a:p>
            <a:pPr marL="0" indent="0">
              <a:buNone/>
            </a:pPr>
            <a:r>
              <a:rPr lang="en-US" sz="1050" dirty="0">
                <a:solidFill>
                  <a:schemeClr val="tx2"/>
                </a:solidFill>
              </a:rPr>
              <a:t>The second family chooses “Moipon sa narehistro nang balay” with the house’s number and code.</a:t>
            </a:r>
            <a:endParaRPr lang="en-US" sz="1050" dirty="0"/>
          </a:p>
        </p:txBody>
      </p:sp>
      <p:sp>
        <p:nvSpPr>
          <p:cNvPr id="28" name="FAQ 6 card"/>
          <p:cNvSpPr/>
          <p:nvPr/>
        </p:nvSpPr>
        <p:spPr>
          <a:xfrm>
            <a:off x="4663440" y="3520440"/>
            <a:ext cx="4023360" cy="1097280"/>
          </a:xfrm>
          <a:prstGeom prst="roundRect">
            <a:avLst>
              <a:gd name="adj" fmla="val 6667"/>
            </a:avLst>
          </a:prstGeom>
          <a:solidFill>
            <a:schemeClr val="bg2"/>
          </a:solidFill>
          <a:ln/>
        </p:spPr>
      </p:sp>
      <p:sp>
        <p:nvSpPr>
          <p:cNvPr id="29" name="FAQ 6 circle"/>
          <p:cNvSpPr/>
          <p:nvPr/>
        </p:nvSpPr>
        <p:spPr>
          <a:xfrm>
            <a:off x="4818888" y="3675888"/>
            <a:ext cx="365760" cy="365760"/>
          </a:xfrm>
          <a:prstGeom prst="ellipse">
            <a:avLst/>
          </a:prstGeom>
          <a:solidFill>
            <a:schemeClr val="accent2"/>
          </a:solidFill>
          <a:ln/>
        </p:spPr>
      </p:sp>
      <p:pic>
        <p:nvPicPr>
          <p:cNvPr id="30" name="FAQ 6 icon" descr="FAQ 6"/>
          <p:cNvPicPr>
            <a:picLocks noChangeAspect="1"/>
          </p:cNvPicPr>
          <p:nvPr/>
        </p:nvPicPr>
        <p:blipFill>
          <a:blip r:embed="rId3"/>
          <a:stretch>
            <a:fillRect/>
          </a:stretch>
        </p:blipFill>
        <p:spPr>
          <a:xfrm>
            <a:off x="4906670" y="3763670"/>
            <a:ext cx="190195" cy="190195"/>
          </a:xfrm>
          <a:prstGeom prst="rect">
            <a:avLst/>
          </a:prstGeom>
        </p:spPr>
      </p:pic>
      <p:sp>
        <p:nvSpPr>
          <p:cNvPr id="31" name="FAQ 6 question"/>
          <p:cNvSpPr txBox="1"/>
          <p:nvPr/>
        </p:nvSpPr>
        <p:spPr>
          <a:xfrm>
            <a:off x="5303520" y="3675888"/>
            <a:ext cx="3246120" cy="365760"/>
          </a:xfrm>
          <a:prstGeom prst="rect">
            <a:avLst/>
          </a:prstGeom>
          <a:noFill/>
          <a:ln/>
        </p:spPr>
        <p:txBody>
          <a:bodyPr wrap="square" lIns="0" tIns="0" rIns="0" bIns="0" rtlCol="0" anchor="ctr"/>
          <a:lstStyle/>
          <a:p>
            <a:pPr marL="0" indent="0">
              <a:buNone/>
            </a:pPr>
            <a:r>
              <a:rPr lang="en-US" sz="1250" b="1" dirty="0">
                <a:solidFill>
                  <a:schemeClr val="tx1"/>
                </a:solidFill>
              </a:rPr>
              <a:t>A family has no phone.</a:t>
            </a:r>
            <a:endParaRPr lang="en-US" sz="1250" dirty="0"/>
          </a:p>
        </p:txBody>
      </p:sp>
      <p:sp>
        <p:nvSpPr>
          <p:cNvPr id="32" name="FAQ 6 answer"/>
          <p:cNvSpPr txBox="1"/>
          <p:nvPr/>
        </p:nvSpPr>
        <p:spPr>
          <a:xfrm>
            <a:off x="5303520" y="4069080"/>
            <a:ext cx="3246120" cy="502920"/>
          </a:xfrm>
          <a:prstGeom prst="rect">
            <a:avLst/>
          </a:prstGeom>
          <a:noFill/>
          <a:ln/>
        </p:spPr>
        <p:txBody>
          <a:bodyPr wrap="square" lIns="0" tIns="0" rIns="0" bIns="0" rtlCol="0" anchor="t"/>
          <a:lstStyle/>
          <a:p>
            <a:pPr marL="0" indent="0">
              <a:buNone/>
            </a:pPr>
            <a:r>
              <a:rPr lang="en-US" sz="1050" dirty="0">
                <a:solidFill>
                  <a:schemeClr val="tx2"/>
                </a:solidFill>
              </a:rPr>
              <a:t>Register them on your phone, or with Households → New Household.</a:t>
            </a:r>
            <a:endParaRPr lang="en-US" sz="1050" dirty="0"/>
          </a:p>
        </p:txBody>
      </p:sp>
      <p:sp>
        <p:nvSpPr>
          <p:cNvPr id="33"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tx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320040"/>
            <a:ext cx="8229600" cy="548640"/>
          </a:xfrm>
          <a:prstGeom prst="rect">
            <a:avLst/>
          </a:prstGeom>
          <a:noFill/>
          <a:ln/>
        </p:spPr>
        <p:txBody>
          <a:bodyPr wrap="square" lIns="0" tIns="0" rIns="0" bIns="0" rtlCol="0" anchor="ctr"/>
          <a:lstStyle/>
          <a:p>
            <a:pPr marL="0" indent="0" algn="l">
              <a:buNone/>
            </a:pPr>
            <a:r>
              <a:rPr lang="en-US" sz="2800" b="1" dirty="0">
                <a:solidFill>
                  <a:schemeClr val="bg1"/>
                </a:solidFill>
                <a:latin typeface="Cambria" pitchFamily="34" charset="0"/>
                <a:ea typeface="Cambria" pitchFamily="34" charset="-122"/>
                <a:cs typeface="Cambria" pitchFamily="34" charset="-120"/>
              </a:rPr>
              <a:t>Your census checklist</a:t>
            </a:r>
            <a:endParaRPr lang="en-US" sz="2800" dirty="0"/>
          </a:p>
        </p:txBody>
      </p:sp>
      <p:sp>
        <p:nvSpPr>
          <p:cNvPr id="3" name="Before column"/>
          <p:cNvSpPr/>
          <p:nvPr/>
        </p:nvSpPr>
        <p:spPr>
          <a:xfrm>
            <a:off x="457200" y="1097280"/>
            <a:ext cx="2615184" cy="3246120"/>
          </a:xfrm>
          <a:prstGeom prst="roundRect">
            <a:avLst>
              <a:gd name="adj" fmla="val 2797"/>
            </a:avLst>
          </a:prstGeom>
          <a:solidFill>
            <a:schemeClr val="bg1">
              <a:alpha val="8000"/>
            </a:schemeClr>
          </a:solidFill>
          <a:ln/>
        </p:spPr>
      </p:sp>
      <p:sp>
        <p:nvSpPr>
          <p:cNvPr id="4" name="Before heading"/>
          <p:cNvSpPr txBox="1"/>
          <p:nvPr/>
        </p:nvSpPr>
        <p:spPr>
          <a:xfrm>
            <a:off x="685800" y="1234440"/>
            <a:ext cx="2194560" cy="365760"/>
          </a:xfrm>
          <a:prstGeom prst="rect">
            <a:avLst/>
          </a:prstGeom>
          <a:noFill/>
          <a:ln/>
        </p:spPr>
        <p:txBody>
          <a:bodyPr wrap="square" lIns="0" tIns="0" rIns="0" bIns="0" rtlCol="0" anchor="t"/>
          <a:lstStyle/>
          <a:p>
            <a:pPr marL="0" indent="0">
              <a:buNone/>
            </a:pPr>
            <a:r>
              <a:rPr lang="en-US" sz="1800" b="1" dirty="0">
                <a:solidFill>
                  <a:schemeClr val="accent6"/>
                </a:solidFill>
                <a:latin typeface="Cambria" pitchFamily="34" charset="0"/>
                <a:ea typeface="Cambria" pitchFamily="34" charset="-122"/>
                <a:cs typeface="Cambria" pitchFamily="34" charset="-120"/>
              </a:rPr>
              <a:t>Before</a:t>
            </a:r>
            <a:endParaRPr lang="en-US" sz="1800" dirty="0"/>
          </a:p>
        </p:txBody>
      </p:sp>
      <p:pic>
        <p:nvPicPr>
          <p:cNvPr id="5" name="Before item 1 check" descr="preencoded.png"/>
          <p:cNvPicPr>
            <a:picLocks noChangeAspect="1"/>
          </p:cNvPicPr>
          <p:nvPr/>
        </p:nvPicPr>
        <p:blipFill>
          <a:blip r:embed="rId3"/>
          <a:stretch>
            <a:fillRect/>
          </a:stretch>
        </p:blipFill>
        <p:spPr>
          <a:xfrm>
            <a:off x="685800" y="1746504"/>
            <a:ext cx="201168" cy="201168"/>
          </a:xfrm>
          <a:prstGeom prst="rect">
            <a:avLst/>
          </a:prstGeom>
        </p:spPr>
      </p:pic>
      <p:sp>
        <p:nvSpPr>
          <p:cNvPr id="6" name="Before item 1"/>
          <p:cNvSpPr txBox="1"/>
          <p:nvPr/>
        </p:nvSpPr>
        <p:spPr>
          <a:xfrm>
            <a:off x="1005840" y="1737360"/>
            <a:ext cx="1920240" cy="475488"/>
          </a:xfrm>
          <a:prstGeom prst="rect">
            <a:avLst/>
          </a:prstGeom>
          <a:noFill/>
          <a:ln/>
        </p:spPr>
        <p:txBody>
          <a:bodyPr wrap="square" lIns="0" tIns="0" rIns="0" bIns="0" rtlCol="0" anchor="t"/>
          <a:lstStyle/>
          <a:p>
            <a:pPr marL="0" indent="0">
              <a:buNone/>
            </a:pPr>
            <a:r>
              <a:rPr lang="en-US" sz="1200" dirty="0">
                <a:solidFill>
                  <a:schemeClr val="bg1"/>
                </a:solidFill>
              </a:rPr>
              <a:t>Set your own password</a:t>
            </a:r>
            <a:endParaRPr lang="en-US" sz="1200" dirty="0"/>
          </a:p>
        </p:txBody>
      </p:sp>
      <p:pic>
        <p:nvPicPr>
          <p:cNvPr id="7" name="Before item 2 check" descr="preencoded.png"/>
          <p:cNvPicPr>
            <a:picLocks noChangeAspect="1"/>
          </p:cNvPicPr>
          <p:nvPr/>
        </p:nvPicPr>
        <p:blipFill>
          <a:blip r:embed="rId3"/>
          <a:stretch>
            <a:fillRect/>
          </a:stretch>
        </p:blipFill>
        <p:spPr>
          <a:xfrm>
            <a:off x="685800" y="2258568"/>
            <a:ext cx="201168" cy="201168"/>
          </a:xfrm>
          <a:prstGeom prst="rect">
            <a:avLst/>
          </a:prstGeom>
        </p:spPr>
      </p:pic>
      <p:sp>
        <p:nvSpPr>
          <p:cNvPr id="8" name="Before item 2"/>
          <p:cNvSpPr txBox="1"/>
          <p:nvPr/>
        </p:nvSpPr>
        <p:spPr>
          <a:xfrm>
            <a:off x="1005840" y="2249424"/>
            <a:ext cx="1920240" cy="475488"/>
          </a:xfrm>
          <a:prstGeom prst="rect">
            <a:avLst/>
          </a:prstGeom>
          <a:noFill/>
          <a:ln/>
        </p:spPr>
        <p:txBody>
          <a:bodyPr wrap="square" lIns="0" tIns="0" rIns="0" bIns="0" rtlCol="0" anchor="t"/>
          <a:lstStyle/>
          <a:p>
            <a:pPr marL="0" indent="0">
              <a:buNone/>
            </a:pPr>
            <a:r>
              <a:rPr lang="en-US" sz="1200" dirty="0">
                <a:solidFill>
                  <a:schemeClr val="bg1"/>
                </a:solidFill>
              </a:rPr>
              <a:t>Complete My GKK details</a:t>
            </a:r>
            <a:endParaRPr lang="en-US" sz="1200" dirty="0"/>
          </a:p>
        </p:txBody>
      </p:sp>
      <p:pic>
        <p:nvPicPr>
          <p:cNvPr id="9" name="Before item 3 check" descr="preencoded.png"/>
          <p:cNvPicPr>
            <a:picLocks noChangeAspect="1"/>
          </p:cNvPicPr>
          <p:nvPr/>
        </p:nvPicPr>
        <p:blipFill>
          <a:blip r:embed="rId3"/>
          <a:stretch>
            <a:fillRect/>
          </a:stretch>
        </p:blipFill>
        <p:spPr>
          <a:xfrm>
            <a:off x="685800" y="2770632"/>
            <a:ext cx="201168" cy="201168"/>
          </a:xfrm>
          <a:prstGeom prst="rect">
            <a:avLst/>
          </a:prstGeom>
        </p:spPr>
      </p:pic>
      <p:sp>
        <p:nvSpPr>
          <p:cNvPr id="10" name="Before item 3"/>
          <p:cNvSpPr txBox="1"/>
          <p:nvPr/>
        </p:nvSpPr>
        <p:spPr>
          <a:xfrm>
            <a:off x="1005840" y="2761488"/>
            <a:ext cx="1920240" cy="475488"/>
          </a:xfrm>
          <a:prstGeom prst="rect">
            <a:avLst/>
          </a:prstGeom>
          <a:noFill/>
          <a:ln/>
        </p:spPr>
        <p:txBody>
          <a:bodyPr wrap="square" lIns="0" tIns="0" rIns="0" bIns="0" rtlCol="0" anchor="t"/>
          <a:lstStyle/>
          <a:p>
            <a:pPr marL="0" indent="0">
              <a:buNone/>
            </a:pPr>
            <a:r>
              <a:rPr lang="en-US" sz="1200" dirty="0">
                <a:solidFill>
                  <a:schemeClr val="bg1"/>
                </a:solidFill>
              </a:rPr>
              <a:t>Register your own family</a:t>
            </a:r>
            <a:endParaRPr lang="en-US" sz="1200" dirty="0"/>
          </a:p>
        </p:txBody>
      </p:sp>
      <p:pic>
        <p:nvPicPr>
          <p:cNvPr id="11" name="Before item 4 check" descr="preencoded.png"/>
          <p:cNvPicPr>
            <a:picLocks noChangeAspect="1"/>
          </p:cNvPicPr>
          <p:nvPr/>
        </p:nvPicPr>
        <p:blipFill>
          <a:blip r:embed="rId3"/>
          <a:stretch>
            <a:fillRect/>
          </a:stretch>
        </p:blipFill>
        <p:spPr>
          <a:xfrm>
            <a:off x="685800" y="3282696"/>
            <a:ext cx="201168" cy="201168"/>
          </a:xfrm>
          <a:prstGeom prst="rect">
            <a:avLst/>
          </a:prstGeom>
        </p:spPr>
      </p:pic>
      <p:sp>
        <p:nvSpPr>
          <p:cNvPr id="12" name="Before item 4"/>
          <p:cNvSpPr txBox="1"/>
          <p:nvPr/>
        </p:nvSpPr>
        <p:spPr>
          <a:xfrm>
            <a:off x="1005840" y="3273552"/>
            <a:ext cx="1920240" cy="475488"/>
          </a:xfrm>
          <a:prstGeom prst="rect">
            <a:avLst/>
          </a:prstGeom>
          <a:noFill/>
          <a:ln/>
        </p:spPr>
        <p:txBody>
          <a:bodyPr wrap="square" lIns="0" tIns="0" rIns="0" bIns="0" rtlCol="0" anchor="t"/>
          <a:lstStyle/>
          <a:p>
            <a:pPr marL="0" indent="0">
              <a:buNone/>
            </a:pPr>
            <a:r>
              <a:rPr lang="en-US" sz="1200" dirty="0">
                <a:solidFill>
                  <a:schemeClr val="bg1"/>
                </a:solidFill>
              </a:rPr>
              <a:t>Load last year’s list</a:t>
            </a:r>
            <a:endParaRPr lang="en-US" sz="1200" dirty="0"/>
          </a:p>
        </p:txBody>
      </p:sp>
      <p:pic>
        <p:nvPicPr>
          <p:cNvPr id="13" name="Before item 5 check" descr="preencoded.png"/>
          <p:cNvPicPr>
            <a:picLocks noChangeAspect="1"/>
          </p:cNvPicPr>
          <p:nvPr/>
        </p:nvPicPr>
        <p:blipFill>
          <a:blip r:embed="rId3"/>
          <a:stretch>
            <a:fillRect/>
          </a:stretch>
        </p:blipFill>
        <p:spPr>
          <a:xfrm>
            <a:off x="685800" y="3794760"/>
            <a:ext cx="201168" cy="201168"/>
          </a:xfrm>
          <a:prstGeom prst="rect">
            <a:avLst/>
          </a:prstGeom>
        </p:spPr>
      </p:pic>
      <p:sp>
        <p:nvSpPr>
          <p:cNvPr id="14" name="Before item 5"/>
          <p:cNvSpPr txBox="1"/>
          <p:nvPr/>
        </p:nvSpPr>
        <p:spPr>
          <a:xfrm>
            <a:off x="1005840" y="3785616"/>
            <a:ext cx="1920240" cy="475488"/>
          </a:xfrm>
          <a:prstGeom prst="rect">
            <a:avLst/>
          </a:prstGeom>
          <a:noFill/>
          <a:ln/>
        </p:spPr>
        <p:txBody>
          <a:bodyPr wrap="square" lIns="0" tIns="0" rIns="0" bIns="0" rtlCol="0" anchor="t"/>
          <a:lstStyle/>
          <a:p>
            <a:pPr marL="0" indent="0">
              <a:buNone/>
            </a:pPr>
            <a:r>
              <a:rPr lang="en-US" sz="1200" dirty="0">
                <a:solidFill>
                  <a:schemeClr val="bg1"/>
                </a:solidFill>
              </a:rPr>
              <a:t>Turn on notifications</a:t>
            </a:r>
            <a:endParaRPr lang="en-US" sz="1200" dirty="0"/>
          </a:p>
        </p:txBody>
      </p:sp>
      <p:sp>
        <p:nvSpPr>
          <p:cNvPr id="15" name="During column"/>
          <p:cNvSpPr/>
          <p:nvPr/>
        </p:nvSpPr>
        <p:spPr>
          <a:xfrm>
            <a:off x="3264408" y="1097280"/>
            <a:ext cx="2615184" cy="3246120"/>
          </a:xfrm>
          <a:prstGeom prst="roundRect">
            <a:avLst>
              <a:gd name="adj" fmla="val 2797"/>
            </a:avLst>
          </a:prstGeom>
          <a:solidFill>
            <a:schemeClr val="bg1">
              <a:alpha val="8000"/>
            </a:schemeClr>
          </a:solidFill>
          <a:ln/>
        </p:spPr>
      </p:sp>
      <p:sp>
        <p:nvSpPr>
          <p:cNvPr id="16" name="During heading"/>
          <p:cNvSpPr txBox="1"/>
          <p:nvPr/>
        </p:nvSpPr>
        <p:spPr>
          <a:xfrm>
            <a:off x="3493008" y="1234440"/>
            <a:ext cx="2194560" cy="365760"/>
          </a:xfrm>
          <a:prstGeom prst="rect">
            <a:avLst/>
          </a:prstGeom>
          <a:noFill/>
          <a:ln/>
        </p:spPr>
        <p:txBody>
          <a:bodyPr wrap="square" lIns="0" tIns="0" rIns="0" bIns="0" rtlCol="0" anchor="t"/>
          <a:lstStyle/>
          <a:p>
            <a:pPr marL="0" indent="0">
              <a:buNone/>
            </a:pPr>
            <a:r>
              <a:rPr lang="en-US" sz="1800" b="1" dirty="0">
                <a:solidFill>
                  <a:schemeClr val="accent6"/>
                </a:solidFill>
                <a:latin typeface="Cambria" pitchFamily="34" charset="0"/>
                <a:ea typeface="Cambria" pitchFamily="34" charset="-122"/>
                <a:cs typeface="Cambria" pitchFamily="34" charset="-120"/>
              </a:rPr>
              <a:t>During</a:t>
            </a:r>
            <a:endParaRPr lang="en-US" sz="1800" dirty="0"/>
          </a:p>
        </p:txBody>
      </p:sp>
      <p:pic>
        <p:nvPicPr>
          <p:cNvPr id="17" name="During item 1 check" descr="preencoded.png"/>
          <p:cNvPicPr>
            <a:picLocks noChangeAspect="1"/>
          </p:cNvPicPr>
          <p:nvPr/>
        </p:nvPicPr>
        <p:blipFill>
          <a:blip r:embed="rId3"/>
          <a:stretch>
            <a:fillRect/>
          </a:stretch>
        </p:blipFill>
        <p:spPr>
          <a:xfrm>
            <a:off x="3493008" y="1746504"/>
            <a:ext cx="201168" cy="201168"/>
          </a:xfrm>
          <a:prstGeom prst="rect">
            <a:avLst/>
          </a:prstGeom>
        </p:spPr>
      </p:pic>
      <p:sp>
        <p:nvSpPr>
          <p:cNvPr id="18" name="During item 1"/>
          <p:cNvSpPr txBox="1"/>
          <p:nvPr/>
        </p:nvSpPr>
        <p:spPr>
          <a:xfrm>
            <a:off x="3813048" y="1737360"/>
            <a:ext cx="1920240" cy="475488"/>
          </a:xfrm>
          <a:prstGeom prst="rect">
            <a:avLst/>
          </a:prstGeom>
          <a:noFill/>
          <a:ln/>
        </p:spPr>
        <p:txBody>
          <a:bodyPr wrap="square" lIns="0" tIns="0" rIns="0" bIns="0" rtlCol="0" anchor="t"/>
          <a:lstStyle/>
          <a:p>
            <a:pPr marL="0" indent="0">
              <a:buNone/>
            </a:pPr>
            <a:r>
              <a:rPr lang="en-US" sz="1200" dirty="0">
                <a:solidFill>
                  <a:schemeClr val="bg1"/>
                </a:solidFill>
              </a:rPr>
              <a:t>Invite every family to register</a:t>
            </a:r>
            <a:endParaRPr lang="en-US" sz="1200" dirty="0"/>
          </a:p>
        </p:txBody>
      </p:sp>
      <p:pic>
        <p:nvPicPr>
          <p:cNvPr id="19" name="During item 2 check" descr="preencoded.png"/>
          <p:cNvPicPr>
            <a:picLocks noChangeAspect="1"/>
          </p:cNvPicPr>
          <p:nvPr/>
        </p:nvPicPr>
        <p:blipFill>
          <a:blip r:embed="rId3"/>
          <a:stretch>
            <a:fillRect/>
          </a:stretch>
        </p:blipFill>
        <p:spPr>
          <a:xfrm>
            <a:off x="3493008" y="2258568"/>
            <a:ext cx="201168" cy="201168"/>
          </a:xfrm>
          <a:prstGeom prst="rect">
            <a:avLst/>
          </a:prstGeom>
        </p:spPr>
      </p:pic>
      <p:sp>
        <p:nvSpPr>
          <p:cNvPr id="20" name="During item 2"/>
          <p:cNvSpPr txBox="1"/>
          <p:nvPr/>
        </p:nvSpPr>
        <p:spPr>
          <a:xfrm>
            <a:off x="3813048" y="2249424"/>
            <a:ext cx="1920240" cy="475488"/>
          </a:xfrm>
          <a:prstGeom prst="rect">
            <a:avLst/>
          </a:prstGeom>
          <a:noFill/>
          <a:ln/>
        </p:spPr>
        <p:txBody>
          <a:bodyPr wrap="square" lIns="0" tIns="0" rIns="0" bIns="0" rtlCol="0" anchor="t"/>
          <a:lstStyle/>
          <a:p>
            <a:pPr marL="0" indent="0">
              <a:buNone/>
            </a:pPr>
            <a:r>
              <a:rPr lang="en-US" sz="1200" dirty="0">
                <a:solidFill>
                  <a:schemeClr val="bg1"/>
                </a:solidFill>
              </a:rPr>
              <a:t>Check new registrations</a:t>
            </a:r>
            <a:endParaRPr lang="en-US" sz="1200" dirty="0"/>
          </a:p>
        </p:txBody>
      </p:sp>
      <p:pic>
        <p:nvPicPr>
          <p:cNvPr id="21" name="During item 3 check" descr="preencoded.png"/>
          <p:cNvPicPr>
            <a:picLocks noChangeAspect="1"/>
          </p:cNvPicPr>
          <p:nvPr/>
        </p:nvPicPr>
        <p:blipFill>
          <a:blip r:embed="rId3"/>
          <a:stretch>
            <a:fillRect/>
          </a:stretch>
        </p:blipFill>
        <p:spPr>
          <a:xfrm>
            <a:off x="3493008" y="2770632"/>
            <a:ext cx="201168" cy="201168"/>
          </a:xfrm>
          <a:prstGeom prst="rect">
            <a:avLst/>
          </a:prstGeom>
        </p:spPr>
      </p:pic>
      <p:sp>
        <p:nvSpPr>
          <p:cNvPr id="22" name="During item 3"/>
          <p:cNvSpPr txBox="1"/>
          <p:nvPr/>
        </p:nvSpPr>
        <p:spPr>
          <a:xfrm>
            <a:off x="3813048" y="2761488"/>
            <a:ext cx="1920240" cy="475488"/>
          </a:xfrm>
          <a:prstGeom prst="rect">
            <a:avLst/>
          </a:prstGeom>
          <a:noFill/>
          <a:ln/>
        </p:spPr>
        <p:txBody>
          <a:bodyPr wrap="square" lIns="0" tIns="0" rIns="0" bIns="0" rtlCol="0" anchor="t"/>
          <a:lstStyle/>
          <a:p>
            <a:pPr marL="0" indent="0">
              <a:buNone/>
            </a:pPr>
            <a:r>
              <a:rPr lang="en-US" sz="1200" dirty="0">
                <a:solidFill>
                  <a:schemeClr val="bg1"/>
                </a:solidFill>
              </a:rPr>
              <a:t>Help families without a phone</a:t>
            </a:r>
            <a:endParaRPr lang="en-US" sz="1200" dirty="0"/>
          </a:p>
        </p:txBody>
      </p:sp>
      <p:pic>
        <p:nvPicPr>
          <p:cNvPr id="23" name="During item 4 check" descr="preencoded.png"/>
          <p:cNvPicPr>
            <a:picLocks noChangeAspect="1"/>
          </p:cNvPicPr>
          <p:nvPr/>
        </p:nvPicPr>
        <p:blipFill>
          <a:blip r:embed="rId3"/>
          <a:stretch>
            <a:fillRect/>
          </a:stretch>
        </p:blipFill>
        <p:spPr>
          <a:xfrm>
            <a:off x="3493008" y="3282696"/>
            <a:ext cx="201168" cy="201168"/>
          </a:xfrm>
          <a:prstGeom prst="rect">
            <a:avLst/>
          </a:prstGeom>
        </p:spPr>
      </p:pic>
      <p:sp>
        <p:nvSpPr>
          <p:cNvPr id="24" name="During item 4"/>
          <p:cNvSpPr txBox="1"/>
          <p:nvPr/>
        </p:nvSpPr>
        <p:spPr>
          <a:xfrm>
            <a:off x="3813048" y="3273552"/>
            <a:ext cx="1920240" cy="475488"/>
          </a:xfrm>
          <a:prstGeom prst="rect">
            <a:avLst/>
          </a:prstGeom>
          <a:noFill/>
          <a:ln/>
        </p:spPr>
        <p:txBody>
          <a:bodyPr wrap="square" lIns="0" tIns="0" rIns="0" bIns="0" rtlCol="0" anchor="t"/>
          <a:lstStyle/>
          <a:p>
            <a:pPr marL="0" indent="0">
              <a:buNone/>
            </a:pPr>
            <a:r>
              <a:rPr lang="en-US" sz="1200" dirty="0">
                <a:solidFill>
                  <a:schemeClr val="bg1"/>
                </a:solidFill>
              </a:rPr>
              <a:t>Visit families not yet registered</a:t>
            </a:r>
            <a:endParaRPr lang="en-US" sz="1200" dirty="0"/>
          </a:p>
        </p:txBody>
      </p:sp>
      <p:sp>
        <p:nvSpPr>
          <p:cNvPr id="25" name="After column"/>
          <p:cNvSpPr/>
          <p:nvPr/>
        </p:nvSpPr>
        <p:spPr>
          <a:xfrm>
            <a:off x="6071616" y="1097280"/>
            <a:ext cx="2615184" cy="3246120"/>
          </a:xfrm>
          <a:prstGeom prst="roundRect">
            <a:avLst>
              <a:gd name="adj" fmla="val 2797"/>
            </a:avLst>
          </a:prstGeom>
          <a:solidFill>
            <a:schemeClr val="bg1">
              <a:alpha val="8000"/>
            </a:schemeClr>
          </a:solidFill>
          <a:ln/>
        </p:spPr>
      </p:sp>
      <p:sp>
        <p:nvSpPr>
          <p:cNvPr id="26" name="After heading"/>
          <p:cNvSpPr txBox="1"/>
          <p:nvPr/>
        </p:nvSpPr>
        <p:spPr>
          <a:xfrm>
            <a:off x="6300216" y="1234440"/>
            <a:ext cx="2194560" cy="365760"/>
          </a:xfrm>
          <a:prstGeom prst="rect">
            <a:avLst/>
          </a:prstGeom>
          <a:noFill/>
          <a:ln/>
        </p:spPr>
        <p:txBody>
          <a:bodyPr wrap="square" lIns="0" tIns="0" rIns="0" bIns="0" rtlCol="0" anchor="t"/>
          <a:lstStyle/>
          <a:p>
            <a:pPr marL="0" indent="0">
              <a:buNone/>
            </a:pPr>
            <a:r>
              <a:rPr lang="en-US" sz="1800" b="1" dirty="0">
                <a:solidFill>
                  <a:schemeClr val="accent6"/>
                </a:solidFill>
                <a:latin typeface="Cambria" pitchFamily="34" charset="0"/>
                <a:ea typeface="Cambria" pitchFamily="34" charset="-122"/>
                <a:cs typeface="Cambria" pitchFamily="34" charset="-120"/>
              </a:rPr>
              <a:t>After</a:t>
            </a:r>
            <a:endParaRPr lang="en-US" sz="1800" dirty="0"/>
          </a:p>
        </p:txBody>
      </p:sp>
      <p:pic>
        <p:nvPicPr>
          <p:cNvPr id="27" name="After item 1 check" descr="preencoded.png"/>
          <p:cNvPicPr>
            <a:picLocks noChangeAspect="1"/>
          </p:cNvPicPr>
          <p:nvPr/>
        </p:nvPicPr>
        <p:blipFill>
          <a:blip r:embed="rId3"/>
          <a:stretch>
            <a:fillRect/>
          </a:stretch>
        </p:blipFill>
        <p:spPr>
          <a:xfrm>
            <a:off x="6300216" y="1746504"/>
            <a:ext cx="201168" cy="201168"/>
          </a:xfrm>
          <a:prstGeom prst="rect">
            <a:avLst/>
          </a:prstGeom>
        </p:spPr>
      </p:pic>
      <p:sp>
        <p:nvSpPr>
          <p:cNvPr id="28" name="After item 1"/>
          <p:cNvSpPr txBox="1"/>
          <p:nvPr/>
        </p:nvSpPr>
        <p:spPr>
          <a:xfrm>
            <a:off x="6620256" y="1737360"/>
            <a:ext cx="1920240" cy="475488"/>
          </a:xfrm>
          <a:prstGeom prst="rect">
            <a:avLst/>
          </a:prstGeom>
          <a:noFill/>
          <a:ln/>
        </p:spPr>
        <p:txBody>
          <a:bodyPr wrap="square" lIns="0" tIns="0" rIns="0" bIns="0" rtlCol="0" anchor="t"/>
          <a:lstStyle/>
          <a:p>
            <a:pPr marL="0" indent="0">
              <a:buNone/>
            </a:pPr>
            <a:r>
              <a:rPr lang="en-US" sz="1200" dirty="0">
                <a:solidFill>
                  <a:schemeClr val="bg1"/>
                </a:solidFill>
              </a:rPr>
              <a:t>Check Results by GKK</a:t>
            </a:r>
            <a:endParaRPr lang="en-US" sz="1200" dirty="0"/>
          </a:p>
        </p:txBody>
      </p:sp>
      <p:pic>
        <p:nvPicPr>
          <p:cNvPr id="29" name="After item 2 check" descr="preencoded.png"/>
          <p:cNvPicPr>
            <a:picLocks noChangeAspect="1"/>
          </p:cNvPicPr>
          <p:nvPr/>
        </p:nvPicPr>
        <p:blipFill>
          <a:blip r:embed="rId3"/>
          <a:stretch>
            <a:fillRect/>
          </a:stretch>
        </p:blipFill>
        <p:spPr>
          <a:xfrm>
            <a:off x="6300216" y="2258568"/>
            <a:ext cx="201168" cy="201168"/>
          </a:xfrm>
          <a:prstGeom prst="rect">
            <a:avLst/>
          </a:prstGeom>
        </p:spPr>
      </p:pic>
      <p:sp>
        <p:nvSpPr>
          <p:cNvPr id="30" name="After item 2"/>
          <p:cNvSpPr txBox="1"/>
          <p:nvPr/>
        </p:nvSpPr>
        <p:spPr>
          <a:xfrm>
            <a:off x="6620256" y="2249424"/>
            <a:ext cx="1920240" cy="475488"/>
          </a:xfrm>
          <a:prstGeom prst="rect">
            <a:avLst/>
          </a:prstGeom>
          <a:noFill/>
          <a:ln/>
        </p:spPr>
        <p:txBody>
          <a:bodyPr wrap="square" lIns="0" tIns="0" rIns="0" bIns="0" rtlCol="0" anchor="t"/>
          <a:lstStyle/>
          <a:p>
            <a:pPr marL="0" indent="0">
              <a:buNone/>
            </a:pPr>
            <a:r>
              <a:rPr lang="en-US" sz="1200" dirty="0">
                <a:solidFill>
                  <a:schemeClr val="bg1"/>
                </a:solidFill>
              </a:rPr>
              <a:t>Follow up members not confirmed</a:t>
            </a:r>
            <a:endParaRPr lang="en-US" sz="1200" dirty="0"/>
          </a:p>
        </p:txBody>
      </p:sp>
      <p:pic>
        <p:nvPicPr>
          <p:cNvPr id="31" name="After item 3 check" descr="preencoded.png"/>
          <p:cNvPicPr>
            <a:picLocks noChangeAspect="1"/>
          </p:cNvPicPr>
          <p:nvPr/>
        </p:nvPicPr>
        <p:blipFill>
          <a:blip r:embed="rId3"/>
          <a:stretch>
            <a:fillRect/>
          </a:stretch>
        </p:blipFill>
        <p:spPr>
          <a:xfrm>
            <a:off x="6300216" y="2770632"/>
            <a:ext cx="201168" cy="201168"/>
          </a:xfrm>
          <a:prstGeom prst="rect">
            <a:avLst/>
          </a:prstGeom>
        </p:spPr>
      </p:pic>
      <p:sp>
        <p:nvSpPr>
          <p:cNvPr id="32" name="After item 3"/>
          <p:cNvSpPr txBox="1"/>
          <p:nvPr/>
        </p:nvSpPr>
        <p:spPr>
          <a:xfrm>
            <a:off x="6620256" y="2761488"/>
            <a:ext cx="1920240" cy="475488"/>
          </a:xfrm>
          <a:prstGeom prst="rect">
            <a:avLst/>
          </a:prstGeom>
          <a:noFill/>
          <a:ln/>
        </p:spPr>
        <p:txBody>
          <a:bodyPr wrap="square" lIns="0" tIns="0" rIns="0" bIns="0" rtlCol="0" anchor="t"/>
          <a:lstStyle/>
          <a:p>
            <a:pPr marL="0" indent="0">
              <a:buNone/>
            </a:pPr>
            <a:r>
              <a:rPr lang="en-US" sz="1200" dirty="0">
                <a:solidFill>
                  <a:schemeClr val="bg1"/>
                </a:solidFill>
              </a:rPr>
              <a:t>Remind families to keep their code for next year</a:t>
            </a:r>
            <a:endParaRPr lang="en-US" sz="1200" dirty="0"/>
          </a:p>
        </p:txBody>
      </p:sp>
      <p:sp>
        <p:nvSpPr>
          <p:cNvPr id="33" name="Contact line"/>
          <p:cNvSpPr txBox="1"/>
          <p:nvPr/>
        </p:nvSpPr>
        <p:spPr>
          <a:xfrm>
            <a:off x="457200" y="4462272"/>
            <a:ext cx="6858000" cy="274320"/>
          </a:xfrm>
          <a:prstGeom prst="rect">
            <a:avLst/>
          </a:prstGeom>
          <a:noFill/>
          <a:ln/>
        </p:spPr>
        <p:txBody>
          <a:bodyPr wrap="square" lIns="0" tIns="0" rIns="0" bIns="0" rtlCol="0" anchor="t"/>
          <a:lstStyle/>
          <a:p>
            <a:pPr marL="0" indent="0">
              <a:buNone/>
            </a:pPr>
            <a:r>
              <a:rPr lang="en-US" sz="1200" i="1" dirty="0">
                <a:solidFill>
                  <a:schemeClr val="accent6"/>
                </a:solidFill>
              </a:rPr>
              <a:t>Questions? Contact the parish office.</a:t>
            </a:r>
            <a:endParaRPr lang="en-US" sz="1200" dirty="0"/>
          </a:p>
        </p:txBody>
      </p:sp>
      <p:sp>
        <p:nvSpPr>
          <p:cNvPr id="34"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xmlns="" val="0"/>
            </a:ext>
          </a:extLst>
        </p:spPr>
        <p:txBody>
          <a:bodyPr lIns="0" tIns="0" rIns="0" bIns="0"/>
          <a:lstStyle>
            <a:lvl1pPr>
              <a:defRPr sz="9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theme/theme1.xml><?xml version="1.0" encoding="utf-8"?>
<a:theme xmlns:a="http://schemas.openxmlformats.org/drawingml/2006/main" name="Parish Registry Gold and Navy">
  <a:themeElements>
    <a:clrScheme name="Parish Registry Gold and Navy">
      <a:dk1>
        <a:srgbClr val="1A2B4A"/>
      </a:dk1>
      <a:lt1>
        <a:srgbClr val="FFFFFF"/>
      </a:lt1>
      <a:dk2>
        <a:srgbClr val="4A5568"/>
      </a:dk2>
      <a:lt2>
        <a:srgbClr val="F3F5FA"/>
      </a:lt2>
      <a:accent1>
        <a:srgbClr val="34589C"/>
      </a:accent1>
      <a:accent2>
        <a:srgbClr val="C39B4E"/>
      </a:accent2>
      <a:accent3>
        <a:srgbClr val="3A8A5E"/>
      </a:accent3>
      <a:accent4>
        <a:srgbClr val="8A6D2A"/>
      </a:accent4>
      <a:accent5>
        <a:srgbClr val="B0563A"/>
      </a:accent5>
      <a:accent6>
        <a:srgbClr val="E4C06A"/>
      </a:accent6>
      <a:hlink>
        <a:srgbClr val="34589C"/>
      </a:hlink>
      <a:folHlink>
        <a:srgbClr val="26436F"/>
      </a:folHlink>
    </a:clrScheme>
    <a:fontScheme name="Parish Registry Gold and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3364</Words>
  <Application>Microsoft Office PowerPoint</Application>
  <PresentationFormat>On-screen Show (16:9)</PresentationFormat>
  <Paragraphs>291</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Parish Registry Gold and Navy</vt:lpstr>
      <vt:lpstr>Census Training for GKK Leaders</vt:lpstr>
      <vt:lpstr>How this year’s census works</vt:lpstr>
      <vt:lpstr>Set up your GKK before the census starts</vt:lpstr>
      <vt:lpstr>Starting the census in your GKK</vt:lpstr>
      <vt:lpstr>The main route: families register online</vt:lpstr>
      <vt:lpstr>Managing the census from the Census page</vt:lpstr>
      <vt:lpstr>Checking new registrations from your GKK</vt:lpstr>
      <vt:lpstr>Families without a phone or internet</vt:lpstr>
      <vt:lpstr>The census questions each member answers</vt:lpstr>
      <vt:lpstr>Reaching families not yet registered</vt:lpstr>
      <vt:lpstr>Tracking progress and results</vt:lpstr>
      <vt:lpstr>From next year: update, not register</vt:lpstr>
      <vt:lpstr>Common questions</vt:lpstr>
      <vt:lpstr>Your census checklist</vt:lpstr>
    </vt:vector>
  </TitlesOfParts>
  <Company>Our Lady of Guadalupe Quasi-Parish, Mua-an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Census Training for GKK Leaders</dc:title>
  <dc:subject>PptxGenJS Presentation</dc:subject>
  <dc:creator>Parish Members Registry</dc:creator>
  <cp:lastModifiedBy>Dave</cp:lastModifiedBy>
  <cp:revision>2</cp:revision>
  <dcterms:created xsi:type="dcterms:W3CDTF">2026-10-07T06:27:01Z</dcterms:created>
  <dcterms:modified xsi:type="dcterms:W3CDTF">2026-10-07T07:19:54Z</dcterms:modified>
</cp:coreProperties>
</file>