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b34716-0606-84e8-5cf6-74905677beb7}">
          <p14:sldIdLst>
            <p14:sldId id="256"/>
          </p14:sldIdLst>
        </p14:section>
        <p14:section name="The census process" id="{2910e714-c420-682b-04e7-b480be644e40}">
          <p14:sldIdLst>
            <p14:sldId id="257"/>
          </p14:sldIdLst>
        </p14:section>
        <p14:section name="Before the census" id="{cd89c426-f1db-3544-f34a-202b4cd96e1b}">
          <p14:sldIdLst>
            <p14:sldId id="258"/>
          </p14:sldIdLst>
        </p14:section>
        <p14:section name="Running the census" id="{5875addd-71d2-9c17-dbba-8d0a24d91573}">
          <p14:sldIdLst>
            <p14:sldId id="259"/>
            <p14:sldId id="260"/>
            <p14:sldId id="261"/>
            <p14:sldId id="262"/>
            <p14:sldId id="263"/>
            <p14:sldId id="264"/>
          </p14:sldIdLst>
        </p14:section>
        <p14:section name="After the census" id="{45db66eb-6fd3-a018-a4ce-c982cbccce20}">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shows GKK Leaders how to use the Parish Members Registry for the coming census: what to set up first, how the census starts, how to record and review answers, and how to follow up. Bring a phone or laptop and your sign-in details so you can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picture. The parish office starts the census and later closes it. In between, the work is in the GKKs: you print a form for each household, families answer on paper or online, and you record the paper answers and approve the online ones. The census asks about each person, not just each household, so every member ends up with one of five statuses. Reassure leaders: starting the census changes nothing, and nothing is saved until they click Save census.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these before the census opens. First, your account: the parish office creates it as a Census Coordinator tied to your GKK; on first sign-in you must set your own password. Second, open Settings, GKK Config, My GKK and complete the chapel details. Only the chapel address is required, but the rest appears on the parish website. Third, history and documents. Fourth, officers come from each member's Responsibility in GKK field. Fifth, tidy your households so the forms print correctly. Sixth, turn on notifications on your phone so you see online updates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is the parish office's job: Census, Start a new census, give it a name and dates, Start census. Every current member starts as not confirmed. As a leader, you will see a note that starting or closing is done by the parish office, and you only see your own GKK. Your part of starting is printing: choose Print forms for your GKK to get one pre-filled page per household. Each page has the household's QR code and online code, so the family can answer either way. Printing again gives the same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home base during the census. The tabs across the top: Households is where you record answers, Online updates holds what families sent from their phones (the number shows how many are waiting, and the sidebar shows a badge too), Results by GKK shows your totals, and Last year's list helps you find families not yet counted. The tiles show your progress. Each household row shows Not started, Partly confirmed or Confirmed, and a blue badge if the family sent an update online. A good daily routine: filter by Not started, record the forms that came back, then clear the Online updates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household live. Record census opens a panel. First say where the answers came from: the paper form, or your own home visit. Then for each member mark A for Aktibo, P for Panagsa or W for Wala on each of the six items. The app suggests a status from the answers, but you decide; once you pick a status yourself, changing the answers no longer changes it. Use Edit details for corrections and Add a new member for newborns. Nothing is saved until Save census. If you made a mistake on a saved member, Clear answer sets them back to not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matters because it decides who the parish counts as an active Catholic. Choose per person. Moved away and Deceased keep the record but take the person out of lists, counts and the next census's forms, so always add a note. Use Left the Church only when the family tells you. If you don't know yet, leave the member as Not confirmed yet rather than guessing; those members are listed for follow-up after the census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Families with phones can answer on their own. They scan the QR code on the form, sign in with the reference number and code, update their answers and send. Nothing changes in the registry until you approve. Open Online updates, click Review, and you'll see only what changed. Approve applies just those changes, so anything the office edited in the meantime is kept. Reject if something is wrong and give the reason. If a family lost its code, get a new one from the household's row menu or the Record census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families won't return a form. If the parish has turned on Last year's list, it shows which families from last year's paper list are registered and which are not yet. The app matches names automatically; you confirm the matches. Print not yet registered gives you a visit sheet with a column for the result. Also check Households filtered by Not started. On the visit, record the answers, or for a family that isn't in the registry at all, help them use the registration form on the parish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places to watch progress. The Dashboard's Today panel for a quick count. Census, Results by GKK for the full picture, with a list of families not yet registered and a CSV export. And Reports, Census for printable reports. All of these show your GKK only. When the parish office closes the census, everything becomes read-only and no data changes. Members nobody confirmed can still be found with the Members filter Not confirmed in census, which is your follow-up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handling families' personal details, including children's. The printed forms carry a Data Privacy Act notice; treat them like any confidential parish record. Never share your sign-in, and only give a family its own code. On accuracy: save as you go, explain moved and deceased members with a note, and check Duplicates before adding someone new. Every change is logged with the name of whoever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questions that come up most. Leave time here for leaders' own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checklist on one page. Before the census, finish your setup. During, print, record, review and visit. After, check your results and follow up anyone not confirmed. Thank the leaders, and remind them the parish office can help with anything only it can do: starting or reopening the census, moving households between GKKs, and staff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697480"/>
            <a:ext cx="8046720" cy="457200"/>
          </a:xfrm>
          <a:prstGeom prst="rect">
            <a:avLst/>
          </a:prstGeom>
          <a:noFill/>
          <a:ln/>
        </p:spPr>
        <p:txBody>
          <a:bodyPr wrap="square" rtlCol="0"/>
          <a:lstStyle>
            <a:lvl1pPr indent="0" marL="0">
              <a:buNone/>
              <a:defRPr lang="en-US" sz="1600" dirty="0">
                <a:solidFill>
                  <a:schemeClr val="accent6"/>
                </a:solidFill>
                <a:latin typeface="Calibri" pitchFamily="34" charset="0"/>
                <a:ea typeface="Calibri" pitchFamily="34" charset="-122"/>
                <a:cs typeface="Calibri" pitchFamily="34" charset="-120"/>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rtlCol="0"/>
          <a:lstStyle>
            <a:lvl1pPr algn="l" indent="0" marL="0">
              <a:buNone/>
              <a:defRPr lang="en-US" sz="2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457200" y="4818888"/>
            <a:ext cx="6858000" cy="201168"/>
          </a:xfrm>
          <a:prstGeom prst="rect">
            <a:avLst/>
          </a:prstGeom>
          <a:noFill/>
          <a:ln/>
        </p:spPr>
        <p:txBody>
          <a:bodyPr wrap="square" lIns="0" tIns="0" rIns="0" bIns="0" rtlCol="0" anchor="ctr"/>
          <a:lstStyle/>
          <a:p>
            <a:pPr indent="0" marL="0">
              <a:buNone/>
            </a:pPr>
            <a:r>
              <a:rPr lang="en-US" sz="900" dirty="0">
                <a:solidFill>
                  <a:schemeClr val="tx2"/>
                </a:solidFill>
              </a:rPr>
              <a:t>Census Training for GKK Leaders  ·  Our Lady of Guadalupe Quasi-Parish, Mua-an</a:t>
            </a:r>
            <a:endParaRPr lang="en-US" sz="90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4864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3.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3.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4.xml"/><Relationship Id="rId1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egistry mark" descr="Star and cross mark of the registry">    </p:cNvPr>
          <p:cNvPicPr>
            <a:picLocks noChangeAspect="1"/>
          </p:cNvPicPr>
          <p:nvPr/>
        </p:nvPicPr>
        <p:blipFill>
          <a:blip r:embed="rId1"/>
          <a:stretch>
            <a:fillRect/>
          </a:stretch>
        </p:blipFill>
        <p:spPr>
          <a:xfrm>
            <a:off x="548640" y="685800"/>
            <a:ext cx="822960" cy="822960"/>
          </a:xfrm>
          <a:prstGeom prst="rect">
            <a:avLst/>
          </a:prstGeom>
        </p:spPr>
      </p:pic>
      <p:sp>
        <p:nvSpPr>
          <p:cNvPr id="3" name="Text 0"/>
          <p:cNvSpPr/>
          <p:nvPr>
            <p:ph idx="100" type="title" hasCustomPrompt="1"/>
          </p:nvPr>
        </p:nvSpPr>
        <p:spPr>
          <a:xfrm>
            <a:off x="548640" y="1828800"/>
            <a:ext cx="8046720" cy="82296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Census Training for GKK Leaders</a:t>
            </a:r>
            <a:endParaRPr lang="en-US" sz="3600" dirty="0"/>
          </a:p>
        </p:txBody>
      </p:sp>
      <p:sp>
        <p:nvSpPr>
          <p:cNvPr id="4" name="Text 0"/>
          <p:cNvSpPr/>
          <p:nvPr>
            <p:ph idx="101" type="body" hasCustomPrompt="1"/>
          </p:nvPr>
        </p:nvSpPr>
        <p:spPr>
          <a:xfrm>
            <a:off x="548640" y="2697480"/>
            <a:ext cx="8046720" cy="457200"/>
          </a:xfrm>
          <a:prstGeom prst="rect">
            <a:avLst/>
          </a:prstGeom>
          <a:noFill/>
          <a:ln/>
        </p:spPr>
        <p:txBody>
          <a:bodyPr wrap="square" lIns="0" tIns="0" rIns="0" bIns="0" rtlCol="0" anchor="t"/>
          <a:lstStyle/>
          <a:p>
            <a:pPr indent="0" marL="0">
              <a:buNone/>
            </a:pPr>
            <a:r>
              <a:rPr lang="en-US" sz="1600" dirty="0">
                <a:solidFill>
                  <a:schemeClr val="accent6"/>
                </a:solidFill>
                <a:latin typeface="Calibri" pitchFamily="34" charset="0"/>
                <a:ea typeface="Calibri" pitchFamily="34" charset="-122"/>
                <a:cs typeface="Calibri" pitchFamily="34" charset="-120"/>
              </a:rPr>
              <a:t>Running the census for your GKK in the Parish Members Registry</a:t>
            </a:r>
            <a:endParaRPr lang="en-US" sz="1600" dirty="0"/>
          </a:p>
        </p:txBody>
      </p:sp>
      <p:sp>
        <p:nvSpPr>
          <p:cNvPr id="5" name="Parish and date"/>
          <p:cNvSpPr txBox="1"/>
          <p:nvPr/>
        </p:nvSpPr>
        <p:spPr>
          <a:xfrm>
            <a:off x="548640" y="4206240"/>
            <a:ext cx="8046720" cy="274320"/>
          </a:xfrm>
          <a:prstGeom prst="rect">
            <a:avLst/>
          </a:prstGeom>
          <a:noFill/>
          <a:ln/>
        </p:spPr>
        <p:txBody>
          <a:bodyPr wrap="square" lIns="0" tIns="0" rIns="0" bIns="0" rtlCol="0" anchor="t"/>
          <a:lstStyle/>
          <a:p>
            <a:pPr indent="0" marL="0">
              <a:buNone/>
            </a:pPr>
            <a:r>
              <a:rPr lang="en-US" sz="1200" dirty="0">
                <a:solidFill>
                  <a:schemeClr val="bg1"/>
                </a:solidFill>
              </a:rPr>
              <a:t>Our Lady of Guadalupe Quasi-Parish, Mua-an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How the census works</a:t>
            </a:r>
            <a:endParaRPr lang="en-US" sz="2600" dirty="0"/>
          </a:p>
        </p:txBody>
      </p:sp>
      <p:sp>
        <p:nvSpPr>
          <p:cNvPr id="3" name="Subtitle"/>
          <p:cNvSpPr txBox="1"/>
          <p:nvPr/>
        </p:nvSpPr>
        <p:spPr>
          <a:xfrm>
            <a:off x="457200" y="795528"/>
            <a:ext cx="8229600" cy="274320"/>
          </a:xfrm>
          <a:prstGeom prst="rect">
            <a:avLst/>
          </a:prstGeom>
          <a:noFill/>
          <a:ln/>
        </p:spPr>
        <p:txBody>
          <a:bodyPr wrap="square" lIns="0" tIns="0" rIns="0" bIns="0" rtlCol="0" anchor="t"/>
          <a:lstStyle/>
          <a:p>
            <a:pPr indent="0" marL="0">
              <a:buNone/>
            </a:pPr>
            <a:r>
              <a:rPr lang="en-US" sz="1300" dirty="0">
                <a:solidFill>
                  <a:schemeClr val="tx2"/>
                </a:solidFill>
              </a:rPr>
              <a:t>Five steps from start to finish. You lead steps 2 to 4 for your GKK.</a:t>
            </a:r>
            <a:endParaRPr lang="en-US" sz="1300" dirty="0"/>
          </a:p>
        </p:txBody>
      </p:sp>
      <p:sp>
        <p:nvSpPr>
          <p:cNvPr id="4" name="Step 1 card"/>
          <p:cNvSpPr/>
          <p:nvPr/>
        </p:nvSpPr>
        <p:spPr>
          <a:xfrm>
            <a:off x="457200" y="1207008"/>
            <a:ext cx="1517904" cy="2286000"/>
          </a:xfrm>
          <a:prstGeom prst="roundRect">
            <a:avLst>
              <a:gd name="adj" fmla="val 4819"/>
            </a:avLst>
          </a:prstGeom>
          <a:solidFill>
            <a:schemeClr val="bg2"/>
          </a:solidFill>
          <a:ln/>
        </p:spPr>
      </p:sp>
      <p:sp>
        <p:nvSpPr>
          <p:cNvPr id="5" name="Step 1 circle"/>
          <p:cNvSpPr/>
          <p:nvPr/>
        </p:nvSpPr>
        <p:spPr>
          <a:xfrm>
            <a:off x="594360" y="1344168"/>
            <a:ext cx="438912" cy="438912"/>
          </a:xfrm>
          <a:prstGeom prst="ellipse">
            <a:avLst/>
          </a:prstGeom>
          <a:solidFill>
            <a:schemeClr val="tx1"/>
          </a:solidFill>
          <a:ln/>
        </p:spPr>
      </p:sp>
      <p:pic>
        <p:nvPicPr>
          <p:cNvPr id="6" name="Step 1 icon" descr="Step 1">    </p:cNvPr>
          <p:cNvPicPr>
            <a:picLocks noChangeAspect="1"/>
          </p:cNvPicPr>
          <p:nvPr/>
        </p:nvPicPr>
        <p:blipFill>
          <a:blip r:embed="rId1"/>
          <a:stretch>
            <a:fillRect/>
          </a:stretch>
        </p:blipFill>
        <p:spPr>
          <a:xfrm>
            <a:off x="699699" y="1449507"/>
            <a:ext cx="228234" cy="228234"/>
          </a:xfrm>
          <a:prstGeom prst="rect">
            <a:avLst/>
          </a:prstGeom>
        </p:spPr>
      </p:pic>
      <p:sp>
        <p:nvSpPr>
          <p:cNvPr id="7" name="Step 1 number"/>
          <p:cNvSpPr txBox="1"/>
          <p:nvPr/>
        </p:nvSpPr>
        <p:spPr>
          <a:xfrm>
            <a:off x="1563624" y="1344168"/>
            <a:ext cx="274320" cy="274320"/>
          </a:xfrm>
          <a:prstGeom prst="rect">
            <a:avLst/>
          </a:prstGeom>
          <a:noFill/>
          <a:ln/>
        </p:spPr>
        <p:txBody>
          <a:bodyPr wrap="square" lIns="0" tIns="0" rIns="0" bIns="0" rtlCol="0" anchor="t"/>
          <a:lstStyle/>
          <a:p>
            <a:pPr algn="r" indent="0" marL="0">
              <a:buNone/>
            </a:pPr>
            <a:r>
              <a:rPr lang="en-US" sz="1800" b="1" dirty="0">
                <a:solidFill>
                  <a:schemeClr val="accent2"/>
                </a:solidFill>
                <a:latin typeface="Cambria" pitchFamily="34" charset="0"/>
                <a:ea typeface="Cambria" pitchFamily="34" charset="-122"/>
                <a:cs typeface="Cambria" pitchFamily="34" charset="-120"/>
              </a:rPr>
              <a:t>1</a:t>
            </a:r>
            <a:endParaRPr lang="en-US" sz="1800" dirty="0"/>
          </a:p>
        </p:txBody>
      </p:sp>
      <p:sp>
        <p:nvSpPr>
          <p:cNvPr id="8" name="Step 1 heading"/>
          <p:cNvSpPr txBox="1"/>
          <p:nvPr/>
        </p:nvSpPr>
        <p:spPr>
          <a:xfrm>
            <a:off x="594360" y="1892808"/>
            <a:ext cx="1243584" cy="438912"/>
          </a:xfrm>
          <a:prstGeom prst="rect">
            <a:avLst/>
          </a:prstGeom>
          <a:noFill/>
          <a:ln/>
        </p:spPr>
        <p:txBody>
          <a:bodyPr wrap="square" lIns="0" tIns="0" rIns="0" bIns="0" rtlCol="0" anchor="t"/>
          <a:lstStyle/>
          <a:p>
            <a:pPr indent="0" marL="0">
              <a:buNone/>
            </a:pPr>
            <a:r>
              <a:rPr lang="en-US" sz="1250" b="1" dirty="0">
                <a:solidFill>
                  <a:schemeClr val="tx1"/>
                </a:solidFill>
              </a:rPr>
              <a:t>Parish office starts the census</a:t>
            </a:r>
            <a:endParaRPr lang="en-US" sz="1250" dirty="0"/>
          </a:p>
        </p:txBody>
      </p:sp>
      <p:sp>
        <p:nvSpPr>
          <p:cNvPr id="9" name="Step 1 text"/>
          <p:cNvSpPr txBox="1"/>
          <p:nvPr/>
        </p:nvSpPr>
        <p:spPr>
          <a:xfrm>
            <a:off x="594360" y="2350008"/>
            <a:ext cx="1243584" cy="777240"/>
          </a:xfrm>
          <a:prstGeom prst="rect">
            <a:avLst/>
          </a:prstGeom>
          <a:noFill/>
          <a:ln/>
        </p:spPr>
        <p:txBody>
          <a:bodyPr wrap="square" lIns="0" tIns="0" rIns="0" bIns="0" rtlCol="0" anchor="t"/>
          <a:lstStyle/>
          <a:p>
            <a:pPr indent="0" marL="0">
              <a:buNone/>
            </a:pPr>
            <a:r>
              <a:rPr lang="en-US" sz="1050" dirty="0">
                <a:solidFill>
                  <a:schemeClr val="tx2"/>
                </a:solidFill>
              </a:rPr>
              <a:t>It names the census (e.g. “2026 Census”) and sets the dates.</a:t>
            </a:r>
            <a:endParaRPr lang="en-US" sz="1050" dirty="0"/>
          </a:p>
        </p:txBody>
      </p:sp>
      <p:sp>
        <p:nvSpPr>
          <p:cNvPr id="10" name="Step 1 who chip"/>
          <p:cNvSpPr/>
          <p:nvPr/>
        </p:nvSpPr>
        <p:spPr>
          <a:xfrm>
            <a:off x="594360" y="3127248"/>
            <a:ext cx="1005840" cy="237744"/>
          </a:xfrm>
          <a:prstGeom prst="roundRect">
            <a:avLst>
              <a:gd name="adj" fmla="val 50000"/>
            </a:avLst>
          </a:prstGeom>
          <a:solidFill>
            <a:schemeClr val="accent1"/>
          </a:solidFill>
          <a:ln/>
        </p:spPr>
      </p:sp>
      <p:sp>
        <p:nvSpPr>
          <p:cNvPr id="11" name="Step 1 who label"/>
          <p:cNvSpPr txBox="1"/>
          <p:nvPr/>
        </p:nvSpPr>
        <p:spPr>
          <a:xfrm>
            <a:off x="594360" y="3127248"/>
            <a:ext cx="1005840" cy="237744"/>
          </a:xfrm>
          <a:prstGeom prst="rect">
            <a:avLst/>
          </a:prstGeom>
          <a:noFill/>
          <a:ln/>
        </p:spPr>
        <p:txBody>
          <a:bodyPr wrap="square" lIns="0" tIns="0" rIns="0" bIns="0" rtlCol="0" anchor="ctr"/>
          <a:lstStyle/>
          <a:p>
            <a:pPr algn="ctr" indent="0" marL="0">
              <a:buNone/>
            </a:pPr>
            <a:r>
              <a:rPr lang="en-US" sz="950" b="1" dirty="0">
                <a:solidFill>
                  <a:schemeClr val="bg1"/>
                </a:solidFill>
              </a:rPr>
              <a:t>Parish office</a:t>
            </a:r>
            <a:endParaRPr lang="en-US" sz="950" dirty="0"/>
          </a:p>
        </p:txBody>
      </p:sp>
      <p:pic>
        <p:nvPicPr>
          <p:cNvPr id="12" name="Arrow 1" descr="preencoded.png">    </p:cNvPr>
          <p:cNvPicPr>
            <a:picLocks noChangeAspect="1"/>
          </p:cNvPicPr>
          <p:nvPr/>
        </p:nvPicPr>
        <p:blipFill>
          <a:blip r:embed="rId2"/>
          <a:stretch>
            <a:fillRect/>
          </a:stretch>
        </p:blipFill>
        <p:spPr>
          <a:xfrm>
            <a:off x="1984248" y="2276856"/>
            <a:ext cx="146304" cy="146304"/>
          </a:xfrm>
          <a:prstGeom prst="rect">
            <a:avLst/>
          </a:prstGeom>
        </p:spPr>
      </p:pic>
      <p:sp>
        <p:nvSpPr>
          <p:cNvPr id="13" name="Step 2 card"/>
          <p:cNvSpPr/>
          <p:nvPr/>
        </p:nvSpPr>
        <p:spPr>
          <a:xfrm>
            <a:off x="2139696" y="1207008"/>
            <a:ext cx="1517904" cy="2286000"/>
          </a:xfrm>
          <a:prstGeom prst="roundRect">
            <a:avLst>
              <a:gd name="adj" fmla="val 4819"/>
            </a:avLst>
          </a:prstGeom>
          <a:solidFill>
            <a:schemeClr val="bg2"/>
          </a:solidFill>
          <a:ln/>
        </p:spPr>
      </p:sp>
      <p:sp>
        <p:nvSpPr>
          <p:cNvPr id="14" name="Step 2 circle"/>
          <p:cNvSpPr/>
          <p:nvPr/>
        </p:nvSpPr>
        <p:spPr>
          <a:xfrm>
            <a:off x="2276856" y="1344168"/>
            <a:ext cx="438912" cy="438912"/>
          </a:xfrm>
          <a:prstGeom prst="ellipse">
            <a:avLst/>
          </a:prstGeom>
          <a:solidFill>
            <a:schemeClr val="tx1"/>
          </a:solidFill>
          <a:ln/>
        </p:spPr>
      </p:sp>
      <p:pic>
        <p:nvPicPr>
          <p:cNvPr id="15" name="Step 2 icon" descr="Step 2">    </p:cNvPr>
          <p:cNvPicPr>
            <a:picLocks noChangeAspect="1"/>
          </p:cNvPicPr>
          <p:nvPr/>
        </p:nvPicPr>
        <p:blipFill>
          <a:blip r:embed="rId3"/>
          <a:stretch>
            <a:fillRect/>
          </a:stretch>
        </p:blipFill>
        <p:spPr>
          <a:xfrm>
            <a:off x="2382195" y="1449507"/>
            <a:ext cx="228234" cy="228234"/>
          </a:xfrm>
          <a:prstGeom prst="rect">
            <a:avLst/>
          </a:prstGeom>
        </p:spPr>
      </p:pic>
      <p:sp>
        <p:nvSpPr>
          <p:cNvPr id="16" name="Step 2 number"/>
          <p:cNvSpPr txBox="1"/>
          <p:nvPr/>
        </p:nvSpPr>
        <p:spPr>
          <a:xfrm>
            <a:off x="3246120" y="1344168"/>
            <a:ext cx="274320" cy="274320"/>
          </a:xfrm>
          <a:prstGeom prst="rect">
            <a:avLst/>
          </a:prstGeom>
          <a:noFill/>
          <a:ln/>
        </p:spPr>
        <p:txBody>
          <a:bodyPr wrap="square" lIns="0" tIns="0" rIns="0" bIns="0" rtlCol="0" anchor="t"/>
          <a:lstStyle/>
          <a:p>
            <a:pPr algn="r" indent="0" marL="0">
              <a:buNone/>
            </a:pPr>
            <a:r>
              <a:rPr lang="en-US" sz="1800" b="1" dirty="0">
                <a:solidFill>
                  <a:schemeClr val="accent2"/>
                </a:solidFill>
                <a:latin typeface="Cambria" pitchFamily="34" charset="0"/>
                <a:ea typeface="Cambria" pitchFamily="34" charset="-122"/>
                <a:cs typeface="Cambria" pitchFamily="34" charset="-120"/>
              </a:rPr>
              <a:t>2</a:t>
            </a:r>
            <a:endParaRPr lang="en-US" sz="1800" dirty="0"/>
          </a:p>
        </p:txBody>
      </p:sp>
      <p:sp>
        <p:nvSpPr>
          <p:cNvPr id="17" name="Step 2 heading"/>
          <p:cNvSpPr txBox="1"/>
          <p:nvPr/>
        </p:nvSpPr>
        <p:spPr>
          <a:xfrm>
            <a:off x="2276856" y="1892808"/>
            <a:ext cx="1243584" cy="438912"/>
          </a:xfrm>
          <a:prstGeom prst="rect">
            <a:avLst/>
          </a:prstGeom>
          <a:noFill/>
          <a:ln/>
        </p:spPr>
        <p:txBody>
          <a:bodyPr wrap="square" lIns="0" tIns="0" rIns="0" bIns="0" rtlCol="0" anchor="t"/>
          <a:lstStyle/>
          <a:p>
            <a:pPr indent="0" marL="0">
              <a:buNone/>
            </a:pPr>
            <a:r>
              <a:rPr lang="en-US" sz="1250" b="1" dirty="0">
                <a:solidFill>
                  <a:schemeClr val="tx1"/>
                </a:solidFill>
              </a:rPr>
              <a:t>You print the forms</a:t>
            </a:r>
            <a:endParaRPr lang="en-US" sz="1250" dirty="0"/>
          </a:p>
        </p:txBody>
      </p:sp>
      <p:sp>
        <p:nvSpPr>
          <p:cNvPr id="18" name="Step 2 text"/>
          <p:cNvSpPr txBox="1"/>
          <p:nvPr/>
        </p:nvSpPr>
        <p:spPr>
          <a:xfrm>
            <a:off x="2276856" y="2350008"/>
            <a:ext cx="1243584" cy="777240"/>
          </a:xfrm>
          <a:prstGeom prst="rect">
            <a:avLst/>
          </a:prstGeom>
          <a:noFill/>
          <a:ln/>
        </p:spPr>
        <p:txBody>
          <a:bodyPr wrap="square" lIns="0" tIns="0" rIns="0" bIns="0" rtlCol="0" anchor="t"/>
          <a:lstStyle/>
          <a:p>
            <a:pPr indent="0" marL="0">
              <a:buNone/>
            </a:pPr>
            <a:r>
              <a:rPr lang="en-US" sz="1050" dirty="0">
                <a:solidFill>
                  <a:schemeClr val="tx2"/>
                </a:solidFill>
              </a:rPr>
              <a:t>One pre-filled page per household, with its QR code and online code.</a:t>
            </a:r>
            <a:endParaRPr lang="en-US" sz="1050" dirty="0"/>
          </a:p>
        </p:txBody>
      </p:sp>
      <p:sp>
        <p:nvSpPr>
          <p:cNvPr id="19" name="Step 2 who chip"/>
          <p:cNvSpPr/>
          <p:nvPr/>
        </p:nvSpPr>
        <p:spPr>
          <a:xfrm>
            <a:off x="2276856" y="3127248"/>
            <a:ext cx="1005840" cy="237744"/>
          </a:xfrm>
          <a:prstGeom prst="roundRect">
            <a:avLst>
              <a:gd name="adj" fmla="val 50000"/>
            </a:avLst>
          </a:prstGeom>
          <a:solidFill>
            <a:schemeClr val="accent2"/>
          </a:solidFill>
          <a:ln/>
        </p:spPr>
      </p:sp>
      <p:sp>
        <p:nvSpPr>
          <p:cNvPr id="20" name="Step 2 who label"/>
          <p:cNvSpPr txBox="1"/>
          <p:nvPr/>
        </p:nvSpPr>
        <p:spPr>
          <a:xfrm>
            <a:off x="2276856" y="3127248"/>
            <a:ext cx="1005840" cy="237744"/>
          </a:xfrm>
          <a:prstGeom prst="rect">
            <a:avLst/>
          </a:prstGeom>
          <a:noFill/>
          <a:ln/>
        </p:spPr>
        <p:txBody>
          <a:bodyPr wrap="square" lIns="0" tIns="0" rIns="0" bIns="0" rtlCol="0" anchor="ctr"/>
          <a:lstStyle/>
          <a:p>
            <a:pPr algn="ctr" indent="0" marL="0">
              <a:buNone/>
            </a:pPr>
            <a:r>
              <a:rPr lang="en-US" sz="950" b="1" dirty="0">
                <a:solidFill>
                  <a:schemeClr val="bg1"/>
                </a:solidFill>
              </a:rPr>
              <a:t>You</a:t>
            </a:r>
            <a:endParaRPr lang="en-US" sz="950" dirty="0"/>
          </a:p>
        </p:txBody>
      </p:sp>
      <p:pic>
        <p:nvPicPr>
          <p:cNvPr id="21" name="Arrow 2" descr="preencoded.png">    </p:cNvPr>
          <p:cNvPicPr>
            <a:picLocks noChangeAspect="1"/>
          </p:cNvPicPr>
          <p:nvPr/>
        </p:nvPicPr>
        <p:blipFill>
          <a:blip r:embed="rId4"/>
          <a:stretch>
            <a:fillRect/>
          </a:stretch>
        </p:blipFill>
        <p:spPr>
          <a:xfrm>
            <a:off x="3666744" y="2276856"/>
            <a:ext cx="146304" cy="146304"/>
          </a:xfrm>
          <a:prstGeom prst="rect">
            <a:avLst/>
          </a:prstGeom>
        </p:spPr>
      </p:pic>
      <p:sp>
        <p:nvSpPr>
          <p:cNvPr id="22" name="Step 3 card"/>
          <p:cNvSpPr/>
          <p:nvPr/>
        </p:nvSpPr>
        <p:spPr>
          <a:xfrm>
            <a:off x="3822192" y="1207008"/>
            <a:ext cx="1517904" cy="2286000"/>
          </a:xfrm>
          <a:prstGeom prst="roundRect">
            <a:avLst>
              <a:gd name="adj" fmla="val 4819"/>
            </a:avLst>
          </a:prstGeom>
          <a:solidFill>
            <a:schemeClr val="bg2"/>
          </a:solidFill>
          <a:ln/>
        </p:spPr>
      </p:sp>
      <p:sp>
        <p:nvSpPr>
          <p:cNvPr id="23" name="Step 3 circle"/>
          <p:cNvSpPr/>
          <p:nvPr/>
        </p:nvSpPr>
        <p:spPr>
          <a:xfrm>
            <a:off x="3959352" y="1344168"/>
            <a:ext cx="438912" cy="438912"/>
          </a:xfrm>
          <a:prstGeom prst="ellipse">
            <a:avLst/>
          </a:prstGeom>
          <a:solidFill>
            <a:schemeClr val="tx1"/>
          </a:solidFill>
          <a:ln/>
        </p:spPr>
      </p:sp>
      <p:pic>
        <p:nvPicPr>
          <p:cNvPr id="24" name="Step 3 icon" descr="Step 3">    </p:cNvPr>
          <p:cNvPicPr>
            <a:picLocks noChangeAspect="1"/>
          </p:cNvPicPr>
          <p:nvPr/>
        </p:nvPicPr>
        <p:blipFill>
          <a:blip r:embed="rId5"/>
          <a:stretch>
            <a:fillRect/>
          </a:stretch>
        </p:blipFill>
        <p:spPr>
          <a:xfrm>
            <a:off x="4064691" y="1449507"/>
            <a:ext cx="228234" cy="228234"/>
          </a:xfrm>
          <a:prstGeom prst="rect">
            <a:avLst/>
          </a:prstGeom>
        </p:spPr>
      </p:pic>
      <p:sp>
        <p:nvSpPr>
          <p:cNvPr id="25" name="Step 3 number"/>
          <p:cNvSpPr txBox="1"/>
          <p:nvPr/>
        </p:nvSpPr>
        <p:spPr>
          <a:xfrm>
            <a:off x="4928616" y="1344168"/>
            <a:ext cx="274320" cy="274320"/>
          </a:xfrm>
          <a:prstGeom prst="rect">
            <a:avLst/>
          </a:prstGeom>
          <a:noFill/>
          <a:ln/>
        </p:spPr>
        <p:txBody>
          <a:bodyPr wrap="square" lIns="0" tIns="0" rIns="0" bIns="0" rtlCol="0" anchor="t"/>
          <a:lstStyle/>
          <a:p>
            <a:pPr algn="r" indent="0" marL="0">
              <a:buNone/>
            </a:pPr>
            <a:r>
              <a:rPr lang="en-US" sz="1800" b="1" dirty="0">
                <a:solidFill>
                  <a:schemeClr val="accent2"/>
                </a:solidFill>
                <a:latin typeface="Cambria" pitchFamily="34" charset="0"/>
                <a:ea typeface="Cambria" pitchFamily="34" charset="-122"/>
                <a:cs typeface="Cambria" pitchFamily="34" charset="-120"/>
              </a:rPr>
              <a:t>3</a:t>
            </a:r>
            <a:endParaRPr lang="en-US" sz="1800" dirty="0"/>
          </a:p>
        </p:txBody>
      </p:sp>
      <p:sp>
        <p:nvSpPr>
          <p:cNvPr id="26" name="Step 3 heading"/>
          <p:cNvSpPr txBox="1"/>
          <p:nvPr/>
        </p:nvSpPr>
        <p:spPr>
          <a:xfrm>
            <a:off x="3959352" y="1892808"/>
            <a:ext cx="1243584" cy="438912"/>
          </a:xfrm>
          <a:prstGeom prst="rect">
            <a:avLst/>
          </a:prstGeom>
          <a:noFill/>
          <a:ln/>
        </p:spPr>
        <p:txBody>
          <a:bodyPr wrap="square" lIns="0" tIns="0" rIns="0" bIns="0" rtlCol="0" anchor="t"/>
          <a:lstStyle/>
          <a:p>
            <a:pPr indent="0" marL="0">
              <a:buNone/>
            </a:pPr>
            <a:r>
              <a:rPr lang="en-US" sz="1250" b="1" dirty="0">
                <a:solidFill>
                  <a:schemeClr val="tx1"/>
                </a:solidFill>
              </a:rPr>
              <a:t>Families answer</a:t>
            </a:r>
            <a:endParaRPr lang="en-US" sz="1250" dirty="0"/>
          </a:p>
        </p:txBody>
      </p:sp>
      <p:sp>
        <p:nvSpPr>
          <p:cNvPr id="27" name="Step 3 text"/>
          <p:cNvSpPr txBox="1"/>
          <p:nvPr/>
        </p:nvSpPr>
        <p:spPr>
          <a:xfrm>
            <a:off x="3959352" y="2350008"/>
            <a:ext cx="1243584" cy="777240"/>
          </a:xfrm>
          <a:prstGeom prst="rect">
            <a:avLst/>
          </a:prstGeom>
          <a:noFill/>
          <a:ln/>
        </p:spPr>
        <p:txBody>
          <a:bodyPr wrap="square" lIns="0" tIns="0" rIns="0" bIns="0" rtlCol="0" anchor="t"/>
          <a:lstStyle/>
          <a:p>
            <a:pPr indent="0" marL="0">
              <a:buNone/>
            </a:pPr>
            <a:r>
              <a:rPr lang="en-US" sz="1050" dirty="0">
                <a:solidFill>
                  <a:schemeClr val="tx2"/>
                </a:solidFill>
              </a:rPr>
              <a:t>On the paper form, or online by scanning the QR code on their form.</a:t>
            </a:r>
            <a:endParaRPr lang="en-US" sz="1050" dirty="0"/>
          </a:p>
        </p:txBody>
      </p:sp>
      <p:sp>
        <p:nvSpPr>
          <p:cNvPr id="28" name="Step 3 who chip"/>
          <p:cNvSpPr/>
          <p:nvPr/>
        </p:nvSpPr>
        <p:spPr>
          <a:xfrm>
            <a:off x="3959352" y="3127248"/>
            <a:ext cx="1005840" cy="237744"/>
          </a:xfrm>
          <a:prstGeom prst="roundRect">
            <a:avLst>
              <a:gd name="adj" fmla="val 50000"/>
            </a:avLst>
          </a:prstGeom>
          <a:solidFill>
            <a:schemeClr val="accent3"/>
          </a:solidFill>
          <a:ln/>
        </p:spPr>
      </p:sp>
      <p:sp>
        <p:nvSpPr>
          <p:cNvPr id="29" name="Step 3 who label"/>
          <p:cNvSpPr txBox="1"/>
          <p:nvPr/>
        </p:nvSpPr>
        <p:spPr>
          <a:xfrm>
            <a:off x="3959352" y="3127248"/>
            <a:ext cx="1005840" cy="237744"/>
          </a:xfrm>
          <a:prstGeom prst="rect">
            <a:avLst/>
          </a:prstGeom>
          <a:noFill/>
          <a:ln/>
        </p:spPr>
        <p:txBody>
          <a:bodyPr wrap="square" lIns="0" tIns="0" rIns="0" bIns="0" rtlCol="0" anchor="ctr"/>
          <a:lstStyle/>
          <a:p>
            <a:pPr algn="ctr" indent="0" marL="0">
              <a:buNone/>
            </a:pPr>
            <a:r>
              <a:rPr lang="en-US" sz="950" b="1" dirty="0">
                <a:solidFill>
                  <a:schemeClr val="bg1"/>
                </a:solidFill>
              </a:rPr>
              <a:t>Families</a:t>
            </a:r>
            <a:endParaRPr lang="en-US" sz="950" dirty="0"/>
          </a:p>
        </p:txBody>
      </p:sp>
      <p:pic>
        <p:nvPicPr>
          <p:cNvPr id="30" name="Arrow 3" descr="preencoded.png">    </p:cNvPr>
          <p:cNvPicPr>
            <a:picLocks noChangeAspect="1"/>
          </p:cNvPicPr>
          <p:nvPr/>
        </p:nvPicPr>
        <p:blipFill>
          <a:blip r:embed="rId6"/>
          <a:stretch>
            <a:fillRect/>
          </a:stretch>
        </p:blipFill>
        <p:spPr>
          <a:xfrm>
            <a:off x="5349240" y="2276856"/>
            <a:ext cx="146304" cy="146304"/>
          </a:xfrm>
          <a:prstGeom prst="rect">
            <a:avLst/>
          </a:prstGeom>
        </p:spPr>
      </p:pic>
      <p:sp>
        <p:nvSpPr>
          <p:cNvPr id="31" name="Step 4 card"/>
          <p:cNvSpPr/>
          <p:nvPr/>
        </p:nvSpPr>
        <p:spPr>
          <a:xfrm>
            <a:off x="5504688" y="1207008"/>
            <a:ext cx="1517904" cy="2286000"/>
          </a:xfrm>
          <a:prstGeom prst="roundRect">
            <a:avLst>
              <a:gd name="adj" fmla="val 4819"/>
            </a:avLst>
          </a:prstGeom>
          <a:solidFill>
            <a:schemeClr val="bg2"/>
          </a:solidFill>
          <a:ln/>
        </p:spPr>
      </p:sp>
      <p:sp>
        <p:nvSpPr>
          <p:cNvPr id="32" name="Step 4 circle"/>
          <p:cNvSpPr/>
          <p:nvPr/>
        </p:nvSpPr>
        <p:spPr>
          <a:xfrm>
            <a:off x="5641848" y="1344168"/>
            <a:ext cx="438912" cy="438912"/>
          </a:xfrm>
          <a:prstGeom prst="ellipse">
            <a:avLst/>
          </a:prstGeom>
          <a:solidFill>
            <a:schemeClr val="tx1"/>
          </a:solidFill>
          <a:ln/>
        </p:spPr>
      </p:sp>
      <p:pic>
        <p:nvPicPr>
          <p:cNvPr id="33" name="Step 4 icon" descr="Step 4">    </p:cNvPr>
          <p:cNvPicPr>
            <a:picLocks noChangeAspect="1"/>
          </p:cNvPicPr>
          <p:nvPr/>
        </p:nvPicPr>
        <p:blipFill>
          <a:blip r:embed="rId7"/>
          <a:stretch>
            <a:fillRect/>
          </a:stretch>
        </p:blipFill>
        <p:spPr>
          <a:xfrm>
            <a:off x="5747187" y="1449507"/>
            <a:ext cx="228234" cy="228234"/>
          </a:xfrm>
          <a:prstGeom prst="rect">
            <a:avLst/>
          </a:prstGeom>
        </p:spPr>
      </p:pic>
      <p:sp>
        <p:nvSpPr>
          <p:cNvPr id="34" name="Step 4 number"/>
          <p:cNvSpPr txBox="1"/>
          <p:nvPr/>
        </p:nvSpPr>
        <p:spPr>
          <a:xfrm>
            <a:off x="6611112" y="1344168"/>
            <a:ext cx="274320" cy="274320"/>
          </a:xfrm>
          <a:prstGeom prst="rect">
            <a:avLst/>
          </a:prstGeom>
          <a:noFill/>
          <a:ln/>
        </p:spPr>
        <p:txBody>
          <a:bodyPr wrap="square" lIns="0" tIns="0" rIns="0" bIns="0" rtlCol="0" anchor="t"/>
          <a:lstStyle/>
          <a:p>
            <a:pPr algn="r" indent="0" marL="0">
              <a:buNone/>
            </a:pPr>
            <a:r>
              <a:rPr lang="en-US" sz="1800" b="1" dirty="0">
                <a:solidFill>
                  <a:schemeClr val="accent2"/>
                </a:solidFill>
                <a:latin typeface="Cambria" pitchFamily="34" charset="0"/>
                <a:ea typeface="Cambria" pitchFamily="34" charset="-122"/>
                <a:cs typeface="Cambria" pitchFamily="34" charset="-120"/>
              </a:rPr>
              <a:t>4</a:t>
            </a:r>
            <a:endParaRPr lang="en-US" sz="1800" dirty="0"/>
          </a:p>
        </p:txBody>
      </p:sp>
      <p:sp>
        <p:nvSpPr>
          <p:cNvPr id="35" name="Step 4 heading"/>
          <p:cNvSpPr txBox="1"/>
          <p:nvPr/>
        </p:nvSpPr>
        <p:spPr>
          <a:xfrm>
            <a:off x="5641848" y="1892808"/>
            <a:ext cx="1243584" cy="438912"/>
          </a:xfrm>
          <a:prstGeom prst="rect">
            <a:avLst/>
          </a:prstGeom>
          <a:noFill/>
          <a:ln/>
        </p:spPr>
        <p:txBody>
          <a:bodyPr wrap="square" lIns="0" tIns="0" rIns="0" bIns="0" rtlCol="0" anchor="t"/>
          <a:lstStyle/>
          <a:p>
            <a:pPr indent="0" marL="0">
              <a:buNone/>
            </a:pPr>
            <a:r>
              <a:rPr lang="en-US" sz="1250" b="1" dirty="0">
                <a:solidFill>
                  <a:schemeClr val="tx1"/>
                </a:solidFill>
              </a:rPr>
              <a:t>You record and review</a:t>
            </a:r>
            <a:endParaRPr lang="en-US" sz="1250" dirty="0"/>
          </a:p>
        </p:txBody>
      </p:sp>
      <p:sp>
        <p:nvSpPr>
          <p:cNvPr id="36" name="Step 4 text"/>
          <p:cNvSpPr txBox="1"/>
          <p:nvPr/>
        </p:nvSpPr>
        <p:spPr>
          <a:xfrm>
            <a:off x="5641848" y="2350008"/>
            <a:ext cx="1243584" cy="777240"/>
          </a:xfrm>
          <a:prstGeom prst="rect">
            <a:avLst/>
          </a:prstGeom>
          <a:noFill/>
          <a:ln/>
        </p:spPr>
        <p:txBody>
          <a:bodyPr wrap="square" lIns="0" tIns="0" rIns="0" bIns="0" rtlCol="0" anchor="t"/>
          <a:lstStyle/>
          <a:p>
            <a:pPr indent="0" marL="0">
              <a:buNone/>
            </a:pPr>
            <a:r>
              <a:rPr lang="en-US" sz="1050" dirty="0">
                <a:solidFill>
                  <a:schemeClr val="tx2"/>
                </a:solidFill>
              </a:rPr>
              <a:t>Type in the paper answers and approve the families’ online updates.</a:t>
            </a:r>
            <a:endParaRPr lang="en-US" sz="1050" dirty="0"/>
          </a:p>
        </p:txBody>
      </p:sp>
      <p:sp>
        <p:nvSpPr>
          <p:cNvPr id="37" name="Step 4 who chip"/>
          <p:cNvSpPr/>
          <p:nvPr/>
        </p:nvSpPr>
        <p:spPr>
          <a:xfrm>
            <a:off x="5641848" y="3127248"/>
            <a:ext cx="1005840" cy="237744"/>
          </a:xfrm>
          <a:prstGeom prst="roundRect">
            <a:avLst>
              <a:gd name="adj" fmla="val 50000"/>
            </a:avLst>
          </a:prstGeom>
          <a:solidFill>
            <a:schemeClr val="accent2"/>
          </a:solidFill>
          <a:ln/>
        </p:spPr>
      </p:sp>
      <p:sp>
        <p:nvSpPr>
          <p:cNvPr id="38" name="Step 4 who label"/>
          <p:cNvSpPr txBox="1"/>
          <p:nvPr/>
        </p:nvSpPr>
        <p:spPr>
          <a:xfrm>
            <a:off x="5641848" y="3127248"/>
            <a:ext cx="1005840" cy="237744"/>
          </a:xfrm>
          <a:prstGeom prst="rect">
            <a:avLst/>
          </a:prstGeom>
          <a:noFill/>
          <a:ln/>
        </p:spPr>
        <p:txBody>
          <a:bodyPr wrap="square" lIns="0" tIns="0" rIns="0" bIns="0" rtlCol="0" anchor="ctr"/>
          <a:lstStyle/>
          <a:p>
            <a:pPr algn="ctr" indent="0" marL="0">
              <a:buNone/>
            </a:pPr>
            <a:r>
              <a:rPr lang="en-US" sz="950" b="1" dirty="0">
                <a:solidFill>
                  <a:schemeClr val="bg1"/>
                </a:solidFill>
              </a:rPr>
              <a:t>You</a:t>
            </a:r>
            <a:endParaRPr lang="en-US" sz="950" dirty="0"/>
          </a:p>
        </p:txBody>
      </p:sp>
      <p:pic>
        <p:nvPicPr>
          <p:cNvPr id="39" name="Arrow 4" descr="preencoded.png">    </p:cNvPr>
          <p:cNvPicPr>
            <a:picLocks noChangeAspect="1"/>
          </p:cNvPicPr>
          <p:nvPr/>
        </p:nvPicPr>
        <p:blipFill>
          <a:blip r:embed="rId8"/>
          <a:stretch>
            <a:fillRect/>
          </a:stretch>
        </p:blipFill>
        <p:spPr>
          <a:xfrm>
            <a:off x="7031736" y="2276856"/>
            <a:ext cx="146304" cy="146304"/>
          </a:xfrm>
          <a:prstGeom prst="rect">
            <a:avLst/>
          </a:prstGeom>
        </p:spPr>
      </p:pic>
      <p:sp>
        <p:nvSpPr>
          <p:cNvPr id="40" name="Step 5 card"/>
          <p:cNvSpPr/>
          <p:nvPr/>
        </p:nvSpPr>
        <p:spPr>
          <a:xfrm>
            <a:off x="7187184" y="1207008"/>
            <a:ext cx="1517904" cy="2286000"/>
          </a:xfrm>
          <a:prstGeom prst="roundRect">
            <a:avLst>
              <a:gd name="adj" fmla="val 4819"/>
            </a:avLst>
          </a:prstGeom>
          <a:solidFill>
            <a:schemeClr val="bg2"/>
          </a:solidFill>
          <a:ln/>
        </p:spPr>
      </p:sp>
      <p:sp>
        <p:nvSpPr>
          <p:cNvPr id="41" name="Step 5 circle"/>
          <p:cNvSpPr/>
          <p:nvPr/>
        </p:nvSpPr>
        <p:spPr>
          <a:xfrm>
            <a:off x="7324344" y="1344168"/>
            <a:ext cx="438912" cy="438912"/>
          </a:xfrm>
          <a:prstGeom prst="ellipse">
            <a:avLst/>
          </a:prstGeom>
          <a:solidFill>
            <a:schemeClr val="tx1"/>
          </a:solidFill>
          <a:ln/>
        </p:spPr>
      </p:sp>
      <p:pic>
        <p:nvPicPr>
          <p:cNvPr id="42" name="Step 5 icon" descr="Step 5">    </p:cNvPr>
          <p:cNvPicPr>
            <a:picLocks noChangeAspect="1"/>
          </p:cNvPicPr>
          <p:nvPr/>
        </p:nvPicPr>
        <p:blipFill>
          <a:blip r:embed="rId9"/>
          <a:stretch>
            <a:fillRect/>
          </a:stretch>
        </p:blipFill>
        <p:spPr>
          <a:xfrm>
            <a:off x="7429683" y="1449507"/>
            <a:ext cx="228234" cy="228234"/>
          </a:xfrm>
          <a:prstGeom prst="rect">
            <a:avLst/>
          </a:prstGeom>
        </p:spPr>
      </p:pic>
      <p:sp>
        <p:nvSpPr>
          <p:cNvPr id="43" name="Step 5 number"/>
          <p:cNvSpPr txBox="1"/>
          <p:nvPr/>
        </p:nvSpPr>
        <p:spPr>
          <a:xfrm>
            <a:off x="8293608" y="1344168"/>
            <a:ext cx="274320" cy="274320"/>
          </a:xfrm>
          <a:prstGeom prst="rect">
            <a:avLst/>
          </a:prstGeom>
          <a:noFill/>
          <a:ln/>
        </p:spPr>
        <p:txBody>
          <a:bodyPr wrap="square" lIns="0" tIns="0" rIns="0" bIns="0" rtlCol="0" anchor="t"/>
          <a:lstStyle/>
          <a:p>
            <a:pPr algn="r" indent="0" marL="0">
              <a:buNone/>
            </a:pPr>
            <a:r>
              <a:rPr lang="en-US" sz="1800" b="1" dirty="0">
                <a:solidFill>
                  <a:schemeClr val="accent2"/>
                </a:solidFill>
                <a:latin typeface="Cambria" pitchFamily="34" charset="0"/>
                <a:ea typeface="Cambria" pitchFamily="34" charset="-122"/>
                <a:cs typeface="Cambria" pitchFamily="34" charset="-120"/>
              </a:rPr>
              <a:t>5</a:t>
            </a:r>
            <a:endParaRPr lang="en-US" sz="1800" dirty="0"/>
          </a:p>
        </p:txBody>
      </p:sp>
      <p:sp>
        <p:nvSpPr>
          <p:cNvPr id="44" name="Step 5 heading"/>
          <p:cNvSpPr txBox="1"/>
          <p:nvPr/>
        </p:nvSpPr>
        <p:spPr>
          <a:xfrm>
            <a:off x="7324344" y="1892808"/>
            <a:ext cx="1243584" cy="438912"/>
          </a:xfrm>
          <a:prstGeom prst="rect">
            <a:avLst/>
          </a:prstGeom>
          <a:noFill/>
          <a:ln/>
        </p:spPr>
        <p:txBody>
          <a:bodyPr wrap="square" lIns="0" tIns="0" rIns="0" bIns="0" rtlCol="0" anchor="t"/>
          <a:lstStyle/>
          <a:p>
            <a:pPr indent="0" marL="0">
              <a:buNone/>
            </a:pPr>
            <a:r>
              <a:rPr lang="en-US" sz="1250" b="1" dirty="0">
                <a:solidFill>
                  <a:schemeClr val="tx1"/>
                </a:solidFill>
              </a:rPr>
              <a:t>Parish office closes it</a:t>
            </a:r>
            <a:endParaRPr lang="en-US" sz="1250" dirty="0"/>
          </a:p>
        </p:txBody>
      </p:sp>
      <p:sp>
        <p:nvSpPr>
          <p:cNvPr id="45" name="Step 5 text"/>
          <p:cNvSpPr txBox="1"/>
          <p:nvPr/>
        </p:nvSpPr>
        <p:spPr>
          <a:xfrm>
            <a:off x="7324344" y="2350008"/>
            <a:ext cx="1243584" cy="777240"/>
          </a:xfrm>
          <a:prstGeom prst="rect">
            <a:avLst/>
          </a:prstGeom>
          <a:noFill/>
          <a:ln/>
        </p:spPr>
        <p:txBody>
          <a:bodyPr wrap="square" lIns="0" tIns="0" rIns="0" bIns="0" rtlCol="0" anchor="t"/>
          <a:lstStyle/>
          <a:p>
            <a:pPr indent="0" marL="0">
              <a:buNone/>
            </a:pPr>
            <a:r>
              <a:rPr lang="en-US" sz="1050" dirty="0">
                <a:solidFill>
                  <a:schemeClr val="tx2"/>
                </a:solidFill>
              </a:rPr>
              <a:t>Results come out by GKK. Members nobody confirmed are listed for follow-up.</a:t>
            </a:r>
            <a:endParaRPr lang="en-US" sz="1050" dirty="0"/>
          </a:p>
        </p:txBody>
      </p:sp>
      <p:sp>
        <p:nvSpPr>
          <p:cNvPr id="46" name="Step 5 who chip"/>
          <p:cNvSpPr/>
          <p:nvPr/>
        </p:nvSpPr>
        <p:spPr>
          <a:xfrm>
            <a:off x="7324344" y="3127248"/>
            <a:ext cx="1005840" cy="237744"/>
          </a:xfrm>
          <a:prstGeom prst="roundRect">
            <a:avLst>
              <a:gd name="adj" fmla="val 50000"/>
            </a:avLst>
          </a:prstGeom>
          <a:solidFill>
            <a:schemeClr val="accent1"/>
          </a:solidFill>
          <a:ln/>
        </p:spPr>
      </p:sp>
      <p:sp>
        <p:nvSpPr>
          <p:cNvPr id="47" name="Step 5 who label"/>
          <p:cNvSpPr txBox="1"/>
          <p:nvPr/>
        </p:nvSpPr>
        <p:spPr>
          <a:xfrm>
            <a:off x="7324344" y="3127248"/>
            <a:ext cx="1005840" cy="237744"/>
          </a:xfrm>
          <a:prstGeom prst="rect">
            <a:avLst/>
          </a:prstGeom>
          <a:noFill/>
          <a:ln/>
        </p:spPr>
        <p:txBody>
          <a:bodyPr wrap="square" lIns="0" tIns="0" rIns="0" bIns="0" rtlCol="0" anchor="ctr"/>
          <a:lstStyle/>
          <a:p>
            <a:pPr algn="ctr" indent="0" marL="0">
              <a:buNone/>
            </a:pPr>
            <a:r>
              <a:rPr lang="en-US" sz="950" b="1" dirty="0">
                <a:solidFill>
                  <a:schemeClr val="bg1"/>
                </a:solidFill>
              </a:rPr>
              <a:t>Parish office</a:t>
            </a:r>
            <a:endParaRPr lang="en-US" sz="950" dirty="0"/>
          </a:p>
        </p:txBody>
      </p:sp>
      <p:sp>
        <p:nvSpPr>
          <p:cNvPr id="48" name="Status band"/>
          <p:cNvSpPr/>
          <p:nvPr/>
        </p:nvSpPr>
        <p:spPr>
          <a:xfrm>
            <a:off x="457200" y="3657600"/>
            <a:ext cx="8229600" cy="658368"/>
          </a:xfrm>
          <a:prstGeom prst="roundRect">
            <a:avLst>
              <a:gd name="adj" fmla="val 11111"/>
            </a:avLst>
          </a:prstGeom>
          <a:solidFill>
            <a:schemeClr val="tx1"/>
          </a:solidFill>
          <a:ln/>
        </p:spPr>
      </p:sp>
      <p:sp>
        <p:nvSpPr>
          <p:cNvPr id="49" name="Status band label"/>
          <p:cNvSpPr txBox="1"/>
          <p:nvPr/>
        </p:nvSpPr>
        <p:spPr>
          <a:xfrm>
            <a:off x="640080" y="3657600"/>
            <a:ext cx="2103120" cy="658368"/>
          </a:xfrm>
          <a:prstGeom prst="rect">
            <a:avLst/>
          </a:prstGeom>
          <a:noFill/>
          <a:ln/>
        </p:spPr>
        <p:txBody>
          <a:bodyPr wrap="square" lIns="0" tIns="0" rIns="0" bIns="0" rtlCol="0" anchor="ctr"/>
          <a:lstStyle/>
          <a:p>
            <a:pPr indent="0" marL="0">
              <a:buNone/>
            </a:pPr>
            <a:r>
              <a:rPr lang="en-US" sz="1300" b="1" dirty="0">
                <a:solidFill>
                  <a:schemeClr val="bg1"/>
                </a:solidFill>
              </a:rPr>
              <a:t>Every member gets a status</a:t>
            </a:r>
            <a:endParaRPr lang="en-US" sz="1300" dirty="0"/>
          </a:p>
        </p:txBody>
      </p:sp>
      <p:sp>
        <p:nvSpPr>
          <p:cNvPr id="50" name="Active chip"/>
          <p:cNvSpPr/>
          <p:nvPr/>
        </p:nvSpPr>
        <p:spPr>
          <a:xfrm>
            <a:off x="2788920" y="3849624"/>
            <a:ext cx="868680" cy="274320"/>
          </a:xfrm>
          <a:prstGeom prst="roundRect">
            <a:avLst>
              <a:gd name="adj" fmla="val 50000"/>
            </a:avLst>
          </a:prstGeom>
          <a:solidFill>
            <a:schemeClr val="bg1"/>
          </a:solidFill>
          <a:ln/>
        </p:spPr>
      </p:sp>
      <p:sp>
        <p:nvSpPr>
          <p:cNvPr id="51" name="Active label"/>
          <p:cNvSpPr txBox="1"/>
          <p:nvPr/>
        </p:nvSpPr>
        <p:spPr>
          <a:xfrm>
            <a:off x="2788920" y="3849624"/>
            <a:ext cx="868680" cy="274320"/>
          </a:xfrm>
          <a:prstGeom prst="rect">
            <a:avLst/>
          </a:prstGeom>
          <a:noFill/>
          <a:ln/>
        </p:spPr>
        <p:txBody>
          <a:bodyPr wrap="square" lIns="0" tIns="0" rIns="0" bIns="0" rtlCol="0" anchor="ctr"/>
          <a:lstStyle/>
          <a:p>
            <a:pPr algn="ctr" indent="0" marL="0">
              <a:buNone/>
            </a:pPr>
            <a:r>
              <a:rPr lang="en-US" sz="1050" b="1" dirty="0">
                <a:solidFill>
                  <a:schemeClr val="tx1"/>
                </a:solidFill>
              </a:rPr>
              <a:t>Active</a:t>
            </a:r>
            <a:endParaRPr lang="en-US" sz="1050" dirty="0"/>
          </a:p>
        </p:txBody>
      </p:sp>
      <p:sp>
        <p:nvSpPr>
          <p:cNvPr id="52" name="Inactive chip"/>
          <p:cNvSpPr/>
          <p:nvPr/>
        </p:nvSpPr>
        <p:spPr>
          <a:xfrm>
            <a:off x="3767328" y="3849624"/>
            <a:ext cx="868680" cy="274320"/>
          </a:xfrm>
          <a:prstGeom prst="roundRect">
            <a:avLst>
              <a:gd name="adj" fmla="val 50000"/>
            </a:avLst>
          </a:prstGeom>
          <a:solidFill>
            <a:schemeClr val="bg1"/>
          </a:solidFill>
          <a:ln/>
        </p:spPr>
      </p:sp>
      <p:sp>
        <p:nvSpPr>
          <p:cNvPr id="53" name="Inactive label"/>
          <p:cNvSpPr txBox="1"/>
          <p:nvPr/>
        </p:nvSpPr>
        <p:spPr>
          <a:xfrm>
            <a:off x="3767328" y="3849624"/>
            <a:ext cx="868680" cy="274320"/>
          </a:xfrm>
          <a:prstGeom prst="rect">
            <a:avLst/>
          </a:prstGeom>
          <a:noFill/>
          <a:ln/>
        </p:spPr>
        <p:txBody>
          <a:bodyPr wrap="square" lIns="0" tIns="0" rIns="0" bIns="0" rtlCol="0" anchor="ctr"/>
          <a:lstStyle/>
          <a:p>
            <a:pPr algn="ctr" indent="0" marL="0">
              <a:buNone/>
            </a:pPr>
            <a:r>
              <a:rPr lang="en-US" sz="1050" b="1" dirty="0">
                <a:solidFill>
                  <a:schemeClr val="tx1"/>
                </a:solidFill>
              </a:rPr>
              <a:t>Inactive</a:t>
            </a:r>
            <a:endParaRPr lang="en-US" sz="1050" dirty="0"/>
          </a:p>
        </p:txBody>
      </p:sp>
      <p:sp>
        <p:nvSpPr>
          <p:cNvPr id="54" name="Moved away chip"/>
          <p:cNvSpPr/>
          <p:nvPr/>
        </p:nvSpPr>
        <p:spPr>
          <a:xfrm>
            <a:off x="4745736" y="3849624"/>
            <a:ext cx="1051560" cy="274320"/>
          </a:xfrm>
          <a:prstGeom prst="roundRect">
            <a:avLst>
              <a:gd name="adj" fmla="val 50000"/>
            </a:avLst>
          </a:prstGeom>
          <a:solidFill>
            <a:schemeClr val="bg1"/>
          </a:solidFill>
          <a:ln/>
        </p:spPr>
      </p:sp>
      <p:sp>
        <p:nvSpPr>
          <p:cNvPr id="55" name="Moved away label"/>
          <p:cNvSpPr txBox="1"/>
          <p:nvPr/>
        </p:nvSpPr>
        <p:spPr>
          <a:xfrm>
            <a:off x="4745736" y="3849624"/>
            <a:ext cx="1051560" cy="274320"/>
          </a:xfrm>
          <a:prstGeom prst="rect">
            <a:avLst/>
          </a:prstGeom>
          <a:noFill/>
          <a:ln/>
        </p:spPr>
        <p:txBody>
          <a:bodyPr wrap="square" lIns="0" tIns="0" rIns="0" bIns="0" rtlCol="0" anchor="ctr"/>
          <a:lstStyle/>
          <a:p>
            <a:pPr algn="ctr" indent="0" marL="0">
              <a:buNone/>
            </a:pPr>
            <a:r>
              <a:rPr lang="en-US" sz="1050" b="1" dirty="0">
                <a:solidFill>
                  <a:schemeClr val="tx1"/>
                </a:solidFill>
              </a:rPr>
              <a:t>Moved away</a:t>
            </a:r>
            <a:endParaRPr lang="en-US" sz="1050" dirty="0"/>
          </a:p>
        </p:txBody>
      </p:sp>
      <p:sp>
        <p:nvSpPr>
          <p:cNvPr id="56" name="Deceased chip"/>
          <p:cNvSpPr/>
          <p:nvPr/>
        </p:nvSpPr>
        <p:spPr>
          <a:xfrm>
            <a:off x="5907024" y="3849624"/>
            <a:ext cx="914400" cy="274320"/>
          </a:xfrm>
          <a:prstGeom prst="roundRect">
            <a:avLst>
              <a:gd name="adj" fmla="val 50000"/>
            </a:avLst>
          </a:prstGeom>
          <a:solidFill>
            <a:schemeClr val="bg1"/>
          </a:solidFill>
          <a:ln/>
        </p:spPr>
      </p:sp>
      <p:sp>
        <p:nvSpPr>
          <p:cNvPr id="57" name="Deceased label"/>
          <p:cNvSpPr txBox="1"/>
          <p:nvPr/>
        </p:nvSpPr>
        <p:spPr>
          <a:xfrm>
            <a:off x="5907024" y="3849624"/>
            <a:ext cx="914400" cy="274320"/>
          </a:xfrm>
          <a:prstGeom prst="rect">
            <a:avLst/>
          </a:prstGeom>
          <a:noFill/>
          <a:ln/>
        </p:spPr>
        <p:txBody>
          <a:bodyPr wrap="square" lIns="0" tIns="0" rIns="0" bIns="0" rtlCol="0" anchor="ctr"/>
          <a:lstStyle/>
          <a:p>
            <a:pPr algn="ctr" indent="0" marL="0">
              <a:buNone/>
            </a:pPr>
            <a:r>
              <a:rPr lang="en-US" sz="1050" b="1" dirty="0">
                <a:solidFill>
                  <a:schemeClr val="tx1"/>
                </a:solidFill>
              </a:rPr>
              <a:t>Deceased</a:t>
            </a:r>
            <a:endParaRPr lang="en-US" sz="1050" dirty="0"/>
          </a:p>
        </p:txBody>
      </p:sp>
      <p:sp>
        <p:nvSpPr>
          <p:cNvPr id="58" name="Left the Church chip"/>
          <p:cNvSpPr/>
          <p:nvPr/>
        </p:nvSpPr>
        <p:spPr>
          <a:xfrm>
            <a:off x="6931152" y="3849624"/>
            <a:ext cx="1280160" cy="274320"/>
          </a:xfrm>
          <a:prstGeom prst="roundRect">
            <a:avLst>
              <a:gd name="adj" fmla="val 50000"/>
            </a:avLst>
          </a:prstGeom>
          <a:solidFill>
            <a:schemeClr val="bg1"/>
          </a:solidFill>
          <a:ln/>
        </p:spPr>
      </p:sp>
      <p:sp>
        <p:nvSpPr>
          <p:cNvPr id="59" name="Left the Church label"/>
          <p:cNvSpPr txBox="1"/>
          <p:nvPr/>
        </p:nvSpPr>
        <p:spPr>
          <a:xfrm>
            <a:off x="6931152" y="3849624"/>
            <a:ext cx="1280160" cy="274320"/>
          </a:xfrm>
          <a:prstGeom prst="rect">
            <a:avLst/>
          </a:prstGeom>
          <a:noFill/>
          <a:ln/>
        </p:spPr>
        <p:txBody>
          <a:bodyPr wrap="square" lIns="0" tIns="0" rIns="0" bIns="0" rtlCol="0" anchor="ctr"/>
          <a:lstStyle/>
          <a:p>
            <a:pPr algn="ctr" indent="0" marL="0">
              <a:buNone/>
            </a:pPr>
            <a:r>
              <a:rPr lang="en-US" sz="1050" b="1" dirty="0">
                <a:solidFill>
                  <a:schemeClr val="tx1"/>
                </a:solidFill>
              </a:rPr>
              <a:t>Left the Church</a:t>
            </a:r>
            <a:endParaRPr lang="en-US" sz="1050" dirty="0"/>
          </a:p>
        </p:txBody>
      </p:sp>
      <p:sp>
        <p:nvSpPr>
          <p:cNvPr id="60" name="Reassurance note"/>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100" i="1" dirty="0">
                <a:solidFill>
                  <a:schemeClr val="accent4"/>
                </a:solidFill>
              </a:rPr>
              <a:t>Nothing in the records changes until a household’s answers are saved, and closing the census changes no data.</a:t>
            </a:r>
            <a:endParaRPr lang="en-US" sz="110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Set up your GKK before the census starts</a:t>
            </a:r>
            <a:endParaRPr lang="en-US" sz="2600" dirty="0"/>
          </a:p>
        </p:txBody>
      </p:sp>
      <p:sp>
        <p:nvSpPr>
          <p:cNvPr id="3" name="Subtitle"/>
          <p:cNvSpPr txBox="1"/>
          <p:nvPr/>
        </p:nvSpPr>
        <p:spPr>
          <a:xfrm>
            <a:off x="457200" y="795528"/>
            <a:ext cx="8229600" cy="274320"/>
          </a:xfrm>
          <a:prstGeom prst="rect">
            <a:avLst/>
          </a:prstGeom>
          <a:noFill/>
          <a:ln/>
        </p:spPr>
        <p:txBody>
          <a:bodyPr wrap="square" lIns="0" tIns="0" rIns="0" bIns="0" rtlCol="0" anchor="t"/>
          <a:lstStyle/>
          <a:p>
            <a:pPr indent="0" marL="0">
              <a:buNone/>
            </a:pPr>
            <a:r>
              <a:rPr lang="en-US" sz="1300" dirty="0">
                <a:solidFill>
                  <a:schemeClr val="tx2"/>
                </a:solidFill>
              </a:rPr>
              <a:t>Do these once. Your chapel profile is under Settings → GKK Config → My GKK.</a:t>
            </a:r>
            <a:endParaRPr lang="en-US" sz="1300" dirty="0"/>
          </a:p>
        </p:txBody>
      </p:sp>
      <p:sp>
        <p:nvSpPr>
          <p:cNvPr id="4" name="Setup 1 card"/>
          <p:cNvSpPr/>
          <p:nvPr/>
        </p:nvSpPr>
        <p:spPr>
          <a:xfrm>
            <a:off x="457200" y="1188720"/>
            <a:ext cx="2624328" cy="1627632"/>
          </a:xfrm>
          <a:prstGeom prst="roundRect">
            <a:avLst>
              <a:gd name="adj" fmla="val 4494"/>
            </a:avLst>
          </a:prstGeom>
          <a:solidFill>
            <a:schemeClr val="bg2"/>
          </a:solidFill>
          <a:ln/>
        </p:spPr>
      </p:sp>
      <p:sp>
        <p:nvSpPr>
          <p:cNvPr id="5" name="Setup 1 circle"/>
          <p:cNvSpPr/>
          <p:nvPr/>
        </p:nvSpPr>
        <p:spPr>
          <a:xfrm>
            <a:off x="594360" y="1325880"/>
            <a:ext cx="420624" cy="420624"/>
          </a:xfrm>
          <a:prstGeom prst="ellipse">
            <a:avLst/>
          </a:prstGeom>
          <a:solidFill>
            <a:schemeClr val="tx1"/>
          </a:solidFill>
          <a:ln/>
        </p:spPr>
      </p:sp>
      <p:pic>
        <p:nvPicPr>
          <p:cNvPr id="6" name="Setup 1 icon" descr="Setup 1">    </p:cNvPr>
          <p:cNvPicPr>
            <a:picLocks noChangeAspect="1"/>
          </p:cNvPicPr>
          <p:nvPr/>
        </p:nvPicPr>
        <p:blipFill>
          <a:blip r:embed="rId1"/>
          <a:stretch>
            <a:fillRect/>
          </a:stretch>
        </p:blipFill>
        <p:spPr>
          <a:xfrm>
            <a:off x="695310" y="1426830"/>
            <a:ext cx="218724" cy="218724"/>
          </a:xfrm>
          <a:prstGeom prst="rect">
            <a:avLst/>
          </a:prstGeom>
        </p:spPr>
      </p:pic>
      <p:sp>
        <p:nvSpPr>
          <p:cNvPr id="7" name="Setup 1 heading"/>
          <p:cNvSpPr txBox="1"/>
          <p:nvPr/>
        </p:nvSpPr>
        <p:spPr>
          <a:xfrm>
            <a:off x="1115568" y="1325880"/>
            <a:ext cx="1847088" cy="420624"/>
          </a:xfrm>
          <a:prstGeom prst="rect">
            <a:avLst/>
          </a:prstGeom>
          <a:noFill/>
          <a:ln/>
        </p:spPr>
        <p:txBody>
          <a:bodyPr wrap="square" lIns="0" tIns="0" rIns="0" bIns="0" rtlCol="0" anchor="ctr"/>
          <a:lstStyle/>
          <a:p>
            <a:pPr indent="0" marL="0">
              <a:buNone/>
            </a:pPr>
            <a:r>
              <a:rPr lang="en-US" sz="1300" b="1" dirty="0">
                <a:solidFill>
                  <a:schemeClr val="tx1"/>
                </a:solidFill>
              </a:rPr>
              <a:t>Sign in and set your password</a:t>
            </a:r>
            <a:endParaRPr lang="en-US" sz="1300" dirty="0"/>
          </a:p>
        </p:txBody>
      </p:sp>
      <p:sp>
        <p:nvSpPr>
          <p:cNvPr id="8" name="Setup 1 text"/>
          <p:cNvSpPr txBox="1"/>
          <p:nvPr/>
        </p:nvSpPr>
        <p:spPr>
          <a:xfrm>
            <a:off x="594360" y="1847088"/>
            <a:ext cx="2350008" cy="850392"/>
          </a:xfrm>
          <a:prstGeom prst="rect">
            <a:avLst/>
          </a:prstGeom>
          <a:noFill/>
          <a:ln/>
        </p:spPr>
        <p:txBody>
          <a:bodyPr wrap="square" lIns="0" tIns="0" rIns="0" bIns="0" rtlCol="0" anchor="t"/>
          <a:lstStyle/>
          <a:p>
            <a:pPr indent="0" marL="0">
              <a:buNone/>
            </a:pPr>
            <a:r>
              <a:rPr lang="en-US" sz="1100" dirty="0">
                <a:solidFill>
                  <a:schemeClr val="tx2"/>
                </a:solidFill>
              </a:rPr>
              <a:t>The parish office creates your </a:t>
            </a:r>
            <a:pPr indent="0" marL="0">
              <a:buNone/>
            </a:pPr>
            <a:r>
              <a:rPr lang="en-US" sz="1100" b="1" dirty="0">
                <a:solidFill>
                  <a:schemeClr val="tx1"/>
                </a:solidFill>
              </a:rPr>
              <a:t>Census Coordinator</a:t>
            </a:r>
            <a:pPr indent="0" marL="0">
              <a:buNone/>
            </a:pPr>
            <a:r>
              <a:rPr lang="en-US" sz="1100" dirty="0">
                <a:solidFill>
                  <a:schemeClr val="tx2"/>
                </a:solidFill>
              </a:rPr>
              <a:t> account for your GKK. Sign in with the temporary password, then set your own (10+ characters).</a:t>
            </a:r>
            <a:endParaRPr lang="en-US" sz="1100" dirty="0"/>
          </a:p>
        </p:txBody>
      </p:sp>
      <p:sp>
        <p:nvSpPr>
          <p:cNvPr id="9" name="Setup 2 card"/>
          <p:cNvSpPr/>
          <p:nvPr/>
        </p:nvSpPr>
        <p:spPr>
          <a:xfrm>
            <a:off x="3264408" y="1188720"/>
            <a:ext cx="2624328" cy="1627632"/>
          </a:xfrm>
          <a:prstGeom prst="roundRect">
            <a:avLst>
              <a:gd name="adj" fmla="val 4494"/>
            </a:avLst>
          </a:prstGeom>
          <a:solidFill>
            <a:schemeClr val="bg2"/>
          </a:solidFill>
          <a:ln/>
        </p:spPr>
      </p:sp>
      <p:sp>
        <p:nvSpPr>
          <p:cNvPr id="10" name="Setup 2 circle"/>
          <p:cNvSpPr/>
          <p:nvPr/>
        </p:nvSpPr>
        <p:spPr>
          <a:xfrm>
            <a:off x="3401568" y="1325880"/>
            <a:ext cx="420624" cy="420624"/>
          </a:xfrm>
          <a:prstGeom prst="ellipse">
            <a:avLst/>
          </a:prstGeom>
          <a:solidFill>
            <a:schemeClr val="tx1"/>
          </a:solidFill>
          <a:ln/>
        </p:spPr>
      </p:sp>
      <p:pic>
        <p:nvPicPr>
          <p:cNvPr id="11" name="Setup 2 icon" descr="Setup 2">    </p:cNvPr>
          <p:cNvPicPr>
            <a:picLocks noChangeAspect="1"/>
          </p:cNvPicPr>
          <p:nvPr/>
        </p:nvPicPr>
        <p:blipFill>
          <a:blip r:embed="rId2"/>
          <a:stretch>
            <a:fillRect/>
          </a:stretch>
        </p:blipFill>
        <p:spPr>
          <a:xfrm>
            <a:off x="3502518" y="1426830"/>
            <a:ext cx="218724" cy="218724"/>
          </a:xfrm>
          <a:prstGeom prst="rect">
            <a:avLst/>
          </a:prstGeom>
        </p:spPr>
      </p:pic>
      <p:sp>
        <p:nvSpPr>
          <p:cNvPr id="12" name="Setup 2 heading"/>
          <p:cNvSpPr txBox="1"/>
          <p:nvPr/>
        </p:nvSpPr>
        <p:spPr>
          <a:xfrm>
            <a:off x="3922776" y="1325880"/>
            <a:ext cx="1847088" cy="420624"/>
          </a:xfrm>
          <a:prstGeom prst="rect">
            <a:avLst/>
          </a:prstGeom>
          <a:noFill/>
          <a:ln/>
        </p:spPr>
        <p:txBody>
          <a:bodyPr wrap="square" lIns="0" tIns="0" rIns="0" bIns="0" rtlCol="0" anchor="ctr"/>
          <a:lstStyle/>
          <a:p>
            <a:pPr indent="0" marL="0">
              <a:buNone/>
            </a:pPr>
            <a:r>
              <a:rPr lang="en-US" sz="1300" b="1" dirty="0">
                <a:solidFill>
                  <a:schemeClr val="tx1"/>
                </a:solidFill>
              </a:rPr>
              <a:t>Complete your chapel profile</a:t>
            </a:r>
            <a:endParaRPr lang="en-US" sz="1300" dirty="0"/>
          </a:p>
        </p:txBody>
      </p:sp>
      <p:sp>
        <p:nvSpPr>
          <p:cNvPr id="13" name="Setup 2 text"/>
          <p:cNvSpPr txBox="1"/>
          <p:nvPr/>
        </p:nvSpPr>
        <p:spPr>
          <a:xfrm>
            <a:off x="3401568" y="1847088"/>
            <a:ext cx="2350008" cy="850392"/>
          </a:xfrm>
          <a:prstGeom prst="rect">
            <a:avLst/>
          </a:prstGeom>
          <a:noFill/>
          <a:ln/>
        </p:spPr>
        <p:txBody>
          <a:bodyPr wrap="square" lIns="0" tIns="0" rIns="0" bIns="0" rtlCol="0" anchor="t"/>
          <a:lstStyle/>
          <a:p>
            <a:pPr indent="0" marL="0">
              <a:buNone/>
            </a:pPr>
            <a:r>
              <a:rPr lang="en-US" sz="1100" b="1" dirty="0">
                <a:solidFill>
                  <a:schemeClr val="tx1"/>
                </a:solidFill>
              </a:rPr>
              <a:t>Details tab: </a:t>
            </a:r>
            <a:pPr indent="0" marL="0">
              <a:buNone/>
            </a:pPr>
            <a:r>
              <a:rPr lang="en-US" sz="1100" dirty="0">
                <a:solidFill>
                  <a:schemeClr val="tx2"/>
                </a:solidFill>
              </a:rPr>
              <a:t>chapel address (required), puroks / sitios, year established, Bible-sharing schedule, meeting place and photos. Click </a:t>
            </a:r>
            <a:pPr indent="0" marL="0">
              <a:buNone/>
            </a:pPr>
            <a:r>
              <a:rPr lang="en-US" sz="1100" b="1" dirty="0">
                <a:solidFill>
                  <a:schemeClr val="tx1"/>
                </a:solidFill>
              </a:rPr>
              <a:t>Save details</a:t>
            </a:r>
            <a:pPr indent="0" marL="0">
              <a:buNone/>
            </a:pPr>
            <a:r>
              <a:rPr lang="en-US" sz="1100" dirty="0">
                <a:solidFill>
                  <a:schemeClr val="tx2"/>
                </a:solidFill>
              </a:rPr>
              <a:t>.</a:t>
            </a:r>
            <a:endParaRPr lang="en-US" sz="1100" dirty="0"/>
          </a:p>
        </p:txBody>
      </p:sp>
      <p:sp>
        <p:nvSpPr>
          <p:cNvPr id="14" name="Setup 3 card"/>
          <p:cNvSpPr/>
          <p:nvPr/>
        </p:nvSpPr>
        <p:spPr>
          <a:xfrm>
            <a:off x="6071616" y="1188720"/>
            <a:ext cx="2624328" cy="1627632"/>
          </a:xfrm>
          <a:prstGeom prst="roundRect">
            <a:avLst>
              <a:gd name="adj" fmla="val 4494"/>
            </a:avLst>
          </a:prstGeom>
          <a:solidFill>
            <a:schemeClr val="bg2"/>
          </a:solidFill>
          <a:ln/>
        </p:spPr>
      </p:sp>
      <p:sp>
        <p:nvSpPr>
          <p:cNvPr id="15" name="Setup 3 circle"/>
          <p:cNvSpPr/>
          <p:nvPr/>
        </p:nvSpPr>
        <p:spPr>
          <a:xfrm>
            <a:off x="6208776" y="1325880"/>
            <a:ext cx="420624" cy="420624"/>
          </a:xfrm>
          <a:prstGeom prst="ellipse">
            <a:avLst/>
          </a:prstGeom>
          <a:solidFill>
            <a:schemeClr val="tx1"/>
          </a:solidFill>
          <a:ln/>
        </p:spPr>
      </p:sp>
      <p:pic>
        <p:nvPicPr>
          <p:cNvPr id="16" name="Setup 3 icon" descr="Setup 3">    </p:cNvPr>
          <p:cNvPicPr>
            <a:picLocks noChangeAspect="1"/>
          </p:cNvPicPr>
          <p:nvPr/>
        </p:nvPicPr>
        <p:blipFill>
          <a:blip r:embed="rId3"/>
          <a:stretch>
            <a:fillRect/>
          </a:stretch>
        </p:blipFill>
        <p:spPr>
          <a:xfrm>
            <a:off x="6309726" y="1426830"/>
            <a:ext cx="218724" cy="218724"/>
          </a:xfrm>
          <a:prstGeom prst="rect">
            <a:avLst/>
          </a:prstGeom>
        </p:spPr>
      </p:pic>
      <p:sp>
        <p:nvSpPr>
          <p:cNvPr id="17" name="Setup 3 heading"/>
          <p:cNvSpPr txBox="1"/>
          <p:nvPr/>
        </p:nvSpPr>
        <p:spPr>
          <a:xfrm>
            <a:off x="6729984" y="1325880"/>
            <a:ext cx="1847088" cy="420624"/>
          </a:xfrm>
          <a:prstGeom prst="rect">
            <a:avLst/>
          </a:prstGeom>
          <a:noFill/>
          <a:ln/>
        </p:spPr>
        <p:txBody>
          <a:bodyPr wrap="square" lIns="0" tIns="0" rIns="0" bIns="0" rtlCol="0" anchor="ctr"/>
          <a:lstStyle/>
          <a:p>
            <a:pPr indent="0" marL="0">
              <a:buNone/>
            </a:pPr>
            <a:r>
              <a:rPr lang="en-US" sz="1300" b="1" dirty="0">
                <a:solidFill>
                  <a:schemeClr val="tx1"/>
                </a:solidFill>
              </a:rPr>
              <a:t>Add history and documents</a:t>
            </a:r>
            <a:endParaRPr lang="en-US" sz="1300" dirty="0"/>
          </a:p>
        </p:txBody>
      </p:sp>
      <p:sp>
        <p:nvSpPr>
          <p:cNvPr id="18" name="Setup 3 text"/>
          <p:cNvSpPr txBox="1"/>
          <p:nvPr/>
        </p:nvSpPr>
        <p:spPr>
          <a:xfrm>
            <a:off x="6208776" y="1847088"/>
            <a:ext cx="2350008" cy="850392"/>
          </a:xfrm>
          <a:prstGeom prst="rect">
            <a:avLst/>
          </a:prstGeom>
          <a:noFill/>
          <a:ln/>
        </p:spPr>
        <p:txBody>
          <a:bodyPr wrap="square" lIns="0" tIns="0" rIns="0" bIns="0" rtlCol="0" anchor="t"/>
          <a:lstStyle/>
          <a:p>
            <a:pPr indent="0" marL="0">
              <a:buNone/>
            </a:pPr>
            <a:r>
              <a:rPr lang="en-US" sz="1100" b="1" dirty="0">
                <a:solidFill>
                  <a:schemeClr val="tx1"/>
                </a:solidFill>
              </a:rPr>
              <a:t>History tab: </a:t>
            </a:r>
            <a:pPr indent="0" marL="0">
              <a:buNone/>
            </a:pPr>
            <a:r>
              <a:rPr lang="en-US" sz="1100" dirty="0">
                <a:solidFill>
                  <a:schemeClr val="tx2"/>
                </a:solidFill>
              </a:rPr>
              <a:t>write your GKK’s story; the parish office publishes it. </a:t>
            </a:r>
            <a:pPr indent="0" marL="0">
              <a:buNone/>
            </a:pPr>
            <a:r>
              <a:rPr lang="en-US" sz="1100" b="1" dirty="0">
                <a:solidFill>
                  <a:schemeClr val="tx1"/>
                </a:solidFill>
              </a:rPr>
              <a:t>Documents tab: </a:t>
            </a:r>
            <a:pPr indent="0" marL="0">
              <a:buNone/>
            </a:pPr>
            <a:r>
              <a:rPr lang="en-US" sz="1100" dirty="0">
                <a:solidFill>
                  <a:schemeClr val="tx2"/>
                </a:solidFill>
              </a:rPr>
              <a:t>keep private files such as land titles.</a:t>
            </a:r>
            <a:endParaRPr lang="en-US" sz="1100" dirty="0"/>
          </a:p>
        </p:txBody>
      </p:sp>
      <p:sp>
        <p:nvSpPr>
          <p:cNvPr id="19" name="Setup 4 card"/>
          <p:cNvSpPr/>
          <p:nvPr/>
        </p:nvSpPr>
        <p:spPr>
          <a:xfrm>
            <a:off x="457200" y="2971800"/>
            <a:ext cx="2624328" cy="1627632"/>
          </a:xfrm>
          <a:prstGeom prst="roundRect">
            <a:avLst>
              <a:gd name="adj" fmla="val 4494"/>
            </a:avLst>
          </a:prstGeom>
          <a:solidFill>
            <a:schemeClr val="bg2"/>
          </a:solidFill>
          <a:ln/>
        </p:spPr>
      </p:sp>
      <p:sp>
        <p:nvSpPr>
          <p:cNvPr id="20" name="Setup 4 circle"/>
          <p:cNvSpPr/>
          <p:nvPr/>
        </p:nvSpPr>
        <p:spPr>
          <a:xfrm>
            <a:off x="594360" y="3108960"/>
            <a:ext cx="420624" cy="420624"/>
          </a:xfrm>
          <a:prstGeom prst="ellipse">
            <a:avLst/>
          </a:prstGeom>
          <a:solidFill>
            <a:schemeClr val="tx1"/>
          </a:solidFill>
          <a:ln/>
        </p:spPr>
      </p:sp>
      <p:pic>
        <p:nvPicPr>
          <p:cNvPr id="21" name="Setup 4 icon" descr="Setup 4">    </p:cNvPr>
          <p:cNvPicPr>
            <a:picLocks noChangeAspect="1"/>
          </p:cNvPicPr>
          <p:nvPr/>
        </p:nvPicPr>
        <p:blipFill>
          <a:blip r:embed="rId4"/>
          <a:stretch>
            <a:fillRect/>
          </a:stretch>
        </p:blipFill>
        <p:spPr>
          <a:xfrm>
            <a:off x="695310" y="3209910"/>
            <a:ext cx="218724" cy="218724"/>
          </a:xfrm>
          <a:prstGeom prst="rect">
            <a:avLst/>
          </a:prstGeom>
        </p:spPr>
      </p:pic>
      <p:sp>
        <p:nvSpPr>
          <p:cNvPr id="22" name="Setup 4 heading"/>
          <p:cNvSpPr txBox="1"/>
          <p:nvPr/>
        </p:nvSpPr>
        <p:spPr>
          <a:xfrm>
            <a:off x="1115568" y="3108960"/>
            <a:ext cx="1847088" cy="420624"/>
          </a:xfrm>
          <a:prstGeom prst="rect">
            <a:avLst/>
          </a:prstGeom>
          <a:noFill/>
          <a:ln/>
        </p:spPr>
        <p:txBody>
          <a:bodyPr wrap="square" lIns="0" tIns="0" rIns="0" bIns="0" rtlCol="0" anchor="ctr"/>
          <a:lstStyle/>
          <a:p>
            <a:pPr indent="0" marL="0">
              <a:buNone/>
            </a:pPr>
            <a:r>
              <a:rPr lang="en-US" sz="1300" b="1" dirty="0">
                <a:solidFill>
                  <a:schemeClr val="tx1"/>
                </a:solidFill>
              </a:rPr>
              <a:t>Name your officers</a:t>
            </a:r>
            <a:endParaRPr lang="en-US" sz="1300" dirty="0"/>
          </a:p>
        </p:txBody>
      </p:sp>
      <p:sp>
        <p:nvSpPr>
          <p:cNvPr id="23" name="Setup 4 text"/>
          <p:cNvSpPr txBox="1"/>
          <p:nvPr/>
        </p:nvSpPr>
        <p:spPr>
          <a:xfrm>
            <a:off x="594360" y="3630168"/>
            <a:ext cx="2350008" cy="850392"/>
          </a:xfrm>
          <a:prstGeom prst="rect">
            <a:avLst/>
          </a:prstGeom>
          <a:noFill/>
          <a:ln/>
        </p:spPr>
        <p:txBody>
          <a:bodyPr wrap="square" lIns="0" tIns="0" rIns="0" bIns="0" rtlCol="0" anchor="t"/>
          <a:lstStyle/>
          <a:p>
            <a:pPr indent="0" marL="0">
              <a:buNone/>
            </a:pPr>
            <a:r>
              <a:rPr lang="en-US" sz="1100" dirty="0">
                <a:solidFill>
                  <a:schemeClr val="tx2"/>
                </a:solidFill>
              </a:rPr>
              <a:t>In each officer’s member window, set </a:t>
            </a:r>
            <a:pPr indent="0" marL="0">
              <a:buNone/>
            </a:pPr>
            <a:r>
              <a:rPr lang="en-US" sz="1100" b="1" dirty="0">
                <a:solidFill>
                  <a:schemeClr val="tx1"/>
                </a:solidFill>
              </a:rPr>
              <a:t>Responsibility in GKK</a:t>
            </a:r>
            <a:pPr indent="0" marL="0">
              <a:buNone/>
            </a:pPr>
            <a:r>
              <a:rPr lang="en-US" sz="1100" dirty="0">
                <a:solidFill>
                  <a:schemeClr val="tx2"/>
                </a:solidFill>
              </a:rPr>
              <a:t>: President, Vice-President, Secretary, Treasurer or Business Manager.</a:t>
            </a:r>
            <a:endParaRPr lang="en-US" sz="1100" dirty="0"/>
          </a:p>
        </p:txBody>
      </p:sp>
      <p:sp>
        <p:nvSpPr>
          <p:cNvPr id="24" name="Setup 5 card"/>
          <p:cNvSpPr/>
          <p:nvPr/>
        </p:nvSpPr>
        <p:spPr>
          <a:xfrm>
            <a:off x="3264408" y="2971800"/>
            <a:ext cx="2624328" cy="1627632"/>
          </a:xfrm>
          <a:prstGeom prst="roundRect">
            <a:avLst>
              <a:gd name="adj" fmla="val 4494"/>
            </a:avLst>
          </a:prstGeom>
          <a:solidFill>
            <a:schemeClr val="bg2"/>
          </a:solidFill>
          <a:ln/>
        </p:spPr>
      </p:sp>
      <p:sp>
        <p:nvSpPr>
          <p:cNvPr id="25" name="Setup 5 circle"/>
          <p:cNvSpPr/>
          <p:nvPr/>
        </p:nvSpPr>
        <p:spPr>
          <a:xfrm>
            <a:off x="3401568" y="3108960"/>
            <a:ext cx="420624" cy="420624"/>
          </a:xfrm>
          <a:prstGeom prst="ellipse">
            <a:avLst/>
          </a:prstGeom>
          <a:solidFill>
            <a:schemeClr val="tx1"/>
          </a:solidFill>
          <a:ln/>
        </p:spPr>
      </p:sp>
      <p:pic>
        <p:nvPicPr>
          <p:cNvPr id="26" name="Setup 5 icon" descr="Setup 5">    </p:cNvPr>
          <p:cNvPicPr>
            <a:picLocks noChangeAspect="1"/>
          </p:cNvPicPr>
          <p:nvPr/>
        </p:nvPicPr>
        <p:blipFill>
          <a:blip r:embed="rId5"/>
          <a:stretch>
            <a:fillRect/>
          </a:stretch>
        </p:blipFill>
        <p:spPr>
          <a:xfrm>
            <a:off x="3502518" y="3209910"/>
            <a:ext cx="218724" cy="218724"/>
          </a:xfrm>
          <a:prstGeom prst="rect">
            <a:avLst/>
          </a:prstGeom>
        </p:spPr>
      </p:pic>
      <p:sp>
        <p:nvSpPr>
          <p:cNvPr id="27" name="Setup 5 heading"/>
          <p:cNvSpPr txBox="1"/>
          <p:nvPr/>
        </p:nvSpPr>
        <p:spPr>
          <a:xfrm>
            <a:off x="3922776" y="3108960"/>
            <a:ext cx="1847088" cy="420624"/>
          </a:xfrm>
          <a:prstGeom prst="rect">
            <a:avLst/>
          </a:prstGeom>
          <a:noFill/>
          <a:ln/>
        </p:spPr>
        <p:txBody>
          <a:bodyPr wrap="square" lIns="0" tIns="0" rIns="0" bIns="0" rtlCol="0" anchor="ctr"/>
          <a:lstStyle/>
          <a:p>
            <a:pPr indent="0" marL="0">
              <a:buNone/>
            </a:pPr>
            <a:r>
              <a:rPr lang="en-US" sz="1300" b="1" dirty="0">
                <a:solidFill>
                  <a:schemeClr val="tx1"/>
                </a:solidFill>
              </a:rPr>
              <a:t>Check your households</a:t>
            </a:r>
            <a:endParaRPr lang="en-US" sz="1300" dirty="0"/>
          </a:p>
        </p:txBody>
      </p:sp>
      <p:sp>
        <p:nvSpPr>
          <p:cNvPr id="28" name="Setup 5 text"/>
          <p:cNvSpPr txBox="1"/>
          <p:nvPr/>
        </p:nvSpPr>
        <p:spPr>
          <a:xfrm>
            <a:off x="3401568" y="3630168"/>
            <a:ext cx="2350008" cy="850392"/>
          </a:xfrm>
          <a:prstGeom prst="rect">
            <a:avLst/>
          </a:prstGeom>
          <a:noFill/>
          <a:ln/>
        </p:spPr>
        <p:txBody>
          <a:bodyPr wrap="square" lIns="0" tIns="0" rIns="0" bIns="0" rtlCol="0" anchor="t"/>
          <a:lstStyle/>
          <a:p>
            <a:pPr indent="0" marL="0">
              <a:buNone/>
            </a:pPr>
            <a:r>
              <a:rPr lang="en-US" sz="1100" dirty="0">
                <a:solidFill>
                  <a:schemeClr val="tx2"/>
                </a:solidFill>
              </a:rPr>
              <a:t>Is each household in the right Family Grouping (FG 1–10)? Open </a:t>
            </a:r>
            <a:pPr indent="0" marL="0">
              <a:buNone/>
            </a:pPr>
            <a:r>
              <a:rPr lang="en-US" sz="1100" b="1" dirty="0">
                <a:solidFill>
                  <a:schemeClr val="tx1"/>
                </a:solidFill>
              </a:rPr>
              <a:t>Settings → Duplicates</a:t>
            </a:r>
            <a:pPr indent="0" marL="0">
              <a:buNone/>
            </a:pPr>
            <a:r>
              <a:rPr lang="en-US" sz="1100" dirty="0">
                <a:solidFill>
                  <a:schemeClr val="tx2"/>
                </a:solidFill>
              </a:rPr>
              <a:t> to find members listed twice.</a:t>
            </a:r>
            <a:endParaRPr lang="en-US" sz="1100" dirty="0"/>
          </a:p>
        </p:txBody>
      </p:sp>
      <p:sp>
        <p:nvSpPr>
          <p:cNvPr id="29" name="Setup 6 card"/>
          <p:cNvSpPr/>
          <p:nvPr/>
        </p:nvSpPr>
        <p:spPr>
          <a:xfrm>
            <a:off x="6071616" y="2971800"/>
            <a:ext cx="2624328" cy="1627632"/>
          </a:xfrm>
          <a:prstGeom prst="roundRect">
            <a:avLst>
              <a:gd name="adj" fmla="val 4494"/>
            </a:avLst>
          </a:prstGeom>
          <a:solidFill>
            <a:schemeClr val="bg2"/>
          </a:solidFill>
          <a:ln/>
        </p:spPr>
      </p:sp>
      <p:sp>
        <p:nvSpPr>
          <p:cNvPr id="30" name="Setup 6 circle"/>
          <p:cNvSpPr/>
          <p:nvPr/>
        </p:nvSpPr>
        <p:spPr>
          <a:xfrm>
            <a:off x="6208776" y="3108960"/>
            <a:ext cx="420624" cy="420624"/>
          </a:xfrm>
          <a:prstGeom prst="ellipse">
            <a:avLst/>
          </a:prstGeom>
          <a:solidFill>
            <a:schemeClr val="tx1"/>
          </a:solidFill>
          <a:ln/>
        </p:spPr>
      </p:sp>
      <p:pic>
        <p:nvPicPr>
          <p:cNvPr id="31" name="Setup 6 icon" descr="Setup 6">    </p:cNvPr>
          <p:cNvPicPr>
            <a:picLocks noChangeAspect="1"/>
          </p:cNvPicPr>
          <p:nvPr/>
        </p:nvPicPr>
        <p:blipFill>
          <a:blip r:embed="rId6"/>
          <a:stretch>
            <a:fillRect/>
          </a:stretch>
        </p:blipFill>
        <p:spPr>
          <a:xfrm>
            <a:off x="6309726" y="3209910"/>
            <a:ext cx="218724" cy="218724"/>
          </a:xfrm>
          <a:prstGeom prst="rect">
            <a:avLst/>
          </a:prstGeom>
        </p:spPr>
      </p:pic>
      <p:sp>
        <p:nvSpPr>
          <p:cNvPr id="32" name="Setup 6 heading"/>
          <p:cNvSpPr txBox="1"/>
          <p:nvPr/>
        </p:nvSpPr>
        <p:spPr>
          <a:xfrm>
            <a:off x="6729984" y="3108960"/>
            <a:ext cx="1847088" cy="420624"/>
          </a:xfrm>
          <a:prstGeom prst="rect">
            <a:avLst/>
          </a:prstGeom>
          <a:noFill/>
          <a:ln/>
        </p:spPr>
        <p:txBody>
          <a:bodyPr wrap="square" lIns="0" tIns="0" rIns="0" bIns="0" rtlCol="0" anchor="ctr"/>
          <a:lstStyle/>
          <a:p>
            <a:pPr indent="0" marL="0">
              <a:buNone/>
            </a:pPr>
            <a:r>
              <a:rPr lang="en-US" sz="1300" b="1" dirty="0">
                <a:solidFill>
                  <a:schemeClr val="tx1"/>
                </a:solidFill>
              </a:rPr>
              <a:t>Turn on notifications</a:t>
            </a:r>
            <a:endParaRPr lang="en-US" sz="1300" dirty="0"/>
          </a:p>
        </p:txBody>
      </p:sp>
      <p:sp>
        <p:nvSpPr>
          <p:cNvPr id="33" name="Setup 6 text"/>
          <p:cNvSpPr txBox="1"/>
          <p:nvPr/>
        </p:nvSpPr>
        <p:spPr>
          <a:xfrm>
            <a:off x="6208776" y="3630168"/>
            <a:ext cx="2350008" cy="850392"/>
          </a:xfrm>
          <a:prstGeom prst="rect">
            <a:avLst/>
          </a:prstGeom>
          <a:noFill/>
          <a:ln/>
        </p:spPr>
        <p:txBody>
          <a:bodyPr wrap="square" lIns="0" tIns="0" rIns="0" bIns="0" rtlCol="0" anchor="t"/>
          <a:lstStyle/>
          <a:p>
            <a:pPr indent="0" marL="0">
              <a:buNone/>
            </a:pPr>
            <a:r>
              <a:rPr lang="en-US" sz="1100" b="1" dirty="0">
                <a:solidFill>
                  <a:schemeClr val="tx1"/>
                </a:solidFill>
              </a:rPr>
              <a:t>Settings → Notifications</a:t>
            </a:r>
            <a:pPr indent="0" marL="0">
              <a:buNone/>
            </a:pPr>
            <a:r>
              <a:rPr lang="en-US" sz="1100" dirty="0">
                <a:solidFill>
                  <a:schemeClr val="tx2"/>
                </a:solidFill>
              </a:rPr>
              <a:t>, then “Turn on notifications on this device” so you know when families send updates. On iPhone, add the app to the Home Screen first.</a:t>
            </a:r>
            <a:endParaRPr lang="en-US" sz="110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Starting the census in your GKK</a:t>
            </a:r>
            <a:endParaRPr lang="en-US" sz="2600" dirty="0"/>
          </a:p>
        </p:txBody>
      </p:sp>
      <p:sp>
        <p:nvSpPr>
          <p:cNvPr id="3" name="Parish office panel"/>
          <p:cNvSpPr/>
          <p:nvPr/>
        </p:nvSpPr>
        <p:spPr>
          <a:xfrm>
            <a:off x="457200" y="1051560"/>
            <a:ext cx="2743200" cy="3566160"/>
          </a:xfrm>
          <a:prstGeom prst="roundRect">
            <a:avLst>
              <a:gd name="adj" fmla="val 2667"/>
            </a:avLst>
          </a:prstGeom>
          <a:solidFill>
            <a:schemeClr val="tx1"/>
          </a:solidFill>
          <a:ln/>
        </p:spPr>
      </p:sp>
      <p:sp>
        <p:nvSpPr>
          <p:cNvPr id="4" name="Start circle"/>
          <p:cNvSpPr/>
          <p:nvPr/>
        </p:nvSpPr>
        <p:spPr>
          <a:xfrm>
            <a:off x="640080" y="1234440"/>
            <a:ext cx="457200" cy="457200"/>
          </a:xfrm>
          <a:prstGeom prst="ellipse">
            <a:avLst/>
          </a:prstGeom>
          <a:solidFill>
            <a:schemeClr val="accent2"/>
          </a:solidFill>
          <a:ln/>
        </p:spPr>
      </p:sp>
      <p:pic>
        <p:nvPicPr>
          <p:cNvPr id="5" name="Start icon" descr="Start">    </p:cNvPr>
          <p:cNvPicPr>
            <a:picLocks noChangeAspect="1"/>
          </p:cNvPicPr>
          <p:nvPr/>
        </p:nvPicPr>
        <p:blipFill>
          <a:blip r:embed="rId1"/>
          <a:stretch>
            <a:fillRect/>
          </a:stretch>
        </p:blipFill>
        <p:spPr>
          <a:xfrm>
            <a:off x="749808" y="1344168"/>
            <a:ext cx="237744" cy="237744"/>
          </a:xfrm>
          <a:prstGeom prst="rect">
            <a:avLst/>
          </a:prstGeom>
        </p:spPr>
      </p:pic>
      <p:sp>
        <p:nvSpPr>
          <p:cNvPr id="6" name="Office heading"/>
          <p:cNvSpPr txBox="1"/>
          <p:nvPr/>
        </p:nvSpPr>
        <p:spPr>
          <a:xfrm>
            <a:off x="1207008" y="1234440"/>
            <a:ext cx="1874520" cy="457200"/>
          </a:xfrm>
          <a:prstGeom prst="rect">
            <a:avLst/>
          </a:prstGeom>
          <a:noFill/>
          <a:ln/>
        </p:spPr>
        <p:txBody>
          <a:bodyPr wrap="square" lIns="0" tIns="0" rIns="0" bIns="0" rtlCol="0" anchor="ctr"/>
          <a:lstStyle/>
          <a:p>
            <a:pPr indent="0" marL="0">
              <a:buNone/>
            </a:pPr>
            <a:r>
              <a:rPr lang="en-US" sz="1300" b="1" dirty="0">
                <a:solidFill>
                  <a:schemeClr val="accent6"/>
                </a:solidFill>
              </a:rPr>
              <a:t>The parish office opens it</a:t>
            </a:r>
            <a:endParaRPr lang="en-US" sz="1300" dirty="0"/>
          </a:p>
        </p:txBody>
      </p:sp>
      <p:sp>
        <p:nvSpPr>
          <p:cNvPr id="7" name="Office steps"/>
          <p:cNvSpPr txBox="1"/>
          <p:nvPr/>
        </p:nvSpPr>
        <p:spPr>
          <a:xfrm>
            <a:off x="640080" y="1874520"/>
            <a:ext cx="2423160" cy="1554480"/>
          </a:xfrm>
          <a:prstGeom prst="rect">
            <a:avLst/>
          </a:prstGeom>
          <a:noFill/>
          <a:ln/>
        </p:spPr>
        <p:txBody>
          <a:bodyPr wrap="square" lIns="0" tIns="0" rIns="0" bIns="0" rtlCol="0" anchor="t"/>
          <a:lstStyle/>
          <a:p>
            <a:pPr indent="0" marL="0">
              <a:spcAft>
                <a:spcPts val="600"/>
              </a:spcAft>
              <a:buNone/>
            </a:pPr>
            <a:r>
              <a:rPr lang="en-US" sz="1200" dirty="0">
                <a:solidFill>
                  <a:schemeClr val="bg1"/>
                </a:solidFill>
              </a:rPr>
              <a:t>Census → </a:t>
            </a:r>
            <a:pPr indent="0" marL="0">
              <a:spcAft>
                <a:spcPts val="600"/>
              </a:spcAft>
              <a:buNone/>
            </a:pPr>
            <a:r>
              <a:rPr lang="en-US" sz="1200" b="1" dirty="0">
                <a:solidFill>
                  <a:schemeClr val="bg1"/>
                </a:solidFill>
              </a:rPr>
              <a:t>Start a new census</a:t>
            </a:r>
            <a:endParaRPr lang="en-US" sz="1200" dirty="0"/>
          </a:p>
          <a:p>
            <a:pPr indent="0" marL="0">
              <a:spcAft>
                <a:spcPts val="600"/>
              </a:spcAft>
              <a:buNone/>
            </a:pPr>
            <a:r>
              <a:rPr lang="en-US" sz="1200" dirty="0">
                <a:solidFill>
                  <a:schemeClr val="bg1"/>
                </a:solidFill>
              </a:rPr>
              <a:t>Name: </a:t>
            </a:r>
            <a:pPr indent="0" marL="0">
              <a:spcAft>
                <a:spcPts val="600"/>
              </a:spcAft>
              <a:buNone/>
            </a:pPr>
            <a:r>
              <a:rPr lang="en-US" sz="1200" b="1" dirty="0">
                <a:solidFill>
                  <a:schemeClr val="bg1"/>
                </a:solidFill>
              </a:rPr>
              <a:t>“2026 Census”</a:t>
            </a:r>
            <a:endParaRPr lang="en-US" sz="1200" dirty="0"/>
          </a:p>
          <a:p>
            <a:pPr indent="0" marL="0">
              <a:spcAft>
                <a:spcPts val="600"/>
              </a:spcAft>
              <a:buNone/>
            </a:pPr>
            <a:r>
              <a:rPr lang="en-US" sz="1200" dirty="0">
                <a:solidFill>
                  <a:schemeClr val="bg1"/>
                </a:solidFill>
              </a:rPr>
              <a:t>Dates: </a:t>
            </a:r>
            <a:pPr indent="0" marL="0">
              <a:spcAft>
                <a:spcPts val="600"/>
              </a:spcAft>
              <a:buNone/>
            </a:pPr>
            <a:r>
              <a:rPr lang="en-US" sz="1200" b="1" dirty="0">
                <a:solidFill>
                  <a:schemeClr val="bg1"/>
                </a:solidFill>
              </a:rPr>
              <a:t>Starts on, Target end</a:t>
            </a:r>
            <a:endParaRPr lang="en-US" sz="1200" dirty="0"/>
          </a:p>
          <a:p>
            <a:pPr indent="0" marL="0">
              <a:spcAft>
                <a:spcPts val="600"/>
              </a:spcAft>
              <a:buNone/>
            </a:pPr>
            <a:r>
              <a:rPr lang="en-US" sz="1200" dirty="0">
                <a:solidFill>
                  <a:schemeClr val="bg1"/>
                </a:solidFill>
              </a:rPr>
              <a:t>Click </a:t>
            </a:r>
            <a:pPr indent="0" marL="0">
              <a:spcAft>
                <a:spcPts val="600"/>
              </a:spcAft>
              <a:buNone/>
            </a:pPr>
            <a:r>
              <a:rPr lang="en-US" sz="1200" b="1" dirty="0">
                <a:solidFill>
                  <a:schemeClr val="bg1"/>
                </a:solidFill>
              </a:rPr>
              <a:t>Start census</a:t>
            </a:r>
            <a:endParaRPr lang="en-US" sz="1200" dirty="0"/>
          </a:p>
        </p:txBody>
      </p:sp>
      <p:sp>
        <p:nvSpPr>
          <p:cNvPr id="8" name="Office note"/>
          <p:cNvSpPr txBox="1"/>
          <p:nvPr/>
        </p:nvSpPr>
        <p:spPr>
          <a:xfrm>
            <a:off x="640080" y="3337560"/>
            <a:ext cx="2423160" cy="1097280"/>
          </a:xfrm>
          <a:prstGeom prst="rect">
            <a:avLst/>
          </a:prstGeom>
          <a:noFill/>
          <a:ln/>
        </p:spPr>
        <p:txBody>
          <a:bodyPr wrap="square" lIns="0" tIns="0" rIns="0" bIns="0" rtlCol="0" anchor="t"/>
          <a:lstStyle/>
          <a:p>
            <a:pPr indent="0" marL="0">
              <a:buNone/>
            </a:pPr>
            <a:r>
              <a:rPr lang="en-US" sz="1100" i="1" dirty="0">
                <a:solidFill>
                  <a:schemeClr val="accent6"/>
                </a:solidFill>
              </a:rPr>
              <a:t>Every member starts as “not confirmed”. Only one census is open at a time, and only the parish office can start, close or reopen it.</a:t>
            </a:r>
            <a:endParaRPr lang="en-US" sz="1100" dirty="0"/>
          </a:p>
        </p:txBody>
      </p:sp>
      <p:sp>
        <p:nvSpPr>
          <p:cNvPr id="9" name="Then you"/>
          <p:cNvSpPr txBox="1"/>
          <p:nvPr/>
        </p:nvSpPr>
        <p:spPr>
          <a:xfrm>
            <a:off x="3474720" y="1051560"/>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Then you:</a:t>
            </a:r>
            <a:endParaRPr lang="en-US" sz="1300" dirty="0"/>
          </a:p>
        </p:txBody>
      </p:sp>
      <p:sp>
        <p:nvSpPr>
          <p:cNvPr id="10" name="You step 1 card"/>
          <p:cNvSpPr/>
          <p:nvPr/>
        </p:nvSpPr>
        <p:spPr>
          <a:xfrm>
            <a:off x="3474720" y="1417320"/>
            <a:ext cx="5212080" cy="713232"/>
          </a:xfrm>
          <a:prstGeom prst="roundRect">
            <a:avLst>
              <a:gd name="adj" fmla="val 10256"/>
            </a:avLst>
          </a:prstGeom>
          <a:solidFill>
            <a:schemeClr val="bg2"/>
          </a:solidFill>
          <a:ln/>
        </p:spPr>
      </p:sp>
      <p:sp>
        <p:nvSpPr>
          <p:cNvPr id="11" name="You step 1 number circle"/>
          <p:cNvSpPr/>
          <p:nvPr/>
        </p:nvSpPr>
        <p:spPr>
          <a:xfrm>
            <a:off x="3611880" y="1581912"/>
            <a:ext cx="384048" cy="384048"/>
          </a:xfrm>
          <a:prstGeom prst="ellipse">
            <a:avLst/>
          </a:prstGeom>
          <a:solidFill>
            <a:schemeClr val="accent2"/>
          </a:solidFill>
          <a:ln/>
        </p:spPr>
      </p:sp>
      <p:sp>
        <p:nvSpPr>
          <p:cNvPr id="12" name="You step 1 number"/>
          <p:cNvSpPr txBox="1"/>
          <p:nvPr/>
        </p:nvSpPr>
        <p:spPr>
          <a:xfrm>
            <a:off x="3611880" y="15819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3" name="You step 1 heading"/>
          <p:cNvSpPr txBox="1"/>
          <p:nvPr/>
        </p:nvSpPr>
        <p:spPr>
          <a:xfrm>
            <a:off x="4160520" y="1490472"/>
            <a:ext cx="4389120" cy="246888"/>
          </a:xfrm>
          <a:prstGeom prst="rect">
            <a:avLst/>
          </a:prstGeom>
          <a:noFill/>
          <a:ln/>
        </p:spPr>
        <p:txBody>
          <a:bodyPr wrap="square" lIns="0" tIns="0" rIns="0" bIns="0" rtlCol="0" anchor="t"/>
          <a:lstStyle/>
          <a:p>
            <a:pPr indent="0" marL="0">
              <a:buNone/>
            </a:pPr>
            <a:r>
              <a:rPr lang="en-US" sz="1250" b="1" dirty="0">
                <a:solidFill>
                  <a:schemeClr val="tx1"/>
                </a:solidFill>
              </a:rPr>
              <a:t>Open Census</a:t>
            </a:r>
            <a:endParaRPr lang="en-US" sz="1250" dirty="0"/>
          </a:p>
        </p:txBody>
      </p:sp>
      <p:sp>
        <p:nvSpPr>
          <p:cNvPr id="14" name="You step 1 text"/>
          <p:cNvSpPr txBox="1"/>
          <p:nvPr/>
        </p:nvSpPr>
        <p:spPr>
          <a:xfrm>
            <a:off x="4160520" y="1746504"/>
            <a:ext cx="4389120" cy="347472"/>
          </a:xfrm>
          <a:prstGeom prst="rect">
            <a:avLst/>
          </a:prstGeom>
          <a:noFill/>
          <a:ln/>
        </p:spPr>
        <p:txBody>
          <a:bodyPr wrap="square" lIns="0" tIns="0" rIns="0" bIns="0" rtlCol="0" anchor="t"/>
          <a:lstStyle/>
          <a:p>
            <a:pPr indent="0" marL="0">
              <a:buNone/>
            </a:pPr>
            <a:r>
              <a:rPr lang="en-US" sz="1050" dirty="0">
                <a:solidFill>
                  <a:schemeClr val="tx2"/>
                </a:solidFill>
              </a:rPr>
              <a:t>You’ll see “Showing the households of [your GKK]”. Only your GKK’s households are listed.</a:t>
            </a:r>
            <a:endParaRPr lang="en-US" sz="1050" dirty="0"/>
          </a:p>
        </p:txBody>
      </p:sp>
      <p:sp>
        <p:nvSpPr>
          <p:cNvPr id="15" name="You step 2 card"/>
          <p:cNvSpPr/>
          <p:nvPr/>
        </p:nvSpPr>
        <p:spPr>
          <a:xfrm>
            <a:off x="3474720" y="2231136"/>
            <a:ext cx="5212080" cy="713232"/>
          </a:xfrm>
          <a:prstGeom prst="roundRect">
            <a:avLst>
              <a:gd name="adj" fmla="val 10256"/>
            </a:avLst>
          </a:prstGeom>
          <a:solidFill>
            <a:schemeClr val="bg2"/>
          </a:solidFill>
          <a:ln/>
        </p:spPr>
      </p:sp>
      <p:sp>
        <p:nvSpPr>
          <p:cNvPr id="16" name="You step 2 number circle"/>
          <p:cNvSpPr/>
          <p:nvPr/>
        </p:nvSpPr>
        <p:spPr>
          <a:xfrm>
            <a:off x="3611880" y="2395728"/>
            <a:ext cx="384048" cy="384048"/>
          </a:xfrm>
          <a:prstGeom prst="ellipse">
            <a:avLst/>
          </a:prstGeom>
          <a:solidFill>
            <a:schemeClr val="accent2"/>
          </a:solidFill>
          <a:ln/>
        </p:spPr>
      </p:sp>
      <p:sp>
        <p:nvSpPr>
          <p:cNvPr id="17" name="You step 2 number"/>
          <p:cNvSpPr txBox="1"/>
          <p:nvPr/>
        </p:nvSpPr>
        <p:spPr>
          <a:xfrm>
            <a:off x="361188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8" name="You step 2 heading"/>
          <p:cNvSpPr txBox="1"/>
          <p:nvPr/>
        </p:nvSpPr>
        <p:spPr>
          <a:xfrm>
            <a:off x="4160520" y="2304288"/>
            <a:ext cx="4389120" cy="246888"/>
          </a:xfrm>
          <a:prstGeom prst="rect">
            <a:avLst/>
          </a:prstGeom>
          <a:noFill/>
          <a:ln/>
        </p:spPr>
        <p:txBody>
          <a:bodyPr wrap="square" lIns="0" tIns="0" rIns="0" bIns="0" rtlCol="0" anchor="t"/>
          <a:lstStyle/>
          <a:p>
            <a:pPr indent="0" marL="0">
              <a:buNone/>
            </a:pPr>
            <a:r>
              <a:rPr lang="en-US" sz="1250" b="1" dirty="0">
                <a:solidFill>
                  <a:schemeClr val="tx1"/>
                </a:solidFill>
              </a:rPr>
              <a:t>Check the starting point</a:t>
            </a:r>
            <a:endParaRPr lang="en-US" sz="1250" dirty="0"/>
          </a:p>
        </p:txBody>
      </p:sp>
      <p:sp>
        <p:nvSpPr>
          <p:cNvPr id="19" name="You step 2 text"/>
          <p:cNvSpPr txBox="1"/>
          <p:nvPr/>
        </p:nvSpPr>
        <p:spPr>
          <a:xfrm>
            <a:off x="4160520" y="2560320"/>
            <a:ext cx="4389120" cy="347472"/>
          </a:xfrm>
          <a:prstGeom prst="rect">
            <a:avLst/>
          </a:prstGeom>
          <a:noFill/>
          <a:ln/>
        </p:spPr>
        <p:txBody>
          <a:bodyPr wrap="square" lIns="0" tIns="0" rIns="0" bIns="0" rtlCol="0" anchor="t"/>
          <a:lstStyle/>
          <a:p>
            <a:pPr indent="0" marL="0">
              <a:buNone/>
            </a:pPr>
            <a:r>
              <a:rPr lang="en-US" sz="1050" dirty="0">
                <a:solidFill>
                  <a:schemeClr val="tx2"/>
                </a:solidFill>
              </a:rPr>
              <a:t>On the Households tab, every household reads Not started and Members confirmed is 0%.</a:t>
            </a:r>
            <a:endParaRPr lang="en-US" sz="1050" dirty="0"/>
          </a:p>
        </p:txBody>
      </p:sp>
      <p:sp>
        <p:nvSpPr>
          <p:cNvPr id="20" name="You step 3 card"/>
          <p:cNvSpPr/>
          <p:nvPr/>
        </p:nvSpPr>
        <p:spPr>
          <a:xfrm>
            <a:off x="3474720" y="3044952"/>
            <a:ext cx="5212080" cy="713232"/>
          </a:xfrm>
          <a:prstGeom prst="roundRect">
            <a:avLst>
              <a:gd name="adj" fmla="val 10256"/>
            </a:avLst>
          </a:prstGeom>
          <a:solidFill>
            <a:schemeClr val="bg2"/>
          </a:solidFill>
          <a:ln/>
        </p:spPr>
      </p:sp>
      <p:sp>
        <p:nvSpPr>
          <p:cNvPr id="21" name="You step 3 number circle"/>
          <p:cNvSpPr/>
          <p:nvPr/>
        </p:nvSpPr>
        <p:spPr>
          <a:xfrm>
            <a:off x="3611880" y="3209544"/>
            <a:ext cx="384048" cy="384048"/>
          </a:xfrm>
          <a:prstGeom prst="ellipse">
            <a:avLst/>
          </a:prstGeom>
          <a:solidFill>
            <a:schemeClr val="accent2"/>
          </a:solidFill>
          <a:ln/>
        </p:spPr>
      </p:sp>
      <p:sp>
        <p:nvSpPr>
          <p:cNvPr id="22" name="You step 3 number"/>
          <p:cNvSpPr txBox="1"/>
          <p:nvPr/>
        </p:nvSpPr>
        <p:spPr>
          <a:xfrm>
            <a:off x="3611880" y="32095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You step 3 heading"/>
          <p:cNvSpPr txBox="1"/>
          <p:nvPr/>
        </p:nvSpPr>
        <p:spPr>
          <a:xfrm>
            <a:off x="4160520" y="3118104"/>
            <a:ext cx="4389120" cy="246888"/>
          </a:xfrm>
          <a:prstGeom prst="rect">
            <a:avLst/>
          </a:prstGeom>
          <a:noFill/>
          <a:ln/>
        </p:spPr>
        <p:txBody>
          <a:bodyPr wrap="square" lIns="0" tIns="0" rIns="0" bIns="0" rtlCol="0" anchor="t"/>
          <a:lstStyle/>
          <a:p>
            <a:pPr indent="0" marL="0">
              <a:buNone/>
            </a:pPr>
            <a:r>
              <a:rPr lang="en-US" sz="1250" b="1" dirty="0">
                <a:solidFill>
                  <a:schemeClr val="tx1"/>
                </a:solidFill>
              </a:rPr>
              <a:t>Click “Print forms for [your GKK]”</a:t>
            </a:r>
            <a:endParaRPr lang="en-US" sz="1250" dirty="0"/>
          </a:p>
        </p:txBody>
      </p:sp>
      <p:sp>
        <p:nvSpPr>
          <p:cNvPr id="24" name="You step 3 text"/>
          <p:cNvSpPr txBox="1"/>
          <p:nvPr/>
        </p:nvSpPr>
        <p:spPr>
          <a:xfrm>
            <a:off x="4160520" y="3374136"/>
            <a:ext cx="4389120" cy="347472"/>
          </a:xfrm>
          <a:prstGeom prst="rect">
            <a:avLst/>
          </a:prstGeom>
          <a:noFill/>
          <a:ln/>
        </p:spPr>
        <p:txBody>
          <a:bodyPr wrap="square" lIns="0" tIns="0" rIns="0" bIns="0" rtlCol="0" anchor="t"/>
          <a:lstStyle/>
          <a:p>
            <a:pPr indent="0" marL="0">
              <a:buNone/>
            </a:pPr>
            <a:r>
              <a:rPr lang="en-US" sz="1050" dirty="0">
                <a:solidFill>
                  <a:schemeClr val="tx2"/>
                </a:solidFill>
              </a:rPr>
              <a:t>One pre-filled page per household, with its QR code and online code. Print form on a row prints just one.</a:t>
            </a:r>
            <a:endParaRPr lang="en-US" sz="1050" dirty="0"/>
          </a:p>
        </p:txBody>
      </p:sp>
      <p:sp>
        <p:nvSpPr>
          <p:cNvPr id="25" name="You step 4 card"/>
          <p:cNvSpPr/>
          <p:nvPr/>
        </p:nvSpPr>
        <p:spPr>
          <a:xfrm>
            <a:off x="3474720" y="3858768"/>
            <a:ext cx="5212080" cy="713232"/>
          </a:xfrm>
          <a:prstGeom prst="roundRect">
            <a:avLst>
              <a:gd name="adj" fmla="val 10256"/>
            </a:avLst>
          </a:prstGeom>
          <a:solidFill>
            <a:schemeClr val="bg2"/>
          </a:solidFill>
          <a:ln/>
        </p:spPr>
      </p:sp>
      <p:sp>
        <p:nvSpPr>
          <p:cNvPr id="26" name="You step 4 number circle"/>
          <p:cNvSpPr/>
          <p:nvPr/>
        </p:nvSpPr>
        <p:spPr>
          <a:xfrm>
            <a:off x="3611880" y="4023360"/>
            <a:ext cx="384048" cy="384048"/>
          </a:xfrm>
          <a:prstGeom prst="ellipse">
            <a:avLst/>
          </a:prstGeom>
          <a:solidFill>
            <a:schemeClr val="accent2"/>
          </a:solidFill>
          <a:ln/>
        </p:spPr>
      </p:sp>
      <p:sp>
        <p:nvSpPr>
          <p:cNvPr id="27" name="You step 4 number"/>
          <p:cNvSpPr txBox="1"/>
          <p:nvPr/>
        </p:nvSpPr>
        <p:spPr>
          <a:xfrm>
            <a:off x="3611880"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You step 4 heading"/>
          <p:cNvSpPr txBox="1"/>
          <p:nvPr/>
        </p:nvSpPr>
        <p:spPr>
          <a:xfrm>
            <a:off x="4160520" y="3931920"/>
            <a:ext cx="4389120" cy="246888"/>
          </a:xfrm>
          <a:prstGeom prst="rect">
            <a:avLst/>
          </a:prstGeom>
          <a:noFill/>
          <a:ln/>
        </p:spPr>
        <p:txBody>
          <a:bodyPr wrap="square" lIns="0" tIns="0" rIns="0" bIns="0" rtlCol="0" anchor="t"/>
          <a:lstStyle/>
          <a:p>
            <a:pPr indent="0" marL="0">
              <a:buNone/>
            </a:pPr>
            <a:r>
              <a:rPr lang="en-US" sz="1250" b="1" dirty="0">
                <a:solidFill>
                  <a:schemeClr val="tx1"/>
                </a:solidFill>
              </a:rPr>
              <a:t>Hand out the forms</a:t>
            </a:r>
            <a:endParaRPr lang="en-US" sz="1250" dirty="0"/>
          </a:p>
        </p:txBody>
      </p:sp>
      <p:sp>
        <p:nvSpPr>
          <p:cNvPr id="29" name="You step 4 text"/>
          <p:cNvSpPr txBox="1"/>
          <p:nvPr/>
        </p:nvSpPr>
        <p:spPr>
          <a:xfrm>
            <a:off x="4160520" y="4187952"/>
            <a:ext cx="4389120" cy="347472"/>
          </a:xfrm>
          <a:prstGeom prst="rect">
            <a:avLst/>
          </a:prstGeom>
          <a:noFill/>
          <a:ln/>
        </p:spPr>
        <p:txBody>
          <a:bodyPr wrap="square" lIns="0" tIns="0" rIns="0" bIns="0" rtlCol="0" anchor="t"/>
          <a:lstStyle/>
          <a:p>
            <a:pPr indent="0" marL="0">
              <a:buNone/>
            </a:pPr>
            <a:r>
              <a:rPr lang="en-US" sz="1050" dirty="0">
                <a:solidFill>
                  <a:schemeClr val="tx2"/>
                </a:solidFill>
              </a:rPr>
              <a:t>Go by Family Grouping. Tell families they can fill in the paper form or scan the QR code to answer online.</a:t>
            </a:r>
            <a:endParaRPr lang="en-US" sz="105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Managing the census from the Census page</a:t>
            </a:r>
            <a:endParaRPr lang="en-US" sz="2600" dirty="0"/>
          </a:p>
        </p:txBody>
      </p:sp>
      <p:sp>
        <p:nvSpPr>
          <p:cNvPr id="3" name="Census page mock"/>
          <p:cNvSpPr/>
          <p:nvPr/>
        </p:nvSpPr>
        <p:spPr>
          <a:xfrm>
            <a:off x="457200" y="1051560"/>
            <a:ext cx="5166360" cy="3566160"/>
          </a:xfrm>
          <a:prstGeom prst="roundRect">
            <a:avLst>
              <a:gd name="adj" fmla="val 2051"/>
            </a:avLst>
          </a:prstGeom>
          <a:solidFill>
            <a:schemeClr val="bg1"/>
          </a:solidFill>
          <a:ln w="9525">
            <a:solidFill>
              <a:srgbClr val="D9DEE8"/>
            </a:solidFill>
            <a:prstDash val="solid"/>
          </a:ln>
          <a:effectLst>
            <a:outerShdw sx="100000" sy="100000" kx="0" ky="0" algn="bl" rotWithShape="0" blurRad="76200" dist="25400" dir="5400000">
              <a:srgbClr val="1A2B4A">
                <a:alpha val="12000"/>
              </a:srgbClr>
            </a:outerShdw>
          </a:effectLst>
        </p:spPr>
      </p:sp>
      <p:sp>
        <p:nvSpPr>
          <p:cNvPr id="4" name="Tab Households chip"/>
          <p:cNvSpPr/>
          <p:nvPr/>
        </p:nvSpPr>
        <p:spPr>
          <a:xfrm>
            <a:off x="621792" y="1188720"/>
            <a:ext cx="960120" cy="274320"/>
          </a:xfrm>
          <a:prstGeom prst="roundRect">
            <a:avLst>
              <a:gd name="adj" fmla="val 50000"/>
            </a:avLst>
          </a:prstGeom>
          <a:solidFill>
            <a:schemeClr val="tx1"/>
          </a:solidFill>
          <a:ln/>
        </p:spPr>
      </p:sp>
      <p:sp>
        <p:nvSpPr>
          <p:cNvPr id="5" name="Tab Households label"/>
          <p:cNvSpPr txBox="1"/>
          <p:nvPr/>
        </p:nvSpPr>
        <p:spPr>
          <a:xfrm>
            <a:off x="621792" y="1188720"/>
            <a:ext cx="960120" cy="274320"/>
          </a:xfrm>
          <a:prstGeom prst="rect">
            <a:avLst/>
          </a:prstGeom>
          <a:noFill/>
          <a:ln/>
        </p:spPr>
        <p:txBody>
          <a:bodyPr wrap="square" lIns="0" tIns="0" rIns="0" bIns="0" rtlCol="0" anchor="ctr"/>
          <a:lstStyle/>
          <a:p>
            <a:pPr algn="ctr" indent="0" marL="0">
              <a:buNone/>
            </a:pPr>
            <a:r>
              <a:rPr lang="en-US" sz="1000" b="1" dirty="0">
                <a:solidFill>
                  <a:schemeClr val="bg1"/>
                </a:solidFill>
              </a:rPr>
              <a:t>Households</a:t>
            </a:r>
            <a:endParaRPr lang="en-US" sz="1000" dirty="0"/>
          </a:p>
        </p:txBody>
      </p:sp>
      <p:sp>
        <p:nvSpPr>
          <p:cNvPr id="6" name="Tab Online updates (2) chip"/>
          <p:cNvSpPr/>
          <p:nvPr/>
        </p:nvSpPr>
        <p:spPr>
          <a:xfrm>
            <a:off x="1655064" y="1188720"/>
            <a:ext cx="1234440" cy="274320"/>
          </a:xfrm>
          <a:prstGeom prst="roundRect">
            <a:avLst>
              <a:gd name="adj" fmla="val 50000"/>
            </a:avLst>
          </a:prstGeom>
          <a:solidFill>
            <a:schemeClr val="bg2"/>
          </a:solidFill>
          <a:ln/>
        </p:spPr>
      </p:sp>
      <p:sp>
        <p:nvSpPr>
          <p:cNvPr id="7" name="Tab Online updates (2) label"/>
          <p:cNvSpPr txBox="1"/>
          <p:nvPr/>
        </p:nvSpPr>
        <p:spPr>
          <a:xfrm>
            <a:off x="1655064" y="1188720"/>
            <a:ext cx="1234440" cy="274320"/>
          </a:xfrm>
          <a:prstGeom prst="rect">
            <a:avLst/>
          </a:prstGeom>
          <a:noFill/>
          <a:ln/>
        </p:spPr>
        <p:txBody>
          <a:bodyPr wrap="square" lIns="0" tIns="0" rIns="0" bIns="0" rtlCol="0" anchor="ctr"/>
          <a:lstStyle/>
          <a:p>
            <a:pPr algn="ctr" indent="0" marL="0">
              <a:buNone/>
            </a:pPr>
            <a:r>
              <a:rPr lang="en-US" sz="1000" b="1" dirty="0">
                <a:solidFill>
                  <a:schemeClr val="tx1"/>
                </a:solidFill>
              </a:rPr>
              <a:t>Online updates (2)</a:t>
            </a:r>
            <a:endParaRPr lang="en-US" sz="1000" dirty="0"/>
          </a:p>
        </p:txBody>
      </p:sp>
      <p:sp>
        <p:nvSpPr>
          <p:cNvPr id="8" name="Tab Results by GKK chip"/>
          <p:cNvSpPr/>
          <p:nvPr/>
        </p:nvSpPr>
        <p:spPr>
          <a:xfrm>
            <a:off x="2962656" y="1188720"/>
            <a:ext cx="1051560" cy="274320"/>
          </a:xfrm>
          <a:prstGeom prst="roundRect">
            <a:avLst>
              <a:gd name="adj" fmla="val 50000"/>
            </a:avLst>
          </a:prstGeom>
          <a:solidFill>
            <a:schemeClr val="bg2"/>
          </a:solidFill>
          <a:ln/>
        </p:spPr>
      </p:sp>
      <p:sp>
        <p:nvSpPr>
          <p:cNvPr id="9" name="Tab Results by GKK label"/>
          <p:cNvSpPr txBox="1"/>
          <p:nvPr/>
        </p:nvSpPr>
        <p:spPr>
          <a:xfrm>
            <a:off x="2962656" y="1188720"/>
            <a:ext cx="1051560" cy="274320"/>
          </a:xfrm>
          <a:prstGeom prst="rect">
            <a:avLst/>
          </a:prstGeom>
          <a:noFill/>
          <a:ln/>
        </p:spPr>
        <p:txBody>
          <a:bodyPr wrap="square" lIns="0" tIns="0" rIns="0" bIns="0" rtlCol="0" anchor="ctr"/>
          <a:lstStyle/>
          <a:p>
            <a:pPr algn="ctr" indent="0" marL="0">
              <a:buNone/>
            </a:pPr>
            <a:r>
              <a:rPr lang="en-US" sz="1000" b="1" dirty="0">
                <a:solidFill>
                  <a:schemeClr val="tx1"/>
                </a:solidFill>
              </a:rPr>
              <a:t>Results by GKK</a:t>
            </a:r>
            <a:endParaRPr lang="en-US" sz="1000" dirty="0"/>
          </a:p>
        </p:txBody>
      </p:sp>
      <p:sp>
        <p:nvSpPr>
          <p:cNvPr id="10" name="Tab Last year’s list chip"/>
          <p:cNvSpPr/>
          <p:nvPr/>
        </p:nvSpPr>
        <p:spPr>
          <a:xfrm>
            <a:off x="4087368" y="1188720"/>
            <a:ext cx="1051560" cy="274320"/>
          </a:xfrm>
          <a:prstGeom prst="roundRect">
            <a:avLst>
              <a:gd name="adj" fmla="val 50000"/>
            </a:avLst>
          </a:prstGeom>
          <a:solidFill>
            <a:schemeClr val="bg2"/>
          </a:solidFill>
          <a:ln/>
        </p:spPr>
      </p:sp>
      <p:sp>
        <p:nvSpPr>
          <p:cNvPr id="11" name="Tab Last year’s list label"/>
          <p:cNvSpPr txBox="1"/>
          <p:nvPr/>
        </p:nvSpPr>
        <p:spPr>
          <a:xfrm>
            <a:off x="4087368" y="1188720"/>
            <a:ext cx="1051560" cy="274320"/>
          </a:xfrm>
          <a:prstGeom prst="rect">
            <a:avLst/>
          </a:prstGeom>
          <a:noFill/>
          <a:ln/>
        </p:spPr>
        <p:txBody>
          <a:bodyPr wrap="square" lIns="0" tIns="0" rIns="0" bIns="0" rtlCol="0" anchor="ctr"/>
          <a:lstStyle/>
          <a:p>
            <a:pPr algn="ctr" indent="0" marL="0">
              <a:buNone/>
            </a:pPr>
            <a:r>
              <a:rPr lang="en-US" sz="1000" b="1" dirty="0">
                <a:solidFill>
                  <a:schemeClr val="tx1"/>
                </a:solidFill>
              </a:rPr>
              <a:t>Last year’s list</a:t>
            </a:r>
            <a:endParaRPr lang="en-US" sz="1000" dirty="0"/>
          </a:p>
        </p:txBody>
      </p:sp>
      <p:sp>
        <p:nvSpPr>
          <p:cNvPr id="12" name="Tile 1"/>
          <p:cNvSpPr/>
          <p:nvPr/>
        </p:nvSpPr>
        <p:spPr>
          <a:xfrm>
            <a:off x="621792" y="1627632"/>
            <a:ext cx="1124712" cy="685800"/>
          </a:xfrm>
          <a:prstGeom prst="roundRect">
            <a:avLst>
              <a:gd name="adj" fmla="val 10667"/>
            </a:avLst>
          </a:prstGeom>
          <a:solidFill>
            <a:schemeClr val="bg2"/>
          </a:solidFill>
          <a:ln/>
        </p:spPr>
      </p:sp>
      <p:sp>
        <p:nvSpPr>
          <p:cNvPr id="13" name="Tile 1 label"/>
          <p:cNvSpPr txBox="1"/>
          <p:nvPr/>
        </p:nvSpPr>
        <p:spPr>
          <a:xfrm>
            <a:off x="713232" y="1691640"/>
            <a:ext cx="960120" cy="201168"/>
          </a:xfrm>
          <a:prstGeom prst="rect">
            <a:avLst/>
          </a:prstGeom>
          <a:noFill/>
          <a:ln/>
        </p:spPr>
        <p:txBody>
          <a:bodyPr wrap="square" lIns="0" tIns="0" rIns="0" bIns="0" rtlCol="0" anchor="t"/>
          <a:lstStyle/>
          <a:p>
            <a:pPr indent="0" marL="0">
              <a:buNone/>
            </a:pPr>
            <a:r>
              <a:rPr lang="en-US" sz="900" dirty="0">
                <a:solidFill>
                  <a:schemeClr val="tx2"/>
                </a:solidFill>
              </a:rPr>
              <a:t>Members confirmed</a:t>
            </a:r>
            <a:endParaRPr lang="en-US" sz="900" dirty="0"/>
          </a:p>
        </p:txBody>
      </p:sp>
      <p:sp>
        <p:nvSpPr>
          <p:cNvPr id="14" name="Tile 1 value"/>
          <p:cNvSpPr txBox="1"/>
          <p:nvPr/>
        </p:nvSpPr>
        <p:spPr>
          <a:xfrm>
            <a:off x="713232" y="1892808"/>
            <a:ext cx="960120" cy="34747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62%</a:t>
            </a:r>
            <a:endParaRPr lang="en-US" sz="1800" dirty="0"/>
          </a:p>
        </p:txBody>
      </p:sp>
      <p:sp>
        <p:nvSpPr>
          <p:cNvPr id="15" name="Tile 2"/>
          <p:cNvSpPr/>
          <p:nvPr/>
        </p:nvSpPr>
        <p:spPr>
          <a:xfrm>
            <a:off x="1837944" y="1627632"/>
            <a:ext cx="1124712" cy="685800"/>
          </a:xfrm>
          <a:prstGeom prst="roundRect">
            <a:avLst>
              <a:gd name="adj" fmla="val 10667"/>
            </a:avLst>
          </a:prstGeom>
          <a:solidFill>
            <a:schemeClr val="bg2"/>
          </a:solidFill>
          <a:ln/>
        </p:spPr>
      </p:sp>
      <p:sp>
        <p:nvSpPr>
          <p:cNvPr id="16" name="Tile 2 label"/>
          <p:cNvSpPr txBox="1"/>
          <p:nvPr/>
        </p:nvSpPr>
        <p:spPr>
          <a:xfrm>
            <a:off x="1929384" y="1691640"/>
            <a:ext cx="960120" cy="201168"/>
          </a:xfrm>
          <a:prstGeom prst="rect">
            <a:avLst/>
          </a:prstGeom>
          <a:noFill/>
          <a:ln/>
        </p:spPr>
        <p:txBody>
          <a:bodyPr wrap="square" lIns="0" tIns="0" rIns="0" bIns="0" rtlCol="0" anchor="t"/>
          <a:lstStyle/>
          <a:p>
            <a:pPr indent="0" marL="0">
              <a:buNone/>
            </a:pPr>
            <a:r>
              <a:rPr lang="en-US" sz="900" dirty="0">
                <a:solidFill>
                  <a:schemeClr val="tx2"/>
                </a:solidFill>
              </a:rPr>
              <a:t>Households done</a:t>
            </a:r>
            <a:endParaRPr lang="en-US" sz="900" dirty="0"/>
          </a:p>
        </p:txBody>
      </p:sp>
      <p:sp>
        <p:nvSpPr>
          <p:cNvPr id="17" name="Tile 2 value"/>
          <p:cNvSpPr txBox="1"/>
          <p:nvPr/>
        </p:nvSpPr>
        <p:spPr>
          <a:xfrm>
            <a:off x="1929384" y="1892808"/>
            <a:ext cx="960120" cy="34747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18 of 30</a:t>
            </a:r>
            <a:endParaRPr lang="en-US" sz="1800" dirty="0"/>
          </a:p>
        </p:txBody>
      </p:sp>
      <p:sp>
        <p:nvSpPr>
          <p:cNvPr id="18" name="Tile 3"/>
          <p:cNvSpPr/>
          <p:nvPr/>
        </p:nvSpPr>
        <p:spPr>
          <a:xfrm>
            <a:off x="3054096" y="1627632"/>
            <a:ext cx="1124712" cy="685800"/>
          </a:xfrm>
          <a:prstGeom prst="roundRect">
            <a:avLst>
              <a:gd name="adj" fmla="val 10667"/>
            </a:avLst>
          </a:prstGeom>
          <a:solidFill>
            <a:schemeClr val="bg2"/>
          </a:solidFill>
          <a:ln/>
        </p:spPr>
      </p:sp>
      <p:sp>
        <p:nvSpPr>
          <p:cNvPr id="19" name="Tile 3 label"/>
          <p:cNvSpPr txBox="1"/>
          <p:nvPr/>
        </p:nvSpPr>
        <p:spPr>
          <a:xfrm>
            <a:off x="3145536" y="1691640"/>
            <a:ext cx="960120" cy="201168"/>
          </a:xfrm>
          <a:prstGeom prst="rect">
            <a:avLst/>
          </a:prstGeom>
          <a:noFill/>
          <a:ln/>
        </p:spPr>
        <p:txBody>
          <a:bodyPr wrap="square" lIns="0" tIns="0" rIns="0" bIns="0" rtlCol="0" anchor="t"/>
          <a:lstStyle/>
          <a:p>
            <a:pPr indent="0" marL="0">
              <a:buNone/>
            </a:pPr>
            <a:r>
              <a:rPr lang="en-US" sz="900" dirty="0">
                <a:solidFill>
                  <a:schemeClr val="tx2"/>
                </a:solidFill>
              </a:rPr>
              <a:t>Active</a:t>
            </a:r>
            <a:endParaRPr lang="en-US" sz="900" dirty="0"/>
          </a:p>
        </p:txBody>
      </p:sp>
      <p:sp>
        <p:nvSpPr>
          <p:cNvPr id="20" name="Tile 3 value"/>
          <p:cNvSpPr txBox="1"/>
          <p:nvPr/>
        </p:nvSpPr>
        <p:spPr>
          <a:xfrm>
            <a:off x="3145536" y="1892808"/>
            <a:ext cx="960120" cy="34747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74</a:t>
            </a:r>
            <a:endParaRPr lang="en-US" sz="1800" dirty="0"/>
          </a:p>
        </p:txBody>
      </p:sp>
      <p:sp>
        <p:nvSpPr>
          <p:cNvPr id="21" name="Tile 4"/>
          <p:cNvSpPr/>
          <p:nvPr/>
        </p:nvSpPr>
        <p:spPr>
          <a:xfrm>
            <a:off x="4270248" y="1627632"/>
            <a:ext cx="1124712" cy="685800"/>
          </a:xfrm>
          <a:prstGeom prst="roundRect">
            <a:avLst>
              <a:gd name="adj" fmla="val 10667"/>
            </a:avLst>
          </a:prstGeom>
          <a:solidFill>
            <a:schemeClr val="bg2"/>
          </a:solidFill>
          <a:ln/>
        </p:spPr>
      </p:sp>
      <p:sp>
        <p:nvSpPr>
          <p:cNvPr id="22" name="Tile 4 label"/>
          <p:cNvSpPr txBox="1"/>
          <p:nvPr/>
        </p:nvSpPr>
        <p:spPr>
          <a:xfrm>
            <a:off x="4361688" y="1691640"/>
            <a:ext cx="960120" cy="201168"/>
          </a:xfrm>
          <a:prstGeom prst="rect">
            <a:avLst/>
          </a:prstGeom>
          <a:noFill/>
          <a:ln/>
        </p:spPr>
        <p:txBody>
          <a:bodyPr wrap="square" lIns="0" tIns="0" rIns="0" bIns="0" rtlCol="0" anchor="t"/>
          <a:lstStyle/>
          <a:p>
            <a:pPr indent="0" marL="0">
              <a:buNone/>
            </a:pPr>
            <a:r>
              <a:rPr lang="en-US" sz="900" dirty="0">
                <a:solidFill>
                  <a:schemeClr val="tx2"/>
                </a:solidFill>
              </a:rPr>
              <a:t>Moved / deceased</a:t>
            </a:r>
            <a:endParaRPr lang="en-US" sz="900" dirty="0"/>
          </a:p>
        </p:txBody>
      </p:sp>
      <p:sp>
        <p:nvSpPr>
          <p:cNvPr id="23" name="Tile 4 value"/>
          <p:cNvSpPr txBox="1"/>
          <p:nvPr/>
        </p:nvSpPr>
        <p:spPr>
          <a:xfrm>
            <a:off x="4361688" y="1892808"/>
            <a:ext cx="960120" cy="34747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5</a:t>
            </a:r>
            <a:endParaRPr lang="en-US" sz="1800" dirty="0"/>
          </a:p>
        </p:txBody>
      </p:sp>
      <p:sp>
        <p:nvSpPr>
          <p:cNvPr id="24" name="Row 1 divider"/>
          <p:cNvSpPr/>
          <p:nvPr/>
        </p:nvSpPr>
        <p:spPr>
          <a:xfrm>
            <a:off x="621792" y="2441448"/>
            <a:ext cx="4837176" cy="0"/>
          </a:xfrm>
          <a:prstGeom prst="line">
            <a:avLst/>
          </a:prstGeom>
          <a:noFill/>
          <a:ln w="9525">
            <a:solidFill>
              <a:srgbClr val="E2E6EE"/>
            </a:solidFill>
            <a:prstDash val="solid"/>
          </a:ln>
        </p:spPr>
      </p:sp>
      <p:sp>
        <p:nvSpPr>
          <p:cNvPr id="25" name="Row 1 household"/>
          <p:cNvSpPr txBox="1"/>
          <p:nvPr/>
        </p:nvSpPr>
        <p:spPr>
          <a:xfrm>
            <a:off x="685800" y="2514600"/>
            <a:ext cx="1325880" cy="411480"/>
          </a:xfrm>
          <a:prstGeom prst="rect">
            <a:avLst/>
          </a:prstGeom>
          <a:noFill/>
          <a:ln/>
        </p:spPr>
        <p:txBody>
          <a:bodyPr wrap="square" lIns="0" tIns="0" rIns="0" bIns="0" rtlCol="0" anchor="t"/>
          <a:lstStyle/>
          <a:p>
            <a:pPr indent="0" marL="0">
              <a:buNone/>
            </a:pPr>
            <a:r>
              <a:rPr lang="en-US" sz="1100" b="1" dirty="0">
                <a:solidFill>
                  <a:schemeClr val="tx1"/>
                </a:solidFill>
              </a:rPr>
              <a:t>Dela Cruz Family</a:t>
            </a:r>
            <a:endParaRPr lang="en-US" sz="1100" dirty="0"/>
          </a:p>
          <a:p>
            <a:pPr indent="0" marL="0">
              <a:buNone/>
            </a:pPr>
            <a:r>
              <a:rPr lang="en-US" sz="900" dirty="0">
                <a:solidFill>
                  <a:schemeClr val="tx2"/>
                </a:solidFill>
              </a:rPr>
              <a:t>FG 1</a:t>
            </a:r>
            <a:endParaRPr lang="en-US" sz="1100" dirty="0"/>
          </a:p>
        </p:txBody>
      </p:sp>
      <p:sp>
        <p:nvSpPr>
          <p:cNvPr id="26" name="Row 1 progress chip"/>
          <p:cNvSpPr/>
          <p:nvPr/>
        </p:nvSpPr>
        <p:spPr>
          <a:xfrm>
            <a:off x="2011680" y="2578608"/>
            <a:ext cx="1097280" cy="237744"/>
          </a:xfrm>
          <a:prstGeom prst="roundRect">
            <a:avLst>
              <a:gd name="adj" fmla="val 50000"/>
            </a:avLst>
          </a:prstGeom>
          <a:solidFill>
            <a:schemeClr val="accent3"/>
          </a:solidFill>
          <a:ln/>
        </p:spPr>
      </p:sp>
      <p:sp>
        <p:nvSpPr>
          <p:cNvPr id="27" name="Row 1 progress label"/>
          <p:cNvSpPr txBox="1"/>
          <p:nvPr/>
        </p:nvSpPr>
        <p:spPr>
          <a:xfrm>
            <a:off x="2011680" y="2578608"/>
            <a:ext cx="1097280" cy="237744"/>
          </a:xfrm>
          <a:prstGeom prst="rect">
            <a:avLst/>
          </a:prstGeom>
          <a:noFill/>
          <a:ln/>
        </p:spPr>
        <p:txBody>
          <a:bodyPr wrap="square" lIns="0" tIns="0" rIns="0" bIns="0" rtlCol="0" anchor="ctr"/>
          <a:lstStyle/>
          <a:p>
            <a:pPr algn="ctr" indent="0" marL="0">
              <a:buNone/>
            </a:pPr>
            <a:r>
              <a:rPr lang="en-US" sz="900" b="1" dirty="0">
                <a:solidFill>
                  <a:schemeClr val="bg1"/>
                </a:solidFill>
              </a:rPr>
              <a:t>Confirmed</a:t>
            </a:r>
            <a:endParaRPr lang="en-US" sz="900" dirty="0"/>
          </a:p>
        </p:txBody>
      </p:sp>
      <p:sp>
        <p:nvSpPr>
          <p:cNvPr id="28" name="Row 1 button"/>
          <p:cNvSpPr/>
          <p:nvPr/>
        </p:nvSpPr>
        <p:spPr>
          <a:xfrm>
            <a:off x="4498848" y="2578608"/>
            <a:ext cx="896112" cy="237744"/>
          </a:xfrm>
          <a:prstGeom prst="roundRect">
            <a:avLst>
              <a:gd name="adj" fmla="val 50000"/>
            </a:avLst>
          </a:prstGeom>
          <a:solidFill>
            <a:schemeClr val="bg1"/>
          </a:solidFill>
          <a:ln w="9525">
            <a:solidFill>
              <a:srgbClr val="34589C"/>
            </a:solidFill>
            <a:prstDash val="solid"/>
          </a:ln>
        </p:spPr>
      </p:sp>
      <p:sp>
        <p:nvSpPr>
          <p:cNvPr id="29" name="Row 1 button label"/>
          <p:cNvSpPr txBox="1"/>
          <p:nvPr/>
        </p:nvSpPr>
        <p:spPr>
          <a:xfrm>
            <a:off x="4498848" y="2578608"/>
            <a:ext cx="896112" cy="237744"/>
          </a:xfrm>
          <a:prstGeom prst="rect">
            <a:avLst/>
          </a:prstGeom>
          <a:noFill/>
          <a:ln/>
        </p:spPr>
        <p:txBody>
          <a:bodyPr wrap="square" lIns="0" tIns="0" rIns="0" bIns="0" rtlCol="0" anchor="ctr"/>
          <a:lstStyle/>
          <a:p>
            <a:pPr algn="ctr" indent="0" marL="0">
              <a:buNone/>
            </a:pPr>
            <a:r>
              <a:rPr lang="en-US" sz="900" b="1" dirty="0">
                <a:solidFill>
                  <a:schemeClr val="accent1"/>
                </a:solidFill>
              </a:rPr>
              <a:t>Record census</a:t>
            </a:r>
            <a:endParaRPr lang="en-US" sz="900" dirty="0"/>
          </a:p>
        </p:txBody>
      </p:sp>
      <p:sp>
        <p:nvSpPr>
          <p:cNvPr id="30" name="Row 2 divider"/>
          <p:cNvSpPr/>
          <p:nvPr/>
        </p:nvSpPr>
        <p:spPr>
          <a:xfrm>
            <a:off x="621792" y="2990088"/>
            <a:ext cx="4837176" cy="0"/>
          </a:xfrm>
          <a:prstGeom prst="line">
            <a:avLst/>
          </a:prstGeom>
          <a:noFill/>
          <a:ln w="9525">
            <a:solidFill>
              <a:srgbClr val="E2E6EE"/>
            </a:solidFill>
            <a:prstDash val="solid"/>
          </a:ln>
        </p:spPr>
      </p:sp>
      <p:sp>
        <p:nvSpPr>
          <p:cNvPr id="31" name="Row 2 household"/>
          <p:cNvSpPr txBox="1"/>
          <p:nvPr/>
        </p:nvSpPr>
        <p:spPr>
          <a:xfrm>
            <a:off x="685800" y="3063240"/>
            <a:ext cx="1325880" cy="411480"/>
          </a:xfrm>
          <a:prstGeom prst="rect">
            <a:avLst/>
          </a:prstGeom>
          <a:noFill/>
          <a:ln/>
        </p:spPr>
        <p:txBody>
          <a:bodyPr wrap="square" lIns="0" tIns="0" rIns="0" bIns="0" rtlCol="0" anchor="t"/>
          <a:lstStyle/>
          <a:p>
            <a:pPr indent="0" marL="0">
              <a:buNone/>
            </a:pPr>
            <a:r>
              <a:rPr lang="en-US" sz="1100" b="1" dirty="0">
                <a:solidFill>
                  <a:schemeClr val="tx1"/>
                </a:solidFill>
              </a:rPr>
              <a:t>Santos Family</a:t>
            </a:r>
            <a:endParaRPr lang="en-US" sz="1100" dirty="0"/>
          </a:p>
          <a:p>
            <a:pPr indent="0" marL="0">
              <a:buNone/>
            </a:pPr>
            <a:r>
              <a:rPr lang="en-US" sz="900" dirty="0">
                <a:solidFill>
                  <a:schemeClr val="tx2"/>
                </a:solidFill>
              </a:rPr>
              <a:t>FG 2</a:t>
            </a:r>
            <a:endParaRPr lang="en-US" sz="1100" dirty="0"/>
          </a:p>
        </p:txBody>
      </p:sp>
      <p:sp>
        <p:nvSpPr>
          <p:cNvPr id="32" name="Row 2 progress chip"/>
          <p:cNvSpPr/>
          <p:nvPr/>
        </p:nvSpPr>
        <p:spPr>
          <a:xfrm>
            <a:off x="2011680" y="3127248"/>
            <a:ext cx="1097280" cy="237744"/>
          </a:xfrm>
          <a:prstGeom prst="roundRect">
            <a:avLst>
              <a:gd name="adj" fmla="val 50000"/>
            </a:avLst>
          </a:prstGeom>
          <a:solidFill>
            <a:schemeClr val="accent2"/>
          </a:solidFill>
          <a:ln/>
        </p:spPr>
      </p:sp>
      <p:sp>
        <p:nvSpPr>
          <p:cNvPr id="33" name="Row 2 progress label"/>
          <p:cNvSpPr txBox="1"/>
          <p:nvPr/>
        </p:nvSpPr>
        <p:spPr>
          <a:xfrm>
            <a:off x="2011680" y="3127248"/>
            <a:ext cx="1097280" cy="237744"/>
          </a:xfrm>
          <a:prstGeom prst="rect">
            <a:avLst/>
          </a:prstGeom>
          <a:noFill/>
          <a:ln/>
        </p:spPr>
        <p:txBody>
          <a:bodyPr wrap="square" lIns="0" tIns="0" rIns="0" bIns="0" rtlCol="0" anchor="ctr"/>
          <a:lstStyle/>
          <a:p>
            <a:pPr algn="ctr" indent="0" marL="0">
              <a:buNone/>
            </a:pPr>
            <a:r>
              <a:rPr lang="en-US" sz="900" b="1" dirty="0">
                <a:solidFill>
                  <a:schemeClr val="bg1"/>
                </a:solidFill>
              </a:rPr>
              <a:t>Partly confirmed</a:t>
            </a:r>
            <a:endParaRPr lang="en-US" sz="900" dirty="0"/>
          </a:p>
        </p:txBody>
      </p:sp>
      <p:sp>
        <p:nvSpPr>
          <p:cNvPr id="34" name="Row 2 button"/>
          <p:cNvSpPr/>
          <p:nvPr/>
        </p:nvSpPr>
        <p:spPr>
          <a:xfrm>
            <a:off x="4498848" y="3127248"/>
            <a:ext cx="896112" cy="237744"/>
          </a:xfrm>
          <a:prstGeom prst="roundRect">
            <a:avLst>
              <a:gd name="adj" fmla="val 50000"/>
            </a:avLst>
          </a:prstGeom>
          <a:solidFill>
            <a:schemeClr val="bg1"/>
          </a:solidFill>
          <a:ln w="9525">
            <a:solidFill>
              <a:srgbClr val="34589C"/>
            </a:solidFill>
            <a:prstDash val="solid"/>
          </a:ln>
        </p:spPr>
      </p:sp>
      <p:sp>
        <p:nvSpPr>
          <p:cNvPr id="35" name="Row 2 button label"/>
          <p:cNvSpPr txBox="1"/>
          <p:nvPr/>
        </p:nvSpPr>
        <p:spPr>
          <a:xfrm>
            <a:off x="4498848" y="3127248"/>
            <a:ext cx="896112" cy="237744"/>
          </a:xfrm>
          <a:prstGeom prst="rect">
            <a:avLst/>
          </a:prstGeom>
          <a:noFill/>
          <a:ln/>
        </p:spPr>
        <p:txBody>
          <a:bodyPr wrap="square" lIns="0" tIns="0" rIns="0" bIns="0" rtlCol="0" anchor="ctr"/>
          <a:lstStyle/>
          <a:p>
            <a:pPr algn="ctr" indent="0" marL="0">
              <a:buNone/>
            </a:pPr>
            <a:r>
              <a:rPr lang="en-US" sz="900" b="1" dirty="0">
                <a:solidFill>
                  <a:schemeClr val="accent1"/>
                </a:solidFill>
              </a:rPr>
              <a:t>Record census</a:t>
            </a:r>
            <a:endParaRPr lang="en-US" sz="900" dirty="0"/>
          </a:p>
        </p:txBody>
      </p:sp>
      <p:sp>
        <p:nvSpPr>
          <p:cNvPr id="36" name="Row 3 divider"/>
          <p:cNvSpPr/>
          <p:nvPr/>
        </p:nvSpPr>
        <p:spPr>
          <a:xfrm>
            <a:off x="621792" y="3538728"/>
            <a:ext cx="4837176" cy="0"/>
          </a:xfrm>
          <a:prstGeom prst="line">
            <a:avLst/>
          </a:prstGeom>
          <a:noFill/>
          <a:ln w="9525">
            <a:solidFill>
              <a:srgbClr val="E2E6EE"/>
            </a:solidFill>
            <a:prstDash val="solid"/>
          </a:ln>
        </p:spPr>
      </p:sp>
      <p:sp>
        <p:nvSpPr>
          <p:cNvPr id="37" name="Row 3 household"/>
          <p:cNvSpPr txBox="1"/>
          <p:nvPr/>
        </p:nvSpPr>
        <p:spPr>
          <a:xfrm>
            <a:off x="685800" y="3611880"/>
            <a:ext cx="1325880" cy="411480"/>
          </a:xfrm>
          <a:prstGeom prst="rect">
            <a:avLst/>
          </a:prstGeom>
          <a:noFill/>
          <a:ln/>
        </p:spPr>
        <p:txBody>
          <a:bodyPr wrap="square" lIns="0" tIns="0" rIns="0" bIns="0" rtlCol="0" anchor="t"/>
          <a:lstStyle/>
          <a:p>
            <a:pPr indent="0" marL="0">
              <a:buNone/>
            </a:pPr>
            <a:r>
              <a:rPr lang="en-US" sz="1100" b="1" dirty="0">
                <a:solidFill>
                  <a:schemeClr val="tx1"/>
                </a:solidFill>
              </a:rPr>
              <a:t>Reyes Family</a:t>
            </a:r>
            <a:endParaRPr lang="en-US" sz="1100" dirty="0"/>
          </a:p>
          <a:p>
            <a:pPr indent="0" marL="0">
              <a:buNone/>
            </a:pPr>
            <a:r>
              <a:rPr lang="en-US" sz="900" dirty="0">
                <a:solidFill>
                  <a:schemeClr val="tx2"/>
                </a:solidFill>
              </a:rPr>
              <a:t>FG 2</a:t>
            </a:r>
            <a:endParaRPr lang="en-US" sz="1100" dirty="0"/>
          </a:p>
        </p:txBody>
      </p:sp>
      <p:sp>
        <p:nvSpPr>
          <p:cNvPr id="38" name="Row 3 progress chip"/>
          <p:cNvSpPr/>
          <p:nvPr/>
        </p:nvSpPr>
        <p:spPr>
          <a:xfrm>
            <a:off x="2011680" y="3675888"/>
            <a:ext cx="1097280" cy="237744"/>
          </a:xfrm>
          <a:prstGeom prst="roundRect">
            <a:avLst>
              <a:gd name="adj" fmla="val 50000"/>
            </a:avLst>
          </a:prstGeom>
          <a:solidFill>
            <a:schemeClr val="tx2"/>
          </a:solidFill>
          <a:ln/>
        </p:spPr>
      </p:sp>
      <p:sp>
        <p:nvSpPr>
          <p:cNvPr id="39" name="Row 3 progress label"/>
          <p:cNvSpPr txBox="1"/>
          <p:nvPr/>
        </p:nvSpPr>
        <p:spPr>
          <a:xfrm>
            <a:off x="2011680" y="3675888"/>
            <a:ext cx="1097280" cy="237744"/>
          </a:xfrm>
          <a:prstGeom prst="rect">
            <a:avLst/>
          </a:prstGeom>
          <a:noFill/>
          <a:ln/>
        </p:spPr>
        <p:txBody>
          <a:bodyPr wrap="square" lIns="0" tIns="0" rIns="0" bIns="0" rtlCol="0" anchor="ctr"/>
          <a:lstStyle/>
          <a:p>
            <a:pPr algn="ctr" indent="0" marL="0">
              <a:buNone/>
            </a:pPr>
            <a:r>
              <a:rPr lang="en-US" sz="900" b="1" dirty="0">
                <a:solidFill>
                  <a:schemeClr val="bg1"/>
                </a:solidFill>
              </a:rPr>
              <a:t>Not started</a:t>
            </a:r>
            <a:endParaRPr lang="en-US" sz="900" dirty="0"/>
          </a:p>
        </p:txBody>
      </p:sp>
      <p:sp>
        <p:nvSpPr>
          <p:cNvPr id="40" name="Row 3 online chip"/>
          <p:cNvSpPr/>
          <p:nvPr/>
        </p:nvSpPr>
        <p:spPr>
          <a:xfrm>
            <a:off x="3172968" y="3675888"/>
            <a:ext cx="1261872" cy="237744"/>
          </a:xfrm>
          <a:prstGeom prst="roundRect">
            <a:avLst>
              <a:gd name="adj" fmla="val 50000"/>
            </a:avLst>
          </a:prstGeom>
          <a:solidFill>
            <a:schemeClr val="accent1"/>
          </a:solidFill>
          <a:ln/>
        </p:spPr>
      </p:sp>
      <p:sp>
        <p:nvSpPr>
          <p:cNvPr id="41" name="Row 3 online label"/>
          <p:cNvSpPr txBox="1"/>
          <p:nvPr/>
        </p:nvSpPr>
        <p:spPr>
          <a:xfrm>
            <a:off x="3172968" y="3675888"/>
            <a:ext cx="1261872" cy="237744"/>
          </a:xfrm>
          <a:prstGeom prst="rect">
            <a:avLst/>
          </a:prstGeom>
          <a:noFill/>
          <a:ln/>
        </p:spPr>
        <p:txBody>
          <a:bodyPr wrap="square" lIns="0" tIns="0" rIns="0" bIns="0" rtlCol="0" anchor="ctr"/>
          <a:lstStyle/>
          <a:p>
            <a:pPr algn="ctr" indent="0" marL="0">
              <a:buNone/>
            </a:pPr>
            <a:r>
              <a:rPr lang="en-US" sz="850" b="1" dirty="0">
                <a:solidFill>
                  <a:schemeClr val="bg1"/>
                </a:solidFill>
              </a:rPr>
              <a:t>Sent online · to review</a:t>
            </a:r>
            <a:endParaRPr lang="en-US" sz="850" dirty="0"/>
          </a:p>
        </p:txBody>
      </p:sp>
      <p:sp>
        <p:nvSpPr>
          <p:cNvPr id="42" name="Row 3 button"/>
          <p:cNvSpPr/>
          <p:nvPr/>
        </p:nvSpPr>
        <p:spPr>
          <a:xfrm>
            <a:off x="4498848" y="3675888"/>
            <a:ext cx="896112" cy="237744"/>
          </a:xfrm>
          <a:prstGeom prst="roundRect">
            <a:avLst>
              <a:gd name="adj" fmla="val 50000"/>
            </a:avLst>
          </a:prstGeom>
          <a:solidFill>
            <a:schemeClr val="bg1"/>
          </a:solidFill>
          <a:ln w="9525">
            <a:solidFill>
              <a:srgbClr val="34589C"/>
            </a:solidFill>
            <a:prstDash val="solid"/>
          </a:ln>
        </p:spPr>
      </p:sp>
      <p:sp>
        <p:nvSpPr>
          <p:cNvPr id="43" name="Row 3 button label"/>
          <p:cNvSpPr txBox="1"/>
          <p:nvPr/>
        </p:nvSpPr>
        <p:spPr>
          <a:xfrm>
            <a:off x="4498848" y="3675888"/>
            <a:ext cx="896112" cy="237744"/>
          </a:xfrm>
          <a:prstGeom prst="rect">
            <a:avLst/>
          </a:prstGeom>
          <a:noFill/>
          <a:ln/>
        </p:spPr>
        <p:txBody>
          <a:bodyPr wrap="square" lIns="0" tIns="0" rIns="0" bIns="0" rtlCol="0" anchor="ctr"/>
          <a:lstStyle/>
          <a:p>
            <a:pPr algn="ctr" indent="0" marL="0">
              <a:buNone/>
            </a:pPr>
            <a:r>
              <a:rPr lang="en-US" sz="900" b="1" dirty="0">
                <a:solidFill>
                  <a:schemeClr val="accent1"/>
                </a:solidFill>
              </a:rPr>
              <a:t>Record census</a:t>
            </a:r>
            <a:endParaRPr lang="en-US" sz="900" dirty="0"/>
          </a:p>
        </p:txBody>
      </p:sp>
      <p:sp>
        <p:nvSpPr>
          <p:cNvPr id="44" name="Mock caption"/>
          <p:cNvSpPr txBox="1"/>
          <p:nvPr/>
        </p:nvSpPr>
        <p:spPr>
          <a:xfrm>
            <a:off x="621792" y="4224528"/>
            <a:ext cx="1828800" cy="228600"/>
          </a:xfrm>
          <a:prstGeom prst="rect">
            <a:avLst/>
          </a:prstGeom>
          <a:noFill/>
          <a:ln/>
        </p:spPr>
        <p:txBody>
          <a:bodyPr wrap="square" lIns="0" tIns="0" rIns="0" bIns="0" rtlCol="0" anchor="t"/>
          <a:lstStyle/>
          <a:p>
            <a:pPr indent="0" marL="0">
              <a:buNone/>
            </a:pPr>
            <a:r>
              <a:rPr lang="en-US" sz="900" i="1" dirty="0">
                <a:solidFill>
                  <a:schemeClr val="tx2"/>
                </a:solidFill>
              </a:rPr>
              <a:t>Example numbers</a:t>
            </a:r>
            <a:endParaRPr lang="en-US" sz="900" dirty="0"/>
          </a:p>
        </p:txBody>
      </p:sp>
      <p:sp>
        <p:nvSpPr>
          <p:cNvPr id="45" name="Tabs circle"/>
          <p:cNvSpPr/>
          <p:nvPr/>
        </p:nvSpPr>
        <p:spPr>
          <a:xfrm>
            <a:off x="5852160" y="1069848"/>
            <a:ext cx="384048" cy="384048"/>
          </a:xfrm>
          <a:prstGeom prst="ellipse">
            <a:avLst/>
          </a:prstGeom>
          <a:solidFill>
            <a:schemeClr val="bg2"/>
          </a:solidFill>
          <a:ln/>
        </p:spPr>
      </p:sp>
      <p:pic>
        <p:nvPicPr>
          <p:cNvPr id="46" name="Tabs icon" descr="Tabs">    </p:cNvPr>
          <p:cNvPicPr>
            <a:picLocks noChangeAspect="1"/>
          </p:cNvPicPr>
          <p:nvPr/>
        </p:nvPicPr>
        <p:blipFill>
          <a:blip r:embed="rId1"/>
          <a:stretch>
            <a:fillRect/>
          </a:stretch>
        </p:blipFill>
        <p:spPr>
          <a:xfrm>
            <a:off x="5944332" y="1162020"/>
            <a:ext cx="199705" cy="199705"/>
          </a:xfrm>
          <a:prstGeom prst="rect">
            <a:avLst/>
          </a:prstGeom>
        </p:spPr>
      </p:pic>
      <p:sp>
        <p:nvSpPr>
          <p:cNvPr id="47" name="Tabs heading"/>
          <p:cNvSpPr txBox="1"/>
          <p:nvPr/>
        </p:nvSpPr>
        <p:spPr>
          <a:xfrm>
            <a:off x="6355080" y="1051560"/>
            <a:ext cx="2331720" cy="237744"/>
          </a:xfrm>
          <a:prstGeom prst="rect">
            <a:avLst/>
          </a:prstGeom>
          <a:noFill/>
          <a:ln/>
        </p:spPr>
        <p:txBody>
          <a:bodyPr wrap="square" lIns="0" tIns="0" rIns="0" bIns="0" rtlCol="0" anchor="t"/>
          <a:lstStyle/>
          <a:p>
            <a:pPr indent="0" marL="0">
              <a:buNone/>
            </a:pPr>
            <a:r>
              <a:rPr lang="en-US" sz="1250" b="1" dirty="0">
                <a:solidFill>
                  <a:schemeClr val="tx1"/>
                </a:solidFill>
              </a:rPr>
              <a:t>Tabs</a:t>
            </a:r>
            <a:endParaRPr lang="en-US" sz="1250" dirty="0"/>
          </a:p>
        </p:txBody>
      </p:sp>
      <p:sp>
        <p:nvSpPr>
          <p:cNvPr id="48" name="Tabs text"/>
          <p:cNvSpPr txBox="1"/>
          <p:nvPr/>
        </p:nvSpPr>
        <p:spPr>
          <a:xfrm>
            <a:off x="6355080" y="1307592"/>
            <a:ext cx="2331720" cy="566928"/>
          </a:xfrm>
          <a:prstGeom prst="rect">
            <a:avLst/>
          </a:prstGeom>
          <a:noFill/>
          <a:ln/>
        </p:spPr>
        <p:txBody>
          <a:bodyPr wrap="square" lIns="0" tIns="0" rIns="0" bIns="0" rtlCol="0" anchor="t"/>
          <a:lstStyle/>
          <a:p>
            <a:pPr indent="0" marL="0">
              <a:buNone/>
            </a:pPr>
            <a:r>
              <a:rPr lang="en-US" sz="1050" dirty="0">
                <a:solidFill>
                  <a:schemeClr val="tx2"/>
                </a:solidFill>
              </a:rPr>
              <a:t>Households to record, Online updates to review, Results by GKK, and Last year’s list.</a:t>
            </a:r>
            <a:endParaRPr lang="en-US" sz="1050" dirty="0"/>
          </a:p>
        </p:txBody>
      </p:sp>
      <p:sp>
        <p:nvSpPr>
          <p:cNvPr id="49" name="Tiles circle"/>
          <p:cNvSpPr/>
          <p:nvPr/>
        </p:nvSpPr>
        <p:spPr>
          <a:xfrm>
            <a:off x="5852160" y="1975104"/>
            <a:ext cx="384048" cy="384048"/>
          </a:xfrm>
          <a:prstGeom prst="ellipse">
            <a:avLst/>
          </a:prstGeom>
          <a:solidFill>
            <a:schemeClr val="bg2"/>
          </a:solidFill>
          <a:ln/>
        </p:spPr>
      </p:sp>
      <p:pic>
        <p:nvPicPr>
          <p:cNvPr id="50" name="Tiles icon" descr="Tiles">    </p:cNvPr>
          <p:cNvPicPr>
            <a:picLocks noChangeAspect="1"/>
          </p:cNvPicPr>
          <p:nvPr/>
        </p:nvPicPr>
        <p:blipFill>
          <a:blip r:embed="rId2"/>
          <a:stretch>
            <a:fillRect/>
          </a:stretch>
        </p:blipFill>
        <p:spPr>
          <a:xfrm>
            <a:off x="5944332" y="2067276"/>
            <a:ext cx="199705" cy="199705"/>
          </a:xfrm>
          <a:prstGeom prst="rect">
            <a:avLst/>
          </a:prstGeom>
        </p:spPr>
      </p:pic>
      <p:sp>
        <p:nvSpPr>
          <p:cNvPr id="51" name="Tiles heading"/>
          <p:cNvSpPr txBox="1"/>
          <p:nvPr/>
        </p:nvSpPr>
        <p:spPr>
          <a:xfrm>
            <a:off x="6355080" y="1956816"/>
            <a:ext cx="2331720" cy="237744"/>
          </a:xfrm>
          <a:prstGeom prst="rect">
            <a:avLst/>
          </a:prstGeom>
          <a:noFill/>
          <a:ln/>
        </p:spPr>
        <p:txBody>
          <a:bodyPr wrap="square" lIns="0" tIns="0" rIns="0" bIns="0" rtlCol="0" anchor="t"/>
          <a:lstStyle/>
          <a:p>
            <a:pPr indent="0" marL="0">
              <a:buNone/>
            </a:pPr>
            <a:r>
              <a:rPr lang="en-US" sz="1250" b="1" dirty="0">
                <a:solidFill>
                  <a:schemeClr val="tx1"/>
                </a:solidFill>
              </a:rPr>
              <a:t>Tiles</a:t>
            </a:r>
            <a:endParaRPr lang="en-US" sz="1250" dirty="0"/>
          </a:p>
        </p:txBody>
      </p:sp>
      <p:sp>
        <p:nvSpPr>
          <p:cNvPr id="52" name="Tiles text"/>
          <p:cNvSpPr txBox="1"/>
          <p:nvPr/>
        </p:nvSpPr>
        <p:spPr>
          <a:xfrm>
            <a:off x="6355080" y="2212848"/>
            <a:ext cx="2331720" cy="566928"/>
          </a:xfrm>
          <a:prstGeom prst="rect">
            <a:avLst/>
          </a:prstGeom>
          <a:noFill/>
          <a:ln/>
        </p:spPr>
        <p:txBody>
          <a:bodyPr wrap="square" lIns="0" tIns="0" rIns="0" bIns="0" rtlCol="0" anchor="t"/>
          <a:lstStyle/>
          <a:p>
            <a:pPr indent="0" marL="0">
              <a:buNone/>
            </a:pPr>
            <a:r>
              <a:rPr lang="en-US" sz="1050" dirty="0">
                <a:solidFill>
                  <a:schemeClr val="tx2"/>
                </a:solidFill>
              </a:rPr>
              <a:t>Your GKK’s progress at a glance. Aim for 100% members confirmed.</a:t>
            </a:r>
            <a:endParaRPr lang="en-US" sz="1050" dirty="0"/>
          </a:p>
        </p:txBody>
      </p:sp>
      <p:sp>
        <p:nvSpPr>
          <p:cNvPr id="53" name="Progress circle"/>
          <p:cNvSpPr/>
          <p:nvPr/>
        </p:nvSpPr>
        <p:spPr>
          <a:xfrm>
            <a:off x="5852160" y="2880360"/>
            <a:ext cx="384048" cy="384048"/>
          </a:xfrm>
          <a:prstGeom prst="ellipse">
            <a:avLst/>
          </a:prstGeom>
          <a:solidFill>
            <a:schemeClr val="bg2"/>
          </a:solidFill>
          <a:ln/>
        </p:spPr>
      </p:sp>
      <p:pic>
        <p:nvPicPr>
          <p:cNvPr id="54" name="Progress icon" descr="Progress">    </p:cNvPr>
          <p:cNvPicPr>
            <a:picLocks noChangeAspect="1"/>
          </p:cNvPicPr>
          <p:nvPr/>
        </p:nvPicPr>
        <p:blipFill>
          <a:blip r:embed="rId3"/>
          <a:stretch>
            <a:fillRect/>
          </a:stretch>
        </p:blipFill>
        <p:spPr>
          <a:xfrm>
            <a:off x="5944332" y="2972532"/>
            <a:ext cx="199705" cy="199705"/>
          </a:xfrm>
          <a:prstGeom prst="rect">
            <a:avLst/>
          </a:prstGeom>
        </p:spPr>
      </p:pic>
      <p:sp>
        <p:nvSpPr>
          <p:cNvPr id="55" name="Progress heading"/>
          <p:cNvSpPr txBox="1"/>
          <p:nvPr/>
        </p:nvSpPr>
        <p:spPr>
          <a:xfrm>
            <a:off x="6355080" y="2862072"/>
            <a:ext cx="2331720" cy="237744"/>
          </a:xfrm>
          <a:prstGeom prst="rect">
            <a:avLst/>
          </a:prstGeom>
          <a:noFill/>
          <a:ln/>
        </p:spPr>
        <p:txBody>
          <a:bodyPr wrap="square" lIns="0" tIns="0" rIns="0" bIns="0" rtlCol="0" anchor="t"/>
          <a:lstStyle/>
          <a:p>
            <a:pPr indent="0" marL="0">
              <a:buNone/>
            </a:pPr>
            <a:r>
              <a:rPr lang="en-US" sz="1250" b="1" dirty="0">
                <a:solidFill>
                  <a:schemeClr val="tx1"/>
                </a:solidFill>
              </a:rPr>
              <a:t>Progress</a:t>
            </a:r>
            <a:endParaRPr lang="en-US" sz="1250" dirty="0"/>
          </a:p>
        </p:txBody>
      </p:sp>
      <p:sp>
        <p:nvSpPr>
          <p:cNvPr id="56" name="Progress text"/>
          <p:cNvSpPr txBox="1"/>
          <p:nvPr/>
        </p:nvSpPr>
        <p:spPr>
          <a:xfrm>
            <a:off x="6355080" y="3118104"/>
            <a:ext cx="2331720" cy="566928"/>
          </a:xfrm>
          <a:prstGeom prst="rect">
            <a:avLst/>
          </a:prstGeom>
          <a:noFill/>
          <a:ln/>
        </p:spPr>
        <p:txBody>
          <a:bodyPr wrap="square" lIns="0" tIns="0" rIns="0" bIns="0" rtlCol="0" anchor="t"/>
          <a:lstStyle/>
          <a:p>
            <a:pPr indent="0" marL="0">
              <a:buNone/>
            </a:pPr>
            <a:r>
              <a:rPr lang="en-US" sz="1050" dirty="0">
                <a:solidFill>
                  <a:schemeClr val="tx2"/>
                </a:solidFill>
              </a:rPr>
              <a:t>Not started → Partly confirmed → Confirmed. Filter by Not started to see who is left.</a:t>
            </a:r>
            <a:endParaRPr lang="en-US" sz="1050" dirty="0"/>
          </a:p>
        </p:txBody>
      </p:sp>
      <p:sp>
        <p:nvSpPr>
          <p:cNvPr id="57" name="Sent online · to review circle"/>
          <p:cNvSpPr/>
          <p:nvPr/>
        </p:nvSpPr>
        <p:spPr>
          <a:xfrm>
            <a:off x="5852160" y="3785616"/>
            <a:ext cx="384048" cy="384048"/>
          </a:xfrm>
          <a:prstGeom prst="ellipse">
            <a:avLst/>
          </a:prstGeom>
          <a:solidFill>
            <a:schemeClr val="bg2"/>
          </a:solidFill>
          <a:ln/>
        </p:spPr>
      </p:sp>
      <p:pic>
        <p:nvPicPr>
          <p:cNvPr id="58" name="Sent online · to review icon" descr="Sent online · to review">    </p:cNvPr>
          <p:cNvPicPr>
            <a:picLocks noChangeAspect="1"/>
          </p:cNvPicPr>
          <p:nvPr/>
        </p:nvPicPr>
        <p:blipFill>
          <a:blip r:embed="rId4"/>
          <a:stretch>
            <a:fillRect/>
          </a:stretch>
        </p:blipFill>
        <p:spPr>
          <a:xfrm>
            <a:off x="5944332" y="3877788"/>
            <a:ext cx="199705" cy="199705"/>
          </a:xfrm>
          <a:prstGeom prst="rect">
            <a:avLst/>
          </a:prstGeom>
        </p:spPr>
      </p:pic>
      <p:sp>
        <p:nvSpPr>
          <p:cNvPr id="59" name="Sent online · to review heading"/>
          <p:cNvSpPr txBox="1"/>
          <p:nvPr/>
        </p:nvSpPr>
        <p:spPr>
          <a:xfrm>
            <a:off x="6355080" y="3767328"/>
            <a:ext cx="2331720" cy="237744"/>
          </a:xfrm>
          <a:prstGeom prst="rect">
            <a:avLst/>
          </a:prstGeom>
          <a:noFill/>
          <a:ln/>
        </p:spPr>
        <p:txBody>
          <a:bodyPr wrap="square" lIns="0" tIns="0" rIns="0" bIns="0" rtlCol="0" anchor="t"/>
          <a:lstStyle/>
          <a:p>
            <a:pPr indent="0" marL="0">
              <a:buNone/>
            </a:pPr>
            <a:r>
              <a:rPr lang="en-US" sz="1250" b="1" dirty="0">
                <a:solidFill>
                  <a:schemeClr val="tx1"/>
                </a:solidFill>
              </a:rPr>
              <a:t>Sent online · to review</a:t>
            </a:r>
            <a:endParaRPr lang="en-US" sz="1250" dirty="0"/>
          </a:p>
        </p:txBody>
      </p:sp>
      <p:sp>
        <p:nvSpPr>
          <p:cNvPr id="60" name="Sent online · to review text"/>
          <p:cNvSpPr txBox="1"/>
          <p:nvPr/>
        </p:nvSpPr>
        <p:spPr>
          <a:xfrm>
            <a:off x="6355080" y="4023360"/>
            <a:ext cx="2331720" cy="566928"/>
          </a:xfrm>
          <a:prstGeom prst="rect">
            <a:avLst/>
          </a:prstGeom>
          <a:noFill/>
          <a:ln/>
        </p:spPr>
        <p:txBody>
          <a:bodyPr wrap="square" lIns="0" tIns="0" rIns="0" bIns="0" rtlCol="0" anchor="t"/>
          <a:lstStyle/>
          <a:p>
            <a:pPr indent="0" marL="0">
              <a:buNone/>
            </a:pPr>
            <a:r>
              <a:rPr lang="en-US" sz="1050" dirty="0">
                <a:solidFill>
                  <a:schemeClr val="tx2"/>
                </a:solidFill>
              </a:rPr>
              <a:t>The family answered online. Approve it under Online updates.</a:t>
            </a:r>
            <a:endParaRPr lang="en-US" sz="105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Recording a household’s answers</a:t>
            </a:r>
            <a:endParaRPr lang="en-US" sz="2600" dirty="0"/>
          </a:p>
        </p:txBody>
      </p:sp>
      <p:sp>
        <p:nvSpPr>
          <p:cNvPr id="3" name="Record step 1 number circle"/>
          <p:cNvSpPr/>
          <p:nvPr/>
        </p:nvSpPr>
        <p:spPr>
          <a:xfrm>
            <a:off x="457200" y="1115568"/>
            <a:ext cx="347472" cy="347472"/>
          </a:xfrm>
          <a:prstGeom prst="ellipse">
            <a:avLst/>
          </a:prstGeom>
          <a:solidFill>
            <a:schemeClr val="tx1"/>
          </a:solidFill>
          <a:ln/>
        </p:spPr>
      </p:sp>
      <p:sp>
        <p:nvSpPr>
          <p:cNvPr id="4" name="Record step 1 number"/>
          <p:cNvSpPr txBox="1"/>
          <p:nvPr/>
        </p:nvSpPr>
        <p:spPr>
          <a:xfrm>
            <a:off x="457200" y="111556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Record step 1 text"/>
          <p:cNvSpPr txBox="1"/>
          <p:nvPr/>
        </p:nvSpPr>
        <p:spPr>
          <a:xfrm>
            <a:off x="960120" y="1051560"/>
            <a:ext cx="3886200" cy="502920"/>
          </a:xfrm>
          <a:prstGeom prst="rect">
            <a:avLst/>
          </a:prstGeom>
          <a:noFill/>
          <a:ln/>
        </p:spPr>
        <p:txBody>
          <a:bodyPr wrap="square" lIns="0" tIns="0" rIns="0" bIns="0" rtlCol="0" anchor="ctr"/>
          <a:lstStyle/>
          <a:p>
            <a:pPr indent="0" marL="0">
              <a:buNone/>
            </a:pPr>
            <a:r>
              <a:rPr lang="en-US" sz="1200" b="1" dirty="0">
                <a:solidFill>
                  <a:schemeClr val="tx1"/>
                </a:solidFill>
              </a:rPr>
              <a:t>Click Record census</a:t>
            </a:r>
            <a:pPr indent="0" marL="0">
              <a:buNone/>
            </a:pPr>
            <a:r>
              <a:rPr lang="en-US" sz="1200" dirty="0">
                <a:solidFill>
                  <a:schemeClr val="tx2"/>
                </a:solidFill>
              </a:rPr>
              <a:t> on the household’s row.</a:t>
            </a:r>
            <a:endParaRPr lang="en-US" sz="1200" dirty="0"/>
          </a:p>
        </p:txBody>
      </p:sp>
      <p:sp>
        <p:nvSpPr>
          <p:cNvPr id="6" name="Record step 2 number circle"/>
          <p:cNvSpPr/>
          <p:nvPr/>
        </p:nvSpPr>
        <p:spPr>
          <a:xfrm>
            <a:off x="457200" y="1709928"/>
            <a:ext cx="347472" cy="347472"/>
          </a:xfrm>
          <a:prstGeom prst="ellipse">
            <a:avLst/>
          </a:prstGeom>
          <a:solidFill>
            <a:schemeClr val="tx1"/>
          </a:solidFill>
          <a:ln/>
        </p:spPr>
      </p:sp>
      <p:sp>
        <p:nvSpPr>
          <p:cNvPr id="7" name="Record step 2 number"/>
          <p:cNvSpPr txBox="1"/>
          <p:nvPr/>
        </p:nvSpPr>
        <p:spPr>
          <a:xfrm>
            <a:off x="457200" y="170992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Record step 2 text"/>
          <p:cNvSpPr txBox="1"/>
          <p:nvPr/>
        </p:nvSpPr>
        <p:spPr>
          <a:xfrm>
            <a:off x="960120" y="1645920"/>
            <a:ext cx="3886200" cy="502920"/>
          </a:xfrm>
          <a:prstGeom prst="rect">
            <a:avLst/>
          </a:prstGeom>
          <a:noFill/>
          <a:ln/>
        </p:spPr>
        <p:txBody>
          <a:bodyPr wrap="square" lIns="0" tIns="0" rIns="0" bIns="0" rtlCol="0" anchor="ctr"/>
          <a:lstStyle/>
          <a:p>
            <a:pPr indent="0" marL="0">
              <a:buNone/>
            </a:pPr>
            <a:r>
              <a:rPr lang="en-US" sz="1200" b="1" dirty="0">
                <a:solidFill>
                  <a:schemeClr val="tx1"/>
                </a:solidFill>
              </a:rPr>
              <a:t>Answers came from: </a:t>
            </a:r>
            <a:pPr indent="0" marL="0">
              <a:buNone/>
            </a:pPr>
            <a:r>
              <a:rPr lang="en-US" sz="1200" dirty="0">
                <a:solidFill>
                  <a:schemeClr val="tx2"/>
                </a:solidFill>
              </a:rPr>
              <a:t>choose Paper census form or Staff / GKK home visit.</a:t>
            </a:r>
            <a:endParaRPr lang="en-US" sz="1200" dirty="0"/>
          </a:p>
        </p:txBody>
      </p:sp>
      <p:sp>
        <p:nvSpPr>
          <p:cNvPr id="9" name="Record step 3 number circle"/>
          <p:cNvSpPr/>
          <p:nvPr/>
        </p:nvSpPr>
        <p:spPr>
          <a:xfrm>
            <a:off x="457200" y="2304288"/>
            <a:ext cx="347472" cy="347472"/>
          </a:xfrm>
          <a:prstGeom prst="ellipse">
            <a:avLst/>
          </a:prstGeom>
          <a:solidFill>
            <a:schemeClr val="tx1"/>
          </a:solidFill>
          <a:ln/>
        </p:spPr>
      </p:sp>
      <p:sp>
        <p:nvSpPr>
          <p:cNvPr id="10" name="Record step 3 number"/>
          <p:cNvSpPr txBox="1"/>
          <p:nvPr/>
        </p:nvSpPr>
        <p:spPr>
          <a:xfrm>
            <a:off x="457200" y="230428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1" name="Record step 3 text"/>
          <p:cNvSpPr txBox="1"/>
          <p:nvPr/>
        </p:nvSpPr>
        <p:spPr>
          <a:xfrm>
            <a:off x="960120" y="2240280"/>
            <a:ext cx="3886200" cy="502920"/>
          </a:xfrm>
          <a:prstGeom prst="rect">
            <a:avLst/>
          </a:prstGeom>
          <a:noFill/>
          <a:ln/>
        </p:spPr>
        <p:txBody>
          <a:bodyPr wrap="square" lIns="0" tIns="0" rIns="0" bIns="0" rtlCol="0" anchor="ctr"/>
          <a:lstStyle/>
          <a:p>
            <a:pPr indent="0" marL="0">
              <a:buNone/>
            </a:pPr>
            <a:r>
              <a:rPr lang="en-US" sz="1200" b="1" dirty="0">
                <a:solidFill>
                  <a:schemeClr val="tx1"/>
                </a:solidFill>
              </a:rPr>
              <a:t>Mark A, P or W</a:t>
            </a:r>
            <a:pPr indent="0" marL="0">
              <a:buNone/>
            </a:pPr>
            <a:r>
              <a:rPr lang="en-US" sz="1200" dirty="0">
                <a:solidFill>
                  <a:schemeClr val="tx2"/>
                </a:solidFill>
              </a:rPr>
              <a:t> for each member on the six items.</a:t>
            </a:r>
            <a:endParaRPr lang="en-US" sz="1200" dirty="0"/>
          </a:p>
        </p:txBody>
      </p:sp>
      <p:sp>
        <p:nvSpPr>
          <p:cNvPr id="12" name="Record step 4 number circle"/>
          <p:cNvSpPr/>
          <p:nvPr/>
        </p:nvSpPr>
        <p:spPr>
          <a:xfrm>
            <a:off x="457200" y="2898648"/>
            <a:ext cx="347472" cy="347472"/>
          </a:xfrm>
          <a:prstGeom prst="ellipse">
            <a:avLst/>
          </a:prstGeom>
          <a:solidFill>
            <a:schemeClr val="tx1"/>
          </a:solidFill>
          <a:ln/>
        </p:spPr>
      </p:sp>
      <p:sp>
        <p:nvSpPr>
          <p:cNvPr id="13" name="Record step 4 number"/>
          <p:cNvSpPr txBox="1"/>
          <p:nvPr/>
        </p:nvSpPr>
        <p:spPr>
          <a:xfrm>
            <a:off x="457200" y="289864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4" name="Record step 4 text"/>
          <p:cNvSpPr txBox="1"/>
          <p:nvPr/>
        </p:nvSpPr>
        <p:spPr>
          <a:xfrm>
            <a:off x="960120" y="2834640"/>
            <a:ext cx="3886200" cy="502920"/>
          </a:xfrm>
          <a:prstGeom prst="rect">
            <a:avLst/>
          </a:prstGeom>
          <a:noFill/>
          <a:ln/>
        </p:spPr>
        <p:txBody>
          <a:bodyPr wrap="square" lIns="0" tIns="0" rIns="0" bIns="0" rtlCol="0" anchor="ctr"/>
          <a:lstStyle/>
          <a:p>
            <a:pPr indent="0" marL="0">
              <a:buNone/>
            </a:pPr>
            <a:r>
              <a:rPr lang="en-US" sz="1200" b="1" dirty="0">
                <a:solidFill>
                  <a:schemeClr val="tx1"/>
                </a:solidFill>
              </a:rPr>
              <a:t>Check the Membership status</a:t>
            </a:r>
            <a:pPr indent="0" marL="0">
              <a:buNone/>
            </a:pPr>
            <a:r>
              <a:rPr lang="en-US" sz="1200" dirty="0">
                <a:solidFill>
                  <a:schemeClr val="tx2"/>
                </a:solidFill>
              </a:rPr>
              <a:t> and add Notes, e.g. “working abroad”.</a:t>
            </a:r>
            <a:endParaRPr lang="en-US" sz="1200" dirty="0"/>
          </a:p>
        </p:txBody>
      </p:sp>
      <p:sp>
        <p:nvSpPr>
          <p:cNvPr id="15" name="Record step 5 number circle"/>
          <p:cNvSpPr/>
          <p:nvPr/>
        </p:nvSpPr>
        <p:spPr>
          <a:xfrm>
            <a:off x="457200" y="3493008"/>
            <a:ext cx="347472" cy="347472"/>
          </a:xfrm>
          <a:prstGeom prst="ellipse">
            <a:avLst/>
          </a:prstGeom>
          <a:solidFill>
            <a:schemeClr val="tx1"/>
          </a:solidFill>
          <a:ln/>
        </p:spPr>
      </p:sp>
      <p:sp>
        <p:nvSpPr>
          <p:cNvPr id="16" name="Record step 5 number"/>
          <p:cNvSpPr txBox="1"/>
          <p:nvPr/>
        </p:nvSpPr>
        <p:spPr>
          <a:xfrm>
            <a:off x="457200" y="349300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7" name="Record step 5 text"/>
          <p:cNvSpPr txBox="1"/>
          <p:nvPr/>
        </p:nvSpPr>
        <p:spPr>
          <a:xfrm>
            <a:off x="960120" y="3429000"/>
            <a:ext cx="3886200" cy="502920"/>
          </a:xfrm>
          <a:prstGeom prst="rect">
            <a:avLst/>
          </a:prstGeom>
          <a:noFill/>
          <a:ln/>
        </p:spPr>
        <p:txBody>
          <a:bodyPr wrap="square" lIns="0" tIns="0" rIns="0" bIns="0" rtlCol="0" anchor="ctr"/>
          <a:lstStyle/>
          <a:p>
            <a:pPr indent="0" marL="0">
              <a:buNone/>
            </a:pPr>
            <a:r>
              <a:rPr lang="en-US" sz="1200" b="1" dirty="0">
                <a:solidFill>
                  <a:schemeClr val="tx1"/>
                </a:solidFill>
              </a:rPr>
              <a:t>Edit details</a:t>
            </a:r>
            <a:pPr indent="0" marL="0">
              <a:buNone/>
            </a:pPr>
            <a:r>
              <a:rPr lang="en-US" sz="1200" dirty="0">
                <a:solidFill>
                  <a:schemeClr val="tx2"/>
                </a:solidFill>
              </a:rPr>
              <a:t> to fix a name or birthday. </a:t>
            </a:r>
            <a:pPr indent="0" marL="0">
              <a:buNone/>
            </a:pPr>
            <a:r>
              <a:rPr lang="en-US" sz="1200" b="1" dirty="0">
                <a:solidFill>
                  <a:schemeClr val="tx1"/>
                </a:solidFill>
              </a:rPr>
              <a:t>+ Add a new member</a:t>
            </a:r>
            <a:pPr indent="0" marL="0">
              <a:buNone/>
            </a:pPr>
            <a:r>
              <a:rPr lang="en-US" sz="1200" dirty="0">
                <a:solidFill>
                  <a:schemeClr val="tx2"/>
                </a:solidFill>
              </a:rPr>
              <a:t> for a newborn or new spouse.</a:t>
            </a:r>
            <a:endParaRPr lang="en-US" sz="1200" dirty="0"/>
          </a:p>
        </p:txBody>
      </p:sp>
      <p:sp>
        <p:nvSpPr>
          <p:cNvPr id="18" name="Record step 6 number circle"/>
          <p:cNvSpPr/>
          <p:nvPr/>
        </p:nvSpPr>
        <p:spPr>
          <a:xfrm>
            <a:off x="457200" y="4087368"/>
            <a:ext cx="347472" cy="347472"/>
          </a:xfrm>
          <a:prstGeom prst="ellipse">
            <a:avLst/>
          </a:prstGeom>
          <a:solidFill>
            <a:schemeClr val="tx1"/>
          </a:solidFill>
          <a:ln/>
        </p:spPr>
      </p:sp>
      <p:sp>
        <p:nvSpPr>
          <p:cNvPr id="19" name="Record step 6 number"/>
          <p:cNvSpPr txBox="1"/>
          <p:nvPr/>
        </p:nvSpPr>
        <p:spPr>
          <a:xfrm>
            <a:off x="457200" y="408736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0" name="Record step 6 text"/>
          <p:cNvSpPr txBox="1"/>
          <p:nvPr/>
        </p:nvSpPr>
        <p:spPr>
          <a:xfrm>
            <a:off x="960120" y="4023360"/>
            <a:ext cx="3886200" cy="502920"/>
          </a:xfrm>
          <a:prstGeom prst="rect">
            <a:avLst/>
          </a:prstGeom>
          <a:noFill/>
          <a:ln/>
        </p:spPr>
        <p:txBody>
          <a:bodyPr wrap="square" lIns="0" tIns="0" rIns="0" bIns="0" rtlCol="0" anchor="ctr"/>
          <a:lstStyle/>
          <a:p>
            <a:pPr indent="0" marL="0">
              <a:buNone/>
            </a:pPr>
            <a:r>
              <a:rPr lang="en-US" sz="1200" b="1" dirty="0">
                <a:solidFill>
                  <a:schemeClr val="tx1"/>
                </a:solidFill>
              </a:rPr>
              <a:t>Click Save census.</a:t>
            </a:r>
            <a:pPr indent="0" marL="0">
              <a:buNone/>
            </a:pPr>
            <a:r>
              <a:rPr lang="en-US" sz="1200" dirty="0">
                <a:solidFill>
                  <a:schemeClr val="tx2"/>
                </a:solidFill>
              </a:rPr>
              <a:t> Closing the panel without saving discards the answers.</a:t>
            </a:r>
            <a:endParaRPr lang="en-US" sz="1200" dirty="0"/>
          </a:p>
        </p:txBody>
      </p:sp>
      <p:sp>
        <p:nvSpPr>
          <p:cNvPr id="21" name="APW panel"/>
          <p:cNvSpPr/>
          <p:nvPr/>
        </p:nvSpPr>
        <p:spPr>
          <a:xfrm>
            <a:off x="5120640" y="1051560"/>
            <a:ext cx="3566160" cy="3611880"/>
          </a:xfrm>
          <a:prstGeom prst="roundRect">
            <a:avLst>
              <a:gd name="adj" fmla="val 2051"/>
            </a:avLst>
          </a:prstGeom>
          <a:solidFill>
            <a:schemeClr val="bg2"/>
          </a:solidFill>
          <a:ln/>
        </p:spPr>
      </p:sp>
      <p:sp>
        <p:nvSpPr>
          <p:cNvPr id="22" name="APW heading"/>
          <p:cNvSpPr txBox="1"/>
          <p:nvPr/>
        </p:nvSpPr>
        <p:spPr>
          <a:xfrm>
            <a:off x="5303520" y="1188720"/>
            <a:ext cx="3200400" cy="274320"/>
          </a:xfrm>
          <a:prstGeom prst="rect">
            <a:avLst/>
          </a:prstGeom>
          <a:noFill/>
          <a:ln/>
        </p:spPr>
        <p:txBody>
          <a:bodyPr wrap="square" lIns="0" tIns="0" rIns="0" bIns="0" rtlCol="0" anchor="t"/>
          <a:lstStyle/>
          <a:p>
            <a:pPr indent="0" marL="0">
              <a:buNone/>
            </a:pPr>
            <a:r>
              <a:rPr lang="en-US" sz="1400" b="1" dirty="0">
                <a:solidFill>
                  <a:schemeClr val="tx1"/>
                </a:solidFill>
              </a:rPr>
              <a:t>The A / P / W grid</a:t>
            </a:r>
            <a:endParaRPr lang="en-US" sz="1400" dirty="0"/>
          </a:p>
        </p:txBody>
      </p:sp>
      <p:sp>
        <p:nvSpPr>
          <p:cNvPr id="23" name="APW A number circle"/>
          <p:cNvSpPr/>
          <p:nvPr/>
        </p:nvSpPr>
        <p:spPr>
          <a:xfrm>
            <a:off x="5303520" y="1572768"/>
            <a:ext cx="347472" cy="347472"/>
          </a:xfrm>
          <a:prstGeom prst="ellipse">
            <a:avLst/>
          </a:prstGeom>
          <a:solidFill>
            <a:schemeClr val="accent3"/>
          </a:solidFill>
          <a:ln/>
        </p:spPr>
      </p:sp>
      <p:sp>
        <p:nvSpPr>
          <p:cNvPr id="24" name="APW A number"/>
          <p:cNvSpPr txBox="1"/>
          <p:nvPr/>
        </p:nvSpPr>
        <p:spPr>
          <a:xfrm>
            <a:off x="5303520" y="157276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25" name="APW A label"/>
          <p:cNvSpPr txBox="1"/>
          <p:nvPr/>
        </p:nvSpPr>
        <p:spPr>
          <a:xfrm>
            <a:off x="5715000" y="1572768"/>
            <a:ext cx="640080" cy="347472"/>
          </a:xfrm>
          <a:prstGeom prst="rect">
            <a:avLst/>
          </a:prstGeom>
          <a:noFill/>
          <a:ln/>
        </p:spPr>
        <p:txBody>
          <a:bodyPr wrap="square" lIns="0" tIns="0" rIns="0" bIns="0" rtlCol="0" anchor="ctr"/>
          <a:lstStyle/>
          <a:p>
            <a:pPr indent="0" marL="0">
              <a:buNone/>
            </a:pPr>
            <a:r>
              <a:rPr lang="en-US" sz="1150" b="1" dirty="0">
                <a:solidFill>
                  <a:schemeClr val="tx1"/>
                </a:solidFill>
              </a:rPr>
              <a:t>Aktibo</a:t>
            </a:r>
            <a:endParaRPr lang="en-US" sz="1150" dirty="0"/>
          </a:p>
        </p:txBody>
      </p:sp>
      <p:sp>
        <p:nvSpPr>
          <p:cNvPr id="26" name="APW P number circle"/>
          <p:cNvSpPr/>
          <p:nvPr/>
        </p:nvSpPr>
        <p:spPr>
          <a:xfrm>
            <a:off x="6373368" y="1572768"/>
            <a:ext cx="347472" cy="347472"/>
          </a:xfrm>
          <a:prstGeom prst="ellipse">
            <a:avLst/>
          </a:prstGeom>
          <a:solidFill>
            <a:schemeClr val="accent2"/>
          </a:solidFill>
          <a:ln/>
        </p:spPr>
      </p:sp>
      <p:sp>
        <p:nvSpPr>
          <p:cNvPr id="27" name="APW P number"/>
          <p:cNvSpPr txBox="1"/>
          <p:nvPr/>
        </p:nvSpPr>
        <p:spPr>
          <a:xfrm>
            <a:off x="6373368" y="157276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P</a:t>
            </a:r>
            <a:endParaRPr lang="en-US" sz="1200" dirty="0"/>
          </a:p>
        </p:txBody>
      </p:sp>
      <p:sp>
        <p:nvSpPr>
          <p:cNvPr id="28" name="APW P label"/>
          <p:cNvSpPr txBox="1"/>
          <p:nvPr/>
        </p:nvSpPr>
        <p:spPr>
          <a:xfrm>
            <a:off x="6784848" y="1572768"/>
            <a:ext cx="640080" cy="347472"/>
          </a:xfrm>
          <a:prstGeom prst="rect">
            <a:avLst/>
          </a:prstGeom>
          <a:noFill/>
          <a:ln/>
        </p:spPr>
        <p:txBody>
          <a:bodyPr wrap="square" lIns="0" tIns="0" rIns="0" bIns="0" rtlCol="0" anchor="ctr"/>
          <a:lstStyle/>
          <a:p>
            <a:pPr indent="0" marL="0">
              <a:buNone/>
            </a:pPr>
            <a:r>
              <a:rPr lang="en-US" sz="1150" b="1" dirty="0">
                <a:solidFill>
                  <a:schemeClr val="tx1"/>
                </a:solidFill>
              </a:rPr>
              <a:t>Panagsa</a:t>
            </a:r>
            <a:endParaRPr lang="en-US" sz="1150" dirty="0"/>
          </a:p>
        </p:txBody>
      </p:sp>
      <p:sp>
        <p:nvSpPr>
          <p:cNvPr id="29" name="APW W number circle"/>
          <p:cNvSpPr/>
          <p:nvPr/>
        </p:nvSpPr>
        <p:spPr>
          <a:xfrm>
            <a:off x="7443216" y="1572768"/>
            <a:ext cx="347472" cy="347472"/>
          </a:xfrm>
          <a:prstGeom prst="ellipse">
            <a:avLst/>
          </a:prstGeom>
          <a:solidFill>
            <a:schemeClr val="accent5"/>
          </a:solidFill>
          <a:ln/>
        </p:spPr>
      </p:sp>
      <p:sp>
        <p:nvSpPr>
          <p:cNvPr id="30" name="APW W number"/>
          <p:cNvSpPr txBox="1"/>
          <p:nvPr/>
        </p:nvSpPr>
        <p:spPr>
          <a:xfrm>
            <a:off x="7443216" y="157276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W</a:t>
            </a:r>
            <a:endParaRPr lang="en-US" sz="1200" dirty="0"/>
          </a:p>
        </p:txBody>
      </p:sp>
      <p:sp>
        <p:nvSpPr>
          <p:cNvPr id="31" name="APW W label"/>
          <p:cNvSpPr txBox="1"/>
          <p:nvPr/>
        </p:nvSpPr>
        <p:spPr>
          <a:xfrm>
            <a:off x="7854696" y="1572768"/>
            <a:ext cx="640080" cy="347472"/>
          </a:xfrm>
          <a:prstGeom prst="rect">
            <a:avLst/>
          </a:prstGeom>
          <a:noFill/>
          <a:ln/>
        </p:spPr>
        <p:txBody>
          <a:bodyPr wrap="square" lIns="0" tIns="0" rIns="0" bIns="0" rtlCol="0" anchor="ctr"/>
          <a:lstStyle/>
          <a:p>
            <a:pPr indent="0" marL="0">
              <a:buNone/>
            </a:pPr>
            <a:r>
              <a:rPr lang="en-US" sz="1150" b="1" dirty="0">
                <a:solidFill>
                  <a:schemeClr val="tx1"/>
                </a:solidFill>
              </a:rPr>
              <a:t>Wala</a:t>
            </a:r>
            <a:endParaRPr lang="en-US" sz="1150" dirty="0"/>
          </a:p>
        </p:txBody>
      </p:sp>
      <p:sp>
        <p:nvSpPr>
          <p:cNvPr id="32" name="Items heading"/>
          <p:cNvSpPr txBox="1"/>
          <p:nvPr/>
        </p:nvSpPr>
        <p:spPr>
          <a:xfrm>
            <a:off x="5303520" y="2057400"/>
            <a:ext cx="3200400" cy="228600"/>
          </a:xfrm>
          <a:prstGeom prst="rect">
            <a:avLst/>
          </a:prstGeom>
          <a:noFill/>
          <a:ln/>
        </p:spPr>
        <p:txBody>
          <a:bodyPr wrap="square" lIns="0" tIns="0" rIns="0" bIns="0" rtlCol="0" anchor="t"/>
          <a:lstStyle/>
          <a:p>
            <a:pPr indent="0" marL="0">
              <a:buNone/>
            </a:pPr>
            <a:r>
              <a:rPr lang="en-US" sz="1100" b="1" dirty="0">
                <a:solidFill>
                  <a:schemeClr val="tx2"/>
                </a:solidFill>
              </a:rPr>
              <a:t>Six items for each member</a:t>
            </a:r>
            <a:endParaRPr lang="en-US" sz="1100" dirty="0"/>
          </a:p>
        </p:txBody>
      </p:sp>
      <p:sp>
        <p:nvSpPr>
          <p:cNvPr id="33" name="Items column 1"/>
          <p:cNvSpPr txBox="1"/>
          <p:nvPr/>
        </p:nvSpPr>
        <p:spPr>
          <a:xfrm>
            <a:off x="5303520" y="2304288"/>
            <a:ext cx="1783080" cy="685800"/>
          </a:xfrm>
          <a:prstGeom prst="rect">
            <a:avLst/>
          </a:prstGeom>
          <a:noFill/>
          <a:ln/>
        </p:spPr>
        <p:txBody>
          <a:bodyPr wrap="square" lIns="0" tIns="0" rIns="0" bIns="0" rtlCol="0" anchor="t"/>
          <a:lstStyle/>
          <a:p>
            <a:pPr marL="127000" indent="-127000">
              <a:spcAft>
                <a:spcPts val="200"/>
              </a:spcAft>
              <a:buSzPct val="100000"/>
              <a:buChar char="•"/>
            </a:pPr>
            <a:r>
              <a:rPr lang="en-US" sz="1050" dirty="0">
                <a:solidFill>
                  <a:schemeClr val="tx1"/>
                </a:solidFill>
              </a:rPr>
              <a:t>Mass (Misa)</a:t>
            </a:r>
            <a:endParaRPr lang="en-US" sz="1050" dirty="0"/>
          </a:p>
          <a:p>
            <a:pPr marL="127000" indent="-127000">
              <a:spcAft>
                <a:spcPts val="200"/>
              </a:spcAft>
              <a:buSzPct val="100000"/>
              <a:buChar char="•"/>
            </a:pPr>
            <a:r>
              <a:rPr lang="en-US" sz="1050" dirty="0">
                <a:solidFill>
                  <a:schemeClr val="tx1"/>
                </a:solidFill>
              </a:rPr>
              <a:t>Bible Service (Kasaulogan)</a:t>
            </a:r>
            <a:endParaRPr lang="en-US" sz="1050" dirty="0"/>
          </a:p>
          <a:p>
            <a:pPr marL="127000" indent="-127000">
              <a:spcAft>
                <a:spcPts val="200"/>
              </a:spcAft>
              <a:buSzPct val="100000"/>
              <a:buChar char="•"/>
            </a:pPr>
            <a:r>
              <a:rPr lang="en-US" sz="1050" dirty="0">
                <a:solidFill>
                  <a:schemeClr val="tx1"/>
                </a:solidFill>
              </a:rPr>
              <a:t>Devotions / Rosary</a:t>
            </a:r>
            <a:endParaRPr lang="en-US" sz="1050" dirty="0"/>
          </a:p>
        </p:txBody>
      </p:sp>
      <p:sp>
        <p:nvSpPr>
          <p:cNvPr id="34" name="Items column 2"/>
          <p:cNvSpPr txBox="1"/>
          <p:nvPr/>
        </p:nvSpPr>
        <p:spPr>
          <a:xfrm>
            <a:off x="7086600" y="2304288"/>
            <a:ext cx="1508760" cy="685800"/>
          </a:xfrm>
          <a:prstGeom prst="rect">
            <a:avLst/>
          </a:prstGeom>
          <a:noFill/>
          <a:ln/>
        </p:spPr>
        <p:txBody>
          <a:bodyPr wrap="square" lIns="0" tIns="0" rIns="0" bIns="0" rtlCol="0" anchor="t"/>
          <a:lstStyle/>
          <a:p>
            <a:pPr marL="127000" indent="-127000">
              <a:spcAft>
                <a:spcPts val="200"/>
              </a:spcAft>
              <a:buSzPct val="100000"/>
              <a:buChar char="•"/>
            </a:pPr>
            <a:r>
              <a:rPr lang="en-US" sz="1050" dirty="0">
                <a:solidFill>
                  <a:schemeClr val="tx1"/>
                </a:solidFill>
              </a:rPr>
              <a:t>Meetings / Seminars</a:t>
            </a:r>
            <a:endParaRPr lang="en-US" sz="1050" dirty="0"/>
          </a:p>
          <a:p>
            <a:pPr marL="127000" indent="-127000">
              <a:spcAft>
                <a:spcPts val="200"/>
              </a:spcAft>
              <a:buSzPct val="100000"/>
              <a:buChar char="•"/>
            </a:pPr>
            <a:r>
              <a:rPr lang="en-US" sz="1050" dirty="0">
                <a:solidFill>
                  <a:schemeClr val="tx1"/>
                </a:solidFill>
              </a:rPr>
              <a:t>Pintakasi</a:t>
            </a:r>
            <a:endParaRPr lang="en-US" sz="1050" dirty="0"/>
          </a:p>
          <a:p>
            <a:pPr marL="127000" indent="-127000">
              <a:spcAft>
                <a:spcPts val="200"/>
              </a:spcAft>
              <a:buSzPct val="100000"/>
              <a:buChar char="•"/>
            </a:pPr>
            <a:r>
              <a:rPr lang="en-US" sz="1050" dirty="0">
                <a:solidFill>
                  <a:schemeClr val="tx1"/>
                </a:solidFill>
              </a:rPr>
              <a:t>Suporta Pinansyal</a:t>
            </a:r>
            <a:endParaRPr lang="en-US" sz="1050" dirty="0"/>
          </a:p>
        </p:txBody>
      </p:sp>
      <p:sp>
        <p:nvSpPr>
          <p:cNvPr id="35" name="Suggestion box"/>
          <p:cNvSpPr/>
          <p:nvPr/>
        </p:nvSpPr>
        <p:spPr>
          <a:xfrm>
            <a:off x="5303520" y="3200400"/>
            <a:ext cx="3200400" cy="1280160"/>
          </a:xfrm>
          <a:prstGeom prst="roundRect">
            <a:avLst>
              <a:gd name="adj" fmla="val 5714"/>
            </a:avLst>
          </a:prstGeom>
          <a:solidFill>
            <a:schemeClr val="bg1"/>
          </a:solidFill>
          <a:ln/>
        </p:spPr>
      </p:sp>
      <p:sp>
        <p:nvSpPr>
          <p:cNvPr id="36" name="Suggestion text"/>
          <p:cNvSpPr txBox="1"/>
          <p:nvPr/>
        </p:nvSpPr>
        <p:spPr>
          <a:xfrm>
            <a:off x="5468112" y="3337560"/>
            <a:ext cx="2926080" cy="105156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The app suggests a status</a:t>
            </a:r>
            <a:endParaRPr lang="en-US" sz="1100" dirty="0"/>
          </a:p>
          <a:p>
            <a:pPr indent="0" marL="0">
              <a:spcAft>
                <a:spcPts val="400"/>
              </a:spcAft>
              <a:buNone/>
            </a:pPr>
            <a:r>
              <a:rPr lang="en-US" sz="1100" dirty="0">
                <a:solidFill>
                  <a:schemeClr val="tx2"/>
                </a:solidFill>
              </a:rPr>
              <a:t>Mass A, or any two items A or P → </a:t>
            </a:r>
            <a:pPr indent="0" marL="0">
              <a:spcAft>
                <a:spcPts val="400"/>
              </a:spcAft>
              <a:buNone/>
            </a:pPr>
            <a:r>
              <a:rPr lang="en-US" sz="1100" b="1" dirty="0">
                <a:solidFill>
                  <a:schemeClr val="accent3"/>
                </a:solidFill>
              </a:rPr>
              <a:t>Active</a:t>
            </a:r>
            <a:endParaRPr lang="en-US" sz="1100" dirty="0"/>
          </a:p>
          <a:p>
            <a:pPr indent="0" marL="0">
              <a:spcAft>
                <a:spcPts val="400"/>
              </a:spcAft>
              <a:buNone/>
            </a:pPr>
            <a:r>
              <a:rPr lang="en-US" sz="1100" dirty="0">
                <a:solidFill>
                  <a:schemeClr val="tx2"/>
                </a:solidFill>
              </a:rPr>
              <a:t>All items W → </a:t>
            </a:r>
            <a:pPr indent="0" marL="0">
              <a:spcAft>
                <a:spcPts val="400"/>
              </a:spcAft>
              <a:buNone/>
            </a:pPr>
            <a:r>
              <a:rPr lang="en-US" sz="1100" b="1" dirty="0">
                <a:solidFill>
                  <a:schemeClr val="accent5"/>
                </a:solidFill>
              </a:rPr>
              <a:t>Inactive</a:t>
            </a:r>
            <a:endParaRPr lang="en-US" sz="1100" dirty="0"/>
          </a:p>
          <a:p>
            <a:pPr indent="0" marL="0">
              <a:spcAft>
                <a:spcPts val="400"/>
              </a:spcAft>
              <a:buNone/>
            </a:pPr>
            <a:r>
              <a:rPr lang="en-US" sz="1100" i="1" dirty="0">
                <a:solidFill>
                  <a:schemeClr val="tx2"/>
                </a:solidFill>
              </a:rPr>
              <a:t>You can always choose the status yourself.</a:t>
            </a:r>
            <a:endParaRPr lang="en-US" sz="110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Choosing each member’s status</a:t>
            </a:r>
            <a:endParaRPr lang="en-US" sz="2600" dirty="0"/>
          </a:p>
        </p:txBody>
      </p:sp>
      <p:sp>
        <p:nvSpPr>
          <p:cNvPr id="3" name="Subtitle"/>
          <p:cNvSpPr txBox="1"/>
          <p:nvPr/>
        </p:nvSpPr>
        <p:spPr>
          <a:xfrm>
            <a:off x="457200" y="795528"/>
            <a:ext cx="8229600" cy="274320"/>
          </a:xfrm>
          <a:prstGeom prst="rect">
            <a:avLst/>
          </a:prstGeom>
          <a:noFill/>
          <a:ln/>
        </p:spPr>
        <p:txBody>
          <a:bodyPr wrap="square" lIns="0" tIns="0" rIns="0" bIns="0" rtlCol="0" anchor="t"/>
          <a:lstStyle/>
          <a:p>
            <a:pPr indent="0" marL="0">
              <a:buNone/>
            </a:pPr>
            <a:r>
              <a:rPr lang="en-US" sz="1300" dirty="0">
                <a:solidFill>
                  <a:schemeClr val="tx2"/>
                </a:solidFill>
              </a:rPr>
              <a:t>One household can have both active and inactive members, so choose the status for each person.</a:t>
            </a:r>
            <a:endParaRPr lang="en-US" sz="1300" dirty="0"/>
          </a:p>
        </p:txBody>
      </p:sp>
      <p:sp>
        <p:nvSpPr>
          <p:cNvPr id="4" name="Active card"/>
          <p:cNvSpPr/>
          <p:nvPr/>
        </p:nvSpPr>
        <p:spPr>
          <a:xfrm>
            <a:off x="457200" y="1188720"/>
            <a:ext cx="2624328" cy="1627632"/>
          </a:xfrm>
          <a:prstGeom prst="roundRect">
            <a:avLst>
              <a:gd name="adj" fmla="val 4494"/>
            </a:avLst>
          </a:prstGeom>
          <a:solidFill>
            <a:schemeClr val="bg2"/>
          </a:solidFill>
          <a:ln/>
        </p:spPr>
      </p:sp>
      <p:sp>
        <p:nvSpPr>
          <p:cNvPr id="5" name="Active circle"/>
          <p:cNvSpPr/>
          <p:nvPr/>
        </p:nvSpPr>
        <p:spPr>
          <a:xfrm>
            <a:off x="621792" y="1371600"/>
            <a:ext cx="457200" cy="457200"/>
          </a:xfrm>
          <a:prstGeom prst="ellipse">
            <a:avLst/>
          </a:prstGeom>
          <a:solidFill>
            <a:schemeClr val="accent3"/>
          </a:solidFill>
          <a:ln/>
        </p:spPr>
      </p:sp>
      <p:pic>
        <p:nvPicPr>
          <p:cNvPr id="6" name="Active icon" descr="Active">    </p:cNvPr>
          <p:cNvPicPr>
            <a:picLocks noChangeAspect="1"/>
          </p:cNvPicPr>
          <p:nvPr/>
        </p:nvPicPr>
        <p:blipFill>
          <a:blip r:embed="rId1"/>
          <a:stretch>
            <a:fillRect/>
          </a:stretch>
        </p:blipFill>
        <p:spPr>
          <a:xfrm>
            <a:off x="731520" y="1481328"/>
            <a:ext cx="237744" cy="237744"/>
          </a:xfrm>
          <a:prstGeom prst="rect">
            <a:avLst/>
          </a:prstGeom>
        </p:spPr>
      </p:pic>
      <p:sp>
        <p:nvSpPr>
          <p:cNvPr id="7" name="Active heading"/>
          <p:cNvSpPr txBox="1"/>
          <p:nvPr/>
        </p:nvSpPr>
        <p:spPr>
          <a:xfrm>
            <a:off x="1188720" y="1371600"/>
            <a:ext cx="1755648" cy="45720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Active</a:t>
            </a:r>
            <a:endParaRPr lang="en-US" sz="1500" dirty="0"/>
          </a:p>
        </p:txBody>
      </p:sp>
      <p:sp>
        <p:nvSpPr>
          <p:cNvPr id="8" name="Active text"/>
          <p:cNvSpPr txBox="1"/>
          <p:nvPr/>
        </p:nvSpPr>
        <p:spPr>
          <a:xfrm>
            <a:off x="621792" y="1965960"/>
            <a:ext cx="2295144" cy="758952"/>
          </a:xfrm>
          <a:prstGeom prst="rect">
            <a:avLst/>
          </a:prstGeom>
          <a:noFill/>
          <a:ln/>
        </p:spPr>
        <p:txBody>
          <a:bodyPr wrap="square" lIns="0" tIns="0" rIns="0" bIns="0" rtlCol="0" anchor="t"/>
          <a:lstStyle/>
          <a:p>
            <a:pPr indent="0" marL="0">
              <a:buNone/>
            </a:pPr>
            <a:r>
              <a:rPr lang="en-US" sz="1150" dirty="0">
                <a:solidFill>
                  <a:schemeClr val="tx2"/>
                </a:solidFill>
              </a:rPr>
              <a:t>Takes part in parish life: Mass, Bible service, GKK activities.</a:t>
            </a:r>
            <a:endParaRPr lang="en-US" sz="1150" dirty="0"/>
          </a:p>
        </p:txBody>
      </p:sp>
      <p:sp>
        <p:nvSpPr>
          <p:cNvPr id="9" name="Inactive card"/>
          <p:cNvSpPr/>
          <p:nvPr/>
        </p:nvSpPr>
        <p:spPr>
          <a:xfrm>
            <a:off x="3264408" y="1188720"/>
            <a:ext cx="2624328" cy="1627632"/>
          </a:xfrm>
          <a:prstGeom prst="roundRect">
            <a:avLst>
              <a:gd name="adj" fmla="val 4494"/>
            </a:avLst>
          </a:prstGeom>
          <a:solidFill>
            <a:schemeClr val="bg2"/>
          </a:solidFill>
          <a:ln/>
        </p:spPr>
      </p:sp>
      <p:sp>
        <p:nvSpPr>
          <p:cNvPr id="10" name="Inactive circle"/>
          <p:cNvSpPr/>
          <p:nvPr/>
        </p:nvSpPr>
        <p:spPr>
          <a:xfrm>
            <a:off x="3429000" y="1371600"/>
            <a:ext cx="457200" cy="457200"/>
          </a:xfrm>
          <a:prstGeom prst="ellipse">
            <a:avLst/>
          </a:prstGeom>
          <a:solidFill>
            <a:schemeClr val="tx2"/>
          </a:solidFill>
          <a:ln/>
        </p:spPr>
      </p:sp>
      <p:pic>
        <p:nvPicPr>
          <p:cNvPr id="11" name="Inactive icon" descr="Inactive">    </p:cNvPr>
          <p:cNvPicPr>
            <a:picLocks noChangeAspect="1"/>
          </p:cNvPicPr>
          <p:nvPr/>
        </p:nvPicPr>
        <p:blipFill>
          <a:blip r:embed="rId2"/>
          <a:stretch>
            <a:fillRect/>
          </a:stretch>
        </p:blipFill>
        <p:spPr>
          <a:xfrm>
            <a:off x="3538728" y="1481328"/>
            <a:ext cx="237744" cy="237744"/>
          </a:xfrm>
          <a:prstGeom prst="rect">
            <a:avLst/>
          </a:prstGeom>
        </p:spPr>
      </p:pic>
      <p:sp>
        <p:nvSpPr>
          <p:cNvPr id="12" name="Inactive heading"/>
          <p:cNvSpPr txBox="1"/>
          <p:nvPr/>
        </p:nvSpPr>
        <p:spPr>
          <a:xfrm>
            <a:off x="3995928" y="1371600"/>
            <a:ext cx="1755648" cy="45720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Inactive</a:t>
            </a:r>
            <a:endParaRPr lang="en-US" sz="1500" dirty="0"/>
          </a:p>
        </p:txBody>
      </p:sp>
      <p:sp>
        <p:nvSpPr>
          <p:cNvPr id="13" name="Inactive text"/>
          <p:cNvSpPr txBox="1"/>
          <p:nvPr/>
        </p:nvSpPr>
        <p:spPr>
          <a:xfrm>
            <a:off x="3429000" y="1965960"/>
            <a:ext cx="2295144" cy="758952"/>
          </a:xfrm>
          <a:prstGeom prst="rect">
            <a:avLst/>
          </a:prstGeom>
          <a:noFill/>
          <a:ln/>
        </p:spPr>
        <p:txBody>
          <a:bodyPr wrap="square" lIns="0" tIns="0" rIns="0" bIns="0" rtlCol="0" anchor="t"/>
          <a:lstStyle/>
          <a:p>
            <a:pPr indent="0" marL="0">
              <a:buNone/>
            </a:pPr>
            <a:r>
              <a:rPr lang="en-US" sz="1150" dirty="0">
                <a:solidFill>
                  <a:schemeClr val="tx2"/>
                </a:solidFill>
              </a:rPr>
              <a:t>Rarely or never takes part. Still a member of the parish.</a:t>
            </a:r>
            <a:endParaRPr lang="en-US" sz="1150" dirty="0"/>
          </a:p>
        </p:txBody>
      </p:sp>
      <p:sp>
        <p:nvSpPr>
          <p:cNvPr id="14" name="Moved away card"/>
          <p:cNvSpPr/>
          <p:nvPr/>
        </p:nvSpPr>
        <p:spPr>
          <a:xfrm>
            <a:off x="6071616" y="1188720"/>
            <a:ext cx="2624328" cy="1627632"/>
          </a:xfrm>
          <a:prstGeom prst="roundRect">
            <a:avLst>
              <a:gd name="adj" fmla="val 4494"/>
            </a:avLst>
          </a:prstGeom>
          <a:solidFill>
            <a:schemeClr val="bg2"/>
          </a:solidFill>
          <a:ln/>
        </p:spPr>
      </p:sp>
      <p:sp>
        <p:nvSpPr>
          <p:cNvPr id="15" name="Moved away circle"/>
          <p:cNvSpPr/>
          <p:nvPr/>
        </p:nvSpPr>
        <p:spPr>
          <a:xfrm>
            <a:off x="6236208" y="1371600"/>
            <a:ext cx="457200" cy="457200"/>
          </a:xfrm>
          <a:prstGeom prst="ellipse">
            <a:avLst/>
          </a:prstGeom>
          <a:solidFill>
            <a:schemeClr val="accent1"/>
          </a:solidFill>
          <a:ln/>
        </p:spPr>
      </p:sp>
      <p:pic>
        <p:nvPicPr>
          <p:cNvPr id="16" name="Moved away icon" descr="Moved away">    </p:cNvPr>
          <p:cNvPicPr>
            <a:picLocks noChangeAspect="1"/>
          </p:cNvPicPr>
          <p:nvPr/>
        </p:nvPicPr>
        <p:blipFill>
          <a:blip r:embed="rId3"/>
          <a:stretch>
            <a:fillRect/>
          </a:stretch>
        </p:blipFill>
        <p:spPr>
          <a:xfrm>
            <a:off x="6345936" y="1481328"/>
            <a:ext cx="237744" cy="237744"/>
          </a:xfrm>
          <a:prstGeom prst="rect">
            <a:avLst/>
          </a:prstGeom>
        </p:spPr>
      </p:pic>
      <p:sp>
        <p:nvSpPr>
          <p:cNvPr id="17" name="Moved away heading"/>
          <p:cNvSpPr txBox="1"/>
          <p:nvPr/>
        </p:nvSpPr>
        <p:spPr>
          <a:xfrm>
            <a:off x="6803136" y="1371600"/>
            <a:ext cx="1755648" cy="45720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Moved away</a:t>
            </a:r>
            <a:endParaRPr lang="en-US" sz="1500" dirty="0"/>
          </a:p>
        </p:txBody>
      </p:sp>
      <p:sp>
        <p:nvSpPr>
          <p:cNvPr id="18" name="Moved away text"/>
          <p:cNvSpPr txBox="1"/>
          <p:nvPr/>
        </p:nvSpPr>
        <p:spPr>
          <a:xfrm>
            <a:off x="6236208" y="1965960"/>
            <a:ext cx="2295144" cy="758952"/>
          </a:xfrm>
          <a:prstGeom prst="rect">
            <a:avLst/>
          </a:prstGeom>
          <a:noFill/>
          <a:ln/>
        </p:spPr>
        <p:txBody>
          <a:bodyPr wrap="square" lIns="0" tIns="0" rIns="0" bIns="0" rtlCol="0" anchor="t"/>
          <a:lstStyle/>
          <a:p>
            <a:pPr indent="0" marL="0">
              <a:buNone/>
            </a:pPr>
            <a:r>
              <a:rPr lang="en-US" sz="1150" dirty="0">
                <a:solidFill>
                  <a:schemeClr val="tx2"/>
                </a:solidFill>
              </a:rPr>
              <a:t>Now lives outside the parish. Write where in Notes. They leave the lists and next census’s forms.</a:t>
            </a:r>
            <a:endParaRPr lang="en-US" sz="1150" dirty="0"/>
          </a:p>
        </p:txBody>
      </p:sp>
      <p:sp>
        <p:nvSpPr>
          <p:cNvPr id="19" name="Deceased card"/>
          <p:cNvSpPr/>
          <p:nvPr/>
        </p:nvSpPr>
        <p:spPr>
          <a:xfrm>
            <a:off x="457200" y="2971800"/>
            <a:ext cx="2624328" cy="1627632"/>
          </a:xfrm>
          <a:prstGeom prst="roundRect">
            <a:avLst>
              <a:gd name="adj" fmla="val 4494"/>
            </a:avLst>
          </a:prstGeom>
          <a:solidFill>
            <a:schemeClr val="bg2"/>
          </a:solidFill>
          <a:ln/>
        </p:spPr>
      </p:sp>
      <p:sp>
        <p:nvSpPr>
          <p:cNvPr id="20" name="Deceased circle"/>
          <p:cNvSpPr/>
          <p:nvPr/>
        </p:nvSpPr>
        <p:spPr>
          <a:xfrm>
            <a:off x="621792" y="3154680"/>
            <a:ext cx="457200" cy="457200"/>
          </a:xfrm>
          <a:prstGeom prst="ellipse">
            <a:avLst/>
          </a:prstGeom>
          <a:solidFill>
            <a:schemeClr val="tx1"/>
          </a:solidFill>
          <a:ln/>
        </p:spPr>
      </p:sp>
      <p:pic>
        <p:nvPicPr>
          <p:cNvPr id="21" name="Deceased icon" descr="Deceased">    </p:cNvPr>
          <p:cNvPicPr>
            <a:picLocks noChangeAspect="1"/>
          </p:cNvPicPr>
          <p:nvPr/>
        </p:nvPicPr>
        <p:blipFill>
          <a:blip r:embed="rId4"/>
          <a:stretch>
            <a:fillRect/>
          </a:stretch>
        </p:blipFill>
        <p:spPr>
          <a:xfrm>
            <a:off x="731520" y="3264408"/>
            <a:ext cx="237744" cy="237744"/>
          </a:xfrm>
          <a:prstGeom prst="rect">
            <a:avLst/>
          </a:prstGeom>
        </p:spPr>
      </p:pic>
      <p:sp>
        <p:nvSpPr>
          <p:cNvPr id="22" name="Deceased heading"/>
          <p:cNvSpPr txBox="1"/>
          <p:nvPr/>
        </p:nvSpPr>
        <p:spPr>
          <a:xfrm>
            <a:off x="1188720" y="3154680"/>
            <a:ext cx="1755648" cy="45720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Deceased</a:t>
            </a:r>
            <a:endParaRPr lang="en-US" sz="1500" dirty="0"/>
          </a:p>
        </p:txBody>
      </p:sp>
      <p:sp>
        <p:nvSpPr>
          <p:cNvPr id="23" name="Deceased text"/>
          <p:cNvSpPr txBox="1"/>
          <p:nvPr/>
        </p:nvSpPr>
        <p:spPr>
          <a:xfrm>
            <a:off x="621792" y="3749040"/>
            <a:ext cx="2295144" cy="758952"/>
          </a:xfrm>
          <a:prstGeom prst="rect">
            <a:avLst/>
          </a:prstGeom>
          <a:noFill/>
          <a:ln/>
        </p:spPr>
        <p:txBody>
          <a:bodyPr wrap="square" lIns="0" tIns="0" rIns="0" bIns="0" rtlCol="0" anchor="t"/>
          <a:lstStyle/>
          <a:p>
            <a:pPr indent="0" marL="0">
              <a:buNone/>
            </a:pPr>
            <a:r>
              <a:rPr lang="en-US" sz="1150" dirty="0">
                <a:solidFill>
                  <a:schemeClr val="tx2"/>
                </a:solidFill>
              </a:rPr>
              <a:t>Write the date in Notes. The record is kept, but they leave the counts and forms.</a:t>
            </a:r>
            <a:endParaRPr lang="en-US" sz="1150" dirty="0"/>
          </a:p>
        </p:txBody>
      </p:sp>
      <p:sp>
        <p:nvSpPr>
          <p:cNvPr id="24" name="Left the Church card"/>
          <p:cNvSpPr/>
          <p:nvPr/>
        </p:nvSpPr>
        <p:spPr>
          <a:xfrm>
            <a:off x="3264408" y="2971800"/>
            <a:ext cx="2624328" cy="1627632"/>
          </a:xfrm>
          <a:prstGeom prst="roundRect">
            <a:avLst>
              <a:gd name="adj" fmla="val 4494"/>
            </a:avLst>
          </a:prstGeom>
          <a:solidFill>
            <a:schemeClr val="bg2"/>
          </a:solidFill>
          <a:ln/>
        </p:spPr>
      </p:sp>
      <p:sp>
        <p:nvSpPr>
          <p:cNvPr id="25" name="Left the Church circle"/>
          <p:cNvSpPr/>
          <p:nvPr/>
        </p:nvSpPr>
        <p:spPr>
          <a:xfrm>
            <a:off x="3429000" y="3154680"/>
            <a:ext cx="457200" cy="457200"/>
          </a:xfrm>
          <a:prstGeom prst="ellipse">
            <a:avLst/>
          </a:prstGeom>
          <a:solidFill>
            <a:schemeClr val="accent5"/>
          </a:solidFill>
          <a:ln/>
        </p:spPr>
      </p:sp>
      <p:pic>
        <p:nvPicPr>
          <p:cNvPr id="26" name="Left the Church icon" descr="Left the Church">    </p:cNvPr>
          <p:cNvPicPr>
            <a:picLocks noChangeAspect="1"/>
          </p:cNvPicPr>
          <p:nvPr/>
        </p:nvPicPr>
        <p:blipFill>
          <a:blip r:embed="rId5"/>
          <a:stretch>
            <a:fillRect/>
          </a:stretch>
        </p:blipFill>
        <p:spPr>
          <a:xfrm>
            <a:off x="3538728" y="3264408"/>
            <a:ext cx="237744" cy="237744"/>
          </a:xfrm>
          <a:prstGeom prst="rect">
            <a:avLst/>
          </a:prstGeom>
        </p:spPr>
      </p:pic>
      <p:sp>
        <p:nvSpPr>
          <p:cNvPr id="27" name="Left the Church heading"/>
          <p:cNvSpPr txBox="1"/>
          <p:nvPr/>
        </p:nvSpPr>
        <p:spPr>
          <a:xfrm>
            <a:off x="3995928" y="3154680"/>
            <a:ext cx="1755648" cy="45720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Left the Church</a:t>
            </a:r>
            <a:endParaRPr lang="en-US" sz="1500" dirty="0"/>
          </a:p>
        </p:txBody>
      </p:sp>
      <p:sp>
        <p:nvSpPr>
          <p:cNvPr id="28" name="Left the Church text"/>
          <p:cNvSpPr txBox="1"/>
          <p:nvPr/>
        </p:nvSpPr>
        <p:spPr>
          <a:xfrm>
            <a:off x="3429000" y="3749040"/>
            <a:ext cx="2295144" cy="758952"/>
          </a:xfrm>
          <a:prstGeom prst="rect">
            <a:avLst/>
          </a:prstGeom>
          <a:noFill/>
          <a:ln/>
        </p:spPr>
        <p:txBody>
          <a:bodyPr wrap="square" lIns="0" tIns="0" rIns="0" bIns="0" rtlCol="0" anchor="t"/>
          <a:lstStyle/>
          <a:p>
            <a:pPr indent="0" marL="0">
              <a:buNone/>
            </a:pPr>
            <a:r>
              <a:rPr lang="en-US" sz="1150" dirty="0">
                <a:solidFill>
                  <a:schemeClr val="tx2"/>
                </a:solidFill>
              </a:rPr>
              <a:t>Has joined another faith. Choose this only when the family says so.</a:t>
            </a:r>
            <a:endParaRPr lang="en-US" sz="1150" dirty="0"/>
          </a:p>
        </p:txBody>
      </p:sp>
      <p:sp>
        <p:nvSpPr>
          <p:cNvPr id="29" name="Not confirmed yet card"/>
          <p:cNvSpPr/>
          <p:nvPr/>
        </p:nvSpPr>
        <p:spPr>
          <a:xfrm>
            <a:off x="6071616" y="2971800"/>
            <a:ext cx="2624328" cy="1627632"/>
          </a:xfrm>
          <a:prstGeom prst="roundRect">
            <a:avLst>
              <a:gd name="adj" fmla="val 4494"/>
            </a:avLst>
          </a:prstGeom>
          <a:solidFill>
            <a:schemeClr val="bg2"/>
          </a:solidFill>
          <a:ln/>
        </p:spPr>
      </p:sp>
      <p:sp>
        <p:nvSpPr>
          <p:cNvPr id="30" name="Not confirmed yet circle"/>
          <p:cNvSpPr/>
          <p:nvPr/>
        </p:nvSpPr>
        <p:spPr>
          <a:xfrm>
            <a:off x="6236208" y="3154680"/>
            <a:ext cx="457200" cy="457200"/>
          </a:xfrm>
          <a:prstGeom prst="ellipse">
            <a:avLst/>
          </a:prstGeom>
          <a:solidFill>
            <a:schemeClr val="accent4"/>
          </a:solidFill>
          <a:ln/>
        </p:spPr>
      </p:sp>
      <p:pic>
        <p:nvPicPr>
          <p:cNvPr id="31" name="Not confirmed yet icon" descr="Not confirmed yet">    </p:cNvPr>
          <p:cNvPicPr>
            <a:picLocks noChangeAspect="1"/>
          </p:cNvPicPr>
          <p:nvPr/>
        </p:nvPicPr>
        <p:blipFill>
          <a:blip r:embed="rId6"/>
          <a:stretch>
            <a:fillRect/>
          </a:stretch>
        </p:blipFill>
        <p:spPr>
          <a:xfrm>
            <a:off x="6345936" y="3264408"/>
            <a:ext cx="237744" cy="237744"/>
          </a:xfrm>
          <a:prstGeom prst="rect">
            <a:avLst/>
          </a:prstGeom>
        </p:spPr>
      </p:pic>
      <p:sp>
        <p:nvSpPr>
          <p:cNvPr id="32" name="Not confirmed yet heading"/>
          <p:cNvSpPr txBox="1"/>
          <p:nvPr/>
        </p:nvSpPr>
        <p:spPr>
          <a:xfrm>
            <a:off x="6803136" y="3154680"/>
            <a:ext cx="1755648" cy="45720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Not confirmed yet</a:t>
            </a:r>
            <a:endParaRPr lang="en-US" sz="1500" dirty="0"/>
          </a:p>
        </p:txBody>
      </p:sp>
      <p:sp>
        <p:nvSpPr>
          <p:cNvPr id="33" name="Not confirmed yet text"/>
          <p:cNvSpPr txBox="1"/>
          <p:nvPr/>
        </p:nvSpPr>
        <p:spPr>
          <a:xfrm>
            <a:off x="6236208" y="3749040"/>
            <a:ext cx="2295144" cy="758952"/>
          </a:xfrm>
          <a:prstGeom prst="rect">
            <a:avLst/>
          </a:prstGeom>
          <a:noFill/>
          <a:ln/>
        </p:spPr>
        <p:txBody>
          <a:bodyPr wrap="square" lIns="0" tIns="0" rIns="0" bIns="0" rtlCol="0" anchor="t"/>
          <a:lstStyle/>
          <a:p>
            <a:pPr indent="0" marL="0">
              <a:buNone/>
            </a:pPr>
            <a:r>
              <a:rPr lang="en-US" sz="1150" dirty="0">
                <a:solidFill>
                  <a:schemeClr val="tx2"/>
                </a:solidFill>
              </a:rPr>
              <a:t>No answer yet. These members are listed for follow-up when the census closes.</a:t>
            </a:r>
            <a:endParaRPr lang="en-US" sz="115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Reviewing families’ online updates</a:t>
            </a:r>
            <a:endParaRPr lang="en-US" sz="2600" dirty="0"/>
          </a:p>
        </p:txBody>
      </p:sp>
      <p:sp>
        <p:nvSpPr>
          <p:cNvPr id="3" name="The family lane label"/>
          <p:cNvSpPr/>
          <p:nvPr/>
        </p:nvSpPr>
        <p:spPr>
          <a:xfrm>
            <a:off x="457200" y="1051560"/>
            <a:ext cx="1143000" cy="1161288"/>
          </a:xfrm>
          <a:prstGeom prst="roundRect">
            <a:avLst>
              <a:gd name="adj" fmla="val 6400"/>
            </a:avLst>
          </a:prstGeom>
          <a:solidFill>
            <a:schemeClr val="accent3"/>
          </a:solidFill>
          <a:ln/>
        </p:spPr>
      </p:sp>
      <p:sp>
        <p:nvSpPr>
          <p:cNvPr id="4" name="The family lane circle"/>
          <p:cNvSpPr/>
          <p:nvPr/>
        </p:nvSpPr>
        <p:spPr>
          <a:xfrm>
            <a:off x="786384" y="1207008"/>
            <a:ext cx="475488" cy="475488"/>
          </a:xfrm>
          <a:prstGeom prst="ellipse">
            <a:avLst/>
          </a:prstGeom>
          <a:solidFill>
            <a:schemeClr val="bg1"/>
          </a:solidFill>
          <a:ln/>
        </p:spPr>
      </p:sp>
      <p:pic>
        <p:nvPicPr>
          <p:cNvPr id="5" name="The family lane icon" descr="The family lane">    </p:cNvPr>
          <p:cNvPicPr>
            <a:picLocks noChangeAspect="1"/>
          </p:cNvPicPr>
          <p:nvPr/>
        </p:nvPicPr>
        <p:blipFill>
          <a:blip r:embed="rId1"/>
          <a:stretch>
            <a:fillRect/>
          </a:stretch>
        </p:blipFill>
        <p:spPr>
          <a:xfrm>
            <a:off x="900501" y="1321125"/>
            <a:ext cx="247254" cy="247254"/>
          </a:xfrm>
          <a:prstGeom prst="rect">
            <a:avLst/>
          </a:prstGeom>
        </p:spPr>
      </p:pic>
      <p:sp>
        <p:nvSpPr>
          <p:cNvPr id="6" name="The family lane name"/>
          <p:cNvSpPr txBox="1"/>
          <p:nvPr/>
        </p:nvSpPr>
        <p:spPr>
          <a:xfrm>
            <a:off x="457200" y="1764792"/>
            <a:ext cx="1143000" cy="320040"/>
          </a:xfrm>
          <a:prstGeom prst="rect">
            <a:avLst/>
          </a:prstGeom>
          <a:noFill/>
          <a:ln/>
        </p:spPr>
        <p:txBody>
          <a:bodyPr wrap="square" lIns="0" tIns="0" rIns="0" bIns="0" rtlCol="0" anchor="t"/>
          <a:lstStyle/>
          <a:p>
            <a:pPr algn="ctr" indent="0" marL="0">
              <a:buNone/>
            </a:pPr>
            <a:r>
              <a:rPr lang="en-US" sz="1300" b="1" dirty="0">
                <a:solidFill>
                  <a:schemeClr val="bg1"/>
                </a:solidFill>
              </a:rPr>
              <a:t>The family</a:t>
            </a:r>
            <a:endParaRPr lang="en-US" sz="1300" dirty="0"/>
          </a:p>
        </p:txBody>
      </p:sp>
      <p:sp>
        <p:nvSpPr>
          <p:cNvPr id="7" name="The family step 1 card"/>
          <p:cNvSpPr/>
          <p:nvPr/>
        </p:nvSpPr>
        <p:spPr>
          <a:xfrm>
            <a:off x="1737360" y="1051560"/>
            <a:ext cx="1600200" cy="1161288"/>
          </a:xfrm>
          <a:prstGeom prst="roundRect">
            <a:avLst>
              <a:gd name="adj" fmla="val 6299"/>
            </a:avLst>
          </a:prstGeom>
          <a:solidFill>
            <a:schemeClr val="bg2"/>
          </a:solidFill>
          <a:ln/>
        </p:spPr>
      </p:sp>
      <p:sp>
        <p:nvSpPr>
          <p:cNvPr id="8" name="The family step 1 heading"/>
          <p:cNvSpPr txBox="1"/>
          <p:nvPr/>
        </p:nvSpPr>
        <p:spPr>
          <a:xfrm>
            <a:off x="1856232" y="1161288"/>
            <a:ext cx="1371600" cy="256032"/>
          </a:xfrm>
          <a:prstGeom prst="rect">
            <a:avLst/>
          </a:prstGeom>
          <a:noFill/>
          <a:ln/>
        </p:spPr>
        <p:txBody>
          <a:bodyPr wrap="square" lIns="0" tIns="0" rIns="0" bIns="0" rtlCol="0" anchor="t"/>
          <a:lstStyle/>
          <a:p>
            <a:pPr indent="0" marL="0">
              <a:buNone/>
            </a:pPr>
            <a:r>
              <a:rPr lang="en-US" sz="1200" b="1" dirty="0">
                <a:solidFill>
                  <a:schemeClr val="tx1"/>
                </a:solidFill>
              </a:rPr>
              <a:t>Scan the QR code</a:t>
            </a:r>
            <a:endParaRPr lang="en-US" sz="1200" dirty="0"/>
          </a:p>
        </p:txBody>
      </p:sp>
      <p:sp>
        <p:nvSpPr>
          <p:cNvPr id="9" name="The family step 1 text"/>
          <p:cNvSpPr txBox="1"/>
          <p:nvPr/>
        </p:nvSpPr>
        <p:spPr>
          <a:xfrm>
            <a:off x="1856232" y="1444752"/>
            <a:ext cx="1371600" cy="713232"/>
          </a:xfrm>
          <a:prstGeom prst="rect">
            <a:avLst/>
          </a:prstGeom>
          <a:noFill/>
          <a:ln/>
        </p:spPr>
        <p:txBody>
          <a:bodyPr wrap="square" lIns="0" tIns="0" rIns="0" bIns="0" rtlCol="0" anchor="t"/>
          <a:lstStyle/>
          <a:p>
            <a:pPr indent="0" marL="0">
              <a:buNone/>
            </a:pPr>
            <a:r>
              <a:rPr lang="en-US" sz="1050" dirty="0">
                <a:solidFill>
                  <a:schemeClr val="tx2"/>
                </a:solidFill>
              </a:rPr>
              <a:t>On their form, or open the census link printed on it.</a:t>
            </a:r>
            <a:endParaRPr lang="en-US" sz="1050" dirty="0"/>
          </a:p>
        </p:txBody>
      </p:sp>
      <p:pic>
        <p:nvPicPr>
          <p:cNvPr id="10" name="The family arrow 1" descr="preencoded.png">    </p:cNvPr>
          <p:cNvPicPr>
            <a:picLocks noChangeAspect="1"/>
          </p:cNvPicPr>
          <p:nvPr/>
        </p:nvPicPr>
        <p:blipFill>
          <a:blip r:embed="rId2"/>
          <a:stretch>
            <a:fillRect/>
          </a:stretch>
        </p:blipFill>
        <p:spPr>
          <a:xfrm>
            <a:off x="3355848" y="1563624"/>
            <a:ext cx="146304" cy="146304"/>
          </a:xfrm>
          <a:prstGeom prst="rect">
            <a:avLst/>
          </a:prstGeom>
        </p:spPr>
      </p:pic>
      <p:sp>
        <p:nvSpPr>
          <p:cNvPr id="11" name="The family step 2 card"/>
          <p:cNvSpPr/>
          <p:nvPr/>
        </p:nvSpPr>
        <p:spPr>
          <a:xfrm>
            <a:off x="3520440" y="1051560"/>
            <a:ext cx="1600200" cy="1161288"/>
          </a:xfrm>
          <a:prstGeom prst="roundRect">
            <a:avLst>
              <a:gd name="adj" fmla="val 6299"/>
            </a:avLst>
          </a:prstGeom>
          <a:solidFill>
            <a:schemeClr val="bg2"/>
          </a:solidFill>
          <a:ln/>
        </p:spPr>
      </p:sp>
      <p:sp>
        <p:nvSpPr>
          <p:cNvPr id="12" name="The family step 2 heading"/>
          <p:cNvSpPr txBox="1"/>
          <p:nvPr/>
        </p:nvSpPr>
        <p:spPr>
          <a:xfrm>
            <a:off x="3639312" y="1161288"/>
            <a:ext cx="1371600" cy="256032"/>
          </a:xfrm>
          <a:prstGeom prst="rect">
            <a:avLst/>
          </a:prstGeom>
          <a:noFill/>
          <a:ln/>
        </p:spPr>
        <p:txBody>
          <a:bodyPr wrap="square" lIns="0" tIns="0" rIns="0" bIns="0" rtlCol="0" anchor="t"/>
          <a:lstStyle/>
          <a:p>
            <a:pPr indent="0" marL="0">
              <a:buNone/>
            </a:pPr>
            <a:r>
              <a:rPr lang="en-US" sz="1200" b="1" dirty="0">
                <a:solidFill>
                  <a:schemeClr val="tx1"/>
                </a:solidFill>
              </a:rPr>
              <a:t>Sign in</a:t>
            </a:r>
            <a:endParaRPr lang="en-US" sz="1200" dirty="0"/>
          </a:p>
        </p:txBody>
      </p:sp>
      <p:sp>
        <p:nvSpPr>
          <p:cNvPr id="13" name="The family step 2 text"/>
          <p:cNvSpPr txBox="1"/>
          <p:nvPr/>
        </p:nvSpPr>
        <p:spPr>
          <a:xfrm>
            <a:off x="3639312" y="1444752"/>
            <a:ext cx="1371600" cy="713232"/>
          </a:xfrm>
          <a:prstGeom prst="rect">
            <a:avLst/>
          </a:prstGeom>
          <a:noFill/>
          <a:ln/>
        </p:spPr>
        <p:txBody>
          <a:bodyPr wrap="square" lIns="0" tIns="0" rIns="0" bIns="0" rtlCol="0" anchor="t"/>
          <a:lstStyle/>
          <a:p>
            <a:pPr indent="0" marL="0">
              <a:buNone/>
            </a:pPr>
            <a:r>
              <a:rPr lang="en-US" sz="1050" dirty="0">
                <a:solidFill>
                  <a:schemeClr val="tx2"/>
                </a:solidFill>
              </a:rPr>
              <a:t>With the household’s reference number and its code from the form.</a:t>
            </a:r>
            <a:endParaRPr lang="en-US" sz="1050" dirty="0"/>
          </a:p>
        </p:txBody>
      </p:sp>
      <p:pic>
        <p:nvPicPr>
          <p:cNvPr id="14" name="The family arrow 2" descr="preencoded.png">    </p:cNvPr>
          <p:cNvPicPr>
            <a:picLocks noChangeAspect="1"/>
          </p:cNvPicPr>
          <p:nvPr/>
        </p:nvPicPr>
        <p:blipFill>
          <a:blip r:embed="rId3"/>
          <a:stretch>
            <a:fillRect/>
          </a:stretch>
        </p:blipFill>
        <p:spPr>
          <a:xfrm>
            <a:off x="5138928" y="1563624"/>
            <a:ext cx="146304" cy="146304"/>
          </a:xfrm>
          <a:prstGeom prst="rect">
            <a:avLst/>
          </a:prstGeom>
        </p:spPr>
      </p:pic>
      <p:sp>
        <p:nvSpPr>
          <p:cNvPr id="15" name="The family step 3 card"/>
          <p:cNvSpPr/>
          <p:nvPr/>
        </p:nvSpPr>
        <p:spPr>
          <a:xfrm>
            <a:off x="5303520" y="1051560"/>
            <a:ext cx="1600200" cy="1161288"/>
          </a:xfrm>
          <a:prstGeom prst="roundRect">
            <a:avLst>
              <a:gd name="adj" fmla="val 6299"/>
            </a:avLst>
          </a:prstGeom>
          <a:solidFill>
            <a:schemeClr val="bg2"/>
          </a:solidFill>
          <a:ln/>
        </p:spPr>
      </p:sp>
      <p:sp>
        <p:nvSpPr>
          <p:cNvPr id="16" name="The family step 3 heading"/>
          <p:cNvSpPr txBox="1"/>
          <p:nvPr/>
        </p:nvSpPr>
        <p:spPr>
          <a:xfrm>
            <a:off x="5422392" y="1161288"/>
            <a:ext cx="1371600" cy="256032"/>
          </a:xfrm>
          <a:prstGeom prst="rect">
            <a:avLst/>
          </a:prstGeom>
          <a:noFill/>
          <a:ln/>
        </p:spPr>
        <p:txBody>
          <a:bodyPr wrap="square" lIns="0" tIns="0" rIns="0" bIns="0" rtlCol="0" anchor="t"/>
          <a:lstStyle/>
          <a:p>
            <a:pPr indent="0" marL="0">
              <a:buNone/>
            </a:pPr>
            <a:r>
              <a:rPr lang="en-US" sz="1200" b="1" dirty="0">
                <a:solidFill>
                  <a:schemeClr val="tx1"/>
                </a:solidFill>
              </a:rPr>
              <a:t>Update the record</a:t>
            </a:r>
            <a:endParaRPr lang="en-US" sz="1200" dirty="0"/>
          </a:p>
        </p:txBody>
      </p:sp>
      <p:sp>
        <p:nvSpPr>
          <p:cNvPr id="17" name="The family step 3 text"/>
          <p:cNvSpPr txBox="1"/>
          <p:nvPr/>
        </p:nvSpPr>
        <p:spPr>
          <a:xfrm>
            <a:off x="5422392" y="1444752"/>
            <a:ext cx="1371600" cy="713232"/>
          </a:xfrm>
          <a:prstGeom prst="rect">
            <a:avLst/>
          </a:prstGeom>
          <a:noFill/>
          <a:ln/>
        </p:spPr>
        <p:txBody>
          <a:bodyPr wrap="square" lIns="0" tIns="0" rIns="0" bIns="0" rtlCol="0" anchor="t"/>
          <a:lstStyle/>
          <a:p>
            <a:pPr indent="0" marL="0">
              <a:buNone/>
            </a:pPr>
            <a:r>
              <a:rPr lang="en-US" sz="1050" dirty="0">
                <a:solidFill>
                  <a:schemeClr val="tx2"/>
                </a:solidFill>
              </a:rPr>
              <a:t>Answers, contact details and any newborns.</a:t>
            </a:r>
            <a:endParaRPr lang="en-US" sz="1050" dirty="0"/>
          </a:p>
        </p:txBody>
      </p:sp>
      <p:pic>
        <p:nvPicPr>
          <p:cNvPr id="18" name="The family arrow 3" descr="preencoded.png">    </p:cNvPr>
          <p:cNvPicPr>
            <a:picLocks noChangeAspect="1"/>
          </p:cNvPicPr>
          <p:nvPr/>
        </p:nvPicPr>
        <p:blipFill>
          <a:blip r:embed="rId4"/>
          <a:stretch>
            <a:fillRect/>
          </a:stretch>
        </p:blipFill>
        <p:spPr>
          <a:xfrm>
            <a:off x="6922008" y="1563624"/>
            <a:ext cx="146304" cy="146304"/>
          </a:xfrm>
          <a:prstGeom prst="rect">
            <a:avLst/>
          </a:prstGeom>
        </p:spPr>
      </p:pic>
      <p:sp>
        <p:nvSpPr>
          <p:cNvPr id="19" name="The family step 4 card"/>
          <p:cNvSpPr/>
          <p:nvPr/>
        </p:nvSpPr>
        <p:spPr>
          <a:xfrm>
            <a:off x="7086600" y="1051560"/>
            <a:ext cx="1600200" cy="1161288"/>
          </a:xfrm>
          <a:prstGeom prst="roundRect">
            <a:avLst>
              <a:gd name="adj" fmla="val 6299"/>
            </a:avLst>
          </a:prstGeom>
          <a:solidFill>
            <a:schemeClr val="bg2"/>
          </a:solidFill>
          <a:ln/>
        </p:spPr>
      </p:sp>
      <p:sp>
        <p:nvSpPr>
          <p:cNvPr id="20" name="The family step 4 heading"/>
          <p:cNvSpPr txBox="1"/>
          <p:nvPr/>
        </p:nvSpPr>
        <p:spPr>
          <a:xfrm>
            <a:off x="7205472" y="1161288"/>
            <a:ext cx="1371600" cy="256032"/>
          </a:xfrm>
          <a:prstGeom prst="rect">
            <a:avLst/>
          </a:prstGeom>
          <a:noFill/>
          <a:ln/>
        </p:spPr>
        <p:txBody>
          <a:bodyPr wrap="square" lIns="0" tIns="0" rIns="0" bIns="0" rtlCol="0" anchor="t"/>
          <a:lstStyle/>
          <a:p>
            <a:pPr indent="0" marL="0">
              <a:buNone/>
            </a:pPr>
            <a:r>
              <a:rPr lang="en-US" sz="1200" b="1" dirty="0">
                <a:solidFill>
                  <a:schemeClr val="tx1"/>
                </a:solidFill>
              </a:rPr>
              <a:t>Send</a:t>
            </a:r>
            <a:endParaRPr lang="en-US" sz="1200" dirty="0"/>
          </a:p>
        </p:txBody>
      </p:sp>
      <p:sp>
        <p:nvSpPr>
          <p:cNvPr id="21" name="The family step 4 text"/>
          <p:cNvSpPr txBox="1"/>
          <p:nvPr/>
        </p:nvSpPr>
        <p:spPr>
          <a:xfrm>
            <a:off x="7205472" y="1444752"/>
            <a:ext cx="1371600" cy="713232"/>
          </a:xfrm>
          <a:prstGeom prst="rect">
            <a:avLst/>
          </a:prstGeom>
          <a:noFill/>
          <a:ln/>
        </p:spPr>
        <p:txBody>
          <a:bodyPr wrap="square" lIns="0" tIns="0" rIns="0" bIns="0" rtlCol="0" anchor="t"/>
          <a:lstStyle/>
          <a:p>
            <a:pPr indent="0" marL="0">
              <a:buNone/>
            </a:pPr>
            <a:r>
              <a:rPr lang="en-US" sz="1050" dirty="0">
                <a:solidFill>
                  <a:schemeClr val="tx2"/>
                </a:solidFill>
              </a:rPr>
              <a:t>Tick the privacy consent, then “Ipadala sa parokya”.</a:t>
            </a:r>
            <a:endParaRPr lang="en-US" sz="1050" dirty="0"/>
          </a:p>
        </p:txBody>
      </p:sp>
      <p:sp>
        <p:nvSpPr>
          <p:cNvPr id="22" name="You lane label"/>
          <p:cNvSpPr/>
          <p:nvPr/>
        </p:nvSpPr>
        <p:spPr>
          <a:xfrm>
            <a:off x="457200" y="2350008"/>
            <a:ext cx="1143000" cy="1161288"/>
          </a:xfrm>
          <a:prstGeom prst="roundRect">
            <a:avLst>
              <a:gd name="adj" fmla="val 6400"/>
            </a:avLst>
          </a:prstGeom>
          <a:solidFill>
            <a:schemeClr val="accent2"/>
          </a:solidFill>
          <a:ln/>
        </p:spPr>
      </p:sp>
      <p:sp>
        <p:nvSpPr>
          <p:cNvPr id="23" name="You lane circle"/>
          <p:cNvSpPr/>
          <p:nvPr/>
        </p:nvSpPr>
        <p:spPr>
          <a:xfrm>
            <a:off x="786384" y="2505456"/>
            <a:ext cx="475488" cy="475488"/>
          </a:xfrm>
          <a:prstGeom prst="ellipse">
            <a:avLst/>
          </a:prstGeom>
          <a:solidFill>
            <a:schemeClr val="bg1"/>
          </a:solidFill>
          <a:ln/>
        </p:spPr>
      </p:sp>
      <p:pic>
        <p:nvPicPr>
          <p:cNvPr id="24" name="You lane icon" descr="You lane">    </p:cNvPr>
          <p:cNvPicPr>
            <a:picLocks noChangeAspect="1"/>
          </p:cNvPicPr>
          <p:nvPr/>
        </p:nvPicPr>
        <p:blipFill>
          <a:blip r:embed="rId5"/>
          <a:stretch>
            <a:fillRect/>
          </a:stretch>
        </p:blipFill>
        <p:spPr>
          <a:xfrm>
            <a:off x="900501" y="2619573"/>
            <a:ext cx="247254" cy="247254"/>
          </a:xfrm>
          <a:prstGeom prst="rect">
            <a:avLst/>
          </a:prstGeom>
        </p:spPr>
      </p:pic>
      <p:sp>
        <p:nvSpPr>
          <p:cNvPr id="25" name="You lane name"/>
          <p:cNvSpPr txBox="1"/>
          <p:nvPr/>
        </p:nvSpPr>
        <p:spPr>
          <a:xfrm>
            <a:off x="457200" y="3063240"/>
            <a:ext cx="1143000" cy="320040"/>
          </a:xfrm>
          <a:prstGeom prst="rect">
            <a:avLst/>
          </a:prstGeom>
          <a:noFill/>
          <a:ln/>
        </p:spPr>
        <p:txBody>
          <a:bodyPr wrap="square" lIns="0" tIns="0" rIns="0" bIns="0" rtlCol="0" anchor="t"/>
          <a:lstStyle/>
          <a:p>
            <a:pPr algn="ctr" indent="0" marL="0">
              <a:buNone/>
            </a:pPr>
            <a:r>
              <a:rPr lang="en-US" sz="1300" b="1" dirty="0">
                <a:solidFill>
                  <a:schemeClr val="bg1"/>
                </a:solidFill>
              </a:rPr>
              <a:t>You</a:t>
            </a:r>
            <a:endParaRPr lang="en-US" sz="1300" dirty="0"/>
          </a:p>
        </p:txBody>
      </p:sp>
      <p:sp>
        <p:nvSpPr>
          <p:cNvPr id="26" name="You step 1 card"/>
          <p:cNvSpPr/>
          <p:nvPr/>
        </p:nvSpPr>
        <p:spPr>
          <a:xfrm>
            <a:off x="1737360" y="2350008"/>
            <a:ext cx="1600200" cy="1161288"/>
          </a:xfrm>
          <a:prstGeom prst="roundRect">
            <a:avLst>
              <a:gd name="adj" fmla="val 6299"/>
            </a:avLst>
          </a:prstGeom>
          <a:solidFill>
            <a:schemeClr val="bg2"/>
          </a:solidFill>
          <a:ln/>
        </p:spPr>
      </p:sp>
      <p:sp>
        <p:nvSpPr>
          <p:cNvPr id="27" name="You step 1 heading"/>
          <p:cNvSpPr txBox="1"/>
          <p:nvPr/>
        </p:nvSpPr>
        <p:spPr>
          <a:xfrm>
            <a:off x="1856232" y="2459736"/>
            <a:ext cx="1371600" cy="256032"/>
          </a:xfrm>
          <a:prstGeom prst="rect">
            <a:avLst/>
          </a:prstGeom>
          <a:noFill/>
          <a:ln/>
        </p:spPr>
        <p:txBody>
          <a:bodyPr wrap="square" lIns="0" tIns="0" rIns="0" bIns="0" rtlCol="0" anchor="t"/>
          <a:lstStyle/>
          <a:p>
            <a:pPr indent="0" marL="0">
              <a:buNone/>
            </a:pPr>
            <a:r>
              <a:rPr lang="en-US" sz="1200" b="1" dirty="0">
                <a:solidFill>
                  <a:schemeClr val="tx1"/>
                </a:solidFill>
              </a:rPr>
              <a:t>See the update</a:t>
            </a:r>
            <a:endParaRPr lang="en-US" sz="1200" dirty="0"/>
          </a:p>
        </p:txBody>
      </p:sp>
      <p:sp>
        <p:nvSpPr>
          <p:cNvPr id="28" name="You step 1 text"/>
          <p:cNvSpPr txBox="1"/>
          <p:nvPr/>
        </p:nvSpPr>
        <p:spPr>
          <a:xfrm>
            <a:off x="1856232" y="2743200"/>
            <a:ext cx="1371600" cy="713232"/>
          </a:xfrm>
          <a:prstGeom prst="rect">
            <a:avLst/>
          </a:prstGeom>
          <a:noFill/>
          <a:ln/>
        </p:spPr>
        <p:txBody>
          <a:bodyPr wrap="square" lIns="0" tIns="0" rIns="0" bIns="0" rtlCol="0" anchor="t"/>
          <a:lstStyle/>
          <a:p>
            <a:pPr indent="0" marL="0">
              <a:buNone/>
            </a:pPr>
            <a:r>
              <a:rPr lang="en-US" sz="1050" dirty="0">
                <a:solidFill>
                  <a:schemeClr val="tx2"/>
                </a:solidFill>
              </a:rPr>
              <a:t>Under Census → Online updates, or in a notification.</a:t>
            </a:r>
            <a:endParaRPr lang="en-US" sz="1050" dirty="0"/>
          </a:p>
        </p:txBody>
      </p:sp>
      <p:pic>
        <p:nvPicPr>
          <p:cNvPr id="29" name="You arrow 1" descr="preencoded.png">    </p:cNvPr>
          <p:cNvPicPr>
            <a:picLocks noChangeAspect="1"/>
          </p:cNvPicPr>
          <p:nvPr/>
        </p:nvPicPr>
        <p:blipFill>
          <a:blip r:embed="rId6"/>
          <a:stretch>
            <a:fillRect/>
          </a:stretch>
        </p:blipFill>
        <p:spPr>
          <a:xfrm>
            <a:off x="3355848" y="2862072"/>
            <a:ext cx="146304" cy="146304"/>
          </a:xfrm>
          <a:prstGeom prst="rect">
            <a:avLst/>
          </a:prstGeom>
        </p:spPr>
      </p:pic>
      <p:sp>
        <p:nvSpPr>
          <p:cNvPr id="30" name="You step 2 card"/>
          <p:cNvSpPr/>
          <p:nvPr/>
        </p:nvSpPr>
        <p:spPr>
          <a:xfrm>
            <a:off x="3520440" y="2350008"/>
            <a:ext cx="1600200" cy="1161288"/>
          </a:xfrm>
          <a:prstGeom prst="roundRect">
            <a:avLst>
              <a:gd name="adj" fmla="val 6299"/>
            </a:avLst>
          </a:prstGeom>
          <a:solidFill>
            <a:schemeClr val="bg2"/>
          </a:solidFill>
          <a:ln/>
        </p:spPr>
      </p:sp>
      <p:sp>
        <p:nvSpPr>
          <p:cNvPr id="31" name="You step 2 heading"/>
          <p:cNvSpPr txBox="1"/>
          <p:nvPr/>
        </p:nvSpPr>
        <p:spPr>
          <a:xfrm>
            <a:off x="3639312" y="2459736"/>
            <a:ext cx="1371600" cy="256032"/>
          </a:xfrm>
          <a:prstGeom prst="rect">
            <a:avLst/>
          </a:prstGeom>
          <a:noFill/>
          <a:ln/>
        </p:spPr>
        <p:txBody>
          <a:bodyPr wrap="square" lIns="0" tIns="0" rIns="0" bIns="0" rtlCol="0" anchor="t"/>
          <a:lstStyle/>
          <a:p>
            <a:pPr indent="0" marL="0">
              <a:buNone/>
            </a:pPr>
            <a:r>
              <a:rPr lang="en-US" sz="1200" b="1" dirty="0">
                <a:solidFill>
                  <a:schemeClr val="tx1"/>
                </a:solidFill>
              </a:rPr>
              <a:t>Review</a:t>
            </a:r>
            <a:endParaRPr lang="en-US" sz="1200" dirty="0"/>
          </a:p>
        </p:txBody>
      </p:sp>
      <p:sp>
        <p:nvSpPr>
          <p:cNvPr id="32" name="You step 2 text"/>
          <p:cNvSpPr txBox="1"/>
          <p:nvPr/>
        </p:nvSpPr>
        <p:spPr>
          <a:xfrm>
            <a:off x="3639312" y="2743200"/>
            <a:ext cx="1371600" cy="713232"/>
          </a:xfrm>
          <a:prstGeom prst="rect">
            <a:avLst/>
          </a:prstGeom>
          <a:noFill/>
          <a:ln/>
        </p:spPr>
        <p:txBody>
          <a:bodyPr wrap="square" lIns="0" tIns="0" rIns="0" bIns="0" rtlCol="0" anchor="t"/>
          <a:lstStyle/>
          <a:p>
            <a:pPr indent="0" marL="0">
              <a:buNone/>
            </a:pPr>
            <a:r>
              <a:rPr lang="en-US" sz="1050" dirty="0">
                <a:solidFill>
                  <a:schemeClr val="tx2"/>
                </a:solidFill>
              </a:rPr>
              <a:t>Changes show the old value crossed out and the new one in bold.</a:t>
            </a:r>
            <a:endParaRPr lang="en-US" sz="1050" dirty="0"/>
          </a:p>
        </p:txBody>
      </p:sp>
      <p:pic>
        <p:nvPicPr>
          <p:cNvPr id="33" name="You arrow 2" descr="preencoded.png">    </p:cNvPr>
          <p:cNvPicPr>
            <a:picLocks noChangeAspect="1"/>
          </p:cNvPicPr>
          <p:nvPr/>
        </p:nvPicPr>
        <p:blipFill>
          <a:blip r:embed="rId7"/>
          <a:stretch>
            <a:fillRect/>
          </a:stretch>
        </p:blipFill>
        <p:spPr>
          <a:xfrm>
            <a:off x="5138928" y="2862072"/>
            <a:ext cx="146304" cy="146304"/>
          </a:xfrm>
          <a:prstGeom prst="rect">
            <a:avLst/>
          </a:prstGeom>
        </p:spPr>
      </p:pic>
      <p:sp>
        <p:nvSpPr>
          <p:cNvPr id="34" name="You step 3 card"/>
          <p:cNvSpPr/>
          <p:nvPr/>
        </p:nvSpPr>
        <p:spPr>
          <a:xfrm>
            <a:off x="5303520" y="2350008"/>
            <a:ext cx="1600200" cy="1161288"/>
          </a:xfrm>
          <a:prstGeom prst="roundRect">
            <a:avLst>
              <a:gd name="adj" fmla="val 6299"/>
            </a:avLst>
          </a:prstGeom>
          <a:solidFill>
            <a:schemeClr val="bg2"/>
          </a:solidFill>
          <a:ln/>
        </p:spPr>
      </p:sp>
      <p:sp>
        <p:nvSpPr>
          <p:cNvPr id="35" name="You step 3 heading"/>
          <p:cNvSpPr txBox="1"/>
          <p:nvPr/>
        </p:nvSpPr>
        <p:spPr>
          <a:xfrm>
            <a:off x="5422392" y="2459736"/>
            <a:ext cx="1371600" cy="256032"/>
          </a:xfrm>
          <a:prstGeom prst="rect">
            <a:avLst/>
          </a:prstGeom>
          <a:noFill/>
          <a:ln/>
        </p:spPr>
        <p:txBody>
          <a:bodyPr wrap="square" lIns="0" tIns="0" rIns="0" bIns="0" rtlCol="0" anchor="t"/>
          <a:lstStyle/>
          <a:p>
            <a:pPr indent="0" marL="0">
              <a:buNone/>
            </a:pPr>
            <a:r>
              <a:rPr lang="en-US" sz="1200" b="1" dirty="0">
                <a:solidFill>
                  <a:schemeClr val="tx1"/>
                </a:solidFill>
              </a:rPr>
              <a:t>Approve</a:t>
            </a:r>
            <a:endParaRPr lang="en-US" sz="1200" dirty="0"/>
          </a:p>
        </p:txBody>
      </p:sp>
      <p:sp>
        <p:nvSpPr>
          <p:cNvPr id="36" name="You step 3 text"/>
          <p:cNvSpPr txBox="1"/>
          <p:nvPr/>
        </p:nvSpPr>
        <p:spPr>
          <a:xfrm>
            <a:off x="5422392" y="2743200"/>
            <a:ext cx="1371600" cy="713232"/>
          </a:xfrm>
          <a:prstGeom prst="rect">
            <a:avLst/>
          </a:prstGeom>
          <a:noFill/>
          <a:ln/>
        </p:spPr>
        <p:txBody>
          <a:bodyPr wrap="square" lIns="0" tIns="0" rIns="0" bIns="0" rtlCol="0" anchor="t"/>
          <a:lstStyle/>
          <a:p>
            <a:pPr indent="0" marL="0">
              <a:buNone/>
            </a:pPr>
            <a:r>
              <a:rPr lang="en-US" sz="1050" dirty="0">
                <a:solidFill>
                  <a:schemeClr val="tx2"/>
                </a:solidFill>
              </a:rPr>
              <a:t>Only what the family changed is applied. Members become Confirmed.</a:t>
            </a:r>
            <a:endParaRPr lang="en-US" sz="1050" dirty="0"/>
          </a:p>
        </p:txBody>
      </p:sp>
      <p:pic>
        <p:nvPicPr>
          <p:cNvPr id="37" name="You arrow 3" descr="preencoded.png">    </p:cNvPr>
          <p:cNvPicPr>
            <a:picLocks noChangeAspect="1"/>
          </p:cNvPicPr>
          <p:nvPr/>
        </p:nvPicPr>
        <p:blipFill>
          <a:blip r:embed="rId8"/>
          <a:stretch>
            <a:fillRect/>
          </a:stretch>
        </p:blipFill>
        <p:spPr>
          <a:xfrm>
            <a:off x="6922008" y="2862072"/>
            <a:ext cx="146304" cy="146304"/>
          </a:xfrm>
          <a:prstGeom prst="rect">
            <a:avLst/>
          </a:prstGeom>
        </p:spPr>
      </p:pic>
      <p:sp>
        <p:nvSpPr>
          <p:cNvPr id="38" name="You step 4 card"/>
          <p:cNvSpPr/>
          <p:nvPr/>
        </p:nvSpPr>
        <p:spPr>
          <a:xfrm>
            <a:off x="7086600" y="2350008"/>
            <a:ext cx="1600200" cy="1161288"/>
          </a:xfrm>
          <a:prstGeom prst="roundRect">
            <a:avLst>
              <a:gd name="adj" fmla="val 6299"/>
            </a:avLst>
          </a:prstGeom>
          <a:solidFill>
            <a:schemeClr val="bg2"/>
          </a:solidFill>
          <a:ln/>
        </p:spPr>
      </p:sp>
      <p:sp>
        <p:nvSpPr>
          <p:cNvPr id="39" name="You step 4 heading"/>
          <p:cNvSpPr txBox="1"/>
          <p:nvPr/>
        </p:nvSpPr>
        <p:spPr>
          <a:xfrm>
            <a:off x="7205472" y="2459736"/>
            <a:ext cx="1371600" cy="256032"/>
          </a:xfrm>
          <a:prstGeom prst="rect">
            <a:avLst/>
          </a:prstGeom>
          <a:noFill/>
          <a:ln/>
        </p:spPr>
        <p:txBody>
          <a:bodyPr wrap="square" lIns="0" tIns="0" rIns="0" bIns="0" rtlCol="0" anchor="t"/>
          <a:lstStyle/>
          <a:p>
            <a:pPr indent="0" marL="0">
              <a:buNone/>
            </a:pPr>
            <a:r>
              <a:rPr lang="en-US" sz="1200" b="1" dirty="0">
                <a:solidFill>
                  <a:schemeClr val="tx1"/>
                </a:solidFill>
              </a:rPr>
              <a:t>Or Reject…</a:t>
            </a:r>
            <a:endParaRPr lang="en-US" sz="1200" dirty="0"/>
          </a:p>
        </p:txBody>
      </p:sp>
      <p:sp>
        <p:nvSpPr>
          <p:cNvPr id="40" name="You step 4 text"/>
          <p:cNvSpPr txBox="1"/>
          <p:nvPr/>
        </p:nvSpPr>
        <p:spPr>
          <a:xfrm>
            <a:off x="7205472" y="2743200"/>
            <a:ext cx="1371600" cy="713232"/>
          </a:xfrm>
          <a:prstGeom prst="rect">
            <a:avLst/>
          </a:prstGeom>
          <a:noFill/>
          <a:ln/>
        </p:spPr>
        <p:txBody>
          <a:bodyPr wrap="square" lIns="0" tIns="0" rIns="0" bIns="0" rtlCol="0" anchor="t"/>
          <a:lstStyle/>
          <a:p>
            <a:pPr indent="0" marL="0">
              <a:buNone/>
            </a:pPr>
            <a:r>
              <a:rPr lang="en-US" sz="1050" dirty="0">
                <a:solidFill>
                  <a:schemeClr val="tx2"/>
                </a:solidFill>
              </a:rPr>
              <a:t>Give a reason. Nothing in the record changes.</a:t>
            </a:r>
            <a:endParaRPr lang="en-US" sz="1050" dirty="0"/>
          </a:p>
        </p:txBody>
      </p:sp>
      <p:sp>
        <p:nvSpPr>
          <p:cNvPr id="41" name="Tip 1 circle"/>
          <p:cNvSpPr/>
          <p:nvPr/>
        </p:nvSpPr>
        <p:spPr>
          <a:xfrm>
            <a:off x="457200" y="3931920"/>
            <a:ext cx="347472" cy="347472"/>
          </a:xfrm>
          <a:prstGeom prst="ellipse">
            <a:avLst/>
          </a:prstGeom>
          <a:solidFill>
            <a:schemeClr val="tx1"/>
          </a:solidFill>
          <a:ln/>
        </p:spPr>
      </p:sp>
      <p:pic>
        <p:nvPicPr>
          <p:cNvPr id="42" name="Tip 1 icon" descr="Tip 1">    </p:cNvPr>
          <p:cNvPicPr>
            <a:picLocks noChangeAspect="1"/>
          </p:cNvPicPr>
          <p:nvPr/>
        </p:nvPicPr>
        <p:blipFill>
          <a:blip r:embed="rId9"/>
          <a:stretch>
            <a:fillRect/>
          </a:stretch>
        </p:blipFill>
        <p:spPr>
          <a:xfrm>
            <a:off x="540593" y="4015313"/>
            <a:ext cx="180685" cy="180685"/>
          </a:xfrm>
          <a:prstGeom prst="rect">
            <a:avLst/>
          </a:prstGeom>
        </p:spPr>
      </p:pic>
      <p:sp>
        <p:nvSpPr>
          <p:cNvPr id="43" name="Tip 1 text"/>
          <p:cNvSpPr txBox="1"/>
          <p:nvPr/>
        </p:nvSpPr>
        <p:spPr>
          <a:xfrm>
            <a:off x="896112" y="3895344"/>
            <a:ext cx="2240280" cy="777240"/>
          </a:xfrm>
          <a:prstGeom prst="rect">
            <a:avLst/>
          </a:prstGeom>
          <a:noFill/>
          <a:ln/>
        </p:spPr>
        <p:txBody>
          <a:bodyPr wrap="square" lIns="0" tIns="0" rIns="0" bIns="0" rtlCol="0" anchor="t"/>
          <a:lstStyle/>
          <a:p>
            <a:pPr indent="0" marL="0">
              <a:buNone/>
            </a:pPr>
            <a:r>
              <a:rPr lang="en-US" sz="1050" b="1" dirty="0">
                <a:solidFill>
                  <a:schemeClr val="tx1"/>
                </a:solidFill>
              </a:rPr>
              <a:t>Lost code? </a:t>
            </a:r>
            <a:pPr indent="0" marL="0">
              <a:buNone/>
            </a:pPr>
            <a:r>
              <a:rPr lang="en-US" sz="1050" dirty="0">
                <a:solidFill>
                  <a:schemeClr val="tx2"/>
                </a:solidFill>
              </a:rPr>
              <a:t>Households → row menu → Get codes. Or New code in Record census; the old code stops working.</a:t>
            </a:r>
            <a:endParaRPr lang="en-US" sz="1050" dirty="0"/>
          </a:p>
        </p:txBody>
      </p:sp>
      <p:sp>
        <p:nvSpPr>
          <p:cNvPr id="44" name="Tip 2 circle"/>
          <p:cNvSpPr/>
          <p:nvPr/>
        </p:nvSpPr>
        <p:spPr>
          <a:xfrm>
            <a:off x="3246120" y="3931920"/>
            <a:ext cx="347472" cy="347472"/>
          </a:xfrm>
          <a:prstGeom prst="ellipse">
            <a:avLst/>
          </a:prstGeom>
          <a:solidFill>
            <a:schemeClr val="tx1"/>
          </a:solidFill>
          <a:ln/>
        </p:spPr>
      </p:sp>
      <p:pic>
        <p:nvPicPr>
          <p:cNvPr id="45" name="Tip 2 icon" descr="Tip 2">    </p:cNvPr>
          <p:cNvPicPr>
            <a:picLocks noChangeAspect="1"/>
          </p:cNvPicPr>
          <p:nvPr/>
        </p:nvPicPr>
        <p:blipFill>
          <a:blip r:embed="rId10"/>
          <a:stretch>
            <a:fillRect/>
          </a:stretch>
        </p:blipFill>
        <p:spPr>
          <a:xfrm>
            <a:off x="3329513" y="4015313"/>
            <a:ext cx="180685" cy="180685"/>
          </a:xfrm>
          <a:prstGeom prst="rect">
            <a:avLst/>
          </a:prstGeom>
        </p:spPr>
      </p:pic>
      <p:sp>
        <p:nvSpPr>
          <p:cNvPr id="46" name="Tip 2 text"/>
          <p:cNvSpPr txBox="1"/>
          <p:nvPr/>
        </p:nvSpPr>
        <p:spPr>
          <a:xfrm>
            <a:off x="3685032" y="3895344"/>
            <a:ext cx="2240280" cy="777240"/>
          </a:xfrm>
          <a:prstGeom prst="rect">
            <a:avLst/>
          </a:prstGeom>
          <a:noFill/>
          <a:ln/>
        </p:spPr>
        <p:txBody>
          <a:bodyPr wrap="square" lIns="0" tIns="0" rIns="0" bIns="0" rtlCol="0" anchor="t"/>
          <a:lstStyle/>
          <a:p>
            <a:pPr indent="0" marL="0">
              <a:buNone/>
            </a:pPr>
            <a:r>
              <a:rPr lang="en-US" sz="1050" b="1" dirty="0">
                <a:solidFill>
                  <a:schemeClr val="tx1"/>
                </a:solidFill>
              </a:rPr>
              <a:t>Locked out? </a:t>
            </a:r>
            <a:pPr indent="0" marL="0">
              <a:buNone/>
            </a:pPr>
            <a:r>
              <a:rPr lang="en-US" sz="1050" dirty="0">
                <a:solidFill>
                  <a:schemeClr val="tx2"/>
                </a:solidFill>
              </a:rPr>
              <a:t>Five wrong codes lock that household’s sign-in for 15 minutes.</a:t>
            </a:r>
            <a:endParaRPr lang="en-US" sz="1050" dirty="0"/>
          </a:p>
        </p:txBody>
      </p:sp>
      <p:sp>
        <p:nvSpPr>
          <p:cNvPr id="47" name="Tip 3 circle"/>
          <p:cNvSpPr/>
          <p:nvPr/>
        </p:nvSpPr>
        <p:spPr>
          <a:xfrm>
            <a:off x="6035040" y="3931920"/>
            <a:ext cx="347472" cy="347472"/>
          </a:xfrm>
          <a:prstGeom prst="ellipse">
            <a:avLst/>
          </a:prstGeom>
          <a:solidFill>
            <a:schemeClr val="tx1"/>
          </a:solidFill>
          <a:ln/>
        </p:spPr>
      </p:sp>
      <p:pic>
        <p:nvPicPr>
          <p:cNvPr id="48" name="Tip 3 icon" descr="Tip 3">    </p:cNvPr>
          <p:cNvPicPr>
            <a:picLocks noChangeAspect="1"/>
          </p:cNvPicPr>
          <p:nvPr/>
        </p:nvPicPr>
        <p:blipFill>
          <a:blip r:embed="rId11"/>
          <a:stretch>
            <a:fillRect/>
          </a:stretch>
        </p:blipFill>
        <p:spPr>
          <a:xfrm>
            <a:off x="6118433" y="4015313"/>
            <a:ext cx="180685" cy="180685"/>
          </a:xfrm>
          <a:prstGeom prst="rect">
            <a:avLst/>
          </a:prstGeom>
        </p:spPr>
      </p:pic>
      <p:sp>
        <p:nvSpPr>
          <p:cNvPr id="49" name="Tip 3 text"/>
          <p:cNvSpPr txBox="1"/>
          <p:nvPr/>
        </p:nvSpPr>
        <p:spPr>
          <a:xfrm>
            <a:off x="6473952" y="3895344"/>
            <a:ext cx="2240280" cy="777240"/>
          </a:xfrm>
          <a:prstGeom prst="rect">
            <a:avLst/>
          </a:prstGeom>
          <a:noFill/>
          <a:ln/>
        </p:spPr>
        <p:txBody>
          <a:bodyPr wrap="square" lIns="0" tIns="0" rIns="0" bIns="0" rtlCol="0" anchor="t"/>
          <a:lstStyle/>
          <a:p>
            <a:pPr indent="0" marL="0">
              <a:buNone/>
            </a:pPr>
            <a:r>
              <a:rPr lang="en-US" sz="1050" b="1" dirty="0">
                <a:solidFill>
                  <a:schemeClr val="tx1"/>
                </a:solidFill>
              </a:rPr>
              <a:t>Sent twice? </a:t>
            </a:r>
            <a:pPr indent="0" marL="0">
              <a:buNone/>
            </a:pPr>
            <a:r>
              <a:rPr lang="en-US" sz="1050" dirty="0">
                <a:solidFill>
                  <a:schemeClr val="tx2"/>
                </a:solidFill>
              </a:rPr>
              <a:t>A family can resend with “Usba pag-usab”. You only see the latest.</a:t>
            </a:r>
            <a:endParaRPr lang="en-US" sz="105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Reaching families not yet counted</a:t>
            </a:r>
            <a:endParaRPr lang="en-US" sz="2600" dirty="0"/>
          </a:p>
        </p:txBody>
      </p:sp>
      <p:sp>
        <p:nvSpPr>
          <p:cNvPr id="3" name="Last year's list panel"/>
          <p:cNvSpPr/>
          <p:nvPr/>
        </p:nvSpPr>
        <p:spPr>
          <a:xfrm>
            <a:off x="457200" y="1051560"/>
            <a:ext cx="3977640" cy="3611880"/>
          </a:xfrm>
          <a:prstGeom prst="roundRect">
            <a:avLst>
              <a:gd name="adj" fmla="val 2025"/>
            </a:avLst>
          </a:prstGeom>
          <a:solidFill>
            <a:schemeClr val="bg2"/>
          </a:solidFill>
          <a:ln/>
        </p:spPr>
      </p:sp>
      <p:sp>
        <p:nvSpPr>
          <p:cNvPr id="4" name="Last year's list circle"/>
          <p:cNvSpPr/>
          <p:nvPr/>
        </p:nvSpPr>
        <p:spPr>
          <a:xfrm>
            <a:off x="640080" y="1216152"/>
            <a:ext cx="457200" cy="457200"/>
          </a:xfrm>
          <a:prstGeom prst="ellipse">
            <a:avLst/>
          </a:prstGeom>
          <a:solidFill>
            <a:schemeClr val="tx1"/>
          </a:solidFill>
          <a:ln/>
        </p:spPr>
      </p:sp>
      <p:pic>
        <p:nvPicPr>
          <p:cNvPr id="5" name="Last year's list icon" descr="Last year's list">    </p:cNvPr>
          <p:cNvPicPr>
            <a:picLocks noChangeAspect="1"/>
          </p:cNvPicPr>
          <p:nvPr/>
        </p:nvPicPr>
        <p:blipFill>
          <a:blip r:embed="rId1"/>
          <a:stretch>
            <a:fillRect/>
          </a:stretch>
        </p:blipFill>
        <p:spPr>
          <a:xfrm>
            <a:off x="749808" y="1325880"/>
            <a:ext cx="237744" cy="237744"/>
          </a:xfrm>
          <a:prstGeom prst="rect">
            <a:avLst/>
          </a:prstGeom>
        </p:spPr>
      </p:pic>
      <p:sp>
        <p:nvSpPr>
          <p:cNvPr id="6" name="Last year's list heading"/>
          <p:cNvSpPr txBox="1"/>
          <p:nvPr/>
        </p:nvSpPr>
        <p:spPr>
          <a:xfrm>
            <a:off x="1207008" y="1188720"/>
            <a:ext cx="3108960" cy="548640"/>
          </a:xfrm>
          <a:prstGeom prst="rect">
            <a:avLst/>
          </a:prstGeom>
          <a:noFill/>
          <a:ln/>
        </p:spPr>
        <p:txBody>
          <a:bodyPr wrap="square" lIns="0" tIns="0" rIns="0" bIns="0" rtlCol="0" anchor="t"/>
          <a:lstStyle/>
          <a:p>
            <a:pPr indent="0" marL="0">
              <a:buNone/>
            </a:pPr>
            <a:r>
              <a:rPr lang="en-US" sz="1400" b="1" dirty="0">
                <a:solidFill>
                  <a:schemeClr val="tx1"/>
                </a:solidFill>
              </a:rPr>
              <a:t>Last year’s list</a:t>
            </a:r>
            <a:endParaRPr lang="en-US" sz="1100" dirty="0"/>
          </a:p>
          <a:p>
            <a:pPr indent="0" marL="0">
              <a:buNone/>
            </a:pPr>
            <a:r>
              <a:rPr lang="en-US" sz="1050" dirty="0">
                <a:solidFill>
                  <a:schemeClr val="tx2"/>
                </a:solidFill>
              </a:rPr>
              <a:t>Your GKK’s paper list from last year, when the parish turns it on</a:t>
            </a:r>
            <a:endParaRPr lang="en-US" sz="1100" dirty="0"/>
          </a:p>
        </p:txBody>
      </p:sp>
      <p:pic>
        <p:nvPicPr>
          <p:cNvPr id="7" name="List point 1 check" descr="preencoded.png">    </p:cNvPr>
          <p:cNvPicPr>
            <a:picLocks noChangeAspect="1"/>
          </p:cNvPicPr>
          <p:nvPr/>
        </p:nvPicPr>
        <p:blipFill>
          <a:blip r:embed="rId2"/>
          <a:stretch>
            <a:fillRect/>
          </a:stretch>
        </p:blipFill>
        <p:spPr>
          <a:xfrm>
            <a:off x="658368" y="2112264"/>
            <a:ext cx="219456" cy="219456"/>
          </a:xfrm>
          <a:prstGeom prst="rect">
            <a:avLst/>
          </a:prstGeom>
        </p:spPr>
      </p:pic>
      <p:sp>
        <p:nvSpPr>
          <p:cNvPr id="8" name="List point 1"/>
          <p:cNvSpPr txBox="1"/>
          <p:nvPr/>
        </p:nvSpPr>
        <p:spPr>
          <a:xfrm>
            <a:off x="987552" y="2103120"/>
            <a:ext cx="3291840" cy="777240"/>
          </a:xfrm>
          <a:prstGeom prst="rect">
            <a:avLst/>
          </a:prstGeom>
          <a:noFill/>
          <a:ln/>
        </p:spPr>
        <p:txBody>
          <a:bodyPr wrap="square" lIns="0" tIns="0" rIns="0" bIns="0" rtlCol="0" anchor="t"/>
          <a:lstStyle/>
          <a:p>
            <a:pPr indent="0" marL="0">
              <a:buNone/>
            </a:pPr>
            <a:r>
              <a:rPr lang="en-US" sz="1150" b="1" dirty="0">
                <a:solidFill>
                  <a:schemeClr val="tx1"/>
                </a:solidFill>
              </a:rPr>
              <a:t>Add names</a:t>
            </a:r>
            <a:pPr indent="0" marL="0">
              <a:buNone/>
            </a:pPr>
            <a:r>
              <a:rPr lang="en-US" sz="1150" dirty="0">
                <a:solidFill>
                  <a:schemeClr val="tx2"/>
                </a:solidFill>
              </a:rPr>
              <a:t> one per line (Name, Purok, note), or upload a spreadsheet (CSV).</a:t>
            </a:r>
            <a:endParaRPr lang="en-US" sz="1150" dirty="0"/>
          </a:p>
        </p:txBody>
      </p:sp>
      <p:pic>
        <p:nvPicPr>
          <p:cNvPr id="9" name="List point 2 check" descr="preencoded.png">    </p:cNvPr>
          <p:cNvPicPr>
            <a:picLocks noChangeAspect="1"/>
          </p:cNvPicPr>
          <p:nvPr/>
        </p:nvPicPr>
        <p:blipFill>
          <a:blip r:embed="rId3"/>
          <a:stretch>
            <a:fillRect/>
          </a:stretch>
        </p:blipFill>
        <p:spPr>
          <a:xfrm>
            <a:off x="658368" y="2935224"/>
            <a:ext cx="219456" cy="219456"/>
          </a:xfrm>
          <a:prstGeom prst="rect">
            <a:avLst/>
          </a:prstGeom>
        </p:spPr>
      </p:pic>
      <p:sp>
        <p:nvSpPr>
          <p:cNvPr id="10" name="List point 2"/>
          <p:cNvSpPr txBox="1"/>
          <p:nvPr/>
        </p:nvSpPr>
        <p:spPr>
          <a:xfrm>
            <a:off x="987552" y="2926080"/>
            <a:ext cx="3291840" cy="777240"/>
          </a:xfrm>
          <a:prstGeom prst="rect">
            <a:avLst/>
          </a:prstGeom>
          <a:noFill/>
          <a:ln/>
        </p:spPr>
        <p:txBody>
          <a:bodyPr wrap="square" lIns="0" tIns="0" rIns="0" bIns="0" rtlCol="0" anchor="t"/>
          <a:lstStyle/>
          <a:p>
            <a:pPr indent="0" marL="0">
              <a:buNone/>
            </a:pPr>
            <a:r>
              <a:rPr lang="en-US" sz="1150" b="1" dirty="0">
                <a:solidFill>
                  <a:schemeClr val="tx1"/>
                </a:solidFill>
              </a:rPr>
              <a:t>Names match registered households automatically. </a:t>
            </a:r>
            <a:pPr indent="0" marL="0">
              <a:buNone/>
            </a:pPr>
            <a:r>
              <a:rPr lang="en-US" sz="1150" dirty="0">
                <a:solidFill>
                  <a:schemeClr val="tx2"/>
                </a:solidFill>
              </a:rPr>
              <a:t>Confirm with Mark as registered, or Not this household.</a:t>
            </a:r>
            <a:endParaRPr lang="en-US" sz="1150" dirty="0"/>
          </a:p>
        </p:txBody>
      </p:sp>
      <p:pic>
        <p:nvPicPr>
          <p:cNvPr id="11" name="List point 3 check" descr="preencoded.png">    </p:cNvPr>
          <p:cNvPicPr>
            <a:picLocks noChangeAspect="1"/>
          </p:cNvPicPr>
          <p:nvPr/>
        </p:nvPicPr>
        <p:blipFill>
          <a:blip r:embed="rId4"/>
          <a:stretch>
            <a:fillRect/>
          </a:stretch>
        </p:blipFill>
        <p:spPr>
          <a:xfrm>
            <a:off x="658368" y="3758184"/>
            <a:ext cx="219456" cy="219456"/>
          </a:xfrm>
          <a:prstGeom prst="rect">
            <a:avLst/>
          </a:prstGeom>
        </p:spPr>
      </p:pic>
      <p:sp>
        <p:nvSpPr>
          <p:cNvPr id="12" name="List point 3"/>
          <p:cNvSpPr txBox="1"/>
          <p:nvPr/>
        </p:nvSpPr>
        <p:spPr>
          <a:xfrm>
            <a:off x="987552" y="3749040"/>
            <a:ext cx="3291840" cy="777240"/>
          </a:xfrm>
          <a:prstGeom prst="rect">
            <a:avLst/>
          </a:prstGeom>
          <a:noFill/>
          <a:ln/>
        </p:spPr>
        <p:txBody>
          <a:bodyPr wrap="square" lIns="0" tIns="0" rIns="0" bIns="0" rtlCol="0" anchor="t"/>
          <a:lstStyle/>
          <a:p>
            <a:pPr indent="0" marL="0">
              <a:buNone/>
            </a:pPr>
            <a:r>
              <a:rPr lang="en-US" sz="1150" b="1" dirty="0">
                <a:solidFill>
                  <a:schemeClr val="tx1"/>
                </a:solidFill>
              </a:rPr>
              <a:t>Mark the others</a:t>
            </a:r>
            <a:pPr indent="0" marL="0">
              <a:buNone/>
            </a:pPr>
            <a:r>
              <a:rPr lang="en-US" sz="1150" dirty="0">
                <a:solidFill>
                  <a:schemeClr val="tx2"/>
                </a:solidFill>
              </a:rPr>
              <a:t> as Moved away, Deceased or Duplicate when that applies.</a:t>
            </a:r>
            <a:endParaRPr lang="en-US" sz="1150" dirty="0"/>
          </a:p>
        </p:txBody>
      </p:sp>
      <p:sp>
        <p:nvSpPr>
          <p:cNvPr id="13" name="Visit heading"/>
          <p:cNvSpPr txBox="1"/>
          <p:nvPr/>
        </p:nvSpPr>
        <p:spPr>
          <a:xfrm>
            <a:off x="4709160" y="1051560"/>
            <a:ext cx="3977640" cy="274320"/>
          </a:xfrm>
          <a:prstGeom prst="rect">
            <a:avLst/>
          </a:prstGeom>
          <a:noFill/>
          <a:ln/>
        </p:spPr>
        <p:txBody>
          <a:bodyPr wrap="square" lIns="0" tIns="0" rIns="0" bIns="0" rtlCol="0" anchor="t"/>
          <a:lstStyle/>
          <a:p>
            <a:pPr indent="0" marL="0">
              <a:buNone/>
            </a:pPr>
            <a:r>
              <a:rPr lang="en-US" sz="1300" b="1" dirty="0">
                <a:solidFill>
                  <a:schemeClr val="accent2"/>
                </a:solidFill>
              </a:rPr>
              <a:t>Home-visit cycle</a:t>
            </a:r>
            <a:endParaRPr lang="en-US" sz="1300" dirty="0"/>
          </a:p>
        </p:txBody>
      </p:sp>
      <p:sp>
        <p:nvSpPr>
          <p:cNvPr id="14" name="Print the visit list circle"/>
          <p:cNvSpPr/>
          <p:nvPr/>
        </p:nvSpPr>
        <p:spPr>
          <a:xfrm>
            <a:off x="4709160" y="1417320"/>
            <a:ext cx="457200" cy="457200"/>
          </a:xfrm>
          <a:prstGeom prst="ellipse">
            <a:avLst/>
          </a:prstGeom>
          <a:solidFill>
            <a:schemeClr val="accent2"/>
          </a:solidFill>
          <a:ln/>
        </p:spPr>
      </p:sp>
      <p:pic>
        <p:nvPicPr>
          <p:cNvPr id="15" name="Print the visit list icon" descr="Print the visit list">    </p:cNvPr>
          <p:cNvPicPr>
            <a:picLocks noChangeAspect="1"/>
          </p:cNvPicPr>
          <p:nvPr/>
        </p:nvPicPr>
        <p:blipFill>
          <a:blip r:embed="rId5"/>
          <a:stretch>
            <a:fillRect/>
          </a:stretch>
        </p:blipFill>
        <p:spPr>
          <a:xfrm>
            <a:off x="4818888" y="1527048"/>
            <a:ext cx="237744" cy="237744"/>
          </a:xfrm>
          <a:prstGeom prst="rect">
            <a:avLst/>
          </a:prstGeom>
        </p:spPr>
      </p:pic>
      <p:sp>
        <p:nvSpPr>
          <p:cNvPr id="16" name="Visit connector 1"/>
          <p:cNvSpPr/>
          <p:nvPr/>
        </p:nvSpPr>
        <p:spPr>
          <a:xfrm>
            <a:off x="4937760" y="1920240"/>
            <a:ext cx="0" cy="548640"/>
          </a:xfrm>
          <a:prstGeom prst="line">
            <a:avLst/>
          </a:prstGeom>
          <a:noFill/>
          <a:ln w="19050">
            <a:solidFill>
              <a:srgbClr val="E4C06A"/>
            </a:solidFill>
            <a:prstDash val="dash"/>
          </a:ln>
        </p:spPr>
      </p:sp>
      <p:sp>
        <p:nvSpPr>
          <p:cNvPr id="17" name="Visit 1 heading"/>
          <p:cNvSpPr txBox="1"/>
          <p:nvPr/>
        </p:nvSpPr>
        <p:spPr>
          <a:xfrm>
            <a:off x="5303520" y="1435608"/>
            <a:ext cx="3383280" cy="246888"/>
          </a:xfrm>
          <a:prstGeom prst="rect">
            <a:avLst/>
          </a:prstGeom>
          <a:noFill/>
          <a:ln/>
        </p:spPr>
        <p:txBody>
          <a:bodyPr wrap="square" lIns="0" tIns="0" rIns="0" bIns="0" rtlCol="0" anchor="t"/>
          <a:lstStyle/>
          <a:p>
            <a:pPr indent="0" marL="0">
              <a:buNone/>
            </a:pPr>
            <a:r>
              <a:rPr lang="en-US" sz="1250" b="1" dirty="0">
                <a:solidFill>
                  <a:schemeClr val="tx1"/>
                </a:solidFill>
              </a:rPr>
              <a:t>Print the visit list</a:t>
            </a:r>
            <a:endParaRPr lang="en-US" sz="1250" dirty="0"/>
          </a:p>
        </p:txBody>
      </p:sp>
      <p:sp>
        <p:nvSpPr>
          <p:cNvPr id="18" name="Visit 1 text"/>
          <p:cNvSpPr txBox="1"/>
          <p:nvPr/>
        </p:nvSpPr>
        <p:spPr>
          <a:xfrm>
            <a:off x="5303520" y="1691640"/>
            <a:ext cx="3383280" cy="749808"/>
          </a:xfrm>
          <a:prstGeom prst="rect">
            <a:avLst/>
          </a:prstGeom>
          <a:noFill/>
          <a:ln/>
        </p:spPr>
        <p:txBody>
          <a:bodyPr wrap="square" lIns="0" tIns="0" rIns="0" bIns="0" rtlCol="0" anchor="t"/>
          <a:lstStyle/>
          <a:p>
            <a:pPr indent="0" marL="0">
              <a:buNone/>
            </a:pPr>
            <a:r>
              <a:rPr lang="en-US" sz="1050" dirty="0">
                <a:solidFill>
                  <a:schemeClr val="tx2"/>
                </a:solidFill>
              </a:rPr>
              <a:t>“Print not yet registered” gives a sheet with a Resulta sa bisita column. Also filter Households by Not started.</a:t>
            </a:r>
            <a:endParaRPr lang="en-US" sz="1050" dirty="0"/>
          </a:p>
        </p:txBody>
      </p:sp>
      <p:sp>
        <p:nvSpPr>
          <p:cNvPr id="19" name="Visit the family circle"/>
          <p:cNvSpPr/>
          <p:nvPr/>
        </p:nvSpPr>
        <p:spPr>
          <a:xfrm>
            <a:off x="4709160" y="2514600"/>
            <a:ext cx="457200" cy="457200"/>
          </a:xfrm>
          <a:prstGeom prst="ellipse">
            <a:avLst/>
          </a:prstGeom>
          <a:solidFill>
            <a:schemeClr val="accent2"/>
          </a:solidFill>
          <a:ln/>
        </p:spPr>
      </p:sp>
      <p:pic>
        <p:nvPicPr>
          <p:cNvPr id="20" name="Visit the family icon" descr="Visit the family">    </p:cNvPr>
          <p:cNvPicPr>
            <a:picLocks noChangeAspect="1"/>
          </p:cNvPicPr>
          <p:nvPr/>
        </p:nvPicPr>
        <p:blipFill>
          <a:blip r:embed="rId6"/>
          <a:stretch>
            <a:fillRect/>
          </a:stretch>
        </p:blipFill>
        <p:spPr>
          <a:xfrm>
            <a:off x="4818888" y="2624328"/>
            <a:ext cx="237744" cy="237744"/>
          </a:xfrm>
          <a:prstGeom prst="rect">
            <a:avLst/>
          </a:prstGeom>
        </p:spPr>
      </p:pic>
      <p:sp>
        <p:nvSpPr>
          <p:cNvPr id="21" name="Visit connector 2"/>
          <p:cNvSpPr/>
          <p:nvPr/>
        </p:nvSpPr>
        <p:spPr>
          <a:xfrm>
            <a:off x="4937760" y="3017520"/>
            <a:ext cx="0" cy="548640"/>
          </a:xfrm>
          <a:prstGeom prst="line">
            <a:avLst/>
          </a:prstGeom>
          <a:noFill/>
          <a:ln w="19050">
            <a:solidFill>
              <a:srgbClr val="E4C06A"/>
            </a:solidFill>
            <a:prstDash val="dash"/>
          </a:ln>
        </p:spPr>
      </p:sp>
      <p:sp>
        <p:nvSpPr>
          <p:cNvPr id="22" name="Visit 2 heading"/>
          <p:cNvSpPr txBox="1"/>
          <p:nvPr/>
        </p:nvSpPr>
        <p:spPr>
          <a:xfrm>
            <a:off x="5303520" y="2532888"/>
            <a:ext cx="3383280" cy="246888"/>
          </a:xfrm>
          <a:prstGeom prst="rect">
            <a:avLst/>
          </a:prstGeom>
          <a:noFill/>
          <a:ln/>
        </p:spPr>
        <p:txBody>
          <a:bodyPr wrap="square" lIns="0" tIns="0" rIns="0" bIns="0" rtlCol="0" anchor="t"/>
          <a:lstStyle/>
          <a:p>
            <a:pPr indent="0" marL="0">
              <a:buNone/>
            </a:pPr>
            <a:r>
              <a:rPr lang="en-US" sz="1250" b="1" dirty="0">
                <a:solidFill>
                  <a:schemeClr val="tx1"/>
                </a:solidFill>
              </a:rPr>
              <a:t>Visit the family</a:t>
            </a:r>
            <a:endParaRPr lang="en-US" sz="1250" dirty="0"/>
          </a:p>
        </p:txBody>
      </p:sp>
      <p:sp>
        <p:nvSpPr>
          <p:cNvPr id="23" name="Visit 2 text"/>
          <p:cNvSpPr txBox="1"/>
          <p:nvPr/>
        </p:nvSpPr>
        <p:spPr>
          <a:xfrm>
            <a:off x="5303520" y="2788920"/>
            <a:ext cx="3383280" cy="749808"/>
          </a:xfrm>
          <a:prstGeom prst="rect">
            <a:avLst/>
          </a:prstGeom>
          <a:noFill/>
          <a:ln/>
        </p:spPr>
        <p:txBody>
          <a:bodyPr wrap="square" lIns="0" tIns="0" rIns="0" bIns="0" rtlCol="0" anchor="t"/>
          <a:lstStyle/>
          <a:p>
            <a:pPr indent="0" marL="0">
              <a:buNone/>
            </a:pPr>
            <a:r>
              <a:rPr lang="en-US" sz="1050" dirty="0">
                <a:solidFill>
                  <a:schemeClr val="tx2"/>
                </a:solidFill>
              </a:rPr>
              <a:t>Bring their census form, or help them answer on their phone.</a:t>
            </a:r>
            <a:endParaRPr lang="en-US" sz="1050" dirty="0"/>
          </a:p>
        </p:txBody>
      </p:sp>
      <p:sp>
        <p:nvSpPr>
          <p:cNvPr id="24" name="Record the result circle"/>
          <p:cNvSpPr/>
          <p:nvPr/>
        </p:nvSpPr>
        <p:spPr>
          <a:xfrm>
            <a:off x="4709160" y="3611880"/>
            <a:ext cx="457200" cy="457200"/>
          </a:xfrm>
          <a:prstGeom prst="ellipse">
            <a:avLst/>
          </a:prstGeom>
          <a:solidFill>
            <a:schemeClr val="accent2"/>
          </a:solidFill>
          <a:ln/>
        </p:spPr>
      </p:sp>
      <p:pic>
        <p:nvPicPr>
          <p:cNvPr id="25" name="Record the result icon" descr="Record the result">    </p:cNvPr>
          <p:cNvPicPr>
            <a:picLocks noChangeAspect="1"/>
          </p:cNvPicPr>
          <p:nvPr/>
        </p:nvPicPr>
        <p:blipFill>
          <a:blip r:embed="rId7"/>
          <a:stretch>
            <a:fillRect/>
          </a:stretch>
        </p:blipFill>
        <p:spPr>
          <a:xfrm>
            <a:off x="4818888" y="3721608"/>
            <a:ext cx="237744" cy="237744"/>
          </a:xfrm>
          <a:prstGeom prst="rect">
            <a:avLst/>
          </a:prstGeom>
        </p:spPr>
      </p:pic>
      <p:sp>
        <p:nvSpPr>
          <p:cNvPr id="26" name="Visit 3 heading"/>
          <p:cNvSpPr txBox="1"/>
          <p:nvPr/>
        </p:nvSpPr>
        <p:spPr>
          <a:xfrm>
            <a:off x="5303520" y="3630168"/>
            <a:ext cx="3383280" cy="246888"/>
          </a:xfrm>
          <a:prstGeom prst="rect">
            <a:avLst/>
          </a:prstGeom>
          <a:noFill/>
          <a:ln/>
        </p:spPr>
        <p:txBody>
          <a:bodyPr wrap="square" lIns="0" tIns="0" rIns="0" bIns="0" rtlCol="0" anchor="t"/>
          <a:lstStyle/>
          <a:p>
            <a:pPr indent="0" marL="0">
              <a:buNone/>
            </a:pPr>
            <a:r>
              <a:rPr lang="en-US" sz="1250" b="1" dirty="0">
                <a:solidFill>
                  <a:schemeClr val="tx1"/>
                </a:solidFill>
              </a:rPr>
              <a:t>Record the result</a:t>
            </a:r>
            <a:endParaRPr lang="en-US" sz="1250" dirty="0"/>
          </a:p>
        </p:txBody>
      </p:sp>
      <p:sp>
        <p:nvSpPr>
          <p:cNvPr id="27" name="Visit 3 text"/>
          <p:cNvSpPr txBox="1"/>
          <p:nvPr/>
        </p:nvSpPr>
        <p:spPr>
          <a:xfrm>
            <a:off x="5303520" y="3886200"/>
            <a:ext cx="3383280" cy="749808"/>
          </a:xfrm>
          <a:prstGeom prst="rect">
            <a:avLst/>
          </a:prstGeom>
          <a:noFill/>
          <a:ln/>
        </p:spPr>
        <p:txBody>
          <a:bodyPr wrap="square" lIns="0" tIns="0" rIns="0" bIns="0" rtlCol="0" anchor="t"/>
          <a:lstStyle/>
          <a:p>
            <a:pPr indent="0" marL="0">
              <a:buNone/>
            </a:pPr>
            <a:r>
              <a:rPr lang="en-US" sz="1050" dirty="0">
                <a:solidFill>
                  <a:schemeClr val="tx2"/>
                </a:solidFill>
              </a:rPr>
              <a:t>Record census for registered families. New families register with the form on the parish website; the office verifies them.</a:t>
            </a:r>
            <a:endParaRPr lang="en-US" sz="105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Tracking progress and results</a:t>
            </a:r>
            <a:endParaRPr lang="en-US" sz="2600" dirty="0"/>
          </a:p>
        </p:txBody>
      </p:sp>
      <p:sp>
        <p:nvSpPr>
          <p:cNvPr id="3" name="Dashboard card"/>
          <p:cNvSpPr/>
          <p:nvPr/>
        </p:nvSpPr>
        <p:spPr>
          <a:xfrm>
            <a:off x="457200" y="1051560"/>
            <a:ext cx="2624328" cy="1783080"/>
          </a:xfrm>
          <a:prstGeom prst="roundRect">
            <a:avLst>
              <a:gd name="adj" fmla="val 4103"/>
            </a:avLst>
          </a:prstGeom>
          <a:solidFill>
            <a:schemeClr val="bg2"/>
          </a:solidFill>
          <a:ln/>
        </p:spPr>
      </p:sp>
      <p:sp>
        <p:nvSpPr>
          <p:cNvPr id="4" name="Dashboard circle"/>
          <p:cNvSpPr/>
          <p:nvPr/>
        </p:nvSpPr>
        <p:spPr>
          <a:xfrm>
            <a:off x="621792" y="1216152"/>
            <a:ext cx="457200" cy="457200"/>
          </a:xfrm>
          <a:prstGeom prst="ellipse">
            <a:avLst/>
          </a:prstGeom>
          <a:solidFill>
            <a:schemeClr val="tx1"/>
          </a:solidFill>
          <a:ln/>
        </p:spPr>
      </p:sp>
      <p:pic>
        <p:nvPicPr>
          <p:cNvPr id="5" name="Dashboard icon" descr="Dashboard">    </p:cNvPr>
          <p:cNvPicPr>
            <a:picLocks noChangeAspect="1"/>
          </p:cNvPicPr>
          <p:nvPr/>
        </p:nvPicPr>
        <p:blipFill>
          <a:blip r:embed="rId1"/>
          <a:stretch>
            <a:fillRect/>
          </a:stretch>
        </p:blipFill>
        <p:spPr>
          <a:xfrm>
            <a:off x="731520" y="1325880"/>
            <a:ext cx="237744" cy="237744"/>
          </a:xfrm>
          <a:prstGeom prst="rect">
            <a:avLst/>
          </a:prstGeom>
        </p:spPr>
      </p:pic>
      <p:sp>
        <p:nvSpPr>
          <p:cNvPr id="6" name="Dashboard heading"/>
          <p:cNvSpPr txBox="1"/>
          <p:nvPr/>
        </p:nvSpPr>
        <p:spPr>
          <a:xfrm>
            <a:off x="621792" y="1783080"/>
            <a:ext cx="2295144" cy="274320"/>
          </a:xfrm>
          <a:prstGeom prst="rect">
            <a:avLst/>
          </a:prstGeom>
          <a:noFill/>
          <a:ln/>
        </p:spPr>
        <p:txBody>
          <a:bodyPr wrap="square" lIns="0" tIns="0" rIns="0" bIns="0" rtlCol="0" anchor="t"/>
          <a:lstStyle/>
          <a:p>
            <a:pPr indent="0" marL="0">
              <a:buNone/>
            </a:pPr>
            <a:r>
              <a:rPr lang="en-US" sz="1300" b="1" dirty="0">
                <a:solidFill>
                  <a:schemeClr val="tx1"/>
                </a:solidFill>
              </a:rPr>
              <a:t>Dashboard</a:t>
            </a:r>
            <a:endParaRPr lang="en-US" sz="1300" dirty="0"/>
          </a:p>
        </p:txBody>
      </p:sp>
      <p:sp>
        <p:nvSpPr>
          <p:cNvPr id="7" name="Dashboard text"/>
          <p:cNvSpPr txBox="1"/>
          <p:nvPr/>
        </p:nvSpPr>
        <p:spPr>
          <a:xfrm>
            <a:off x="621792" y="2084832"/>
            <a:ext cx="2295144" cy="685800"/>
          </a:xfrm>
          <a:prstGeom prst="rect">
            <a:avLst/>
          </a:prstGeom>
          <a:noFill/>
          <a:ln/>
        </p:spPr>
        <p:txBody>
          <a:bodyPr wrap="square" lIns="0" tIns="0" rIns="0" bIns="0" rtlCol="0" anchor="t"/>
          <a:lstStyle/>
          <a:p>
            <a:pPr indent="0" marL="0">
              <a:buNone/>
            </a:pPr>
            <a:r>
              <a:rPr lang="en-US" sz="1050" dirty="0">
                <a:solidFill>
                  <a:schemeClr val="tx2"/>
                </a:solidFill>
              </a:rPr>
              <a:t>The Today panel shows “X of Y households confirmed” and the family updates waiting for review.</a:t>
            </a:r>
            <a:endParaRPr lang="en-US" sz="1050" dirty="0"/>
          </a:p>
        </p:txBody>
      </p:sp>
      <p:sp>
        <p:nvSpPr>
          <p:cNvPr id="8" name="Census → Results by GKK card"/>
          <p:cNvSpPr/>
          <p:nvPr/>
        </p:nvSpPr>
        <p:spPr>
          <a:xfrm>
            <a:off x="3264408" y="1051560"/>
            <a:ext cx="2624328" cy="1783080"/>
          </a:xfrm>
          <a:prstGeom prst="roundRect">
            <a:avLst>
              <a:gd name="adj" fmla="val 4103"/>
            </a:avLst>
          </a:prstGeom>
          <a:solidFill>
            <a:schemeClr val="bg2"/>
          </a:solidFill>
          <a:ln/>
        </p:spPr>
      </p:sp>
      <p:sp>
        <p:nvSpPr>
          <p:cNvPr id="9" name="Census → Results by GKK circle"/>
          <p:cNvSpPr/>
          <p:nvPr/>
        </p:nvSpPr>
        <p:spPr>
          <a:xfrm>
            <a:off x="3429000" y="1216152"/>
            <a:ext cx="457200" cy="457200"/>
          </a:xfrm>
          <a:prstGeom prst="ellipse">
            <a:avLst/>
          </a:prstGeom>
          <a:solidFill>
            <a:schemeClr val="tx1"/>
          </a:solidFill>
          <a:ln/>
        </p:spPr>
      </p:sp>
      <p:pic>
        <p:nvPicPr>
          <p:cNvPr id="10" name="Census → Results by GKK icon" descr="Census → Results by GKK">    </p:cNvPr>
          <p:cNvPicPr>
            <a:picLocks noChangeAspect="1"/>
          </p:cNvPicPr>
          <p:nvPr/>
        </p:nvPicPr>
        <p:blipFill>
          <a:blip r:embed="rId2"/>
          <a:stretch>
            <a:fillRect/>
          </a:stretch>
        </p:blipFill>
        <p:spPr>
          <a:xfrm>
            <a:off x="3538728" y="1325880"/>
            <a:ext cx="237744" cy="237744"/>
          </a:xfrm>
          <a:prstGeom prst="rect">
            <a:avLst/>
          </a:prstGeom>
        </p:spPr>
      </p:pic>
      <p:sp>
        <p:nvSpPr>
          <p:cNvPr id="11" name="Census → Results by GKK heading"/>
          <p:cNvSpPr txBox="1"/>
          <p:nvPr/>
        </p:nvSpPr>
        <p:spPr>
          <a:xfrm>
            <a:off x="3429000" y="1783080"/>
            <a:ext cx="2295144" cy="274320"/>
          </a:xfrm>
          <a:prstGeom prst="rect">
            <a:avLst/>
          </a:prstGeom>
          <a:noFill/>
          <a:ln/>
        </p:spPr>
        <p:txBody>
          <a:bodyPr wrap="square" lIns="0" tIns="0" rIns="0" bIns="0" rtlCol="0" anchor="t"/>
          <a:lstStyle/>
          <a:p>
            <a:pPr indent="0" marL="0">
              <a:buNone/>
            </a:pPr>
            <a:r>
              <a:rPr lang="en-US" sz="1300" b="1" dirty="0">
                <a:solidFill>
                  <a:schemeClr val="tx1"/>
                </a:solidFill>
              </a:rPr>
              <a:t>Census → Results by GKK</a:t>
            </a:r>
            <a:endParaRPr lang="en-US" sz="1300" dirty="0"/>
          </a:p>
        </p:txBody>
      </p:sp>
      <p:sp>
        <p:nvSpPr>
          <p:cNvPr id="12" name="Census → Results by GKK text"/>
          <p:cNvSpPr txBox="1"/>
          <p:nvPr/>
        </p:nvSpPr>
        <p:spPr>
          <a:xfrm>
            <a:off x="3429000" y="2084832"/>
            <a:ext cx="2295144" cy="685800"/>
          </a:xfrm>
          <a:prstGeom prst="rect">
            <a:avLst/>
          </a:prstGeom>
          <a:noFill/>
          <a:ln/>
        </p:spPr>
        <p:txBody>
          <a:bodyPr wrap="square" lIns="0" tIns="0" rIns="0" bIns="0" rtlCol="0" anchor="t"/>
          <a:lstStyle/>
          <a:p>
            <a:pPr indent="0" marL="0">
              <a:buNone/>
            </a:pPr>
            <a:r>
              <a:rPr lang="en-US" sz="1050" dirty="0">
                <a:solidFill>
                  <a:schemeClr val="tx2"/>
                </a:solidFill>
              </a:rPr>
              <a:t>Members per status and Not confirmed, the families not yet registered with Print visit list, and Export CSV.</a:t>
            </a:r>
            <a:endParaRPr lang="en-US" sz="1050" dirty="0"/>
          </a:p>
        </p:txBody>
      </p:sp>
      <p:sp>
        <p:nvSpPr>
          <p:cNvPr id="13" name="Reports → Census card"/>
          <p:cNvSpPr/>
          <p:nvPr/>
        </p:nvSpPr>
        <p:spPr>
          <a:xfrm>
            <a:off x="6071616" y="1051560"/>
            <a:ext cx="2624328" cy="1783080"/>
          </a:xfrm>
          <a:prstGeom prst="roundRect">
            <a:avLst>
              <a:gd name="adj" fmla="val 4103"/>
            </a:avLst>
          </a:prstGeom>
          <a:solidFill>
            <a:schemeClr val="bg2"/>
          </a:solidFill>
          <a:ln/>
        </p:spPr>
      </p:sp>
      <p:sp>
        <p:nvSpPr>
          <p:cNvPr id="14" name="Reports → Census circle"/>
          <p:cNvSpPr/>
          <p:nvPr/>
        </p:nvSpPr>
        <p:spPr>
          <a:xfrm>
            <a:off x="6236208" y="1216152"/>
            <a:ext cx="457200" cy="457200"/>
          </a:xfrm>
          <a:prstGeom prst="ellipse">
            <a:avLst/>
          </a:prstGeom>
          <a:solidFill>
            <a:schemeClr val="tx1"/>
          </a:solidFill>
          <a:ln/>
        </p:spPr>
      </p:sp>
      <p:pic>
        <p:nvPicPr>
          <p:cNvPr id="15" name="Reports → Census icon" descr="Reports → Census">    </p:cNvPr>
          <p:cNvPicPr>
            <a:picLocks noChangeAspect="1"/>
          </p:cNvPicPr>
          <p:nvPr/>
        </p:nvPicPr>
        <p:blipFill>
          <a:blip r:embed="rId3"/>
          <a:stretch>
            <a:fillRect/>
          </a:stretch>
        </p:blipFill>
        <p:spPr>
          <a:xfrm>
            <a:off x="6345936" y="1325880"/>
            <a:ext cx="237744" cy="237744"/>
          </a:xfrm>
          <a:prstGeom prst="rect">
            <a:avLst/>
          </a:prstGeom>
        </p:spPr>
      </p:pic>
      <p:sp>
        <p:nvSpPr>
          <p:cNvPr id="16" name="Reports → Census heading"/>
          <p:cNvSpPr txBox="1"/>
          <p:nvPr/>
        </p:nvSpPr>
        <p:spPr>
          <a:xfrm>
            <a:off x="6236208" y="1783080"/>
            <a:ext cx="2295144" cy="274320"/>
          </a:xfrm>
          <a:prstGeom prst="rect">
            <a:avLst/>
          </a:prstGeom>
          <a:noFill/>
          <a:ln/>
        </p:spPr>
        <p:txBody>
          <a:bodyPr wrap="square" lIns="0" tIns="0" rIns="0" bIns="0" rtlCol="0" anchor="t"/>
          <a:lstStyle/>
          <a:p>
            <a:pPr indent="0" marL="0">
              <a:buNone/>
            </a:pPr>
            <a:r>
              <a:rPr lang="en-US" sz="1300" b="1" dirty="0">
                <a:solidFill>
                  <a:schemeClr val="tx1"/>
                </a:solidFill>
              </a:rPr>
              <a:t>Reports → Census</a:t>
            </a:r>
            <a:endParaRPr lang="en-US" sz="1300" dirty="0"/>
          </a:p>
        </p:txBody>
      </p:sp>
      <p:sp>
        <p:nvSpPr>
          <p:cNvPr id="17" name="Reports → Census text"/>
          <p:cNvSpPr txBox="1"/>
          <p:nvPr/>
        </p:nvSpPr>
        <p:spPr>
          <a:xfrm>
            <a:off x="6236208" y="2084832"/>
            <a:ext cx="2295144" cy="685800"/>
          </a:xfrm>
          <a:prstGeom prst="rect">
            <a:avLst/>
          </a:prstGeom>
          <a:noFill/>
          <a:ln/>
        </p:spPr>
        <p:txBody>
          <a:bodyPr wrap="square" lIns="0" tIns="0" rIns="0" bIns="0" rtlCol="0" anchor="t"/>
          <a:lstStyle/>
          <a:p>
            <a:pPr indent="0" marL="0">
              <a:buNone/>
            </a:pPr>
            <a:r>
              <a:rPr lang="en-US" sz="1050" dirty="0">
                <a:solidFill>
                  <a:schemeClr val="tx2"/>
                </a:solidFill>
              </a:rPr>
              <a:t>Results by GKK, Households vs last year, Not yet registered, and Members not confirmed.</a:t>
            </a:r>
            <a:endParaRPr lang="en-US" sz="1050" dirty="0"/>
          </a:p>
        </p:txBody>
      </p:sp>
      <p:sp>
        <p:nvSpPr>
          <p:cNvPr id="18" name="Scope note"/>
          <p:cNvSpPr txBox="1"/>
          <p:nvPr/>
        </p:nvSpPr>
        <p:spPr>
          <a:xfrm>
            <a:off x="457200" y="2898648"/>
            <a:ext cx="8229600" cy="228600"/>
          </a:xfrm>
          <a:prstGeom prst="rect">
            <a:avLst/>
          </a:prstGeom>
          <a:noFill/>
          <a:ln/>
        </p:spPr>
        <p:txBody>
          <a:bodyPr wrap="square" lIns="0" tIns="0" rIns="0" bIns="0" rtlCol="0" anchor="t"/>
          <a:lstStyle/>
          <a:p>
            <a:pPr indent="0" marL="0">
              <a:buNone/>
            </a:pPr>
            <a:r>
              <a:rPr lang="en-US" sz="1050" i="1" dirty="0">
                <a:solidFill>
                  <a:schemeClr val="accent4"/>
                </a:solidFill>
              </a:rPr>
              <a:t>Your dashboard, results and reports cover your GKK only.</a:t>
            </a:r>
            <a:endParaRPr lang="en-US" sz="1050" dirty="0"/>
          </a:p>
        </p:txBody>
      </p:sp>
      <p:sp>
        <p:nvSpPr>
          <p:cNvPr id="19" name="Closing panel"/>
          <p:cNvSpPr/>
          <p:nvPr/>
        </p:nvSpPr>
        <p:spPr>
          <a:xfrm>
            <a:off x="457200" y="3246120"/>
            <a:ext cx="8229600" cy="1371600"/>
          </a:xfrm>
          <a:prstGeom prst="roundRect">
            <a:avLst>
              <a:gd name="adj" fmla="val 5333"/>
            </a:avLst>
          </a:prstGeom>
          <a:solidFill>
            <a:schemeClr val="tx1"/>
          </a:solidFill>
          <a:ln/>
        </p:spPr>
      </p:sp>
      <p:sp>
        <p:nvSpPr>
          <p:cNvPr id="20" name="Closing circle"/>
          <p:cNvSpPr/>
          <p:nvPr/>
        </p:nvSpPr>
        <p:spPr>
          <a:xfrm>
            <a:off x="658368" y="3429000"/>
            <a:ext cx="457200" cy="457200"/>
          </a:xfrm>
          <a:prstGeom prst="ellipse">
            <a:avLst/>
          </a:prstGeom>
          <a:solidFill>
            <a:schemeClr val="accent2"/>
          </a:solidFill>
          <a:ln/>
        </p:spPr>
      </p:sp>
      <p:pic>
        <p:nvPicPr>
          <p:cNvPr id="21" name="Closing icon" descr="Closing">    </p:cNvPr>
          <p:cNvPicPr>
            <a:picLocks noChangeAspect="1"/>
          </p:cNvPicPr>
          <p:nvPr/>
        </p:nvPicPr>
        <p:blipFill>
          <a:blip r:embed="rId4"/>
          <a:stretch>
            <a:fillRect/>
          </a:stretch>
        </p:blipFill>
        <p:spPr>
          <a:xfrm>
            <a:off x="768096" y="3538728"/>
            <a:ext cx="237744" cy="237744"/>
          </a:xfrm>
          <a:prstGeom prst="rect">
            <a:avLst/>
          </a:prstGeom>
        </p:spPr>
      </p:pic>
      <p:sp>
        <p:nvSpPr>
          <p:cNvPr id="22" name="Closing heading"/>
          <p:cNvSpPr txBox="1"/>
          <p:nvPr/>
        </p:nvSpPr>
        <p:spPr>
          <a:xfrm>
            <a:off x="1234440" y="3429000"/>
            <a:ext cx="7223760" cy="457200"/>
          </a:xfrm>
          <a:prstGeom prst="rect">
            <a:avLst/>
          </a:prstGeom>
          <a:noFill/>
          <a:ln/>
        </p:spPr>
        <p:txBody>
          <a:bodyPr wrap="square" lIns="0" tIns="0" rIns="0" bIns="0" rtlCol="0" anchor="ctr"/>
          <a:lstStyle/>
          <a:p>
            <a:pPr indent="0" marL="0">
              <a:buNone/>
            </a:pPr>
            <a:r>
              <a:rPr lang="en-US" sz="1400" b="1" dirty="0">
                <a:solidFill>
                  <a:schemeClr val="accent6"/>
                </a:solidFill>
              </a:rPr>
              <a:t>When the parish office closes the census</a:t>
            </a:r>
            <a:endParaRPr lang="en-US" sz="1400" dirty="0"/>
          </a:p>
        </p:txBody>
      </p:sp>
      <p:sp>
        <p:nvSpPr>
          <p:cNvPr id="23" name="Closing point 1"/>
          <p:cNvSpPr txBox="1"/>
          <p:nvPr/>
        </p:nvSpPr>
        <p:spPr>
          <a:xfrm>
            <a:off x="1234440" y="3950208"/>
            <a:ext cx="2240280" cy="594360"/>
          </a:xfrm>
          <a:prstGeom prst="rect">
            <a:avLst/>
          </a:prstGeom>
          <a:noFill/>
          <a:ln/>
        </p:spPr>
        <p:txBody>
          <a:bodyPr wrap="square" lIns="0" tIns="0" rIns="0" bIns="0" rtlCol="0" anchor="t"/>
          <a:lstStyle/>
          <a:p>
            <a:pPr indent="0" marL="0">
              <a:buNone/>
            </a:pPr>
            <a:r>
              <a:rPr lang="en-US" sz="1050" dirty="0">
                <a:solidFill>
                  <a:schemeClr val="bg1"/>
                </a:solidFill>
              </a:rPr>
              <a:t>Record census becomes View; everything is read-only.</a:t>
            </a:r>
            <a:endParaRPr lang="en-US" sz="1050" dirty="0"/>
          </a:p>
        </p:txBody>
      </p:sp>
      <p:sp>
        <p:nvSpPr>
          <p:cNvPr id="24" name="Closing point 2"/>
          <p:cNvSpPr txBox="1"/>
          <p:nvPr/>
        </p:nvSpPr>
        <p:spPr>
          <a:xfrm>
            <a:off x="3675888" y="3950208"/>
            <a:ext cx="2240280" cy="594360"/>
          </a:xfrm>
          <a:prstGeom prst="rect">
            <a:avLst/>
          </a:prstGeom>
          <a:noFill/>
          <a:ln/>
        </p:spPr>
        <p:txBody>
          <a:bodyPr wrap="square" lIns="0" tIns="0" rIns="0" bIns="0" rtlCol="0" anchor="t"/>
          <a:lstStyle/>
          <a:p>
            <a:pPr indent="0" marL="0">
              <a:buNone/>
            </a:pPr>
            <a:r>
              <a:rPr lang="en-US" sz="1050" dirty="0">
                <a:solidFill>
                  <a:schemeClr val="bg1"/>
                </a:solidFill>
              </a:rPr>
              <a:t>Closing changes no data, and the office can reopen it.</a:t>
            </a:r>
            <a:endParaRPr lang="en-US" sz="1050" dirty="0"/>
          </a:p>
        </p:txBody>
      </p:sp>
      <p:sp>
        <p:nvSpPr>
          <p:cNvPr id="25" name="Closing point 3"/>
          <p:cNvSpPr txBox="1"/>
          <p:nvPr/>
        </p:nvSpPr>
        <p:spPr>
          <a:xfrm>
            <a:off x="6117336" y="3950208"/>
            <a:ext cx="2240280" cy="594360"/>
          </a:xfrm>
          <a:prstGeom prst="rect">
            <a:avLst/>
          </a:prstGeom>
          <a:noFill/>
          <a:ln/>
        </p:spPr>
        <p:txBody>
          <a:bodyPr wrap="square" lIns="0" tIns="0" rIns="0" bIns="0" rtlCol="0" anchor="t"/>
          <a:lstStyle/>
          <a:p>
            <a:pPr indent="0" marL="0">
              <a:buNone/>
            </a:pPr>
            <a:r>
              <a:rPr lang="en-US" sz="1050" dirty="0">
                <a:solidFill>
                  <a:schemeClr val="bg1"/>
                </a:solidFill>
              </a:rPr>
              <a:t>Members nobody confirmed appear under Members → “Not confirmed in census”.</a:t>
            </a:r>
            <a:endParaRPr lang="en-US" sz="105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Protecting families’ information</a:t>
            </a:r>
            <a:endParaRPr lang="en-US" sz="2600" dirty="0"/>
          </a:p>
        </p:txBody>
      </p:sp>
      <p:sp>
        <p:nvSpPr>
          <p:cNvPr id="3" name="Keep it private card"/>
          <p:cNvSpPr/>
          <p:nvPr/>
        </p:nvSpPr>
        <p:spPr>
          <a:xfrm>
            <a:off x="457200" y="1051560"/>
            <a:ext cx="4023360" cy="3611880"/>
          </a:xfrm>
          <a:prstGeom prst="roundRect">
            <a:avLst>
              <a:gd name="adj" fmla="val 2025"/>
            </a:avLst>
          </a:prstGeom>
          <a:solidFill>
            <a:schemeClr val="bg2"/>
          </a:solidFill>
          <a:ln/>
        </p:spPr>
      </p:sp>
      <p:sp>
        <p:nvSpPr>
          <p:cNvPr id="4" name="Keep it private circle"/>
          <p:cNvSpPr/>
          <p:nvPr/>
        </p:nvSpPr>
        <p:spPr>
          <a:xfrm>
            <a:off x="658368" y="1234440"/>
            <a:ext cx="502920" cy="502920"/>
          </a:xfrm>
          <a:prstGeom prst="ellipse">
            <a:avLst/>
          </a:prstGeom>
          <a:solidFill>
            <a:schemeClr val="tx1"/>
          </a:solidFill>
          <a:ln/>
        </p:spPr>
      </p:sp>
      <p:pic>
        <p:nvPicPr>
          <p:cNvPr id="5" name="Keep it private icon" descr="Keep it private">    </p:cNvPr>
          <p:cNvPicPr>
            <a:picLocks noChangeAspect="1"/>
          </p:cNvPicPr>
          <p:nvPr/>
        </p:nvPicPr>
        <p:blipFill>
          <a:blip r:embed="rId1"/>
          <a:stretch>
            <a:fillRect/>
          </a:stretch>
        </p:blipFill>
        <p:spPr>
          <a:xfrm>
            <a:off x="779069" y="1355141"/>
            <a:ext cx="261518" cy="261518"/>
          </a:xfrm>
          <a:prstGeom prst="rect">
            <a:avLst/>
          </a:prstGeom>
        </p:spPr>
      </p:pic>
      <p:sp>
        <p:nvSpPr>
          <p:cNvPr id="6" name="Keep it private heading"/>
          <p:cNvSpPr txBox="1"/>
          <p:nvPr/>
        </p:nvSpPr>
        <p:spPr>
          <a:xfrm>
            <a:off x="1298448" y="1234440"/>
            <a:ext cx="301752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Keep it private</a:t>
            </a:r>
            <a:endParaRPr lang="en-US" sz="1600" dirty="0"/>
          </a:p>
        </p:txBody>
      </p:sp>
      <p:pic>
        <p:nvPicPr>
          <p:cNvPr id="7" name="Keep it private point 1 check" descr="preencoded.png">    </p:cNvPr>
          <p:cNvPicPr>
            <a:picLocks noChangeAspect="1"/>
          </p:cNvPicPr>
          <p:nvPr/>
        </p:nvPicPr>
        <p:blipFill>
          <a:blip r:embed="rId2"/>
          <a:stretch>
            <a:fillRect/>
          </a:stretch>
        </p:blipFill>
        <p:spPr>
          <a:xfrm>
            <a:off x="704088" y="1975104"/>
            <a:ext cx="201168" cy="201168"/>
          </a:xfrm>
          <a:prstGeom prst="rect">
            <a:avLst/>
          </a:prstGeom>
        </p:spPr>
      </p:pic>
      <p:sp>
        <p:nvSpPr>
          <p:cNvPr id="8" name="Keep it private point 1"/>
          <p:cNvSpPr txBox="1"/>
          <p:nvPr/>
        </p:nvSpPr>
        <p:spPr>
          <a:xfrm>
            <a:off x="1024128" y="1965960"/>
            <a:ext cx="3291840" cy="566928"/>
          </a:xfrm>
          <a:prstGeom prst="rect">
            <a:avLst/>
          </a:prstGeom>
          <a:noFill/>
          <a:ln/>
        </p:spPr>
        <p:txBody>
          <a:bodyPr wrap="square" lIns="0" tIns="0" rIns="0" bIns="0" rtlCol="0" anchor="t"/>
          <a:lstStyle/>
          <a:p>
            <a:pPr indent="0" marL="0">
              <a:buNone/>
            </a:pPr>
            <a:r>
              <a:rPr lang="en-US" sz="1150" dirty="0">
                <a:solidFill>
                  <a:schemeClr val="tx2"/>
                </a:solidFill>
              </a:rPr>
              <a:t>Printed forms are confidential under the Data Privacy Act of 2012. Store them safely.</a:t>
            </a:r>
            <a:endParaRPr lang="en-US" sz="1150" dirty="0"/>
          </a:p>
        </p:txBody>
      </p:sp>
      <p:pic>
        <p:nvPicPr>
          <p:cNvPr id="9" name="Keep it private point 2 check" descr="preencoded.png">    </p:cNvPr>
          <p:cNvPicPr>
            <a:picLocks noChangeAspect="1"/>
          </p:cNvPicPr>
          <p:nvPr/>
        </p:nvPicPr>
        <p:blipFill>
          <a:blip r:embed="rId3"/>
          <a:stretch>
            <a:fillRect/>
          </a:stretch>
        </p:blipFill>
        <p:spPr>
          <a:xfrm>
            <a:off x="704088" y="2633472"/>
            <a:ext cx="201168" cy="201168"/>
          </a:xfrm>
          <a:prstGeom prst="rect">
            <a:avLst/>
          </a:prstGeom>
        </p:spPr>
      </p:pic>
      <p:sp>
        <p:nvSpPr>
          <p:cNvPr id="10" name="Keep it private point 2"/>
          <p:cNvSpPr txBox="1"/>
          <p:nvPr/>
        </p:nvSpPr>
        <p:spPr>
          <a:xfrm>
            <a:off x="1024128" y="2624328"/>
            <a:ext cx="3291840" cy="566928"/>
          </a:xfrm>
          <a:prstGeom prst="rect">
            <a:avLst/>
          </a:prstGeom>
          <a:noFill/>
          <a:ln/>
        </p:spPr>
        <p:txBody>
          <a:bodyPr wrap="square" lIns="0" tIns="0" rIns="0" bIns="0" rtlCol="0" anchor="t"/>
          <a:lstStyle/>
          <a:p>
            <a:pPr indent="0" marL="0">
              <a:buNone/>
            </a:pPr>
            <a:r>
              <a:rPr lang="en-US" sz="1150" dirty="0">
                <a:solidFill>
                  <a:schemeClr val="tx2"/>
                </a:solidFill>
              </a:rPr>
              <a:t>Never share your password. Give each family only its own code.</a:t>
            </a:r>
            <a:endParaRPr lang="en-US" sz="1150" dirty="0"/>
          </a:p>
        </p:txBody>
      </p:sp>
      <p:pic>
        <p:nvPicPr>
          <p:cNvPr id="11" name="Keep it private point 3 check" descr="preencoded.png">    </p:cNvPr>
          <p:cNvPicPr>
            <a:picLocks noChangeAspect="1"/>
          </p:cNvPicPr>
          <p:nvPr/>
        </p:nvPicPr>
        <p:blipFill>
          <a:blip r:embed="rId4"/>
          <a:stretch>
            <a:fillRect/>
          </a:stretch>
        </p:blipFill>
        <p:spPr>
          <a:xfrm>
            <a:off x="704088" y="3291840"/>
            <a:ext cx="201168" cy="201168"/>
          </a:xfrm>
          <a:prstGeom prst="rect">
            <a:avLst/>
          </a:prstGeom>
        </p:spPr>
      </p:pic>
      <p:sp>
        <p:nvSpPr>
          <p:cNvPr id="12" name="Keep it private point 3"/>
          <p:cNvSpPr txBox="1"/>
          <p:nvPr/>
        </p:nvSpPr>
        <p:spPr>
          <a:xfrm>
            <a:off x="1024128" y="3282696"/>
            <a:ext cx="3291840" cy="566928"/>
          </a:xfrm>
          <a:prstGeom prst="rect">
            <a:avLst/>
          </a:prstGeom>
          <a:noFill/>
          <a:ln/>
        </p:spPr>
        <p:txBody>
          <a:bodyPr wrap="square" lIns="0" tIns="0" rIns="0" bIns="0" rtlCol="0" anchor="t"/>
          <a:lstStyle/>
          <a:p>
            <a:pPr indent="0" marL="0">
              <a:buNone/>
            </a:pPr>
            <a:r>
              <a:rPr lang="en-US" sz="1150" dirty="0">
                <a:solidFill>
                  <a:schemeClr val="tx2"/>
                </a:solidFill>
              </a:rPr>
              <a:t>Families must tick the privacy consent before sending online.</a:t>
            </a:r>
            <a:endParaRPr lang="en-US" sz="1150" dirty="0"/>
          </a:p>
        </p:txBody>
      </p:sp>
      <p:pic>
        <p:nvPicPr>
          <p:cNvPr id="13" name="Keep it private point 4 check" descr="preencoded.png">    </p:cNvPr>
          <p:cNvPicPr>
            <a:picLocks noChangeAspect="1"/>
          </p:cNvPicPr>
          <p:nvPr/>
        </p:nvPicPr>
        <p:blipFill>
          <a:blip r:embed="rId5"/>
          <a:stretch>
            <a:fillRect/>
          </a:stretch>
        </p:blipFill>
        <p:spPr>
          <a:xfrm>
            <a:off x="704088" y="3950208"/>
            <a:ext cx="201168" cy="201168"/>
          </a:xfrm>
          <a:prstGeom prst="rect">
            <a:avLst/>
          </a:prstGeom>
        </p:spPr>
      </p:pic>
      <p:sp>
        <p:nvSpPr>
          <p:cNvPr id="14" name="Keep it private point 4"/>
          <p:cNvSpPr txBox="1"/>
          <p:nvPr/>
        </p:nvSpPr>
        <p:spPr>
          <a:xfrm>
            <a:off x="1024128" y="3941064"/>
            <a:ext cx="3291840" cy="566928"/>
          </a:xfrm>
          <a:prstGeom prst="rect">
            <a:avLst/>
          </a:prstGeom>
          <a:noFill/>
          <a:ln/>
        </p:spPr>
        <p:txBody>
          <a:bodyPr wrap="square" lIns="0" tIns="0" rIns="0" bIns="0" rtlCol="0" anchor="t"/>
          <a:lstStyle/>
          <a:p>
            <a:pPr indent="0" marL="0">
              <a:buNone/>
            </a:pPr>
            <a:r>
              <a:rPr lang="en-US" sz="1150" dirty="0">
                <a:solidFill>
                  <a:schemeClr val="tx2"/>
                </a:solidFill>
              </a:rPr>
              <a:t>You’re signed out after 20 minutes without activity.</a:t>
            </a:r>
            <a:endParaRPr lang="en-US" sz="1150" dirty="0"/>
          </a:p>
        </p:txBody>
      </p:sp>
      <p:sp>
        <p:nvSpPr>
          <p:cNvPr id="15" name="Keep it accurate card"/>
          <p:cNvSpPr/>
          <p:nvPr/>
        </p:nvSpPr>
        <p:spPr>
          <a:xfrm>
            <a:off x="4663440" y="1051560"/>
            <a:ext cx="4023360" cy="3611880"/>
          </a:xfrm>
          <a:prstGeom prst="roundRect">
            <a:avLst>
              <a:gd name="adj" fmla="val 2025"/>
            </a:avLst>
          </a:prstGeom>
          <a:solidFill>
            <a:schemeClr val="bg2"/>
          </a:solidFill>
          <a:ln/>
        </p:spPr>
      </p:sp>
      <p:sp>
        <p:nvSpPr>
          <p:cNvPr id="16" name="Keep it accurate circle"/>
          <p:cNvSpPr/>
          <p:nvPr/>
        </p:nvSpPr>
        <p:spPr>
          <a:xfrm>
            <a:off x="4864608" y="1234440"/>
            <a:ext cx="502920" cy="502920"/>
          </a:xfrm>
          <a:prstGeom prst="ellipse">
            <a:avLst/>
          </a:prstGeom>
          <a:solidFill>
            <a:schemeClr val="accent3"/>
          </a:solidFill>
          <a:ln/>
        </p:spPr>
      </p:sp>
      <p:pic>
        <p:nvPicPr>
          <p:cNvPr id="17" name="Keep it accurate icon" descr="Keep it accurate">    </p:cNvPr>
          <p:cNvPicPr>
            <a:picLocks noChangeAspect="1"/>
          </p:cNvPicPr>
          <p:nvPr/>
        </p:nvPicPr>
        <p:blipFill>
          <a:blip r:embed="rId6"/>
          <a:stretch>
            <a:fillRect/>
          </a:stretch>
        </p:blipFill>
        <p:spPr>
          <a:xfrm>
            <a:off x="4985309" y="1355141"/>
            <a:ext cx="261518" cy="261518"/>
          </a:xfrm>
          <a:prstGeom prst="rect">
            <a:avLst/>
          </a:prstGeom>
        </p:spPr>
      </p:pic>
      <p:sp>
        <p:nvSpPr>
          <p:cNvPr id="18" name="Keep it accurate heading"/>
          <p:cNvSpPr txBox="1"/>
          <p:nvPr/>
        </p:nvSpPr>
        <p:spPr>
          <a:xfrm>
            <a:off x="5504688" y="1234440"/>
            <a:ext cx="301752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Keep it accurate</a:t>
            </a:r>
            <a:endParaRPr lang="en-US" sz="1600" dirty="0"/>
          </a:p>
        </p:txBody>
      </p:sp>
      <p:pic>
        <p:nvPicPr>
          <p:cNvPr id="19" name="Keep it accurate point 1 check" descr="preencoded.png">    </p:cNvPr>
          <p:cNvPicPr>
            <a:picLocks noChangeAspect="1"/>
          </p:cNvPicPr>
          <p:nvPr/>
        </p:nvPicPr>
        <p:blipFill>
          <a:blip r:embed="rId7"/>
          <a:stretch>
            <a:fillRect/>
          </a:stretch>
        </p:blipFill>
        <p:spPr>
          <a:xfrm>
            <a:off x="4910328" y="1975104"/>
            <a:ext cx="201168" cy="201168"/>
          </a:xfrm>
          <a:prstGeom prst="rect">
            <a:avLst/>
          </a:prstGeom>
        </p:spPr>
      </p:pic>
      <p:sp>
        <p:nvSpPr>
          <p:cNvPr id="20" name="Keep it accurate point 1"/>
          <p:cNvSpPr txBox="1"/>
          <p:nvPr/>
        </p:nvSpPr>
        <p:spPr>
          <a:xfrm>
            <a:off x="5230368" y="1965960"/>
            <a:ext cx="3291840" cy="566928"/>
          </a:xfrm>
          <a:prstGeom prst="rect">
            <a:avLst/>
          </a:prstGeom>
          <a:noFill/>
          <a:ln/>
        </p:spPr>
        <p:txBody>
          <a:bodyPr wrap="square" lIns="0" tIns="0" rIns="0" bIns="0" rtlCol="0" anchor="t"/>
          <a:lstStyle/>
          <a:p>
            <a:pPr indent="0" marL="0">
              <a:buNone/>
            </a:pPr>
            <a:r>
              <a:rPr lang="en-US" sz="1150" dirty="0">
                <a:solidFill>
                  <a:schemeClr val="tx2"/>
                </a:solidFill>
              </a:rPr>
              <a:t>Save census after each household, not at the end of the day.</a:t>
            </a:r>
            <a:endParaRPr lang="en-US" sz="1150" dirty="0"/>
          </a:p>
        </p:txBody>
      </p:sp>
      <p:pic>
        <p:nvPicPr>
          <p:cNvPr id="21" name="Keep it accurate point 2 check" descr="preencoded.png">    </p:cNvPr>
          <p:cNvPicPr>
            <a:picLocks noChangeAspect="1"/>
          </p:cNvPicPr>
          <p:nvPr/>
        </p:nvPicPr>
        <p:blipFill>
          <a:blip r:embed="rId8"/>
          <a:stretch>
            <a:fillRect/>
          </a:stretch>
        </p:blipFill>
        <p:spPr>
          <a:xfrm>
            <a:off x="4910328" y="2633472"/>
            <a:ext cx="201168" cy="201168"/>
          </a:xfrm>
          <a:prstGeom prst="rect">
            <a:avLst/>
          </a:prstGeom>
        </p:spPr>
      </p:pic>
      <p:sp>
        <p:nvSpPr>
          <p:cNvPr id="22" name="Keep it accurate point 2"/>
          <p:cNvSpPr txBox="1"/>
          <p:nvPr/>
        </p:nvSpPr>
        <p:spPr>
          <a:xfrm>
            <a:off x="5230368" y="2624328"/>
            <a:ext cx="3291840" cy="566928"/>
          </a:xfrm>
          <a:prstGeom prst="rect">
            <a:avLst/>
          </a:prstGeom>
          <a:noFill/>
          <a:ln/>
        </p:spPr>
        <p:txBody>
          <a:bodyPr wrap="square" lIns="0" tIns="0" rIns="0" bIns="0" rtlCol="0" anchor="t"/>
          <a:lstStyle/>
          <a:p>
            <a:pPr indent="0" marL="0">
              <a:buNone/>
            </a:pPr>
            <a:r>
              <a:rPr lang="en-US" sz="1150" dirty="0">
                <a:solidFill>
                  <a:schemeClr val="tx2"/>
                </a:solidFill>
              </a:rPr>
              <a:t>Write a note for every member marked Moved away or Deceased.</a:t>
            </a:r>
            <a:endParaRPr lang="en-US" sz="1150" dirty="0"/>
          </a:p>
        </p:txBody>
      </p:sp>
      <p:pic>
        <p:nvPicPr>
          <p:cNvPr id="23" name="Keep it accurate point 3 check" descr="preencoded.png">    </p:cNvPr>
          <p:cNvPicPr>
            <a:picLocks noChangeAspect="1"/>
          </p:cNvPicPr>
          <p:nvPr/>
        </p:nvPicPr>
        <p:blipFill>
          <a:blip r:embed="rId9"/>
          <a:stretch>
            <a:fillRect/>
          </a:stretch>
        </p:blipFill>
        <p:spPr>
          <a:xfrm>
            <a:off x="4910328" y="3291840"/>
            <a:ext cx="201168" cy="201168"/>
          </a:xfrm>
          <a:prstGeom prst="rect">
            <a:avLst/>
          </a:prstGeom>
        </p:spPr>
      </p:pic>
      <p:sp>
        <p:nvSpPr>
          <p:cNvPr id="24" name="Keep it accurate point 3"/>
          <p:cNvSpPr txBox="1"/>
          <p:nvPr/>
        </p:nvSpPr>
        <p:spPr>
          <a:xfrm>
            <a:off x="5230368" y="3282696"/>
            <a:ext cx="3291840" cy="566928"/>
          </a:xfrm>
          <a:prstGeom prst="rect">
            <a:avLst/>
          </a:prstGeom>
          <a:noFill/>
          <a:ln/>
        </p:spPr>
        <p:txBody>
          <a:bodyPr wrap="square" lIns="0" tIns="0" rIns="0" bIns="0" rtlCol="0" anchor="t"/>
          <a:lstStyle/>
          <a:p>
            <a:pPr indent="0" marL="0">
              <a:buNone/>
            </a:pPr>
            <a:r>
              <a:rPr lang="en-US" sz="1150" dirty="0">
                <a:solidFill>
                  <a:schemeClr val="tx2"/>
                </a:solidFill>
              </a:rPr>
              <a:t>Check Duplicates before adding a member who may already be listed.</a:t>
            </a:r>
            <a:endParaRPr lang="en-US" sz="1150" dirty="0"/>
          </a:p>
        </p:txBody>
      </p:sp>
      <p:pic>
        <p:nvPicPr>
          <p:cNvPr id="25" name="Keep it accurate point 4 check" descr="preencoded.png">    </p:cNvPr>
          <p:cNvPicPr>
            <a:picLocks noChangeAspect="1"/>
          </p:cNvPicPr>
          <p:nvPr/>
        </p:nvPicPr>
        <p:blipFill>
          <a:blip r:embed="rId10"/>
          <a:stretch>
            <a:fillRect/>
          </a:stretch>
        </p:blipFill>
        <p:spPr>
          <a:xfrm>
            <a:off x="4910328" y="3950208"/>
            <a:ext cx="201168" cy="201168"/>
          </a:xfrm>
          <a:prstGeom prst="rect">
            <a:avLst/>
          </a:prstGeom>
        </p:spPr>
      </p:pic>
      <p:sp>
        <p:nvSpPr>
          <p:cNvPr id="26" name="Keep it accurate point 4"/>
          <p:cNvSpPr txBox="1"/>
          <p:nvPr/>
        </p:nvSpPr>
        <p:spPr>
          <a:xfrm>
            <a:off x="5230368" y="3941064"/>
            <a:ext cx="3291840" cy="566928"/>
          </a:xfrm>
          <a:prstGeom prst="rect">
            <a:avLst/>
          </a:prstGeom>
          <a:noFill/>
          <a:ln/>
        </p:spPr>
        <p:txBody>
          <a:bodyPr wrap="square" lIns="0" tIns="0" rIns="0" bIns="0" rtlCol="0" anchor="t"/>
          <a:lstStyle/>
          <a:p>
            <a:pPr indent="0" marL="0">
              <a:buNone/>
            </a:pPr>
            <a:r>
              <a:rPr lang="en-US" sz="1150" dirty="0">
                <a:solidFill>
                  <a:schemeClr val="tx2"/>
                </a:solidFill>
              </a:rPr>
              <a:t>Every change is logged under your name.</a:t>
            </a:r>
            <a:endParaRPr lang="en-US" sz="115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Common questions</a:t>
            </a:r>
            <a:endParaRPr lang="en-US" sz="2600" dirty="0"/>
          </a:p>
        </p:txBody>
      </p:sp>
      <p:sp>
        <p:nvSpPr>
          <p:cNvPr id="3" name="FAQ 1 card"/>
          <p:cNvSpPr/>
          <p:nvPr/>
        </p:nvSpPr>
        <p:spPr>
          <a:xfrm>
            <a:off x="457200" y="1051560"/>
            <a:ext cx="4023360" cy="1097280"/>
          </a:xfrm>
          <a:prstGeom prst="roundRect">
            <a:avLst>
              <a:gd name="adj" fmla="val 6667"/>
            </a:avLst>
          </a:prstGeom>
          <a:solidFill>
            <a:schemeClr val="bg2"/>
          </a:solidFill>
          <a:ln/>
        </p:spPr>
      </p:sp>
      <p:sp>
        <p:nvSpPr>
          <p:cNvPr id="4" name="FAQ 1 circle"/>
          <p:cNvSpPr/>
          <p:nvPr/>
        </p:nvSpPr>
        <p:spPr>
          <a:xfrm>
            <a:off x="612648" y="1207008"/>
            <a:ext cx="365760" cy="365760"/>
          </a:xfrm>
          <a:prstGeom prst="ellipse">
            <a:avLst/>
          </a:prstGeom>
          <a:solidFill>
            <a:schemeClr val="accent2"/>
          </a:solidFill>
          <a:ln/>
        </p:spPr>
      </p:sp>
      <p:pic>
        <p:nvPicPr>
          <p:cNvPr id="5" name="FAQ 1 icon" descr="FAQ 1">    </p:cNvPr>
          <p:cNvPicPr>
            <a:picLocks noChangeAspect="1"/>
          </p:cNvPicPr>
          <p:nvPr/>
        </p:nvPicPr>
        <p:blipFill>
          <a:blip r:embed="rId1"/>
          <a:stretch>
            <a:fillRect/>
          </a:stretch>
        </p:blipFill>
        <p:spPr>
          <a:xfrm>
            <a:off x="700430" y="1294790"/>
            <a:ext cx="190195" cy="190195"/>
          </a:xfrm>
          <a:prstGeom prst="rect">
            <a:avLst/>
          </a:prstGeom>
        </p:spPr>
      </p:pic>
      <p:sp>
        <p:nvSpPr>
          <p:cNvPr id="6" name="FAQ 1 question"/>
          <p:cNvSpPr txBox="1"/>
          <p:nvPr/>
        </p:nvSpPr>
        <p:spPr>
          <a:xfrm>
            <a:off x="1097280" y="1207008"/>
            <a:ext cx="3246120" cy="365760"/>
          </a:xfrm>
          <a:prstGeom prst="rect">
            <a:avLst/>
          </a:prstGeom>
          <a:noFill/>
          <a:ln/>
        </p:spPr>
        <p:txBody>
          <a:bodyPr wrap="square" lIns="0" tIns="0" rIns="0" bIns="0" rtlCol="0" anchor="ctr"/>
          <a:lstStyle/>
          <a:p>
            <a:pPr indent="0" marL="0">
              <a:buNone/>
            </a:pPr>
            <a:r>
              <a:rPr lang="en-US" sz="1250" b="1" dirty="0">
                <a:solidFill>
                  <a:schemeClr val="tx1"/>
                </a:solidFill>
              </a:rPr>
              <a:t>I forgot my password.</a:t>
            </a:r>
            <a:endParaRPr lang="en-US" sz="1250" dirty="0"/>
          </a:p>
        </p:txBody>
      </p:sp>
      <p:sp>
        <p:nvSpPr>
          <p:cNvPr id="7" name="FAQ 1 answer"/>
          <p:cNvSpPr txBox="1"/>
          <p:nvPr/>
        </p:nvSpPr>
        <p:spPr>
          <a:xfrm>
            <a:off x="1097280" y="1600200"/>
            <a:ext cx="3246120" cy="502920"/>
          </a:xfrm>
          <a:prstGeom prst="rect">
            <a:avLst/>
          </a:prstGeom>
          <a:noFill/>
          <a:ln/>
        </p:spPr>
        <p:txBody>
          <a:bodyPr wrap="square" lIns="0" tIns="0" rIns="0" bIns="0" rtlCol="0" anchor="t"/>
          <a:lstStyle/>
          <a:p>
            <a:pPr indent="0" marL="0">
              <a:buNone/>
            </a:pPr>
            <a:r>
              <a:rPr lang="en-US" sz="1050" dirty="0">
                <a:solidFill>
                  <a:schemeClr val="tx2"/>
                </a:solidFill>
              </a:rPr>
              <a:t>Click “Forgot password?” on the staff sign-in page. A reset link is emailed to you.</a:t>
            </a:r>
            <a:endParaRPr lang="en-US" sz="1050" dirty="0"/>
          </a:p>
        </p:txBody>
      </p:sp>
      <p:sp>
        <p:nvSpPr>
          <p:cNvPr id="8" name="FAQ 2 card"/>
          <p:cNvSpPr/>
          <p:nvPr/>
        </p:nvSpPr>
        <p:spPr>
          <a:xfrm>
            <a:off x="4663440" y="1051560"/>
            <a:ext cx="4023360" cy="1097280"/>
          </a:xfrm>
          <a:prstGeom prst="roundRect">
            <a:avLst>
              <a:gd name="adj" fmla="val 6667"/>
            </a:avLst>
          </a:prstGeom>
          <a:solidFill>
            <a:schemeClr val="bg2"/>
          </a:solidFill>
          <a:ln/>
        </p:spPr>
      </p:sp>
      <p:sp>
        <p:nvSpPr>
          <p:cNvPr id="9" name="FAQ 2 circle"/>
          <p:cNvSpPr/>
          <p:nvPr/>
        </p:nvSpPr>
        <p:spPr>
          <a:xfrm>
            <a:off x="4818888" y="1207008"/>
            <a:ext cx="365760" cy="365760"/>
          </a:xfrm>
          <a:prstGeom prst="ellipse">
            <a:avLst/>
          </a:prstGeom>
          <a:solidFill>
            <a:schemeClr val="accent2"/>
          </a:solidFill>
          <a:ln/>
        </p:spPr>
      </p:sp>
      <p:pic>
        <p:nvPicPr>
          <p:cNvPr id="10" name="FAQ 2 icon" descr="FAQ 2">    </p:cNvPr>
          <p:cNvPicPr>
            <a:picLocks noChangeAspect="1"/>
          </p:cNvPicPr>
          <p:nvPr/>
        </p:nvPicPr>
        <p:blipFill>
          <a:blip r:embed="rId2"/>
          <a:stretch>
            <a:fillRect/>
          </a:stretch>
        </p:blipFill>
        <p:spPr>
          <a:xfrm>
            <a:off x="4906670" y="1294790"/>
            <a:ext cx="190195" cy="190195"/>
          </a:xfrm>
          <a:prstGeom prst="rect">
            <a:avLst/>
          </a:prstGeom>
        </p:spPr>
      </p:pic>
      <p:sp>
        <p:nvSpPr>
          <p:cNvPr id="11" name="FAQ 2 question"/>
          <p:cNvSpPr txBox="1"/>
          <p:nvPr/>
        </p:nvSpPr>
        <p:spPr>
          <a:xfrm>
            <a:off x="5303520" y="1207008"/>
            <a:ext cx="3246120" cy="365760"/>
          </a:xfrm>
          <a:prstGeom prst="rect">
            <a:avLst/>
          </a:prstGeom>
          <a:noFill/>
          <a:ln/>
        </p:spPr>
        <p:txBody>
          <a:bodyPr wrap="square" lIns="0" tIns="0" rIns="0" bIns="0" rtlCol="0" anchor="ctr"/>
          <a:lstStyle/>
          <a:p>
            <a:pPr indent="0" marL="0">
              <a:buNone/>
            </a:pPr>
            <a:r>
              <a:rPr lang="en-US" sz="1250" b="1" dirty="0">
                <a:solidFill>
                  <a:schemeClr val="tx1"/>
                </a:solidFill>
              </a:rPr>
              <a:t>A family lost its code.</a:t>
            </a:r>
            <a:endParaRPr lang="en-US" sz="1250" dirty="0"/>
          </a:p>
        </p:txBody>
      </p:sp>
      <p:sp>
        <p:nvSpPr>
          <p:cNvPr id="12" name="FAQ 2 answer"/>
          <p:cNvSpPr txBox="1"/>
          <p:nvPr/>
        </p:nvSpPr>
        <p:spPr>
          <a:xfrm>
            <a:off x="5303520" y="1600200"/>
            <a:ext cx="3246120" cy="502920"/>
          </a:xfrm>
          <a:prstGeom prst="rect">
            <a:avLst/>
          </a:prstGeom>
          <a:noFill/>
          <a:ln/>
        </p:spPr>
        <p:txBody>
          <a:bodyPr wrap="square" lIns="0" tIns="0" rIns="0" bIns="0" rtlCol="0" anchor="t"/>
          <a:lstStyle/>
          <a:p>
            <a:pPr indent="0" marL="0">
              <a:buNone/>
            </a:pPr>
            <a:r>
              <a:rPr lang="en-US" sz="1050" dirty="0">
                <a:solidFill>
                  <a:schemeClr val="tx2"/>
                </a:solidFill>
              </a:rPr>
              <a:t>Households → row menu → Get codes, or New code in Record census. The old code stops working.</a:t>
            </a:r>
            <a:endParaRPr lang="en-US" sz="1050" dirty="0"/>
          </a:p>
        </p:txBody>
      </p:sp>
      <p:sp>
        <p:nvSpPr>
          <p:cNvPr id="13" name="FAQ 3 card"/>
          <p:cNvSpPr/>
          <p:nvPr/>
        </p:nvSpPr>
        <p:spPr>
          <a:xfrm>
            <a:off x="457200" y="2286000"/>
            <a:ext cx="4023360" cy="1097280"/>
          </a:xfrm>
          <a:prstGeom prst="roundRect">
            <a:avLst>
              <a:gd name="adj" fmla="val 6667"/>
            </a:avLst>
          </a:prstGeom>
          <a:solidFill>
            <a:schemeClr val="bg2"/>
          </a:solidFill>
          <a:ln/>
        </p:spPr>
      </p:sp>
      <p:sp>
        <p:nvSpPr>
          <p:cNvPr id="14" name="FAQ 3 circle"/>
          <p:cNvSpPr/>
          <p:nvPr/>
        </p:nvSpPr>
        <p:spPr>
          <a:xfrm>
            <a:off x="612648" y="2441448"/>
            <a:ext cx="365760" cy="365760"/>
          </a:xfrm>
          <a:prstGeom prst="ellipse">
            <a:avLst/>
          </a:prstGeom>
          <a:solidFill>
            <a:schemeClr val="accent2"/>
          </a:solidFill>
          <a:ln/>
        </p:spPr>
      </p:sp>
      <p:pic>
        <p:nvPicPr>
          <p:cNvPr id="15" name="FAQ 3 icon" descr="FAQ 3">    </p:cNvPr>
          <p:cNvPicPr>
            <a:picLocks noChangeAspect="1"/>
          </p:cNvPicPr>
          <p:nvPr/>
        </p:nvPicPr>
        <p:blipFill>
          <a:blip r:embed="rId3"/>
          <a:stretch>
            <a:fillRect/>
          </a:stretch>
        </p:blipFill>
        <p:spPr>
          <a:xfrm>
            <a:off x="700430" y="2529230"/>
            <a:ext cx="190195" cy="190195"/>
          </a:xfrm>
          <a:prstGeom prst="rect">
            <a:avLst/>
          </a:prstGeom>
        </p:spPr>
      </p:pic>
      <p:sp>
        <p:nvSpPr>
          <p:cNvPr id="16" name="FAQ 3 question"/>
          <p:cNvSpPr txBox="1"/>
          <p:nvPr/>
        </p:nvSpPr>
        <p:spPr>
          <a:xfrm>
            <a:off x="1097280" y="2441448"/>
            <a:ext cx="3246120" cy="365760"/>
          </a:xfrm>
          <a:prstGeom prst="rect">
            <a:avLst/>
          </a:prstGeom>
          <a:noFill/>
          <a:ln/>
        </p:spPr>
        <p:txBody>
          <a:bodyPr wrap="square" lIns="0" tIns="0" rIns="0" bIns="0" rtlCol="0" anchor="ctr"/>
          <a:lstStyle/>
          <a:p>
            <a:pPr indent="0" marL="0">
              <a:buNone/>
            </a:pPr>
            <a:r>
              <a:rPr lang="en-US" sz="1250" b="1" dirty="0">
                <a:solidFill>
                  <a:schemeClr val="tx1"/>
                </a:solidFill>
              </a:rPr>
              <a:t>A family can’t sign in.</a:t>
            </a:r>
            <a:endParaRPr lang="en-US" sz="1250" dirty="0"/>
          </a:p>
        </p:txBody>
      </p:sp>
      <p:sp>
        <p:nvSpPr>
          <p:cNvPr id="17" name="FAQ 3 answer"/>
          <p:cNvSpPr txBox="1"/>
          <p:nvPr/>
        </p:nvSpPr>
        <p:spPr>
          <a:xfrm>
            <a:off x="1097280" y="2834640"/>
            <a:ext cx="3246120" cy="502920"/>
          </a:xfrm>
          <a:prstGeom prst="rect">
            <a:avLst/>
          </a:prstGeom>
          <a:noFill/>
          <a:ln/>
        </p:spPr>
        <p:txBody>
          <a:bodyPr wrap="square" lIns="0" tIns="0" rIns="0" bIns="0" rtlCol="0" anchor="t"/>
          <a:lstStyle/>
          <a:p>
            <a:pPr indent="0" marL="0">
              <a:buNone/>
            </a:pPr>
            <a:r>
              <a:rPr lang="en-US" sz="1050" dirty="0">
                <a:solidFill>
                  <a:schemeClr val="tx2"/>
                </a:solidFill>
              </a:rPr>
              <a:t>Five wrong codes lock that household for 15 minutes. Wait, then try again.</a:t>
            </a:r>
            <a:endParaRPr lang="en-US" sz="1050" dirty="0"/>
          </a:p>
        </p:txBody>
      </p:sp>
      <p:sp>
        <p:nvSpPr>
          <p:cNvPr id="18" name="FAQ 4 card"/>
          <p:cNvSpPr/>
          <p:nvPr/>
        </p:nvSpPr>
        <p:spPr>
          <a:xfrm>
            <a:off x="4663440" y="2286000"/>
            <a:ext cx="4023360" cy="1097280"/>
          </a:xfrm>
          <a:prstGeom prst="roundRect">
            <a:avLst>
              <a:gd name="adj" fmla="val 6667"/>
            </a:avLst>
          </a:prstGeom>
          <a:solidFill>
            <a:schemeClr val="bg2"/>
          </a:solidFill>
          <a:ln/>
        </p:spPr>
      </p:sp>
      <p:sp>
        <p:nvSpPr>
          <p:cNvPr id="19" name="FAQ 4 circle"/>
          <p:cNvSpPr/>
          <p:nvPr/>
        </p:nvSpPr>
        <p:spPr>
          <a:xfrm>
            <a:off x="4818888" y="2441448"/>
            <a:ext cx="365760" cy="365760"/>
          </a:xfrm>
          <a:prstGeom prst="ellipse">
            <a:avLst/>
          </a:prstGeom>
          <a:solidFill>
            <a:schemeClr val="accent2"/>
          </a:solidFill>
          <a:ln/>
        </p:spPr>
      </p:sp>
      <p:pic>
        <p:nvPicPr>
          <p:cNvPr id="20" name="FAQ 4 icon" descr="FAQ 4">    </p:cNvPr>
          <p:cNvPicPr>
            <a:picLocks noChangeAspect="1"/>
          </p:cNvPicPr>
          <p:nvPr/>
        </p:nvPicPr>
        <p:blipFill>
          <a:blip r:embed="rId4"/>
          <a:stretch>
            <a:fillRect/>
          </a:stretch>
        </p:blipFill>
        <p:spPr>
          <a:xfrm>
            <a:off x="4906670" y="2529230"/>
            <a:ext cx="190195" cy="190195"/>
          </a:xfrm>
          <a:prstGeom prst="rect">
            <a:avLst/>
          </a:prstGeom>
        </p:spPr>
      </p:pic>
      <p:sp>
        <p:nvSpPr>
          <p:cNvPr id="21" name="FAQ 4 question"/>
          <p:cNvSpPr txBox="1"/>
          <p:nvPr/>
        </p:nvSpPr>
        <p:spPr>
          <a:xfrm>
            <a:off x="5303520" y="2441448"/>
            <a:ext cx="3246120" cy="365760"/>
          </a:xfrm>
          <a:prstGeom prst="rect">
            <a:avLst/>
          </a:prstGeom>
          <a:noFill/>
          <a:ln/>
        </p:spPr>
        <p:txBody>
          <a:bodyPr wrap="square" lIns="0" tIns="0" rIns="0" bIns="0" rtlCol="0" anchor="ctr"/>
          <a:lstStyle/>
          <a:p>
            <a:pPr indent="0" marL="0">
              <a:buNone/>
            </a:pPr>
            <a:r>
              <a:rPr lang="en-US" sz="1250" b="1" dirty="0">
                <a:solidFill>
                  <a:schemeClr val="tx1"/>
                </a:solidFill>
              </a:rPr>
              <a:t>The household belongs to another GKK.</a:t>
            </a:r>
            <a:endParaRPr lang="en-US" sz="1250" dirty="0"/>
          </a:p>
        </p:txBody>
      </p:sp>
      <p:sp>
        <p:nvSpPr>
          <p:cNvPr id="22" name="FAQ 4 answer"/>
          <p:cNvSpPr txBox="1"/>
          <p:nvPr/>
        </p:nvSpPr>
        <p:spPr>
          <a:xfrm>
            <a:off x="5303520" y="2834640"/>
            <a:ext cx="3246120" cy="502920"/>
          </a:xfrm>
          <a:prstGeom prst="rect">
            <a:avLst/>
          </a:prstGeom>
          <a:noFill/>
          <a:ln/>
        </p:spPr>
        <p:txBody>
          <a:bodyPr wrap="square" lIns="0" tIns="0" rIns="0" bIns="0" rtlCol="0" anchor="t"/>
          <a:lstStyle/>
          <a:p>
            <a:pPr indent="0" marL="0">
              <a:buNone/>
            </a:pPr>
            <a:r>
              <a:rPr lang="en-US" sz="1050" dirty="0">
                <a:solidFill>
                  <a:schemeClr val="tx2"/>
                </a:solidFill>
              </a:rPr>
              <a:t>You can only update your own GKK’s households. Ask the parish office to move it.</a:t>
            </a:r>
            <a:endParaRPr lang="en-US" sz="1050" dirty="0"/>
          </a:p>
        </p:txBody>
      </p:sp>
      <p:sp>
        <p:nvSpPr>
          <p:cNvPr id="23" name="FAQ 5 card"/>
          <p:cNvSpPr/>
          <p:nvPr/>
        </p:nvSpPr>
        <p:spPr>
          <a:xfrm>
            <a:off x="457200" y="3520440"/>
            <a:ext cx="4023360" cy="1097280"/>
          </a:xfrm>
          <a:prstGeom prst="roundRect">
            <a:avLst>
              <a:gd name="adj" fmla="val 6667"/>
            </a:avLst>
          </a:prstGeom>
          <a:solidFill>
            <a:schemeClr val="bg2"/>
          </a:solidFill>
          <a:ln/>
        </p:spPr>
      </p:sp>
      <p:sp>
        <p:nvSpPr>
          <p:cNvPr id="24" name="FAQ 5 circle"/>
          <p:cNvSpPr/>
          <p:nvPr/>
        </p:nvSpPr>
        <p:spPr>
          <a:xfrm>
            <a:off x="612648" y="3675888"/>
            <a:ext cx="365760" cy="365760"/>
          </a:xfrm>
          <a:prstGeom prst="ellipse">
            <a:avLst/>
          </a:prstGeom>
          <a:solidFill>
            <a:schemeClr val="accent2"/>
          </a:solidFill>
          <a:ln/>
        </p:spPr>
      </p:sp>
      <p:pic>
        <p:nvPicPr>
          <p:cNvPr id="25" name="FAQ 5 icon" descr="FAQ 5">    </p:cNvPr>
          <p:cNvPicPr>
            <a:picLocks noChangeAspect="1"/>
          </p:cNvPicPr>
          <p:nvPr/>
        </p:nvPicPr>
        <p:blipFill>
          <a:blip r:embed="rId5"/>
          <a:stretch>
            <a:fillRect/>
          </a:stretch>
        </p:blipFill>
        <p:spPr>
          <a:xfrm>
            <a:off x="700430" y="3763670"/>
            <a:ext cx="190195" cy="190195"/>
          </a:xfrm>
          <a:prstGeom prst="rect">
            <a:avLst/>
          </a:prstGeom>
        </p:spPr>
      </p:pic>
      <p:sp>
        <p:nvSpPr>
          <p:cNvPr id="26" name="FAQ 5 question"/>
          <p:cNvSpPr txBox="1"/>
          <p:nvPr/>
        </p:nvSpPr>
        <p:spPr>
          <a:xfrm>
            <a:off x="1097280" y="3675888"/>
            <a:ext cx="3246120" cy="365760"/>
          </a:xfrm>
          <a:prstGeom prst="rect">
            <a:avLst/>
          </a:prstGeom>
          <a:noFill/>
          <a:ln/>
        </p:spPr>
        <p:txBody>
          <a:bodyPr wrap="square" lIns="0" tIns="0" rIns="0" bIns="0" rtlCol="0" anchor="ctr"/>
          <a:lstStyle/>
          <a:p>
            <a:pPr indent="0" marL="0">
              <a:buNone/>
            </a:pPr>
            <a:r>
              <a:rPr lang="en-US" sz="1250" b="1" dirty="0">
                <a:solidFill>
                  <a:schemeClr val="tx1"/>
                </a:solidFill>
              </a:rPr>
              <a:t>It says the census is closed.</a:t>
            </a:r>
            <a:endParaRPr lang="en-US" sz="1250" dirty="0"/>
          </a:p>
        </p:txBody>
      </p:sp>
      <p:sp>
        <p:nvSpPr>
          <p:cNvPr id="27" name="FAQ 5 answer"/>
          <p:cNvSpPr txBox="1"/>
          <p:nvPr/>
        </p:nvSpPr>
        <p:spPr>
          <a:xfrm>
            <a:off x="1097280" y="4069080"/>
            <a:ext cx="3246120" cy="502920"/>
          </a:xfrm>
          <a:prstGeom prst="rect">
            <a:avLst/>
          </a:prstGeom>
          <a:noFill/>
          <a:ln/>
        </p:spPr>
        <p:txBody>
          <a:bodyPr wrap="square" lIns="0" tIns="0" rIns="0" bIns="0" rtlCol="0" anchor="t"/>
          <a:lstStyle/>
          <a:p>
            <a:pPr indent="0" marL="0">
              <a:buNone/>
            </a:pPr>
            <a:r>
              <a:rPr lang="en-US" sz="1050" dirty="0">
                <a:solidFill>
                  <a:schemeClr val="tx2"/>
                </a:solidFill>
              </a:rPr>
              <a:t>Only the parish office can reopen a census. Contact them if you still have answers to record.</a:t>
            </a:r>
            <a:endParaRPr lang="en-US" sz="1050" dirty="0"/>
          </a:p>
        </p:txBody>
      </p:sp>
      <p:sp>
        <p:nvSpPr>
          <p:cNvPr id="28" name="FAQ 6 card"/>
          <p:cNvSpPr/>
          <p:nvPr/>
        </p:nvSpPr>
        <p:spPr>
          <a:xfrm>
            <a:off x="4663440" y="3520440"/>
            <a:ext cx="4023360" cy="1097280"/>
          </a:xfrm>
          <a:prstGeom prst="roundRect">
            <a:avLst>
              <a:gd name="adj" fmla="val 6667"/>
            </a:avLst>
          </a:prstGeom>
          <a:solidFill>
            <a:schemeClr val="bg2"/>
          </a:solidFill>
          <a:ln/>
        </p:spPr>
      </p:sp>
      <p:sp>
        <p:nvSpPr>
          <p:cNvPr id="29" name="FAQ 6 circle"/>
          <p:cNvSpPr/>
          <p:nvPr/>
        </p:nvSpPr>
        <p:spPr>
          <a:xfrm>
            <a:off x="4818888" y="3675888"/>
            <a:ext cx="365760" cy="365760"/>
          </a:xfrm>
          <a:prstGeom prst="ellipse">
            <a:avLst/>
          </a:prstGeom>
          <a:solidFill>
            <a:schemeClr val="accent2"/>
          </a:solidFill>
          <a:ln/>
        </p:spPr>
      </p:sp>
      <p:pic>
        <p:nvPicPr>
          <p:cNvPr id="30" name="FAQ 6 icon" descr="FAQ 6">    </p:cNvPr>
          <p:cNvPicPr>
            <a:picLocks noChangeAspect="1"/>
          </p:cNvPicPr>
          <p:nvPr/>
        </p:nvPicPr>
        <p:blipFill>
          <a:blip r:embed="rId6"/>
          <a:stretch>
            <a:fillRect/>
          </a:stretch>
        </p:blipFill>
        <p:spPr>
          <a:xfrm>
            <a:off x="4906670" y="3763670"/>
            <a:ext cx="190195" cy="190195"/>
          </a:xfrm>
          <a:prstGeom prst="rect">
            <a:avLst/>
          </a:prstGeom>
        </p:spPr>
      </p:pic>
      <p:sp>
        <p:nvSpPr>
          <p:cNvPr id="31" name="FAQ 6 question"/>
          <p:cNvSpPr txBox="1"/>
          <p:nvPr/>
        </p:nvSpPr>
        <p:spPr>
          <a:xfrm>
            <a:off x="5303520" y="3675888"/>
            <a:ext cx="3246120" cy="365760"/>
          </a:xfrm>
          <a:prstGeom prst="rect">
            <a:avLst/>
          </a:prstGeom>
          <a:noFill/>
          <a:ln/>
        </p:spPr>
        <p:txBody>
          <a:bodyPr wrap="square" lIns="0" tIns="0" rIns="0" bIns="0" rtlCol="0" anchor="ctr"/>
          <a:lstStyle/>
          <a:p>
            <a:pPr indent="0" marL="0">
              <a:buNone/>
            </a:pPr>
            <a:r>
              <a:rPr lang="en-US" sz="1250" b="1" dirty="0">
                <a:solidFill>
                  <a:schemeClr val="tx1"/>
                </a:solidFill>
              </a:rPr>
              <a:t>A new family wants to join.</a:t>
            </a:r>
            <a:endParaRPr lang="en-US" sz="1250" dirty="0"/>
          </a:p>
        </p:txBody>
      </p:sp>
      <p:sp>
        <p:nvSpPr>
          <p:cNvPr id="32" name="FAQ 6 answer"/>
          <p:cNvSpPr txBox="1"/>
          <p:nvPr/>
        </p:nvSpPr>
        <p:spPr>
          <a:xfrm>
            <a:off x="5303520" y="4069080"/>
            <a:ext cx="3246120" cy="502920"/>
          </a:xfrm>
          <a:prstGeom prst="rect">
            <a:avLst/>
          </a:prstGeom>
          <a:noFill/>
          <a:ln/>
        </p:spPr>
        <p:txBody>
          <a:bodyPr wrap="square" lIns="0" tIns="0" rIns="0" bIns="0" rtlCol="0" anchor="t"/>
          <a:lstStyle/>
          <a:p>
            <a:pPr indent="0" marL="0">
              <a:buNone/>
            </a:pPr>
            <a:r>
              <a:rPr lang="en-US" sz="1050" dirty="0">
                <a:solidFill>
                  <a:schemeClr val="tx2"/>
                </a:solidFill>
              </a:rPr>
              <a:t>They register with the 5-step form on the parish website. The office verifies it.</a:t>
            </a:r>
            <a:endParaRPr lang="en-US" sz="105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Your census checklist</a:t>
            </a:r>
            <a:endParaRPr lang="en-US" sz="2800" dirty="0"/>
          </a:p>
        </p:txBody>
      </p:sp>
      <p:sp>
        <p:nvSpPr>
          <p:cNvPr id="3" name="Before column"/>
          <p:cNvSpPr/>
          <p:nvPr/>
        </p:nvSpPr>
        <p:spPr>
          <a:xfrm>
            <a:off x="457200" y="1143000"/>
            <a:ext cx="2615184" cy="3154680"/>
          </a:xfrm>
          <a:prstGeom prst="roundRect">
            <a:avLst>
              <a:gd name="adj" fmla="val 2797"/>
            </a:avLst>
          </a:prstGeom>
          <a:solidFill>
            <a:schemeClr val="bg1">
              <a:alpha val="8000"/>
            </a:schemeClr>
          </a:solidFill>
          <a:ln/>
        </p:spPr>
      </p:sp>
      <p:sp>
        <p:nvSpPr>
          <p:cNvPr id="4" name="Before heading"/>
          <p:cNvSpPr txBox="1"/>
          <p:nvPr/>
        </p:nvSpPr>
        <p:spPr>
          <a:xfrm>
            <a:off x="685800" y="1298448"/>
            <a:ext cx="2194560" cy="365760"/>
          </a:xfrm>
          <a:prstGeom prst="rect">
            <a:avLst/>
          </a:prstGeom>
          <a:noFill/>
          <a:ln/>
        </p:spPr>
        <p:txBody>
          <a:bodyPr wrap="square" lIns="0" tIns="0" rIns="0" bIns="0" rtlCol="0" anchor="t"/>
          <a:lstStyle/>
          <a:p>
            <a:pPr indent="0" marL="0">
              <a:buNone/>
            </a:pPr>
            <a:r>
              <a:rPr lang="en-US" sz="1800" b="1" dirty="0">
                <a:solidFill>
                  <a:schemeClr val="accent6"/>
                </a:solidFill>
                <a:latin typeface="Cambria" pitchFamily="34" charset="0"/>
                <a:ea typeface="Cambria" pitchFamily="34" charset="-122"/>
                <a:cs typeface="Cambria" pitchFamily="34" charset="-120"/>
              </a:rPr>
              <a:t>Before</a:t>
            </a:r>
            <a:endParaRPr lang="en-US" sz="1800" dirty="0"/>
          </a:p>
        </p:txBody>
      </p:sp>
      <p:pic>
        <p:nvPicPr>
          <p:cNvPr id="5" name="Before item 1 check" descr="preencoded.png">    </p:cNvPr>
          <p:cNvPicPr>
            <a:picLocks noChangeAspect="1"/>
          </p:cNvPicPr>
          <p:nvPr/>
        </p:nvPicPr>
        <p:blipFill>
          <a:blip r:embed="rId1"/>
          <a:stretch>
            <a:fillRect/>
          </a:stretch>
        </p:blipFill>
        <p:spPr>
          <a:xfrm>
            <a:off x="685800" y="1837944"/>
            <a:ext cx="201168" cy="201168"/>
          </a:xfrm>
          <a:prstGeom prst="rect">
            <a:avLst/>
          </a:prstGeom>
        </p:spPr>
      </p:pic>
      <p:sp>
        <p:nvSpPr>
          <p:cNvPr id="6" name="Before item 1"/>
          <p:cNvSpPr txBox="1"/>
          <p:nvPr/>
        </p:nvSpPr>
        <p:spPr>
          <a:xfrm>
            <a:off x="1005840" y="1828800"/>
            <a:ext cx="1920240" cy="502920"/>
          </a:xfrm>
          <a:prstGeom prst="rect">
            <a:avLst/>
          </a:prstGeom>
          <a:noFill/>
          <a:ln/>
        </p:spPr>
        <p:txBody>
          <a:bodyPr wrap="square" lIns="0" tIns="0" rIns="0" bIns="0" rtlCol="0" anchor="t"/>
          <a:lstStyle/>
          <a:p>
            <a:pPr indent="0" marL="0">
              <a:buNone/>
            </a:pPr>
            <a:r>
              <a:rPr lang="en-US" sz="1250" dirty="0">
                <a:solidFill>
                  <a:schemeClr val="bg1"/>
                </a:solidFill>
              </a:rPr>
              <a:t>Set your own password</a:t>
            </a:r>
            <a:endParaRPr lang="en-US" sz="1250" dirty="0"/>
          </a:p>
        </p:txBody>
      </p:sp>
      <p:pic>
        <p:nvPicPr>
          <p:cNvPr id="7" name="Before item 2 check" descr="preencoded.png">    </p:cNvPr>
          <p:cNvPicPr>
            <a:picLocks noChangeAspect="1"/>
          </p:cNvPicPr>
          <p:nvPr/>
        </p:nvPicPr>
        <p:blipFill>
          <a:blip r:embed="rId2"/>
          <a:stretch>
            <a:fillRect/>
          </a:stretch>
        </p:blipFill>
        <p:spPr>
          <a:xfrm>
            <a:off x="685800" y="2423160"/>
            <a:ext cx="201168" cy="201168"/>
          </a:xfrm>
          <a:prstGeom prst="rect">
            <a:avLst/>
          </a:prstGeom>
        </p:spPr>
      </p:pic>
      <p:sp>
        <p:nvSpPr>
          <p:cNvPr id="8" name="Before item 2"/>
          <p:cNvSpPr txBox="1"/>
          <p:nvPr/>
        </p:nvSpPr>
        <p:spPr>
          <a:xfrm>
            <a:off x="1005840" y="2414016"/>
            <a:ext cx="1920240" cy="502920"/>
          </a:xfrm>
          <a:prstGeom prst="rect">
            <a:avLst/>
          </a:prstGeom>
          <a:noFill/>
          <a:ln/>
        </p:spPr>
        <p:txBody>
          <a:bodyPr wrap="square" lIns="0" tIns="0" rIns="0" bIns="0" rtlCol="0" anchor="t"/>
          <a:lstStyle/>
          <a:p>
            <a:pPr indent="0" marL="0">
              <a:buNone/>
            </a:pPr>
            <a:r>
              <a:rPr lang="en-US" sz="1250" dirty="0">
                <a:solidFill>
                  <a:schemeClr val="bg1"/>
                </a:solidFill>
              </a:rPr>
              <a:t>Complete My GKK details</a:t>
            </a:r>
            <a:endParaRPr lang="en-US" sz="1250" dirty="0"/>
          </a:p>
        </p:txBody>
      </p:sp>
      <p:pic>
        <p:nvPicPr>
          <p:cNvPr id="9" name="Before item 3 check" descr="preencoded.png">    </p:cNvPr>
          <p:cNvPicPr>
            <a:picLocks noChangeAspect="1"/>
          </p:cNvPicPr>
          <p:nvPr/>
        </p:nvPicPr>
        <p:blipFill>
          <a:blip r:embed="rId3"/>
          <a:stretch>
            <a:fillRect/>
          </a:stretch>
        </p:blipFill>
        <p:spPr>
          <a:xfrm>
            <a:off x="685800" y="3008376"/>
            <a:ext cx="201168" cy="201168"/>
          </a:xfrm>
          <a:prstGeom prst="rect">
            <a:avLst/>
          </a:prstGeom>
        </p:spPr>
      </p:pic>
      <p:sp>
        <p:nvSpPr>
          <p:cNvPr id="10" name="Before item 3"/>
          <p:cNvSpPr txBox="1"/>
          <p:nvPr/>
        </p:nvSpPr>
        <p:spPr>
          <a:xfrm>
            <a:off x="1005840" y="2999232"/>
            <a:ext cx="1920240" cy="502920"/>
          </a:xfrm>
          <a:prstGeom prst="rect">
            <a:avLst/>
          </a:prstGeom>
          <a:noFill/>
          <a:ln/>
        </p:spPr>
        <p:txBody>
          <a:bodyPr wrap="square" lIns="0" tIns="0" rIns="0" bIns="0" rtlCol="0" anchor="t"/>
          <a:lstStyle/>
          <a:p>
            <a:pPr indent="0" marL="0">
              <a:buNone/>
            </a:pPr>
            <a:r>
              <a:rPr lang="en-US" sz="1250" dirty="0">
                <a:solidFill>
                  <a:schemeClr val="bg1"/>
                </a:solidFill>
              </a:rPr>
              <a:t>Name your officers</a:t>
            </a:r>
            <a:endParaRPr lang="en-US" sz="1250" dirty="0"/>
          </a:p>
        </p:txBody>
      </p:sp>
      <p:pic>
        <p:nvPicPr>
          <p:cNvPr id="11" name="Before item 4 check" descr="preencoded.png">    </p:cNvPr>
          <p:cNvPicPr>
            <a:picLocks noChangeAspect="1"/>
          </p:cNvPicPr>
          <p:nvPr/>
        </p:nvPicPr>
        <p:blipFill>
          <a:blip r:embed="rId4"/>
          <a:stretch>
            <a:fillRect/>
          </a:stretch>
        </p:blipFill>
        <p:spPr>
          <a:xfrm>
            <a:off x="685800" y="3593592"/>
            <a:ext cx="201168" cy="201168"/>
          </a:xfrm>
          <a:prstGeom prst="rect">
            <a:avLst/>
          </a:prstGeom>
        </p:spPr>
      </p:pic>
      <p:sp>
        <p:nvSpPr>
          <p:cNvPr id="12" name="Before item 4"/>
          <p:cNvSpPr txBox="1"/>
          <p:nvPr/>
        </p:nvSpPr>
        <p:spPr>
          <a:xfrm>
            <a:off x="1005840" y="3584448"/>
            <a:ext cx="1920240" cy="502920"/>
          </a:xfrm>
          <a:prstGeom prst="rect">
            <a:avLst/>
          </a:prstGeom>
          <a:noFill/>
          <a:ln/>
        </p:spPr>
        <p:txBody>
          <a:bodyPr wrap="square" lIns="0" tIns="0" rIns="0" bIns="0" rtlCol="0" anchor="t"/>
          <a:lstStyle/>
          <a:p>
            <a:pPr indent="0" marL="0">
              <a:buNone/>
            </a:pPr>
            <a:r>
              <a:rPr lang="en-US" sz="1250" dirty="0">
                <a:solidFill>
                  <a:schemeClr val="bg1"/>
                </a:solidFill>
              </a:rPr>
              <a:t>Turn on notifications</a:t>
            </a:r>
            <a:endParaRPr lang="en-US" sz="1250" dirty="0"/>
          </a:p>
        </p:txBody>
      </p:sp>
      <p:sp>
        <p:nvSpPr>
          <p:cNvPr id="13" name="During column"/>
          <p:cNvSpPr/>
          <p:nvPr/>
        </p:nvSpPr>
        <p:spPr>
          <a:xfrm>
            <a:off x="3264408" y="1143000"/>
            <a:ext cx="2615184" cy="3154680"/>
          </a:xfrm>
          <a:prstGeom prst="roundRect">
            <a:avLst>
              <a:gd name="adj" fmla="val 2797"/>
            </a:avLst>
          </a:prstGeom>
          <a:solidFill>
            <a:schemeClr val="bg1">
              <a:alpha val="8000"/>
            </a:schemeClr>
          </a:solidFill>
          <a:ln/>
        </p:spPr>
      </p:sp>
      <p:sp>
        <p:nvSpPr>
          <p:cNvPr id="14" name="During heading"/>
          <p:cNvSpPr txBox="1"/>
          <p:nvPr/>
        </p:nvSpPr>
        <p:spPr>
          <a:xfrm>
            <a:off x="3493008" y="1298448"/>
            <a:ext cx="2194560" cy="365760"/>
          </a:xfrm>
          <a:prstGeom prst="rect">
            <a:avLst/>
          </a:prstGeom>
          <a:noFill/>
          <a:ln/>
        </p:spPr>
        <p:txBody>
          <a:bodyPr wrap="square" lIns="0" tIns="0" rIns="0" bIns="0" rtlCol="0" anchor="t"/>
          <a:lstStyle/>
          <a:p>
            <a:pPr indent="0" marL="0">
              <a:buNone/>
            </a:pPr>
            <a:r>
              <a:rPr lang="en-US" sz="1800" b="1" dirty="0">
                <a:solidFill>
                  <a:schemeClr val="accent6"/>
                </a:solidFill>
                <a:latin typeface="Cambria" pitchFamily="34" charset="0"/>
                <a:ea typeface="Cambria" pitchFamily="34" charset="-122"/>
                <a:cs typeface="Cambria" pitchFamily="34" charset="-120"/>
              </a:rPr>
              <a:t>During</a:t>
            </a:r>
            <a:endParaRPr lang="en-US" sz="1800" dirty="0"/>
          </a:p>
        </p:txBody>
      </p:sp>
      <p:pic>
        <p:nvPicPr>
          <p:cNvPr id="15" name="During item 1 check" descr="preencoded.png">    </p:cNvPr>
          <p:cNvPicPr>
            <a:picLocks noChangeAspect="1"/>
          </p:cNvPicPr>
          <p:nvPr/>
        </p:nvPicPr>
        <p:blipFill>
          <a:blip r:embed="rId5"/>
          <a:stretch>
            <a:fillRect/>
          </a:stretch>
        </p:blipFill>
        <p:spPr>
          <a:xfrm>
            <a:off x="3493008" y="1837944"/>
            <a:ext cx="201168" cy="201168"/>
          </a:xfrm>
          <a:prstGeom prst="rect">
            <a:avLst/>
          </a:prstGeom>
        </p:spPr>
      </p:pic>
      <p:sp>
        <p:nvSpPr>
          <p:cNvPr id="16" name="During item 1"/>
          <p:cNvSpPr txBox="1"/>
          <p:nvPr/>
        </p:nvSpPr>
        <p:spPr>
          <a:xfrm>
            <a:off x="3813048" y="1828800"/>
            <a:ext cx="1920240" cy="502920"/>
          </a:xfrm>
          <a:prstGeom prst="rect">
            <a:avLst/>
          </a:prstGeom>
          <a:noFill/>
          <a:ln/>
        </p:spPr>
        <p:txBody>
          <a:bodyPr wrap="square" lIns="0" tIns="0" rIns="0" bIns="0" rtlCol="0" anchor="t"/>
          <a:lstStyle/>
          <a:p>
            <a:pPr indent="0" marL="0">
              <a:buNone/>
            </a:pPr>
            <a:r>
              <a:rPr lang="en-US" sz="1250" dirty="0">
                <a:solidFill>
                  <a:schemeClr val="bg1"/>
                </a:solidFill>
              </a:rPr>
              <a:t>Print forms for your GKK</a:t>
            </a:r>
            <a:endParaRPr lang="en-US" sz="1250" dirty="0"/>
          </a:p>
        </p:txBody>
      </p:sp>
      <p:pic>
        <p:nvPicPr>
          <p:cNvPr id="17" name="During item 2 check" descr="preencoded.png">    </p:cNvPr>
          <p:cNvPicPr>
            <a:picLocks noChangeAspect="1"/>
          </p:cNvPicPr>
          <p:nvPr/>
        </p:nvPicPr>
        <p:blipFill>
          <a:blip r:embed="rId6"/>
          <a:stretch>
            <a:fillRect/>
          </a:stretch>
        </p:blipFill>
        <p:spPr>
          <a:xfrm>
            <a:off x="3493008" y="2423160"/>
            <a:ext cx="201168" cy="201168"/>
          </a:xfrm>
          <a:prstGeom prst="rect">
            <a:avLst/>
          </a:prstGeom>
        </p:spPr>
      </p:pic>
      <p:sp>
        <p:nvSpPr>
          <p:cNvPr id="18" name="During item 2"/>
          <p:cNvSpPr txBox="1"/>
          <p:nvPr/>
        </p:nvSpPr>
        <p:spPr>
          <a:xfrm>
            <a:off x="3813048" y="2414016"/>
            <a:ext cx="1920240" cy="502920"/>
          </a:xfrm>
          <a:prstGeom prst="rect">
            <a:avLst/>
          </a:prstGeom>
          <a:noFill/>
          <a:ln/>
        </p:spPr>
        <p:txBody>
          <a:bodyPr wrap="square" lIns="0" tIns="0" rIns="0" bIns="0" rtlCol="0" anchor="t"/>
          <a:lstStyle/>
          <a:p>
            <a:pPr indent="0" marL="0">
              <a:buNone/>
            </a:pPr>
            <a:r>
              <a:rPr lang="en-US" sz="1250" dirty="0">
                <a:solidFill>
                  <a:schemeClr val="bg1"/>
                </a:solidFill>
              </a:rPr>
              <a:t>Record census for each form</a:t>
            </a:r>
            <a:endParaRPr lang="en-US" sz="1250" dirty="0"/>
          </a:p>
        </p:txBody>
      </p:sp>
      <p:pic>
        <p:nvPicPr>
          <p:cNvPr id="19" name="During item 3 check" descr="preencoded.png">    </p:cNvPr>
          <p:cNvPicPr>
            <a:picLocks noChangeAspect="1"/>
          </p:cNvPicPr>
          <p:nvPr/>
        </p:nvPicPr>
        <p:blipFill>
          <a:blip r:embed="rId7"/>
          <a:stretch>
            <a:fillRect/>
          </a:stretch>
        </p:blipFill>
        <p:spPr>
          <a:xfrm>
            <a:off x="3493008" y="3008376"/>
            <a:ext cx="201168" cy="201168"/>
          </a:xfrm>
          <a:prstGeom prst="rect">
            <a:avLst/>
          </a:prstGeom>
        </p:spPr>
      </p:pic>
      <p:sp>
        <p:nvSpPr>
          <p:cNvPr id="20" name="During item 3"/>
          <p:cNvSpPr txBox="1"/>
          <p:nvPr/>
        </p:nvSpPr>
        <p:spPr>
          <a:xfrm>
            <a:off x="3813048" y="2999232"/>
            <a:ext cx="1920240" cy="502920"/>
          </a:xfrm>
          <a:prstGeom prst="rect">
            <a:avLst/>
          </a:prstGeom>
          <a:noFill/>
          <a:ln/>
        </p:spPr>
        <p:txBody>
          <a:bodyPr wrap="square" lIns="0" tIns="0" rIns="0" bIns="0" rtlCol="0" anchor="t"/>
          <a:lstStyle/>
          <a:p>
            <a:pPr indent="0" marL="0">
              <a:buNone/>
            </a:pPr>
            <a:r>
              <a:rPr lang="en-US" sz="1250" dirty="0">
                <a:solidFill>
                  <a:schemeClr val="bg1"/>
                </a:solidFill>
              </a:rPr>
              <a:t>Review online updates daily</a:t>
            </a:r>
            <a:endParaRPr lang="en-US" sz="1250" dirty="0"/>
          </a:p>
        </p:txBody>
      </p:sp>
      <p:pic>
        <p:nvPicPr>
          <p:cNvPr id="21" name="During item 4 check" descr="preencoded.png">    </p:cNvPr>
          <p:cNvPicPr>
            <a:picLocks noChangeAspect="1"/>
          </p:cNvPicPr>
          <p:nvPr/>
        </p:nvPicPr>
        <p:blipFill>
          <a:blip r:embed="rId8"/>
          <a:stretch>
            <a:fillRect/>
          </a:stretch>
        </p:blipFill>
        <p:spPr>
          <a:xfrm>
            <a:off x="3493008" y="3593592"/>
            <a:ext cx="201168" cy="201168"/>
          </a:xfrm>
          <a:prstGeom prst="rect">
            <a:avLst/>
          </a:prstGeom>
        </p:spPr>
      </p:pic>
      <p:sp>
        <p:nvSpPr>
          <p:cNvPr id="22" name="During item 4"/>
          <p:cNvSpPr txBox="1"/>
          <p:nvPr/>
        </p:nvSpPr>
        <p:spPr>
          <a:xfrm>
            <a:off x="3813048" y="3584448"/>
            <a:ext cx="1920240" cy="502920"/>
          </a:xfrm>
          <a:prstGeom prst="rect">
            <a:avLst/>
          </a:prstGeom>
          <a:noFill/>
          <a:ln/>
        </p:spPr>
        <p:txBody>
          <a:bodyPr wrap="square" lIns="0" tIns="0" rIns="0" bIns="0" rtlCol="0" anchor="t"/>
          <a:lstStyle/>
          <a:p>
            <a:pPr indent="0" marL="0">
              <a:buNone/>
            </a:pPr>
            <a:r>
              <a:rPr lang="en-US" sz="1250" dirty="0">
                <a:solidFill>
                  <a:schemeClr val="bg1"/>
                </a:solidFill>
              </a:rPr>
              <a:t>Visit families not yet reached</a:t>
            </a:r>
            <a:endParaRPr lang="en-US" sz="1250" dirty="0"/>
          </a:p>
        </p:txBody>
      </p:sp>
      <p:sp>
        <p:nvSpPr>
          <p:cNvPr id="23" name="After column"/>
          <p:cNvSpPr/>
          <p:nvPr/>
        </p:nvSpPr>
        <p:spPr>
          <a:xfrm>
            <a:off x="6071616" y="1143000"/>
            <a:ext cx="2615184" cy="3154680"/>
          </a:xfrm>
          <a:prstGeom prst="roundRect">
            <a:avLst>
              <a:gd name="adj" fmla="val 2797"/>
            </a:avLst>
          </a:prstGeom>
          <a:solidFill>
            <a:schemeClr val="bg1">
              <a:alpha val="8000"/>
            </a:schemeClr>
          </a:solidFill>
          <a:ln/>
        </p:spPr>
      </p:sp>
      <p:sp>
        <p:nvSpPr>
          <p:cNvPr id="24" name="After heading"/>
          <p:cNvSpPr txBox="1"/>
          <p:nvPr/>
        </p:nvSpPr>
        <p:spPr>
          <a:xfrm>
            <a:off x="6300216" y="1298448"/>
            <a:ext cx="2194560" cy="365760"/>
          </a:xfrm>
          <a:prstGeom prst="rect">
            <a:avLst/>
          </a:prstGeom>
          <a:noFill/>
          <a:ln/>
        </p:spPr>
        <p:txBody>
          <a:bodyPr wrap="square" lIns="0" tIns="0" rIns="0" bIns="0" rtlCol="0" anchor="t"/>
          <a:lstStyle/>
          <a:p>
            <a:pPr indent="0" marL="0">
              <a:buNone/>
            </a:pPr>
            <a:r>
              <a:rPr lang="en-US" sz="1800" b="1" dirty="0">
                <a:solidFill>
                  <a:schemeClr val="accent6"/>
                </a:solidFill>
                <a:latin typeface="Cambria" pitchFamily="34" charset="0"/>
                <a:ea typeface="Cambria" pitchFamily="34" charset="-122"/>
                <a:cs typeface="Cambria" pitchFamily="34" charset="-120"/>
              </a:rPr>
              <a:t>After</a:t>
            </a:r>
            <a:endParaRPr lang="en-US" sz="1800" dirty="0"/>
          </a:p>
        </p:txBody>
      </p:sp>
      <p:pic>
        <p:nvPicPr>
          <p:cNvPr id="25" name="After item 1 check" descr="preencoded.png">    </p:cNvPr>
          <p:cNvPicPr>
            <a:picLocks noChangeAspect="1"/>
          </p:cNvPicPr>
          <p:nvPr/>
        </p:nvPicPr>
        <p:blipFill>
          <a:blip r:embed="rId9"/>
          <a:stretch>
            <a:fillRect/>
          </a:stretch>
        </p:blipFill>
        <p:spPr>
          <a:xfrm>
            <a:off x="6300216" y="1837944"/>
            <a:ext cx="201168" cy="201168"/>
          </a:xfrm>
          <a:prstGeom prst="rect">
            <a:avLst/>
          </a:prstGeom>
        </p:spPr>
      </p:pic>
      <p:sp>
        <p:nvSpPr>
          <p:cNvPr id="26" name="After item 1"/>
          <p:cNvSpPr txBox="1"/>
          <p:nvPr/>
        </p:nvSpPr>
        <p:spPr>
          <a:xfrm>
            <a:off x="6620256" y="1828800"/>
            <a:ext cx="1920240" cy="502920"/>
          </a:xfrm>
          <a:prstGeom prst="rect">
            <a:avLst/>
          </a:prstGeom>
          <a:noFill/>
          <a:ln/>
        </p:spPr>
        <p:txBody>
          <a:bodyPr wrap="square" lIns="0" tIns="0" rIns="0" bIns="0" rtlCol="0" anchor="t"/>
          <a:lstStyle/>
          <a:p>
            <a:pPr indent="0" marL="0">
              <a:buNone/>
            </a:pPr>
            <a:r>
              <a:rPr lang="en-US" sz="1250" dirty="0">
                <a:solidFill>
                  <a:schemeClr val="bg1"/>
                </a:solidFill>
              </a:rPr>
              <a:t>Check Results by GKK</a:t>
            </a:r>
            <a:endParaRPr lang="en-US" sz="1250" dirty="0"/>
          </a:p>
        </p:txBody>
      </p:sp>
      <p:pic>
        <p:nvPicPr>
          <p:cNvPr id="27" name="After item 2 check" descr="preencoded.png">    </p:cNvPr>
          <p:cNvPicPr>
            <a:picLocks noChangeAspect="1"/>
          </p:cNvPicPr>
          <p:nvPr/>
        </p:nvPicPr>
        <p:blipFill>
          <a:blip r:embed="rId10"/>
          <a:stretch>
            <a:fillRect/>
          </a:stretch>
        </p:blipFill>
        <p:spPr>
          <a:xfrm>
            <a:off x="6300216" y="2423160"/>
            <a:ext cx="201168" cy="201168"/>
          </a:xfrm>
          <a:prstGeom prst="rect">
            <a:avLst/>
          </a:prstGeom>
        </p:spPr>
      </p:pic>
      <p:sp>
        <p:nvSpPr>
          <p:cNvPr id="28" name="After item 2"/>
          <p:cNvSpPr txBox="1"/>
          <p:nvPr/>
        </p:nvSpPr>
        <p:spPr>
          <a:xfrm>
            <a:off x="6620256" y="2414016"/>
            <a:ext cx="1920240" cy="502920"/>
          </a:xfrm>
          <a:prstGeom prst="rect">
            <a:avLst/>
          </a:prstGeom>
          <a:noFill/>
          <a:ln/>
        </p:spPr>
        <p:txBody>
          <a:bodyPr wrap="square" lIns="0" tIns="0" rIns="0" bIns="0" rtlCol="0" anchor="t"/>
          <a:lstStyle/>
          <a:p>
            <a:pPr indent="0" marL="0">
              <a:buNone/>
            </a:pPr>
            <a:r>
              <a:rPr lang="en-US" sz="1250" dirty="0">
                <a:solidFill>
                  <a:schemeClr val="bg1"/>
                </a:solidFill>
              </a:rPr>
              <a:t>Follow up members not confirmed</a:t>
            </a:r>
            <a:endParaRPr lang="en-US" sz="1250" dirty="0"/>
          </a:p>
        </p:txBody>
      </p:sp>
      <p:pic>
        <p:nvPicPr>
          <p:cNvPr id="29" name="After item 3 check" descr="preencoded.png">    </p:cNvPr>
          <p:cNvPicPr>
            <a:picLocks noChangeAspect="1"/>
          </p:cNvPicPr>
          <p:nvPr/>
        </p:nvPicPr>
        <p:blipFill>
          <a:blip r:embed="rId11"/>
          <a:stretch>
            <a:fillRect/>
          </a:stretch>
        </p:blipFill>
        <p:spPr>
          <a:xfrm>
            <a:off x="6300216" y="3008376"/>
            <a:ext cx="201168" cy="201168"/>
          </a:xfrm>
          <a:prstGeom prst="rect">
            <a:avLst/>
          </a:prstGeom>
        </p:spPr>
      </p:pic>
      <p:sp>
        <p:nvSpPr>
          <p:cNvPr id="30" name="After item 3"/>
          <p:cNvSpPr txBox="1"/>
          <p:nvPr/>
        </p:nvSpPr>
        <p:spPr>
          <a:xfrm>
            <a:off x="6620256" y="2999232"/>
            <a:ext cx="1920240" cy="502920"/>
          </a:xfrm>
          <a:prstGeom prst="rect">
            <a:avLst/>
          </a:prstGeom>
          <a:noFill/>
          <a:ln/>
        </p:spPr>
        <p:txBody>
          <a:bodyPr wrap="square" lIns="0" tIns="0" rIns="0" bIns="0" rtlCol="0" anchor="t"/>
          <a:lstStyle/>
          <a:p>
            <a:pPr indent="0" marL="0">
              <a:buNone/>
            </a:pPr>
            <a:r>
              <a:rPr lang="en-US" sz="1250" dirty="0">
                <a:solidFill>
                  <a:schemeClr val="bg1"/>
                </a:solidFill>
              </a:rPr>
              <a:t>Keep printed forms safe</a:t>
            </a:r>
            <a:endParaRPr lang="en-US" sz="1250" dirty="0"/>
          </a:p>
        </p:txBody>
      </p:sp>
      <p:sp>
        <p:nvSpPr>
          <p:cNvPr id="31" name="Contact line"/>
          <p:cNvSpPr txBox="1"/>
          <p:nvPr/>
        </p:nvSpPr>
        <p:spPr>
          <a:xfrm>
            <a:off x="457200" y="4434840"/>
            <a:ext cx="6858000" cy="274320"/>
          </a:xfrm>
          <a:prstGeom prst="rect">
            <a:avLst/>
          </a:prstGeom>
          <a:noFill/>
          <a:ln/>
        </p:spPr>
        <p:txBody>
          <a:bodyPr wrap="square" lIns="0" tIns="0" rIns="0" bIns="0" rtlCol="0" anchor="t"/>
          <a:lstStyle/>
          <a:p>
            <a:pPr indent="0" marL="0">
              <a:buNone/>
            </a:pPr>
            <a:r>
              <a:rPr lang="en-US" sz="1200" i="1" dirty="0">
                <a:solidFill>
                  <a:schemeClr val="accent6"/>
                </a:solidFill>
              </a:rPr>
              <a:t>Questions? Contact the parish office.</a:t>
            </a:r>
            <a:endParaRPr lang="en-US" sz="1200" dirty="0"/>
          </a:p>
        </p:txBody>
      </p:sp>
      <p:sp>
        <p:nvSpPr>
          <p:cNvPr id="25" name="Slide Number Placeholder 0"/>
          <p:cNvSpPr>
            <a:spLocks noGrp="1"/>
          </p:cNvSpPr>
          <p:nvPr>
            <p:ph type="sldNum" sz="quarter" idx="4294967295"/>
          </p:nvPr>
        </p:nvSpPr>
        <p:spPr>
          <a:xfrm>
            <a:off x="8138160" y="481888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Parish Registry Gold and Navy">
  <a:themeElements>
    <a:clrScheme name="Parish Registry Gold and Navy">
      <a:dk1>
        <a:srgbClr val="1A2B4A"/>
      </a:dk1>
      <a:lt1>
        <a:srgbClr val="FFFFFF"/>
      </a:lt1>
      <a:dk2>
        <a:srgbClr val="4A5568"/>
      </a:dk2>
      <a:lt2>
        <a:srgbClr val="F3F5FA"/>
      </a:lt2>
      <a:accent1>
        <a:srgbClr val="34589C"/>
      </a:accent1>
      <a:accent2>
        <a:srgbClr val="C39B4E"/>
      </a:accent2>
      <a:accent3>
        <a:srgbClr val="3A8A5E"/>
      </a:accent3>
      <a:accent4>
        <a:srgbClr val="8A6D2A"/>
      </a:accent4>
      <a:accent5>
        <a:srgbClr val="B0563A"/>
      </a:accent5>
      <a:accent6>
        <a:srgbClr val="E4C06A"/>
      </a:accent6>
      <a:hlink>
        <a:srgbClr val="34589C"/>
      </a:hlink>
      <a:folHlink>
        <a:srgbClr val="26436F"/>
      </a:folHlink>
    </a:clrScheme>
    <a:fontScheme name="Parish Registry Gold and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Our Lady of Guadalupe Quasi-Parish, Mua-an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Census Training for GKK Leaders</dc:title>
  <dc:subject>PptxGenJS Presentation</dc:subject>
  <dc:creator>Parish Members Registry</dc:creator>
  <cp:lastModifiedBy>Parish Members Registry</cp:lastModifiedBy>
  <cp:revision>1</cp:revision>
  <dcterms:created xsi:type="dcterms:W3CDTF">2026-10-07T06:03:33Z</dcterms:created>
  <dcterms:modified xsi:type="dcterms:W3CDTF">2026-10-07T06:03:33Z</dcterms:modified>
</cp:coreProperties>
</file>