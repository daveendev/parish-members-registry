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550A142-D429-C6D6-51E8-B770F56BF1A9}">
          <p14:sldIdLst>
            <p14:sldId id="256"/>
          </p14:sldIdLst>
        </p14:section>
        <p14:section name="Why" id="{90F021C2-13CE-1F66-B5B8-DF11E0FC9182}">
          <p14:sldIdLst>
            <p14:sldId id="257"/>
          </p14:sldIdLst>
        </p14:section>
        <p14:section name="What it is" id="{BD3F3D45-20DA-9B7E-6279-34569AD0EEEC}">
          <p14:sldIdLst>
            <p14:sldId id="258"/>
          </p14:sldIdLst>
        </p14:section>
        <p14:section name="Who it serves" id="{814DC3E3-3845-B119-B436-CE9B4CAAF180}">
          <p14:sldIdLst>
            <p14:sldId id="259"/>
            <p14:sldId id="260"/>
            <p14:sldId id="261"/>
            <p14:sldId id="262"/>
          </p14:sldIdLst>
        </p14:section>
        <p14:section name="How the census runs" id="{DDAC20AB-3E2D-0417-1832-5F96371253AD}">
          <p14:sldIdLst>
            <p14:sldId id="263"/>
          </p14:sldIdLst>
        </p14:section>
        <p14:section name="Trust and cost" id="{F6A1312F-8FC8-B663-801C-07B67264E9CC}">
          <p14:sldIdLst>
            <p14:sldId id="264"/>
            <p14:sldId id="265"/>
          </p14:sldIdLst>
        </p14:section>
        <p14:section name="Next steps" id="{9DE92B71-6668-7D1D-BCC3-AB917960EA11}">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2" d="100"/>
          <a:sy n="112" d="100"/>
        </p:scale>
        <p:origin x="51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25867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evening, Father and members of the council.
Tonight I want to show you a tool that is already built for our parish: one registry of every family and member, together with a parish website.
The goal is simple and pastoral: to know every family in our parish, so that we can care for every family. In the next fifteen minutes I'll show what it does for families, for the office, for our GKK leaders and for this council, what it costs (nothing), and at the end I'll ask the council for four decisions.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start with how things work today.
Our census is done on paper and has to be retyped. Family information lives in notebooks and spreadsheets kept by different people. When Father asks a simple pastoral question, like how many young people in a GKK still need Confirmation, someone has to count by hand. And families have to come to the office for every registration or certificate.
On the right is the same work with the registry. Nothing about our pastoral work changes; we simply stop doing the paperwork twice.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idea on one slide. There is one registry in the middle, and four groups of people use it, each seeing only what they need.
Families use it from their phones. The parish office uses it to check and keep the records. GKK leaders see their own GKK. And Father and this council get the numbers they need to plan.
On top of that, the same system runs the parish website, so the Mass schedule, announcements and the bulletin are always in one place that the office can update without a web designer.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families, everything works on a phone and in Bisaya.
A family registers from home in five short steps and gets a reference number straight away. During the census they don't fill in a new sheet: they open the parish website, type the reference number and the code printed on their census form, and confirm or correct what we have.
They can also ask for certificates, the Anointing of the Sick, OCIA, or send a prayer request, each with its own reference number. Families without a phone can still do all of this at the office.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parish office, the change is from paper piles to one list of what is waiting.
New registrations wait until staff verify them. If a family registers twice, or two records look like the same person, the system flags it. Every certificate or sacrament request moves from Received to Released, so nothing gets forgotten, and staff get a notification on their phone when something new comes in.
And if someone deletes a record by mistake, it can be restored for 30 days. There is also a log of who changed what.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GKK leaders are the people who actually know the families, so the census is built around them.
Each leader signs in and sees only their own GKK. They have last year's list to tick off as families register, so it's obvious who hasn't been reached yet. They help families update online first, and print the pre-filled paper forms only for families who can't do it by phone.
They can also keep their GKK's page on the parish website up to date: the chapel, photos, history and officers.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Father and for this council, the registry turns into answers.
How many families does each GKK really have? Who still needs Baptism, First Communion or Confirmation, so catechists know whom to invite? Which couples could still have a church wedding? And after each census, how did each GKK change compared with the last one?
These come out as ready-made reports that can be printed or exported to a spreadsheet for the diocese. The numbers on screen are sample data from the demo site, not our parish.</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a census runs from start to finish.
The office opens the census and sets the dates. Families update online with the code on their form, with help from their GKK leader. Paper is only the last resort, for families who can't go online, and the forms come out of the printer already filled in with what we know.
Staff approve each update, and at the end we get results for every GKK, compared with the census before. Each member gets a clear status: active, inactive, moved away, deceased, or left the Church. And nothing in the registry changes until staff approve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know the first question many of you will have is about privacy, so let me be clear.
Every staff member has their own login, and each login only sees what that role needs. A GKK leader sees only their own GKK, and that rule is enforced by the database itself, not just hidden on the screen. Nothing private ever appears on the public website.
Every change is logged with who made it. There is an encrypted backup every week. And everything is set up under the parish's own Gmail account, so the parish, not any volunteer, owns the system and the data.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cost. It runs on the free plans of three well-known services, and for a parish our size that costs nothing per month.
Free does come with honest limits. The free database goes to sleep after a week without use, so an automatic check every three days keeps it awake. There is no paid support line, which is one reason we keep our own weekly backups. And if we ever outgrow the free plans, the paid ones are about 25 and 20 US dollars a month, but we are nowhere near that today.
The only optional cost is our own web address, guadalupemuaan.org: about 1,800 pesos for two years. That proposal is already with the Finance Council.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a plan for the future. Everything I've shown you is built, tested, and running today.
Here are two codes you can scan with your phone right now. The first is our own live site. The second is a demo site full of sample families, where you can try anything without touching real records, including the staff side: add slash admin to the address and press "Login to Demo Site".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 is what I'm asking the council for tonight. Four decisions.
One: endorse the registry as the parish's official record of families and our census tool.
Two: ask every GKK leader to lead the online census in their GKK. We already have a short training ready for them.
Three: name two trusted people as data stewards, who hold the parish logins together with the office and look after privacy, so the system never depends on one person.
Four: announce it at every Mass and in the bulletin, and make sure families without a phone can register at the office.
And, optionally, support the domain proposal when it comes to the Finance Council.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737360"/>
            <a:ext cx="5486400" cy="1554480"/>
          </a:xfrm>
          <a:prstGeom prst="rect">
            <a:avLst/>
          </a:prstGeom>
          <a:noFill/>
          <a:ln/>
        </p:spPr>
        <p:txBody>
          <a:bodyPr wrap="square" rtlCol="0"/>
          <a:lstStyle>
            <a:lvl1pPr marL="0" indent="0" algn="l">
              <a:buNone/>
              <a:defRPr lang="en-US" sz="4000" b="1" dirty="0">
                <a:solidFill>
                  <a:schemeClr val="bg1"/>
                </a:solidFill>
                <a:latin typeface="+mj-lt" pitchFamily="34" charset="0"/>
                <a:ea typeface="+mj-lt" pitchFamily="34" charset="-122"/>
                <a:cs typeface="+mj-lt" pitchFamily="34" charset="-120"/>
              </a:defRPr>
            </a:lvl1pPr>
          </a:lstStyle>
          <a:p>
            <a:pPr marL="0" indent="0" algn="l">
              <a:buNone/>
            </a:pPr>
            <a:endParaRPr lang="en-US" sz="4000" dirty="0"/>
          </a:p>
        </p:txBody>
      </p:sp>
      <p:sp>
        <p:nvSpPr>
          <p:cNvPr id="3" name="Text 0"/>
          <p:cNvSpPr>
            <a:spLocks noGrp="1"/>
          </p:cNvSpPr>
          <p:nvPr>
            <p:ph type="body" idx="101" hasCustomPrompt="1"/>
          </p:nvPr>
        </p:nvSpPr>
        <p:spPr>
          <a:xfrm>
            <a:off x="548640" y="3429000"/>
            <a:ext cx="5486400" cy="1280160"/>
          </a:xfrm>
          <a:prstGeom prst="rect">
            <a:avLst/>
          </a:prstGeom>
          <a:noFill/>
          <a:ln/>
        </p:spPr>
        <p:txBody>
          <a:bodyPr wrap="square" rtlCol="0"/>
          <a:lstStyle>
            <a:lvl1pPr marL="0" indent="0" algn="l">
              <a:buNone/>
              <a:defRPr lang="en-US" sz="1800" dirty="0">
                <a:solidFill>
                  <a:schemeClr val="bg2"/>
                </a:solidFill>
              </a:defRPr>
            </a:lvl1pPr>
          </a:lstStyle>
          <a:p>
            <a:pPr marL="0" indent="0" algn="l">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chemeClr val="accent5"/>
                </a:solidFill>
              </a:rPr>
              <a:t>Our Lady of Guadalupe Quasi-Parish, Mua-an  ·  Parish Members Registry</a:t>
            </a:r>
            <a:endParaRPr lang="en-US" sz="1000" dirty="0"/>
          </a:p>
        </p:txBody>
      </p:sp>
      <p:sp>
        <p:nvSpPr>
          <p:cNvPr id="3" name="Text 1"/>
          <p:cNvSpPr>
            <a:spLocks noGrp="1"/>
          </p:cNvSpPr>
          <p:nvPr>
            <p:ph type="title" idx="101" hasCustomPrompt="1"/>
          </p:nvPr>
        </p:nvSpPr>
        <p:spPr>
          <a:xfrm>
            <a:off x="548640" y="384048"/>
            <a:ext cx="11091672" cy="822960"/>
          </a:xfrm>
          <a:prstGeom prst="rect">
            <a:avLst/>
          </a:prstGeom>
          <a:noFill/>
          <a:ln/>
        </p:spPr>
        <p:txBody>
          <a:bodyPr wrap="square" rtlCol="0"/>
          <a:lstStyle>
            <a:lvl1pPr marL="0" indent="0" algn="l">
              <a:buNone/>
              <a:defRPr lang="en-US" sz="3200" b="1" dirty="0">
                <a:solidFill>
                  <a:schemeClr val="tx2"/>
                </a:solidFill>
                <a:latin typeface="+mj-lt" pitchFamily="34" charset="0"/>
                <a:ea typeface="+mj-lt" pitchFamily="34" charset="-122"/>
                <a:cs typeface="+mj-lt" pitchFamily="34" charset="-120"/>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1672" cy="822960"/>
          </a:xfrm>
          <a:prstGeom prst="rect">
            <a:avLst/>
          </a:prstGeom>
          <a:noFill/>
          <a:ln/>
        </p:spPr>
        <p:txBody>
          <a:bodyPr wrap="square" rtlCol="0"/>
          <a:lstStyle>
            <a:lvl1pPr marL="0" indent="0" algn="l">
              <a:buNone/>
              <a:defRPr lang="en-US" sz="3200" b="1" dirty="0">
                <a:solidFill>
                  <a:schemeClr val="bg1"/>
                </a:solidFill>
                <a:latin typeface="+mj-lt" pitchFamily="34" charset="0"/>
                <a:ea typeface="+mj-lt" pitchFamily="34" charset="-122"/>
                <a:cs typeface="+mj-lt" pitchFamily="34" charset="-120"/>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19.png"/><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28.png"/><Relationship Id="rId7"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25.png"/><Relationship Id="rId5" Type="http://schemas.openxmlformats.org/officeDocument/2006/relationships/image" Target="../media/image34.png"/><Relationship Id="rId4" Type="http://schemas.openxmlformats.org/officeDocument/2006/relationships/image" Target="../media/image33.png"/></Relationships>
</file>

<file path=ppt/slides/_rels/slide1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37.png"/><Relationship Id="rId4" Type="http://schemas.openxmlformats.org/officeDocument/2006/relationships/image" Target="../media/image3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29241" y="219841"/>
            <a:ext cx="5486400" cy="320040"/>
          </a:xfrm>
          <a:prstGeom prst="rect">
            <a:avLst/>
          </a:prstGeom>
          <a:noFill/>
          <a:ln/>
        </p:spPr>
        <p:txBody>
          <a:bodyPr wrap="square" lIns="0" tIns="0" rIns="0" bIns="0" rtlCol="0" anchor="t"/>
          <a:lstStyle/>
          <a:p>
            <a:pPr marL="0" indent="0">
              <a:buNone/>
            </a:pPr>
            <a:r>
              <a:rPr lang="en-US" sz="1300" b="1" kern="0" spc="200" dirty="0">
                <a:solidFill>
                  <a:schemeClr val="accent2"/>
                </a:solidFill>
              </a:rPr>
              <a:t>Parish Members Registry &amp; Census Presentation</a:t>
            </a:r>
            <a:endParaRPr lang="en-US" sz="1300" dirty="0"/>
          </a:p>
        </p:txBody>
      </p:sp>
      <p:pic>
        <p:nvPicPr>
          <p:cNvPr id="5" name="Parish photo"/>
          <p:cNvPicPr>
            <a:picLocks noChangeAspect="1"/>
          </p:cNvPicPr>
          <p:nvPr/>
        </p:nvPicPr>
        <p:blipFill>
          <a:blip r:embed="rId3"/>
          <a:srcRect/>
          <a:stretch/>
        </p:blipFill>
        <p:spPr>
          <a:xfrm>
            <a:off x="729241" y="539881"/>
            <a:ext cx="10593936" cy="624911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91672" cy="822960"/>
          </a:xfrm>
          <a:prstGeom prst="rect">
            <a:avLst/>
          </a:prstGeom>
          <a:noFill/>
          <a:ln/>
        </p:spPr>
        <p:txBody>
          <a:bodyPr wrap="square" lIns="0" tIns="0" rIns="0" bIns="0" rtlCol="0" anchor="ctr"/>
          <a:lstStyle/>
          <a:p>
            <a:pPr marL="0" indent="0" algn="l">
              <a:buNone/>
            </a:pPr>
            <a:r>
              <a:rPr lang="en-US" sz="3200" b="1" dirty="0">
                <a:solidFill>
                  <a:schemeClr val="tx2"/>
                </a:solidFill>
                <a:latin typeface="+mj-lt" pitchFamily="34" charset="0"/>
                <a:ea typeface="+mj-lt" pitchFamily="34" charset="-122"/>
                <a:cs typeface="+mj-lt" pitchFamily="34" charset="-120"/>
              </a:rPr>
              <a:t>Today, knowing our parish takes paper, time and retyping</a:t>
            </a:r>
            <a:endParaRPr lang="en-US" sz="3200" dirty="0"/>
          </a:p>
        </p:txBody>
      </p:sp>
      <p:sp>
        <p:nvSpPr>
          <p:cNvPr id="3" name="Today card"/>
          <p:cNvSpPr/>
          <p:nvPr/>
        </p:nvSpPr>
        <p:spPr>
          <a:xfrm>
            <a:off x="548640" y="1463040"/>
            <a:ext cx="5029200" cy="4572000"/>
          </a:xfrm>
          <a:prstGeom prst="roundRect">
            <a:avLst>
              <a:gd name="adj" fmla="val 2400"/>
            </a:avLst>
          </a:prstGeom>
          <a:solidFill>
            <a:schemeClr val="accent3">
              <a:alpha val="9000"/>
            </a:schemeClr>
          </a:solidFill>
          <a:ln/>
        </p:spPr>
      </p:sp>
      <p:sp>
        <p:nvSpPr>
          <p:cNvPr id="4" name="Registry card"/>
          <p:cNvSpPr/>
          <p:nvPr/>
        </p:nvSpPr>
        <p:spPr>
          <a:xfrm>
            <a:off x="6613855" y="1463040"/>
            <a:ext cx="5029200" cy="4572000"/>
          </a:xfrm>
          <a:prstGeom prst="roundRect">
            <a:avLst>
              <a:gd name="adj" fmla="val 2400"/>
            </a:avLst>
          </a:prstGeom>
          <a:solidFill>
            <a:schemeClr val="accent1">
              <a:alpha val="11000"/>
            </a:schemeClr>
          </a:solidFill>
          <a:ln/>
        </p:spPr>
      </p:sp>
      <p:sp>
        <p:nvSpPr>
          <p:cNvPr id="5" name="Today circle"/>
          <p:cNvSpPr/>
          <p:nvPr/>
        </p:nvSpPr>
        <p:spPr>
          <a:xfrm>
            <a:off x="868680" y="1737360"/>
            <a:ext cx="548640" cy="548640"/>
          </a:xfrm>
          <a:prstGeom prst="ellipse">
            <a:avLst/>
          </a:prstGeom>
          <a:solidFill>
            <a:schemeClr val="accent3"/>
          </a:solidFill>
          <a:ln/>
        </p:spPr>
      </p:sp>
      <p:pic>
        <p:nvPicPr>
          <p:cNvPr id="6" name="Today icon" descr="preencoded.png"/>
          <p:cNvPicPr>
            <a:picLocks noChangeAspect="1"/>
          </p:cNvPicPr>
          <p:nvPr/>
        </p:nvPicPr>
        <p:blipFill>
          <a:blip r:embed="rId3"/>
          <a:stretch>
            <a:fillRect/>
          </a:stretch>
        </p:blipFill>
        <p:spPr>
          <a:xfrm>
            <a:off x="1005840" y="1874520"/>
            <a:ext cx="274320" cy="274320"/>
          </a:xfrm>
          <a:prstGeom prst="rect">
            <a:avLst/>
          </a:prstGeom>
        </p:spPr>
      </p:pic>
      <p:sp>
        <p:nvSpPr>
          <p:cNvPr id="7" name="Registry circle"/>
          <p:cNvSpPr/>
          <p:nvPr/>
        </p:nvSpPr>
        <p:spPr>
          <a:xfrm>
            <a:off x="6933895" y="1737360"/>
            <a:ext cx="548640" cy="548640"/>
          </a:xfrm>
          <a:prstGeom prst="ellipse">
            <a:avLst/>
          </a:prstGeom>
          <a:solidFill>
            <a:schemeClr val="accent1"/>
          </a:solidFill>
          <a:ln/>
        </p:spPr>
      </p:sp>
      <p:pic>
        <p:nvPicPr>
          <p:cNvPr id="8" name="Registry icon" descr="preencoded.png"/>
          <p:cNvPicPr>
            <a:picLocks noChangeAspect="1"/>
          </p:cNvPicPr>
          <p:nvPr/>
        </p:nvPicPr>
        <p:blipFill>
          <a:blip r:embed="rId4"/>
          <a:stretch>
            <a:fillRect/>
          </a:stretch>
        </p:blipFill>
        <p:spPr>
          <a:xfrm>
            <a:off x="7071055" y="1874520"/>
            <a:ext cx="274320" cy="274320"/>
          </a:xfrm>
          <a:prstGeom prst="rect">
            <a:avLst/>
          </a:prstGeom>
        </p:spPr>
      </p:pic>
      <p:sp>
        <p:nvSpPr>
          <p:cNvPr id="9" name="Text 5"/>
          <p:cNvSpPr txBox="1"/>
          <p:nvPr/>
        </p:nvSpPr>
        <p:spPr>
          <a:xfrm>
            <a:off x="1600200" y="1737360"/>
            <a:ext cx="3657600" cy="548640"/>
          </a:xfrm>
          <a:prstGeom prst="rect">
            <a:avLst/>
          </a:prstGeom>
          <a:noFill/>
          <a:ln/>
        </p:spPr>
        <p:txBody>
          <a:bodyPr wrap="square" lIns="0" tIns="0" rIns="0" bIns="0" rtlCol="0" anchor="ctr"/>
          <a:lstStyle/>
          <a:p>
            <a:pPr marL="0" indent="0">
              <a:buNone/>
            </a:pPr>
            <a:r>
              <a:rPr lang="en-US" sz="2200" b="1" dirty="0">
                <a:solidFill>
                  <a:schemeClr val="accent3"/>
                </a:solidFill>
                <a:latin typeface="+mj-lt" pitchFamily="34" charset="0"/>
                <a:ea typeface="+mj-lt" pitchFamily="34" charset="-122"/>
                <a:cs typeface="+mj-lt" pitchFamily="34" charset="-120"/>
              </a:rPr>
              <a:t>Today</a:t>
            </a:r>
            <a:endParaRPr lang="en-US" sz="2200" dirty="0"/>
          </a:p>
        </p:txBody>
      </p:sp>
      <p:sp>
        <p:nvSpPr>
          <p:cNvPr id="10" name="Text 6"/>
          <p:cNvSpPr txBox="1"/>
          <p:nvPr/>
        </p:nvSpPr>
        <p:spPr>
          <a:xfrm>
            <a:off x="7665415" y="1737360"/>
            <a:ext cx="3657600" cy="548640"/>
          </a:xfrm>
          <a:prstGeom prst="rect">
            <a:avLst/>
          </a:prstGeom>
          <a:noFill/>
          <a:ln/>
        </p:spPr>
        <p:txBody>
          <a:bodyPr wrap="square" lIns="0" tIns="0" rIns="0" bIns="0" rtlCol="0" anchor="ctr"/>
          <a:lstStyle/>
          <a:p>
            <a:pPr marL="0" indent="0">
              <a:buNone/>
            </a:pPr>
            <a:r>
              <a:rPr lang="en-US" sz="2200" b="1" dirty="0">
                <a:solidFill>
                  <a:schemeClr val="accent1"/>
                </a:solidFill>
                <a:latin typeface="+mj-lt" pitchFamily="34" charset="0"/>
                <a:ea typeface="+mj-lt" pitchFamily="34" charset="-122"/>
                <a:cs typeface="+mj-lt" pitchFamily="34" charset="-120"/>
              </a:rPr>
              <a:t>With the registry</a:t>
            </a:r>
            <a:endParaRPr lang="en-US" sz="2200" dirty="0"/>
          </a:p>
        </p:txBody>
      </p:sp>
      <p:sp>
        <p:nvSpPr>
          <p:cNvPr id="11" name="Text 7"/>
          <p:cNvSpPr txBox="1"/>
          <p:nvPr/>
        </p:nvSpPr>
        <p:spPr>
          <a:xfrm>
            <a:off x="914400" y="2560320"/>
            <a:ext cx="4297680" cy="685800"/>
          </a:xfrm>
          <a:prstGeom prst="rect">
            <a:avLst/>
          </a:prstGeom>
          <a:noFill/>
          <a:ln/>
        </p:spPr>
        <p:txBody>
          <a:bodyPr wrap="square" lIns="0" tIns="0" rIns="0" bIns="0" rtlCol="0" anchor="ctr"/>
          <a:lstStyle/>
          <a:p>
            <a:pPr marL="0" indent="0">
              <a:buNone/>
            </a:pPr>
            <a:r>
              <a:rPr lang="en-US" sz="1500" dirty="0">
                <a:solidFill>
                  <a:schemeClr val="tx1"/>
                </a:solidFill>
              </a:rPr>
              <a:t>Census sheets are filled in by hand and retyped every year</a:t>
            </a:r>
            <a:endParaRPr lang="en-US" sz="1500" dirty="0"/>
          </a:p>
        </p:txBody>
      </p:sp>
      <p:sp>
        <p:nvSpPr>
          <p:cNvPr id="12" name="Text 8"/>
          <p:cNvSpPr txBox="1"/>
          <p:nvPr/>
        </p:nvSpPr>
        <p:spPr>
          <a:xfrm>
            <a:off x="6979615" y="2560320"/>
            <a:ext cx="4297680" cy="685800"/>
          </a:xfrm>
          <a:prstGeom prst="rect">
            <a:avLst/>
          </a:prstGeom>
          <a:noFill/>
          <a:ln/>
        </p:spPr>
        <p:txBody>
          <a:bodyPr wrap="square" lIns="0" tIns="0" rIns="0" bIns="0" rtlCol="0" anchor="ctr"/>
          <a:lstStyle/>
          <a:p>
            <a:pPr marL="0" indent="0">
              <a:buNone/>
            </a:pPr>
            <a:r>
              <a:rPr lang="en-US" sz="1500" b="1" dirty="0">
                <a:solidFill>
                  <a:schemeClr val="tx2"/>
                </a:solidFill>
              </a:rPr>
              <a:t>Census forms print pre-filled, and families can answer online</a:t>
            </a:r>
            <a:endParaRPr lang="en-US" sz="1500" dirty="0"/>
          </a:p>
        </p:txBody>
      </p:sp>
      <p:pic>
        <p:nvPicPr>
          <p:cNvPr id="13" name="Arrow 1" descr="preencoded.png"/>
          <p:cNvPicPr>
            <a:picLocks noChangeAspect="1"/>
          </p:cNvPicPr>
          <p:nvPr/>
        </p:nvPicPr>
        <p:blipFill>
          <a:blip r:embed="rId5"/>
          <a:stretch>
            <a:fillRect/>
          </a:stretch>
        </p:blipFill>
        <p:spPr>
          <a:xfrm>
            <a:off x="5940400" y="2743200"/>
            <a:ext cx="310896" cy="310896"/>
          </a:xfrm>
          <a:prstGeom prst="rect">
            <a:avLst/>
          </a:prstGeom>
        </p:spPr>
      </p:pic>
      <p:sp>
        <p:nvSpPr>
          <p:cNvPr id="14" name="Text 9"/>
          <p:cNvSpPr txBox="1"/>
          <p:nvPr/>
        </p:nvSpPr>
        <p:spPr>
          <a:xfrm>
            <a:off x="914400" y="3401568"/>
            <a:ext cx="4297680" cy="685800"/>
          </a:xfrm>
          <a:prstGeom prst="rect">
            <a:avLst/>
          </a:prstGeom>
          <a:noFill/>
          <a:ln/>
        </p:spPr>
        <p:txBody>
          <a:bodyPr wrap="square" lIns="0" tIns="0" rIns="0" bIns="0" rtlCol="0" anchor="ctr"/>
          <a:lstStyle/>
          <a:p>
            <a:pPr marL="0" indent="0">
              <a:buNone/>
            </a:pPr>
            <a:r>
              <a:rPr lang="en-US" sz="1500" dirty="0">
                <a:solidFill>
                  <a:schemeClr val="tx1"/>
                </a:solidFill>
              </a:rPr>
              <a:t>Family records sit in notebooks and spreadsheets in different hands</a:t>
            </a:r>
            <a:endParaRPr lang="en-US" sz="1500" dirty="0"/>
          </a:p>
        </p:txBody>
      </p:sp>
      <p:sp>
        <p:nvSpPr>
          <p:cNvPr id="15" name="Text 10"/>
          <p:cNvSpPr txBox="1"/>
          <p:nvPr/>
        </p:nvSpPr>
        <p:spPr>
          <a:xfrm>
            <a:off x="6979615" y="3401568"/>
            <a:ext cx="4297680" cy="685800"/>
          </a:xfrm>
          <a:prstGeom prst="rect">
            <a:avLst/>
          </a:prstGeom>
          <a:noFill/>
          <a:ln/>
        </p:spPr>
        <p:txBody>
          <a:bodyPr wrap="square" lIns="0" tIns="0" rIns="0" bIns="0" rtlCol="0" anchor="ctr"/>
          <a:lstStyle/>
          <a:p>
            <a:pPr marL="0" indent="0">
              <a:buNone/>
            </a:pPr>
            <a:r>
              <a:rPr lang="en-US" sz="1500" b="1" dirty="0">
                <a:solidFill>
                  <a:schemeClr val="tx2"/>
                </a:solidFill>
              </a:rPr>
              <a:t>Every household and member is in one searchable registry</a:t>
            </a:r>
            <a:endParaRPr lang="en-US" sz="1500" dirty="0"/>
          </a:p>
        </p:txBody>
      </p:sp>
      <p:pic>
        <p:nvPicPr>
          <p:cNvPr id="16" name="Arrow 2" descr="preencoded.png"/>
          <p:cNvPicPr>
            <a:picLocks noChangeAspect="1"/>
          </p:cNvPicPr>
          <p:nvPr/>
        </p:nvPicPr>
        <p:blipFill>
          <a:blip r:embed="rId5"/>
          <a:stretch>
            <a:fillRect/>
          </a:stretch>
        </p:blipFill>
        <p:spPr>
          <a:xfrm>
            <a:off x="5940400" y="3584448"/>
            <a:ext cx="310896" cy="310896"/>
          </a:xfrm>
          <a:prstGeom prst="rect">
            <a:avLst/>
          </a:prstGeom>
        </p:spPr>
      </p:pic>
      <p:sp>
        <p:nvSpPr>
          <p:cNvPr id="17" name="Text 11"/>
          <p:cNvSpPr txBox="1"/>
          <p:nvPr/>
        </p:nvSpPr>
        <p:spPr>
          <a:xfrm>
            <a:off x="914400" y="4242816"/>
            <a:ext cx="4297680" cy="685800"/>
          </a:xfrm>
          <a:prstGeom prst="rect">
            <a:avLst/>
          </a:prstGeom>
          <a:noFill/>
          <a:ln/>
        </p:spPr>
        <p:txBody>
          <a:bodyPr wrap="square" lIns="0" tIns="0" rIns="0" bIns="0" rtlCol="0" anchor="ctr"/>
          <a:lstStyle/>
          <a:p>
            <a:pPr marL="0" indent="0">
              <a:buNone/>
            </a:pPr>
            <a:r>
              <a:rPr lang="en-US" sz="1500" dirty="0">
                <a:solidFill>
                  <a:schemeClr val="tx1"/>
                </a:solidFill>
              </a:rPr>
              <a:t>"Who still needs Confirmation?" takes days of counting</a:t>
            </a:r>
            <a:endParaRPr lang="en-US" sz="1500" dirty="0"/>
          </a:p>
        </p:txBody>
      </p:sp>
      <p:sp>
        <p:nvSpPr>
          <p:cNvPr id="18" name="Text 12"/>
          <p:cNvSpPr txBox="1"/>
          <p:nvPr/>
        </p:nvSpPr>
        <p:spPr>
          <a:xfrm>
            <a:off x="6979615" y="4242816"/>
            <a:ext cx="4297680" cy="685800"/>
          </a:xfrm>
          <a:prstGeom prst="rect">
            <a:avLst/>
          </a:prstGeom>
          <a:noFill/>
          <a:ln/>
        </p:spPr>
        <p:txBody>
          <a:bodyPr wrap="square" lIns="0" tIns="0" rIns="0" bIns="0" rtlCol="0" anchor="ctr"/>
          <a:lstStyle/>
          <a:p>
            <a:pPr marL="0" indent="0">
              <a:buNone/>
            </a:pPr>
            <a:r>
              <a:rPr lang="en-US" sz="1500" b="1" dirty="0">
                <a:solidFill>
                  <a:schemeClr val="tx2"/>
                </a:solidFill>
              </a:rPr>
              <a:t>The answer takes seconds, GKK by GKK</a:t>
            </a:r>
            <a:endParaRPr lang="en-US" sz="1500" dirty="0"/>
          </a:p>
        </p:txBody>
      </p:sp>
      <p:pic>
        <p:nvPicPr>
          <p:cNvPr id="19" name="Arrow 3" descr="preencoded.png"/>
          <p:cNvPicPr>
            <a:picLocks noChangeAspect="1"/>
          </p:cNvPicPr>
          <p:nvPr/>
        </p:nvPicPr>
        <p:blipFill>
          <a:blip r:embed="rId5"/>
          <a:stretch>
            <a:fillRect/>
          </a:stretch>
        </p:blipFill>
        <p:spPr>
          <a:xfrm>
            <a:off x="5940400" y="4425696"/>
            <a:ext cx="310896" cy="310896"/>
          </a:xfrm>
          <a:prstGeom prst="rect">
            <a:avLst/>
          </a:prstGeom>
        </p:spPr>
      </p:pic>
      <p:sp>
        <p:nvSpPr>
          <p:cNvPr id="20" name="Text 13"/>
          <p:cNvSpPr txBox="1"/>
          <p:nvPr/>
        </p:nvSpPr>
        <p:spPr>
          <a:xfrm>
            <a:off x="914400" y="5084064"/>
            <a:ext cx="4297680" cy="685800"/>
          </a:xfrm>
          <a:prstGeom prst="rect">
            <a:avLst/>
          </a:prstGeom>
          <a:noFill/>
          <a:ln/>
        </p:spPr>
        <p:txBody>
          <a:bodyPr wrap="square" lIns="0" tIns="0" rIns="0" bIns="0" rtlCol="0" anchor="ctr"/>
          <a:lstStyle/>
          <a:p>
            <a:pPr marL="0" indent="0">
              <a:buNone/>
            </a:pPr>
            <a:r>
              <a:rPr lang="en-US" sz="1500" dirty="0">
                <a:solidFill>
                  <a:schemeClr val="tx1"/>
                </a:solidFill>
              </a:rPr>
              <a:t>Families must come to the office to register or ask for a certificate</a:t>
            </a:r>
            <a:endParaRPr lang="en-US" sz="1500" dirty="0"/>
          </a:p>
        </p:txBody>
      </p:sp>
      <p:sp>
        <p:nvSpPr>
          <p:cNvPr id="21" name="Text 14"/>
          <p:cNvSpPr txBox="1"/>
          <p:nvPr/>
        </p:nvSpPr>
        <p:spPr>
          <a:xfrm>
            <a:off x="6979615" y="5084064"/>
            <a:ext cx="4297680" cy="685800"/>
          </a:xfrm>
          <a:prstGeom prst="rect">
            <a:avLst/>
          </a:prstGeom>
          <a:noFill/>
          <a:ln/>
        </p:spPr>
        <p:txBody>
          <a:bodyPr wrap="square" lIns="0" tIns="0" rIns="0" bIns="0" rtlCol="0" anchor="ctr"/>
          <a:lstStyle/>
          <a:p>
            <a:pPr marL="0" indent="0">
              <a:buNone/>
            </a:pPr>
            <a:r>
              <a:rPr lang="en-US" sz="1500" b="1" dirty="0">
                <a:solidFill>
                  <a:schemeClr val="tx2"/>
                </a:solidFill>
              </a:rPr>
              <a:t>They register and send requests from a phone, with a reference number</a:t>
            </a:r>
            <a:endParaRPr lang="en-US" sz="1500" dirty="0"/>
          </a:p>
        </p:txBody>
      </p:sp>
      <p:pic>
        <p:nvPicPr>
          <p:cNvPr id="22" name="Arrow 4" descr="preencoded.png"/>
          <p:cNvPicPr>
            <a:picLocks noChangeAspect="1"/>
          </p:cNvPicPr>
          <p:nvPr/>
        </p:nvPicPr>
        <p:blipFill>
          <a:blip r:embed="rId5"/>
          <a:stretch>
            <a:fillRect/>
          </a:stretch>
        </p:blipFill>
        <p:spPr>
          <a:xfrm>
            <a:off x="5940400" y="5266944"/>
            <a:ext cx="310896" cy="310896"/>
          </a:xfrm>
          <a:prstGeom prst="rect">
            <a:avLst/>
          </a:prstGeom>
        </p:spPr>
      </p:pic>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91672" cy="822960"/>
          </a:xfrm>
          <a:prstGeom prst="rect">
            <a:avLst/>
          </a:prstGeom>
          <a:noFill/>
          <a:ln/>
        </p:spPr>
        <p:txBody>
          <a:bodyPr wrap="square" lIns="0" tIns="0" rIns="0" bIns="0" rtlCol="0" anchor="ctr"/>
          <a:lstStyle/>
          <a:p>
            <a:pPr marL="0" indent="0" algn="l">
              <a:buNone/>
            </a:pPr>
            <a:r>
              <a:rPr lang="en-US" sz="3200" b="1" dirty="0">
                <a:solidFill>
                  <a:schemeClr val="tx2"/>
                </a:solidFill>
                <a:latin typeface="+mj-lt" pitchFamily="34" charset="0"/>
                <a:ea typeface="+mj-lt" pitchFamily="34" charset="-122"/>
                <a:cs typeface="+mj-lt" pitchFamily="34" charset="-120"/>
              </a:rPr>
              <a:t>One registry serves the whole parish</a:t>
            </a:r>
            <a:endParaRPr lang="en-US" sz="3200" dirty="0"/>
          </a:p>
        </p:txBody>
      </p:sp>
      <p:sp>
        <p:nvSpPr>
          <p:cNvPr id="3" name="Shape 1"/>
          <p:cNvSpPr/>
          <p:nvPr/>
        </p:nvSpPr>
        <p:spPr>
          <a:xfrm>
            <a:off x="4617720" y="2377440"/>
            <a:ext cx="868680" cy="685800"/>
          </a:xfrm>
          <a:prstGeom prst="line">
            <a:avLst/>
          </a:prstGeom>
          <a:noFill/>
          <a:ln w="25400">
            <a:solidFill>
              <a:schemeClr val="accent2"/>
            </a:solidFill>
            <a:prstDash val="dash"/>
          </a:ln>
        </p:spPr>
      </p:sp>
      <p:sp>
        <p:nvSpPr>
          <p:cNvPr id="4" name="Shape 2"/>
          <p:cNvSpPr/>
          <p:nvPr/>
        </p:nvSpPr>
        <p:spPr>
          <a:xfrm flipH="1">
            <a:off x="6705295" y="2377440"/>
            <a:ext cx="868680" cy="685800"/>
          </a:xfrm>
          <a:prstGeom prst="line">
            <a:avLst/>
          </a:prstGeom>
          <a:noFill/>
          <a:ln w="25400">
            <a:solidFill>
              <a:schemeClr val="accent2"/>
            </a:solidFill>
            <a:prstDash val="dash"/>
          </a:ln>
        </p:spPr>
      </p:sp>
      <p:sp>
        <p:nvSpPr>
          <p:cNvPr id="5" name="Shape 3"/>
          <p:cNvSpPr/>
          <p:nvPr/>
        </p:nvSpPr>
        <p:spPr>
          <a:xfrm flipV="1">
            <a:off x="4617720" y="4160520"/>
            <a:ext cx="868680" cy="594360"/>
          </a:xfrm>
          <a:prstGeom prst="line">
            <a:avLst/>
          </a:prstGeom>
          <a:noFill/>
          <a:ln w="25400">
            <a:solidFill>
              <a:schemeClr val="accent2"/>
            </a:solidFill>
            <a:prstDash val="dash"/>
          </a:ln>
        </p:spPr>
      </p:sp>
      <p:sp>
        <p:nvSpPr>
          <p:cNvPr id="6" name="Shape 4"/>
          <p:cNvSpPr/>
          <p:nvPr/>
        </p:nvSpPr>
        <p:spPr>
          <a:xfrm flipH="1" flipV="1">
            <a:off x="6705295" y="4160520"/>
            <a:ext cx="868680" cy="594360"/>
          </a:xfrm>
          <a:prstGeom prst="line">
            <a:avLst/>
          </a:prstGeom>
          <a:noFill/>
          <a:ln w="25400">
            <a:solidFill>
              <a:schemeClr val="accent2"/>
            </a:solidFill>
            <a:prstDash val="dash"/>
          </a:ln>
        </p:spPr>
      </p:sp>
      <p:sp>
        <p:nvSpPr>
          <p:cNvPr id="7" name="Text 5"/>
          <p:cNvSpPr/>
          <p:nvPr/>
        </p:nvSpPr>
        <p:spPr>
          <a:xfrm>
            <a:off x="4998568" y="2514600"/>
            <a:ext cx="2194560" cy="2194560"/>
          </a:xfrm>
          <a:prstGeom prst="ellipse">
            <a:avLst/>
          </a:prstGeom>
          <a:solidFill>
            <a:schemeClr val="tx2"/>
          </a:solidFill>
          <a:ln w="38100">
            <a:solidFill>
              <a:schemeClr val="accent2"/>
            </a:solidFill>
          </a:ln>
        </p:spPr>
        <p:txBody>
          <a:bodyPr wrap="square" lIns="1905" tIns="1905" rIns="1905" bIns="1905" rtlCol="0" anchor="ctr"/>
          <a:lstStyle/>
          <a:p>
            <a:pPr marL="0" indent="0" algn="ctr">
              <a:buNone/>
            </a:pPr>
            <a:r>
              <a:rPr lang="en-US" sz="2100" b="1" dirty="0">
                <a:solidFill>
                  <a:schemeClr val="bg1"/>
                </a:solidFill>
                <a:latin typeface="+mj-lt" pitchFamily="34" charset="0"/>
                <a:ea typeface="+mj-lt" pitchFamily="34" charset="-122"/>
                <a:cs typeface="+mj-lt" pitchFamily="34" charset="-120"/>
              </a:rPr>
              <a:t>One parish registry</a:t>
            </a:r>
            <a:endParaRPr lang="en-US" sz="2100" dirty="0"/>
          </a:p>
        </p:txBody>
      </p:sp>
      <p:sp>
        <p:nvSpPr>
          <p:cNvPr id="8" name="Families card"/>
          <p:cNvSpPr/>
          <p:nvPr/>
        </p:nvSpPr>
        <p:spPr>
          <a:xfrm>
            <a:off x="548640" y="1463040"/>
            <a:ext cx="4069080" cy="1645920"/>
          </a:xfrm>
          <a:prstGeom prst="roundRect">
            <a:avLst>
              <a:gd name="adj" fmla="val 6667"/>
            </a:avLst>
          </a:prstGeom>
          <a:solidFill>
            <a:schemeClr val="bg2"/>
          </a:solidFill>
          <a:ln/>
        </p:spPr>
      </p:sp>
      <p:sp>
        <p:nvSpPr>
          <p:cNvPr id="9" name="Families circle"/>
          <p:cNvSpPr/>
          <p:nvPr/>
        </p:nvSpPr>
        <p:spPr>
          <a:xfrm>
            <a:off x="822960" y="1755648"/>
            <a:ext cx="603504" cy="603504"/>
          </a:xfrm>
          <a:prstGeom prst="ellipse">
            <a:avLst/>
          </a:prstGeom>
          <a:solidFill>
            <a:schemeClr val="accent1"/>
          </a:solidFill>
          <a:ln/>
        </p:spPr>
      </p:sp>
      <p:pic>
        <p:nvPicPr>
          <p:cNvPr id="10" name="Families icon" descr="preencoded.png"/>
          <p:cNvPicPr>
            <a:picLocks noChangeAspect="1"/>
          </p:cNvPicPr>
          <p:nvPr/>
        </p:nvPicPr>
        <p:blipFill>
          <a:blip r:embed="rId3"/>
          <a:stretch>
            <a:fillRect/>
          </a:stretch>
        </p:blipFill>
        <p:spPr>
          <a:xfrm>
            <a:off x="973836" y="1906524"/>
            <a:ext cx="301752" cy="301752"/>
          </a:xfrm>
          <a:prstGeom prst="rect">
            <a:avLst/>
          </a:prstGeom>
        </p:spPr>
      </p:pic>
      <p:sp>
        <p:nvSpPr>
          <p:cNvPr id="11" name="Text 8"/>
          <p:cNvSpPr txBox="1"/>
          <p:nvPr/>
        </p:nvSpPr>
        <p:spPr>
          <a:xfrm>
            <a:off x="1600200" y="1737360"/>
            <a:ext cx="2788920" cy="411480"/>
          </a:xfrm>
          <a:prstGeom prst="rect">
            <a:avLst/>
          </a:prstGeom>
          <a:noFill/>
          <a:ln/>
        </p:spPr>
        <p:txBody>
          <a:bodyPr wrap="square" lIns="0" tIns="0" rIns="0" bIns="0" rtlCol="0" anchor="t"/>
          <a:lstStyle/>
          <a:p>
            <a:pPr marL="0" indent="0">
              <a:buNone/>
            </a:pPr>
            <a:r>
              <a:rPr lang="en-US" sz="1900" b="1" dirty="0">
                <a:solidFill>
                  <a:schemeClr val="tx2"/>
                </a:solidFill>
                <a:latin typeface="+mj-lt" pitchFamily="34" charset="0"/>
                <a:ea typeface="+mj-lt" pitchFamily="34" charset="-122"/>
                <a:cs typeface="+mj-lt" pitchFamily="34" charset="-120"/>
              </a:rPr>
              <a:t>Families</a:t>
            </a:r>
            <a:endParaRPr lang="en-US" sz="1900" dirty="0"/>
          </a:p>
        </p:txBody>
      </p:sp>
      <p:sp>
        <p:nvSpPr>
          <p:cNvPr id="12" name="Text 9"/>
          <p:cNvSpPr txBox="1"/>
          <p:nvPr/>
        </p:nvSpPr>
        <p:spPr>
          <a:xfrm>
            <a:off x="1600200" y="2194560"/>
            <a:ext cx="2788920" cy="777240"/>
          </a:xfrm>
          <a:prstGeom prst="rect">
            <a:avLst/>
          </a:prstGeom>
          <a:noFill/>
          <a:ln/>
        </p:spPr>
        <p:txBody>
          <a:bodyPr wrap="square" lIns="0" tIns="0" rIns="0" bIns="0" rtlCol="0" anchor="t"/>
          <a:lstStyle/>
          <a:p>
            <a:pPr marL="0" indent="0">
              <a:buNone/>
            </a:pPr>
            <a:r>
              <a:rPr lang="en-US" sz="1500" dirty="0">
                <a:solidFill>
                  <a:schemeClr val="tx1"/>
                </a:solidFill>
              </a:rPr>
              <a:t>Register, update the census and send requests from a phone, in Bisaya</a:t>
            </a:r>
            <a:endParaRPr lang="en-US" sz="1500" dirty="0"/>
          </a:p>
        </p:txBody>
      </p:sp>
      <p:sp>
        <p:nvSpPr>
          <p:cNvPr id="13" name="Parish office card"/>
          <p:cNvSpPr/>
          <p:nvPr/>
        </p:nvSpPr>
        <p:spPr>
          <a:xfrm>
            <a:off x="7573975" y="1463040"/>
            <a:ext cx="4069080" cy="1645920"/>
          </a:xfrm>
          <a:prstGeom prst="roundRect">
            <a:avLst>
              <a:gd name="adj" fmla="val 6667"/>
            </a:avLst>
          </a:prstGeom>
          <a:solidFill>
            <a:schemeClr val="bg2"/>
          </a:solidFill>
          <a:ln/>
        </p:spPr>
      </p:sp>
      <p:sp>
        <p:nvSpPr>
          <p:cNvPr id="14" name="Parish office circle"/>
          <p:cNvSpPr/>
          <p:nvPr/>
        </p:nvSpPr>
        <p:spPr>
          <a:xfrm>
            <a:off x="7848295" y="1755648"/>
            <a:ext cx="603504" cy="603504"/>
          </a:xfrm>
          <a:prstGeom prst="ellipse">
            <a:avLst/>
          </a:prstGeom>
          <a:solidFill>
            <a:schemeClr val="accent1"/>
          </a:solidFill>
          <a:ln/>
        </p:spPr>
      </p:sp>
      <p:pic>
        <p:nvPicPr>
          <p:cNvPr id="15" name="Parish office icon" descr="preencoded.png"/>
          <p:cNvPicPr>
            <a:picLocks noChangeAspect="1"/>
          </p:cNvPicPr>
          <p:nvPr/>
        </p:nvPicPr>
        <p:blipFill>
          <a:blip r:embed="rId4"/>
          <a:stretch>
            <a:fillRect/>
          </a:stretch>
        </p:blipFill>
        <p:spPr>
          <a:xfrm>
            <a:off x="7999171" y="1906524"/>
            <a:ext cx="301752" cy="301752"/>
          </a:xfrm>
          <a:prstGeom prst="rect">
            <a:avLst/>
          </a:prstGeom>
        </p:spPr>
      </p:pic>
      <p:sp>
        <p:nvSpPr>
          <p:cNvPr id="16" name="Text 12"/>
          <p:cNvSpPr txBox="1"/>
          <p:nvPr/>
        </p:nvSpPr>
        <p:spPr>
          <a:xfrm>
            <a:off x="8625535" y="1737360"/>
            <a:ext cx="2788920" cy="411480"/>
          </a:xfrm>
          <a:prstGeom prst="rect">
            <a:avLst/>
          </a:prstGeom>
          <a:noFill/>
          <a:ln/>
        </p:spPr>
        <p:txBody>
          <a:bodyPr wrap="square" lIns="0" tIns="0" rIns="0" bIns="0" rtlCol="0" anchor="t"/>
          <a:lstStyle/>
          <a:p>
            <a:pPr marL="0" indent="0">
              <a:buNone/>
            </a:pPr>
            <a:r>
              <a:rPr lang="en-US" sz="1900" b="1" dirty="0">
                <a:solidFill>
                  <a:schemeClr val="tx2"/>
                </a:solidFill>
                <a:latin typeface="+mj-lt" pitchFamily="34" charset="0"/>
                <a:ea typeface="+mj-lt" pitchFamily="34" charset="-122"/>
                <a:cs typeface="+mj-lt" pitchFamily="34" charset="-120"/>
              </a:rPr>
              <a:t>Parish office</a:t>
            </a:r>
            <a:endParaRPr lang="en-US" sz="1900" dirty="0"/>
          </a:p>
        </p:txBody>
      </p:sp>
      <p:sp>
        <p:nvSpPr>
          <p:cNvPr id="17" name="Text 13"/>
          <p:cNvSpPr txBox="1"/>
          <p:nvPr/>
        </p:nvSpPr>
        <p:spPr>
          <a:xfrm>
            <a:off x="8625535" y="2194560"/>
            <a:ext cx="2788920" cy="777240"/>
          </a:xfrm>
          <a:prstGeom prst="rect">
            <a:avLst/>
          </a:prstGeom>
          <a:noFill/>
          <a:ln/>
        </p:spPr>
        <p:txBody>
          <a:bodyPr wrap="square" lIns="0" tIns="0" rIns="0" bIns="0" rtlCol="0" anchor="t"/>
          <a:lstStyle/>
          <a:p>
            <a:pPr marL="0" indent="0">
              <a:buNone/>
            </a:pPr>
            <a:r>
              <a:rPr lang="en-US" sz="1500" dirty="0">
                <a:solidFill>
                  <a:schemeClr val="tx1"/>
                </a:solidFill>
              </a:rPr>
              <a:t>Verify families, track requests, print forms and export lists</a:t>
            </a:r>
            <a:endParaRPr lang="en-US" sz="1500" dirty="0"/>
          </a:p>
        </p:txBody>
      </p:sp>
      <p:sp>
        <p:nvSpPr>
          <p:cNvPr id="18" name="GKK leaders card"/>
          <p:cNvSpPr/>
          <p:nvPr/>
        </p:nvSpPr>
        <p:spPr>
          <a:xfrm>
            <a:off x="548640" y="3931920"/>
            <a:ext cx="4069080" cy="1645920"/>
          </a:xfrm>
          <a:prstGeom prst="roundRect">
            <a:avLst>
              <a:gd name="adj" fmla="val 6667"/>
            </a:avLst>
          </a:prstGeom>
          <a:solidFill>
            <a:schemeClr val="bg2"/>
          </a:solidFill>
          <a:ln/>
        </p:spPr>
      </p:sp>
      <p:sp>
        <p:nvSpPr>
          <p:cNvPr id="19" name="GKK leaders circle"/>
          <p:cNvSpPr/>
          <p:nvPr/>
        </p:nvSpPr>
        <p:spPr>
          <a:xfrm>
            <a:off x="822960" y="4224528"/>
            <a:ext cx="603504" cy="603504"/>
          </a:xfrm>
          <a:prstGeom prst="ellipse">
            <a:avLst/>
          </a:prstGeom>
          <a:solidFill>
            <a:schemeClr val="accent1"/>
          </a:solidFill>
          <a:ln/>
        </p:spPr>
      </p:sp>
      <p:pic>
        <p:nvPicPr>
          <p:cNvPr id="20" name="GKK leaders icon" descr="preencoded.png"/>
          <p:cNvPicPr>
            <a:picLocks noChangeAspect="1"/>
          </p:cNvPicPr>
          <p:nvPr/>
        </p:nvPicPr>
        <p:blipFill>
          <a:blip r:embed="rId5"/>
          <a:stretch>
            <a:fillRect/>
          </a:stretch>
        </p:blipFill>
        <p:spPr>
          <a:xfrm>
            <a:off x="973836" y="4375404"/>
            <a:ext cx="301752" cy="301752"/>
          </a:xfrm>
          <a:prstGeom prst="rect">
            <a:avLst/>
          </a:prstGeom>
        </p:spPr>
      </p:pic>
      <p:sp>
        <p:nvSpPr>
          <p:cNvPr id="21" name="Text 16"/>
          <p:cNvSpPr txBox="1"/>
          <p:nvPr/>
        </p:nvSpPr>
        <p:spPr>
          <a:xfrm>
            <a:off x="1600200" y="4206240"/>
            <a:ext cx="2788920" cy="411480"/>
          </a:xfrm>
          <a:prstGeom prst="rect">
            <a:avLst/>
          </a:prstGeom>
          <a:noFill/>
          <a:ln/>
        </p:spPr>
        <p:txBody>
          <a:bodyPr wrap="square" lIns="0" tIns="0" rIns="0" bIns="0" rtlCol="0" anchor="t"/>
          <a:lstStyle/>
          <a:p>
            <a:pPr marL="0" indent="0">
              <a:buNone/>
            </a:pPr>
            <a:r>
              <a:rPr lang="en-US" sz="1900" b="1" dirty="0">
                <a:solidFill>
                  <a:schemeClr val="tx2"/>
                </a:solidFill>
                <a:latin typeface="+mj-lt" pitchFamily="34" charset="0"/>
                <a:ea typeface="+mj-lt" pitchFamily="34" charset="-122"/>
                <a:cs typeface="+mj-lt" pitchFamily="34" charset="-120"/>
              </a:rPr>
              <a:t>GKK leaders</a:t>
            </a:r>
            <a:endParaRPr lang="en-US" sz="1900" dirty="0"/>
          </a:p>
        </p:txBody>
      </p:sp>
      <p:sp>
        <p:nvSpPr>
          <p:cNvPr id="22" name="Text 17"/>
          <p:cNvSpPr txBox="1"/>
          <p:nvPr/>
        </p:nvSpPr>
        <p:spPr>
          <a:xfrm>
            <a:off x="1600200" y="4663440"/>
            <a:ext cx="2788920" cy="777240"/>
          </a:xfrm>
          <a:prstGeom prst="rect">
            <a:avLst/>
          </a:prstGeom>
          <a:noFill/>
          <a:ln/>
        </p:spPr>
        <p:txBody>
          <a:bodyPr wrap="square" lIns="0" tIns="0" rIns="0" bIns="0" rtlCol="0" anchor="t"/>
          <a:lstStyle/>
          <a:p>
            <a:pPr marL="0" indent="0">
              <a:buNone/>
            </a:pPr>
            <a:r>
              <a:rPr lang="en-US" sz="1500" dirty="0">
                <a:solidFill>
                  <a:schemeClr val="tx1"/>
                </a:solidFill>
              </a:rPr>
              <a:t>Their own GKK’s families and census, and nothing else</a:t>
            </a:r>
            <a:endParaRPr lang="en-US" sz="1500" dirty="0"/>
          </a:p>
        </p:txBody>
      </p:sp>
      <p:sp>
        <p:nvSpPr>
          <p:cNvPr id="23" name="Priest and council card"/>
          <p:cNvSpPr/>
          <p:nvPr/>
        </p:nvSpPr>
        <p:spPr>
          <a:xfrm>
            <a:off x="7573975" y="3931920"/>
            <a:ext cx="4069080" cy="1645920"/>
          </a:xfrm>
          <a:prstGeom prst="roundRect">
            <a:avLst>
              <a:gd name="adj" fmla="val 6667"/>
            </a:avLst>
          </a:prstGeom>
          <a:solidFill>
            <a:schemeClr val="bg2"/>
          </a:solidFill>
          <a:ln/>
        </p:spPr>
      </p:sp>
      <p:sp>
        <p:nvSpPr>
          <p:cNvPr id="24" name="Priest and council circle"/>
          <p:cNvSpPr/>
          <p:nvPr/>
        </p:nvSpPr>
        <p:spPr>
          <a:xfrm>
            <a:off x="7848295" y="4224528"/>
            <a:ext cx="603504" cy="603504"/>
          </a:xfrm>
          <a:prstGeom prst="ellipse">
            <a:avLst/>
          </a:prstGeom>
          <a:solidFill>
            <a:schemeClr val="accent1"/>
          </a:solidFill>
          <a:ln/>
        </p:spPr>
      </p:sp>
      <p:pic>
        <p:nvPicPr>
          <p:cNvPr id="25" name="Priest and council icon" descr="preencoded.png"/>
          <p:cNvPicPr>
            <a:picLocks noChangeAspect="1"/>
          </p:cNvPicPr>
          <p:nvPr/>
        </p:nvPicPr>
        <p:blipFill>
          <a:blip r:embed="rId6"/>
          <a:stretch>
            <a:fillRect/>
          </a:stretch>
        </p:blipFill>
        <p:spPr>
          <a:xfrm>
            <a:off x="7999171" y="4375404"/>
            <a:ext cx="301752" cy="301752"/>
          </a:xfrm>
          <a:prstGeom prst="rect">
            <a:avLst/>
          </a:prstGeom>
        </p:spPr>
      </p:pic>
      <p:sp>
        <p:nvSpPr>
          <p:cNvPr id="26" name="Text 20"/>
          <p:cNvSpPr txBox="1"/>
          <p:nvPr/>
        </p:nvSpPr>
        <p:spPr>
          <a:xfrm>
            <a:off x="8625535" y="4206240"/>
            <a:ext cx="2788920" cy="411480"/>
          </a:xfrm>
          <a:prstGeom prst="rect">
            <a:avLst/>
          </a:prstGeom>
          <a:noFill/>
          <a:ln/>
        </p:spPr>
        <p:txBody>
          <a:bodyPr wrap="square" lIns="0" tIns="0" rIns="0" bIns="0" rtlCol="0" anchor="t"/>
          <a:lstStyle/>
          <a:p>
            <a:pPr marL="0" indent="0">
              <a:buNone/>
            </a:pPr>
            <a:r>
              <a:rPr lang="en-US" sz="1900" b="1" dirty="0">
                <a:solidFill>
                  <a:schemeClr val="tx2"/>
                </a:solidFill>
                <a:latin typeface="+mj-lt" pitchFamily="34" charset="0"/>
                <a:ea typeface="+mj-lt" pitchFamily="34" charset="-122"/>
                <a:cs typeface="+mj-lt" pitchFamily="34" charset="-120"/>
              </a:rPr>
              <a:t>Priest and council</a:t>
            </a:r>
            <a:endParaRPr lang="en-US" sz="1900" dirty="0"/>
          </a:p>
        </p:txBody>
      </p:sp>
      <p:sp>
        <p:nvSpPr>
          <p:cNvPr id="27" name="Text 21"/>
          <p:cNvSpPr txBox="1"/>
          <p:nvPr/>
        </p:nvSpPr>
        <p:spPr>
          <a:xfrm>
            <a:off x="8625535" y="4663440"/>
            <a:ext cx="2788920" cy="777240"/>
          </a:xfrm>
          <a:prstGeom prst="rect">
            <a:avLst/>
          </a:prstGeom>
          <a:noFill/>
          <a:ln/>
        </p:spPr>
        <p:txBody>
          <a:bodyPr wrap="square" lIns="0" tIns="0" rIns="0" bIns="0" rtlCol="0" anchor="t"/>
          <a:lstStyle/>
          <a:p>
            <a:pPr marL="0" indent="0">
              <a:buNone/>
            </a:pPr>
            <a:r>
              <a:rPr lang="en-US" sz="1500" dirty="0">
                <a:solidFill>
                  <a:schemeClr val="tx1"/>
                </a:solidFill>
              </a:rPr>
              <a:t>Clear numbers by GKK, for pastoral planning</a:t>
            </a:r>
            <a:endParaRPr lang="en-US" sz="1500" dirty="0"/>
          </a:p>
        </p:txBody>
      </p:sp>
      <p:sp>
        <p:nvSpPr>
          <p:cNvPr id="28" name="Website circle"/>
          <p:cNvSpPr/>
          <p:nvPr/>
        </p:nvSpPr>
        <p:spPr>
          <a:xfrm>
            <a:off x="548640" y="5788152"/>
            <a:ext cx="420624" cy="420624"/>
          </a:xfrm>
          <a:prstGeom prst="ellipse">
            <a:avLst/>
          </a:prstGeom>
          <a:solidFill>
            <a:schemeClr val="accent2"/>
          </a:solidFill>
          <a:ln/>
        </p:spPr>
      </p:sp>
      <p:pic>
        <p:nvPicPr>
          <p:cNvPr id="29" name="Website icon" descr="preencoded.png"/>
          <p:cNvPicPr>
            <a:picLocks noChangeAspect="1"/>
          </p:cNvPicPr>
          <p:nvPr/>
        </p:nvPicPr>
        <p:blipFill>
          <a:blip r:embed="rId7"/>
          <a:stretch>
            <a:fillRect/>
          </a:stretch>
        </p:blipFill>
        <p:spPr>
          <a:xfrm>
            <a:off x="653796" y="5893308"/>
            <a:ext cx="210312" cy="210312"/>
          </a:xfrm>
          <a:prstGeom prst="rect">
            <a:avLst/>
          </a:prstGeom>
        </p:spPr>
      </p:pic>
      <p:sp>
        <p:nvSpPr>
          <p:cNvPr id="30" name="Text 23"/>
          <p:cNvSpPr txBox="1"/>
          <p:nvPr/>
        </p:nvSpPr>
        <p:spPr>
          <a:xfrm>
            <a:off x="1143000" y="5788152"/>
            <a:ext cx="10424160" cy="420624"/>
          </a:xfrm>
          <a:prstGeom prst="rect">
            <a:avLst/>
          </a:prstGeom>
          <a:noFill/>
          <a:ln/>
        </p:spPr>
        <p:txBody>
          <a:bodyPr wrap="square" lIns="0" tIns="0" rIns="0" bIns="0" rtlCol="0" anchor="ctr"/>
          <a:lstStyle/>
          <a:p>
            <a:pPr marL="0" indent="0">
              <a:buNone/>
            </a:pPr>
            <a:r>
              <a:rPr lang="en-US" sz="1500" b="1" dirty="0">
                <a:solidFill>
                  <a:schemeClr val="tx2"/>
                </a:solidFill>
              </a:rPr>
              <a:t>Also included: </a:t>
            </a:r>
            <a:r>
              <a:rPr lang="en-US" sz="1500" dirty="0">
                <a:solidFill>
                  <a:schemeClr val="tx1"/>
                </a:solidFill>
              </a:rPr>
              <a:t>the parish website, with the Mass schedule, announcements, bulletin, events, sacrament guides and a prayer wall</a:t>
            </a:r>
            <a:endParaRPr lang="en-US" sz="1500" dirty="0"/>
          </a:p>
        </p:txBody>
      </p:sp>
      <p:sp>
        <p:nvSpPr>
          <p:cNvPr id="31"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91672" cy="822960"/>
          </a:xfrm>
          <a:prstGeom prst="rect">
            <a:avLst/>
          </a:prstGeom>
          <a:noFill/>
          <a:ln/>
        </p:spPr>
        <p:txBody>
          <a:bodyPr wrap="square" lIns="0" tIns="0" rIns="0" bIns="0" rtlCol="0" anchor="ctr"/>
          <a:lstStyle/>
          <a:p>
            <a:pPr marL="0" indent="0" algn="l">
              <a:buNone/>
            </a:pPr>
            <a:r>
              <a:rPr lang="en-US" sz="3200" b="1" dirty="0">
                <a:solidFill>
                  <a:schemeClr val="tx2"/>
                </a:solidFill>
                <a:latin typeface="+mj-lt" pitchFamily="34" charset="0"/>
                <a:ea typeface="+mj-lt" pitchFamily="34" charset="-122"/>
                <a:cs typeface="+mj-lt" pitchFamily="34" charset="-120"/>
              </a:rPr>
              <a:t>Families take part from their phones, in Bisaya</a:t>
            </a:r>
            <a:endParaRPr lang="en-US" sz="3200" dirty="0"/>
          </a:p>
        </p:txBody>
      </p:sp>
      <p:sp>
        <p:nvSpPr>
          <p:cNvPr id="3" name="Register at home circle"/>
          <p:cNvSpPr/>
          <p:nvPr/>
        </p:nvSpPr>
        <p:spPr>
          <a:xfrm>
            <a:off x="548640" y="1600200"/>
            <a:ext cx="566928" cy="566928"/>
          </a:xfrm>
          <a:prstGeom prst="ellipse">
            <a:avLst/>
          </a:prstGeom>
          <a:solidFill>
            <a:schemeClr val="accent1"/>
          </a:solidFill>
          <a:ln/>
        </p:spPr>
      </p:sp>
      <p:pic>
        <p:nvPicPr>
          <p:cNvPr id="4" name="Register at home icon" descr="preencoded.png"/>
          <p:cNvPicPr>
            <a:picLocks noChangeAspect="1"/>
          </p:cNvPicPr>
          <p:nvPr/>
        </p:nvPicPr>
        <p:blipFill>
          <a:blip r:embed="rId3"/>
          <a:stretch>
            <a:fillRect/>
          </a:stretch>
        </p:blipFill>
        <p:spPr>
          <a:xfrm>
            <a:off x="690372" y="1741932"/>
            <a:ext cx="283464" cy="283464"/>
          </a:xfrm>
          <a:prstGeom prst="rect">
            <a:avLst/>
          </a:prstGeom>
        </p:spPr>
      </p:pic>
      <p:sp>
        <p:nvSpPr>
          <p:cNvPr id="5" name="Text 2"/>
          <p:cNvSpPr txBox="1"/>
          <p:nvPr/>
        </p:nvSpPr>
        <p:spPr>
          <a:xfrm>
            <a:off x="1280160" y="1581912"/>
            <a:ext cx="3291840" cy="384048"/>
          </a:xfrm>
          <a:prstGeom prst="rect">
            <a:avLst/>
          </a:prstGeom>
          <a:noFill/>
          <a:ln/>
        </p:spPr>
        <p:txBody>
          <a:bodyPr wrap="square" lIns="0" tIns="0" rIns="0" bIns="0" rtlCol="0" anchor="t"/>
          <a:lstStyle/>
          <a:p>
            <a:pPr marL="0" indent="0">
              <a:buNone/>
            </a:pPr>
            <a:r>
              <a:rPr lang="en-US" sz="1800" b="1" dirty="0">
                <a:solidFill>
                  <a:schemeClr val="tx2"/>
                </a:solidFill>
                <a:latin typeface="+mj-lt" pitchFamily="34" charset="0"/>
                <a:ea typeface="+mj-lt" pitchFamily="34" charset="-122"/>
                <a:cs typeface="+mj-lt" pitchFamily="34" charset="-120"/>
              </a:rPr>
              <a:t>Register at home</a:t>
            </a:r>
            <a:endParaRPr lang="en-US" sz="1800" dirty="0"/>
          </a:p>
        </p:txBody>
      </p:sp>
      <p:sp>
        <p:nvSpPr>
          <p:cNvPr id="6" name="Text 3"/>
          <p:cNvSpPr txBox="1"/>
          <p:nvPr/>
        </p:nvSpPr>
        <p:spPr>
          <a:xfrm>
            <a:off x="1280160" y="1984248"/>
            <a:ext cx="3291840" cy="868680"/>
          </a:xfrm>
          <a:prstGeom prst="rect">
            <a:avLst/>
          </a:prstGeom>
          <a:noFill/>
          <a:ln/>
        </p:spPr>
        <p:txBody>
          <a:bodyPr wrap="square" lIns="0" tIns="0" rIns="0" bIns="0" rtlCol="0" anchor="t"/>
          <a:lstStyle/>
          <a:p>
            <a:pPr marL="0" indent="0">
              <a:buNone/>
            </a:pPr>
            <a:r>
              <a:rPr lang="en-US" sz="1500" dirty="0">
                <a:solidFill>
                  <a:schemeClr val="tx1"/>
                </a:solidFill>
              </a:rPr>
              <a:t>Five short steps. The family gets a reference number at once and can check its status.</a:t>
            </a:r>
            <a:endParaRPr lang="en-US" sz="1500" dirty="0"/>
          </a:p>
        </p:txBody>
      </p:sp>
      <p:sp>
        <p:nvSpPr>
          <p:cNvPr id="7" name="Update during the census circle"/>
          <p:cNvSpPr/>
          <p:nvPr/>
        </p:nvSpPr>
        <p:spPr>
          <a:xfrm>
            <a:off x="548640" y="2971800"/>
            <a:ext cx="566928" cy="566928"/>
          </a:xfrm>
          <a:prstGeom prst="ellipse">
            <a:avLst/>
          </a:prstGeom>
          <a:solidFill>
            <a:schemeClr val="accent1"/>
          </a:solidFill>
          <a:ln/>
        </p:spPr>
      </p:sp>
      <p:pic>
        <p:nvPicPr>
          <p:cNvPr id="8" name="Update during the census icon" descr="preencoded.png"/>
          <p:cNvPicPr>
            <a:picLocks noChangeAspect="1"/>
          </p:cNvPicPr>
          <p:nvPr/>
        </p:nvPicPr>
        <p:blipFill>
          <a:blip r:embed="rId4"/>
          <a:stretch>
            <a:fillRect/>
          </a:stretch>
        </p:blipFill>
        <p:spPr>
          <a:xfrm>
            <a:off x="690372" y="3113532"/>
            <a:ext cx="283464" cy="283464"/>
          </a:xfrm>
          <a:prstGeom prst="rect">
            <a:avLst/>
          </a:prstGeom>
        </p:spPr>
      </p:pic>
      <p:sp>
        <p:nvSpPr>
          <p:cNvPr id="9" name="Text 5"/>
          <p:cNvSpPr txBox="1"/>
          <p:nvPr/>
        </p:nvSpPr>
        <p:spPr>
          <a:xfrm>
            <a:off x="1280160" y="2953512"/>
            <a:ext cx="3291840" cy="384048"/>
          </a:xfrm>
          <a:prstGeom prst="rect">
            <a:avLst/>
          </a:prstGeom>
          <a:noFill/>
          <a:ln/>
        </p:spPr>
        <p:txBody>
          <a:bodyPr wrap="square" lIns="0" tIns="0" rIns="0" bIns="0" rtlCol="0" anchor="t"/>
          <a:lstStyle/>
          <a:p>
            <a:pPr marL="0" indent="0">
              <a:buNone/>
            </a:pPr>
            <a:r>
              <a:rPr lang="en-US" sz="1800" b="1" dirty="0">
                <a:solidFill>
                  <a:schemeClr val="tx2"/>
                </a:solidFill>
                <a:latin typeface="+mj-lt" pitchFamily="34" charset="0"/>
                <a:ea typeface="+mj-lt" pitchFamily="34" charset="-122"/>
                <a:cs typeface="+mj-lt" pitchFamily="34" charset="-120"/>
              </a:rPr>
              <a:t>Update during the census</a:t>
            </a:r>
            <a:endParaRPr lang="en-US" sz="1800" dirty="0"/>
          </a:p>
        </p:txBody>
      </p:sp>
      <p:sp>
        <p:nvSpPr>
          <p:cNvPr id="10" name="Text 6"/>
          <p:cNvSpPr txBox="1"/>
          <p:nvPr/>
        </p:nvSpPr>
        <p:spPr>
          <a:xfrm>
            <a:off x="1280160" y="3355848"/>
            <a:ext cx="3291840" cy="868680"/>
          </a:xfrm>
          <a:prstGeom prst="rect">
            <a:avLst/>
          </a:prstGeom>
          <a:noFill/>
          <a:ln/>
        </p:spPr>
        <p:txBody>
          <a:bodyPr wrap="square" lIns="0" tIns="0" rIns="0" bIns="0" rtlCol="0" anchor="t"/>
          <a:lstStyle/>
          <a:p>
            <a:pPr marL="0" indent="0">
              <a:buNone/>
            </a:pPr>
            <a:r>
              <a:rPr lang="en-US" sz="1500" dirty="0">
                <a:solidFill>
                  <a:schemeClr val="tx1"/>
                </a:solidFill>
              </a:rPr>
              <a:t>With the reference number and code on their census form. No trip to the office.</a:t>
            </a:r>
            <a:endParaRPr lang="en-US" sz="1500" dirty="0"/>
          </a:p>
        </p:txBody>
      </p:sp>
      <p:sp>
        <p:nvSpPr>
          <p:cNvPr id="11" name="Ask the parish circle"/>
          <p:cNvSpPr/>
          <p:nvPr/>
        </p:nvSpPr>
        <p:spPr>
          <a:xfrm>
            <a:off x="548640" y="4343400"/>
            <a:ext cx="566928" cy="566928"/>
          </a:xfrm>
          <a:prstGeom prst="ellipse">
            <a:avLst/>
          </a:prstGeom>
          <a:solidFill>
            <a:schemeClr val="accent1"/>
          </a:solidFill>
          <a:ln/>
        </p:spPr>
      </p:sp>
      <p:pic>
        <p:nvPicPr>
          <p:cNvPr id="12" name="Ask the parish icon" descr="preencoded.png"/>
          <p:cNvPicPr>
            <a:picLocks noChangeAspect="1"/>
          </p:cNvPicPr>
          <p:nvPr/>
        </p:nvPicPr>
        <p:blipFill>
          <a:blip r:embed="rId5"/>
          <a:stretch>
            <a:fillRect/>
          </a:stretch>
        </p:blipFill>
        <p:spPr>
          <a:xfrm>
            <a:off x="690372" y="4485132"/>
            <a:ext cx="283464" cy="283464"/>
          </a:xfrm>
          <a:prstGeom prst="rect">
            <a:avLst/>
          </a:prstGeom>
        </p:spPr>
      </p:pic>
      <p:sp>
        <p:nvSpPr>
          <p:cNvPr id="13" name="Text 8"/>
          <p:cNvSpPr txBox="1"/>
          <p:nvPr/>
        </p:nvSpPr>
        <p:spPr>
          <a:xfrm>
            <a:off x="1280160" y="4325112"/>
            <a:ext cx="3291840" cy="384048"/>
          </a:xfrm>
          <a:prstGeom prst="rect">
            <a:avLst/>
          </a:prstGeom>
          <a:noFill/>
          <a:ln/>
        </p:spPr>
        <p:txBody>
          <a:bodyPr wrap="square" lIns="0" tIns="0" rIns="0" bIns="0" rtlCol="0" anchor="t"/>
          <a:lstStyle/>
          <a:p>
            <a:pPr marL="0" indent="0">
              <a:buNone/>
            </a:pPr>
            <a:r>
              <a:rPr lang="en-US" sz="1800" b="1" dirty="0">
                <a:solidFill>
                  <a:schemeClr val="tx2"/>
                </a:solidFill>
                <a:latin typeface="+mj-lt" pitchFamily="34" charset="0"/>
                <a:ea typeface="+mj-lt" pitchFamily="34" charset="-122"/>
                <a:cs typeface="+mj-lt" pitchFamily="34" charset="-120"/>
              </a:rPr>
              <a:t>Ask the parish</a:t>
            </a:r>
            <a:endParaRPr lang="en-US" sz="1800" dirty="0"/>
          </a:p>
        </p:txBody>
      </p:sp>
      <p:sp>
        <p:nvSpPr>
          <p:cNvPr id="14" name="Text 9"/>
          <p:cNvSpPr txBox="1"/>
          <p:nvPr/>
        </p:nvSpPr>
        <p:spPr>
          <a:xfrm>
            <a:off x="1280160" y="4727448"/>
            <a:ext cx="3291840" cy="868680"/>
          </a:xfrm>
          <a:prstGeom prst="rect">
            <a:avLst/>
          </a:prstGeom>
          <a:noFill/>
          <a:ln/>
        </p:spPr>
        <p:txBody>
          <a:bodyPr wrap="square" lIns="0" tIns="0" rIns="0" bIns="0" rtlCol="0" anchor="t"/>
          <a:lstStyle/>
          <a:p>
            <a:pPr marL="0" indent="0">
              <a:buNone/>
            </a:pPr>
            <a:r>
              <a:rPr lang="en-US" sz="1500" dirty="0">
                <a:solidFill>
                  <a:schemeClr val="tx1"/>
                </a:solidFill>
              </a:rPr>
              <a:t>Certificates, the Anointing of the Sick, OCIA, blood donors and prayer requests.</a:t>
            </a:r>
            <a:endParaRPr lang="en-US" sz="1500" dirty="0"/>
          </a:p>
        </p:txBody>
      </p:sp>
      <p:pic>
        <p:nvPicPr>
          <p:cNvPr id="15" name="Phone: Home page" descr="C:\Users\Dave\AppData\Local\Temp\claude\E--DEVELOPER--WEB--PARISH-MEMBERS-REGISTRY\9cfa56b2-76b0-4da3-8bb7-a6a7d55b9d8c\scratchpad\img\phone-mob-home.png"/>
          <p:cNvPicPr>
            <a:picLocks noChangeAspect="1"/>
          </p:cNvPicPr>
          <p:nvPr/>
        </p:nvPicPr>
        <p:blipFill>
          <a:blip r:embed="rId6"/>
          <a:stretch>
            <a:fillRect/>
          </a:stretch>
        </p:blipFill>
        <p:spPr>
          <a:xfrm>
            <a:off x="5105286" y="1463040"/>
            <a:ext cx="1947608" cy="4114800"/>
          </a:xfrm>
          <a:prstGeom prst="rect">
            <a:avLst/>
          </a:prstGeom>
        </p:spPr>
      </p:pic>
      <p:sp>
        <p:nvSpPr>
          <p:cNvPr id="16" name="Text 10"/>
          <p:cNvSpPr txBox="1"/>
          <p:nvPr/>
        </p:nvSpPr>
        <p:spPr>
          <a:xfrm>
            <a:off x="4922406" y="5650992"/>
            <a:ext cx="2313368" cy="274320"/>
          </a:xfrm>
          <a:prstGeom prst="rect">
            <a:avLst/>
          </a:prstGeom>
          <a:noFill/>
          <a:ln/>
        </p:spPr>
        <p:txBody>
          <a:bodyPr wrap="square" lIns="0" tIns="0" rIns="0" bIns="0" rtlCol="0" anchor="t"/>
          <a:lstStyle/>
          <a:p>
            <a:pPr marL="0" indent="0" algn="ctr">
              <a:buNone/>
            </a:pPr>
            <a:r>
              <a:rPr lang="en-US" sz="1200" b="1" dirty="0">
                <a:solidFill>
                  <a:schemeClr val="tx2"/>
                </a:solidFill>
              </a:rPr>
              <a:t>Home page</a:t>
            </a:r>
            <a:endParaRPr lang="en-US" sz="1200" dirty="0"/>
          </a:p>
        </p:txBody>
      </p:sp>
      <p:pic>
        <p:nvPicPr>
          <p:cNvPr id="17" name="Phone: Registration, step 1 of 5" descr="C:\Users\Dave\AppData\Local\Temp\claude\E--DEVELOPER--WEB--PARISH-MEMBERS-REGISTRY\9cfa56b2-76b0-4da3-8bb7-a6a7d55b9d8c\scratchpad\img\phone-mob-register.png"/>
          <p:cNvPicPr>
            <a:picLocks noChangeAspect="1"/>
          </p:cNvPicPr>
          <p:nvPr/>
        </p:nvPicPr>
        <p:blipFill>
          <a:blip r:embed="rId7"/>
          <a:stretch>
            <a:fillRect/>
          </a:stretch>
        </p:blipFill>
        <p:spPr>
          <a:xfrm>
            <a:off x="7400366" y="1463040"/>
            <a:ext cx="1947608" cy="4114800"/>
          </a:xfrm>
          <a:prstGeom prst="rect">
            <a:avLst/>
          </a:prstGeom>
        </p:spPr>
      </p:pic>
      <p:sp>
        <p:nvSpPr>
          <p:cNvPr id="18" name="Text 11"/>
          <p:cNvSpPr txBox="1"/>
          <p:nvPr/>
        </p:nvSpPr>
        <p:spPr>
          <a:xfrm>
            <a:off x="7217486" y="5650992"/>
            <a:ext cx="2313368" cy="274320"/>
          </a:xfrm>
          <a:prstGeom prst="rect">
            <a:avLst/>
          </a:prstGeom>
          <a:noFill/>
          <a:ln/>
        </p:spPr>
        <p:txBody>
          <a:bodyPr wrap="square" lIns="0" tIns="0" rIns="0" bIns="0" rtlCol="0" anchor="t"/>
          <a:lstStyle/>
          <a:p>
            <a:pPr marL="0" indent="0" algn="ctr">
              <a:buNone/>
            </a:pPr>
            <a:r>
              <a:rPr lang="en-US" sz="1200" b="1" dirty="0">
                <a:solidFill>
                  <a:schemeClr val="tx2"/>
                </a:solidFill>
              </a:rPr>
              <a:t>Registration, step 1 of 5</a:t>
            </a:r>
            <a:endParaRPr lang="en-US" sz="1200" dirty="0"/>
          </a:p>
        </p:txBody>
      </p:sp>
      <p:pic>
        <p:nvPicPr>
          <p:cNvPr id="19" name="Phone: Census update" descr="C:\Users\Dave\AppData\Local\Temp\claude\E--DEVELOPER--WEB--PARISH-MEMBERS-REGISTRY\9cfa56b2-76b0-4da3-8bb7-a6a7d55b9d8c\scratchpad\img\phone-mob-census.png"/>
          <p:cNvPicPr>
            <a:picLocks noChangeAspect="1"/>
          </p:cNvPicPr>
          <p:nvPr/>
        </p:nvPicPr>
        <p:blipFill>
          <a:blip r:embed="rId8"/>
          <a:stretch>
            <a:fillRect/>
          </a:stretch>
        </p:blipFill>
        <p:spPr>
          <a:xfrm>
            <a:off x="9695447" y="1463040"/>
            <a:ext cx="1947608" cy="4114800"/>
          </a:xfrm>
          <a:prstGeom prst="rect">
            <a:avLst/>
          </a:prstGeom>
        </p:spPr>
      </p:pic>
      <p:sp>
        <p:nvSpPr>
          <p:cNvPr id="20" name="Text 12"/>
          <p:cNvSpPr txBox="1"/>
          <p:nvPr/>
        </p:nvSpPr>
        <p:spPr>
          <a:xfrm>
            <a:off x="9512567" y="5650992"/>
            <a:ext cx="2313368" cy="274320"/>
          </a:xfrm>
          <a:prstGeom prst="rect">
            <a:avLst/>
          </a:prstGeom>
          <a:noFill/>
          <a:ln/>
        </p:spPr>
        <p:txBody>
          <a:bodyPr wrap="square" lIns="0" tIns="0" rIns="0" bIns="0" rtlCol="0" anchor="t"/>
          <a:lstStyle/>
          <a:p>
            <a:pPr marL="0" indent="0" algn="ctr">
              <a:buNone/>
            </a:pPr>
            <a:r>
              <a:rPr lang="en-US" sz="1200" b="1" dirty="0">
                <a:solidFill>
                  <a:schemeClr val="tx2"/>
                </a:solidFill>
              </a:rPr>
              <a:t>Census update</a:t>
            </a:r>
            <a:endParaRPr lang="en-US" sz="1200" dirty="0"/>
          </a:p>
        </p:txBody>
      </p:sp>
      <p:sp>
        <p:nvSpPr>
          <p:cNvPr id="21" name="Text 13"/>
          <p:cNvSpPr txBox="1"/>
          <p:nvPr/>
        </p:nvSpPr>
        <p:spPr>
          <a:xfrm>
            <a:off x="5105286" y="5943600"/>
            <a:ext cx="6537769" cy="256032"/>
          </a:xfrm>
          <a:prstGeom prst="rect">
            <a:avLst/>
          </a:prstGeom>
          <a:noFill/>
          <a:ln/>
        </p:spPr>
        <p:txBody>
          <a:bodyPr wrap="square" lIns="0" tIns="0" rIns="0" bIns="0" rtlCol="0" anchor="t"/>
          <a:lstStyle/>
          <a:p>
            <a:pPr marL="0" indent="0" algn="ctr">
              <a:buNone/>
            </a:pPr>
            <a:r>
              <a:rPr lang="en-US" sz="1000" i="1" dirty="0">
                <a:solidFill>
                  <a:schemeClr val="accent5"/>
                </a:solidFill>
              </a:rPr>
              <a:t>Screens from the demo site, with sample data</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91672" cy="822960"/>
          </a:xfrm>
          <a:prstGeom prst="rect">
            <a:avLst/>
          </a:prstGeom>
          <a:noFill/>
          <a:ln/>
        </p:spPr>
        <p:txBody>
          <a:bodyPr wrap="square" lIns="0" tIns="0" rIns="0" bIns="0" rtlCol="0" anchor="ctr"/>
          <a:lstStyle/>
          <a:p>
            <a:pPr marL="0" indent="0" algn="l">
              <a:buNone/>
            </a:pPr>
            <a:r>
              <a:rPr lang="en-US" sz="3200" b="1" dirty="0">
                <a:solidFill>
                  <a:schemeClr val="tx2"/>
                </a:solidFill>
                <a:latin typeface="+mj-lt" pitchFamily="34" charset="0"/>
                <a:ea typeface="+mj-lt" pitchFamily="34" charset="-122"/>
                <a:cs typeface="+mj-lt" pitchFamily="34" charset="-120"/>
              </a:rPr>
              <a:t>The parish office works from one queue, not piles of paper</a:t>
            </a:r>
            <a:endParaRPr lang="en-US" sz="3200" dirty="0"/>
          </a:p>
        </p:txBody>
      </p:sp>
      <p:pic>
        <p:nvPicPr>
          <p:cNvPr id="3" name="Requests page" descr="C:\Users\Dave\AppData\Local\Temp\claude\E--DEVELOPER--WEB--PARISH-MEMBERS-REGISTRY\9cfa56b2-76b0-4da3-8bb7-a6a7d55b9d8c\scratchpad\img\browser-adm-requests.png"/>
          <p:cNvPicPr>
            <a:picLocks noChangeAspect="1"/>
          </p:cNvPicPr>
          <p:nvPr/>
        </p:nvPicPr>
        <p:blipFill>
          <a:blip r:embed="rId3"/>
          <a:stretch>
            <a:fillRect/>
          </a:stretch>
        </p:blipFill>
        <p:spPr>
          <a:xfrm>
            <a:off x="548640" y="1463040"/>
            <a:ext cx="5949193" cy="4526280"/>
          </a:xfrm>
          <a:prstGeom prst="rect">
            <a:avLst/>
          </a:prstGeom>
        </p:spPr>
      </p:pic>
      <p:sp>
        <p:nvSpPr>
          <p:cNvPr id="4" name="Text 1"/>
          <p:cNvSpPr txBox="1"/>
          <p:nvPr/>
        </p:nvSpPr>
        <p:spPr>
          <a:xfrm>
            <a:off x="548640" y="6035040"/>
            <a:ext cx="5949193" cy="256032"/>
          </a:xfrm>
          <a:prstGeom prst="rect">
            <a:avLst/>
          </a:prstGeom>
          <a:noFill/>
          <a:ln/>
        </p:spPr>
        <p:txBody>
          <a:bodyPr wrap="square" lIns="0" tIns="0" rIns="0" bIns="0" rtlCol="0" anchor="t"/>
          <a:lstStyle/>
          <a:p>
            <a:pPr marL="0" indent="0" algn="l">
              <a:buNone/>
            </a:pPr>
            <a:r>
              <a:rPr lang="en-US" sz="1000" i="1" dirty="0">
                <a:solidFill>
                  <a:schemeClr val="accent5"/>
                </a:solidFill>
              </a:rPr>
              <a:t>Requests page on the demo site, with sample data</a:t>
            </a:r>
            <a:endParaRPr lang="en-US" sz="1000" dirty="0"/>
          </a:p>
        </p:txBody>
      </p:sp>
      <p:sp>
        <p:nvSpPr>
          <p:cNvPr id="5" name="New families wait to be verified circle"/>
          <p:cNvSpPr/>
          <p:nvPr/>
        </p:nvSpPr>
        <p:spPr>
          <a:xfrm>
            <a:off x="6909313" y="1481328"/>
            <a:ext cx="475488" cy="475488"/>
          </a:xfrm>
          <a:prstGeom prst="ellipse">
            <a:avLst/>
          </a:prstGeom>
          <a:solidFill>
            <a:schemeClr val="accent1"/>
          </a:solidFill>
          <a:ln/>
        </p:spPr>
      </p:sp>
      <p:pic>
        <p:nvPicPr>
          <p:cNvPr id="6" name="New families wait to be verified icon" descr="preencoded.png"/>
          <p:cNvPicPr>
            <a:picLocks noChangeAspect="1"/>
          </p:cNvPicPr>
          <p:nvPr/>
        </p:nvPicPr>
        <p:blipFill>
          <a:blip r:embed="rId4"/>
          <a:stretch>
            <a:fillRect/>
          </a:stretch>
        </p:blipFill>
        <p:spPr>
          <a:xfrm>
            <a:off x="7028185" y="1600200"/>
            <a:ext cx="237744" cy="237744"/>
          </a:xfrm>
          <a:prstGeom prst="rect">
            <a:avLst/>
          </a:prstGeom>
        </p:spPr>
      </p:pic>
      <p:sp>
        <p:nvSpPr>
          <p:cNvPr id="7" name="Text 3"/>
          <p:cNvSpPr txBox="1"/>
          <p:nvPr/>
        </p:nvSpPr>
        <p:spPr>
          <a:xfrm>
            <a:off x="7549393" y="1444752"/>
            <a:ext cx="4093662" cy="329184"/>
          </a:xfrm>
          <a:prstGeom prst="rect">
            <a:avLst/>
          </a:prstGeom>
          <a:noFill/>
          <a:ln/>
        </p:spPr>
        <p:txBody>
          <a:bodyPr wrap="square" lIns="0" tIns="0" rIns="0" bIns="0" rtlCol="0" anchor="t"/>
          <a:lstStyle/>
          <a:p>
            <a:pPr marL="0" indent="0">
              <a:buNone/>
            </a:pPr>
            <a:r>
              <a:rPr lang="en-US" sz="1600" b="1" dirty="0">
                <a:solidFill>
                  <a:schemeClr val="tx2"/>
                </a:solidFill>
              </a:rPr>
              <a:t>New families wait to be verified</a:t>
            </a:r>
            <a:endParaRPr lang="en-US" sz="1600" dirty="0"/>
          </a:p>
        </p:txBody>
      </p:sp>
      <p:sp>
        <p:nvSpPr>
          <p:cNvPr id="8" name="Text 4"/>
          <p:cNvSpPr txBox="1"/>
          <p:nvPr/>
        </p:nvSpPr>
        <p:spPr>
          <a:xfrm>
            <a:off x="7549393" y="1783080"/>
            <a:ext cx="4093662" cy="502920"/>
          </a:xfrm>
          <a:prstGeom prst="rect">
            <a:avLst/>
          </a:prstGeom>
          <a:noFill/>
          <a:ln/>
        </p:spPr>
        <p:txBody>
          <a:bodyPr wrap="square" lIns="0" tIns="0" rIns="0" bIns="0" rtlCol="0" anchor="t"/>
          <a:lstStyle/>
          <a:p>
            <a:pPr marL="0" indent="0">
              <a:buNone/>
            </a:pPr>
            <a:r>
              <a:rPr lang="en-US" sz="1400" dirty="0">
                <a:solidFill>
                  <a:schemeClr val="tx1"/>
                </a:solidFill>
              </a:rPr>
              <a:t>Staff check each one; who verified it is recorded.</a:t>
            </a:r>
            <a:endParaRPr lang="en-US" sz="1400" dirty="0"/>
          </a:p>
        </p:txBody>
      </p:sp>
      <p:sp>
        <p:nvSpPr>
          <p:cNvPr id="9" name="Duplicates are flagged circle"/>
          <p:cNvSpPr/>
          <p:nvPr/>
        </p:nvSpPr>
        <p:spPr>
          <a:xfrm>
            <a:off x="6909313" y="2395728"/>
            <a:ext cx="475488" cy="475488"/>
          </a:xfrm>
          <a:prstGeom prst="ellipse">
            <a:avLst/>
          </a:prstGeom>
          <a:solidFill>
            <a:schemeClr val="accent1"/>
          </a:solidFill>
          <a:ln/>
        </p:spPr>
      </p:sp>
      <p:pic>
        <p:nvPicPr>
          <p:cNvPr id="10" name="Duplicates are flagged icon" descr="preencoded.png"/>
          <p:cNvPicPr>
            <a:picLocks noChangeAspect="1"/>
          </p:cNvPicPr>
          <p:nvPr/>
        </p:nvPicPr>
        <p:blipFill>
          <a:blip r:embed="rId5"/>
          <a:stretch>
            <a:fillRect/>
          </a:stretch>
        </p:blipFill>
        <p:spPr>
          <a:xfrm>
            <a:off x="7028185" y="2514600"/>
            <a:ext cx="237744" cy="237744"/>
          </a:xfrm>
          <a:prstGeom prst="rect">
            <a:avLst/>
          </a:prstGeom>
        </p:spPr>
      </p:pic>
      <p:sp>
        <p:nvSpPr>
          <p:cNvPr id="11" name="Text 6"/>
          <p:cNvSpPr txBox="1"/>
          <p:nvPr/>
        </p:nvSpPr>
        <p:spPr>
          <a:xfrm>
            <a:off x="7549393" y="2359152"/>
            <a:ext cx="4093662" cy="329184"/>
          </a:xfrm>
          <a:prstGeom prst="rect">
            <a:avLst/>
          </a:prstGeom>
          <a:noFill/>
          <a:ln/>
        </p:spPr>
        <p:txBody>
          <a:bodyPr wrap="square" lIns="0" tIns="0" rIns="0" bIns="0" rtlCol="0" anchor="t"/>
          <a:lstStyle/>
          <a:p>
            <a:pPr marL="0" indent="0">
              <a:buNone/>
            </a:pPr>
            <a:r>
              <a:rPr lang="en-US" sz="1600" b="1" dirty="0">
                <a:solidFill>
                  <a:schemeClr val="tx2"/>
                </a:solidFill>
              </a:rPr>
              <a:t>Duplicates are flagged</a:t>
            </a:r>
            <a:endParaRPr lang="en-US" sz="1600" dirty="0"/>
          </a:p>
        </p:txBody>
      </p:sp>
      <p:sp>
        <p:nvSpPr>
          <p:cNvPr id="12" name="Text 7"/>
          <p:cNvSpPr txBox="1"/>
          <p:nvPr/>
        </p:nvSpPr>
        <p:spPr>
          <a:xfrm>
            <a:off x="7549393" y="2697480"/>
            <a:ext cx="4093662" cy="502920"/>
          </a:xfrm>
          <a:prstGeom prst="rect">
            <a:avLst/>
          </a:prstGeom>
          <a:noFill/>
          <a:ln/>
        </p:spPr>
        <p:txBody>
          <a:bodyPr wrap="square" lIns="0" tIns="0" rIns="0" bIns="0" rtlCol="0" anchor="t"/>
          <a:lstStyle/>
          <a:p>
            <a:pPr marL="0" indent="0">
              <a:buNone/>
            </a:pPr>
            <a:r>
              <a:rPr lang="en-US" sz="1400" dirty="0">
                <a:solidFill>
                  <a:schemeClr val="tx1"/>
                </a:solidFill>
              </a:rPr>
              <a:t>The same person or house registered twice is caught.</a:t>
            </a:r>
            <a:endParaRPr lang="en-US" sz="1400" dirty="0"/>
          </a:p>
        </p:txBody>
      </p:sp>
      <p:sp>
        <p:nvSpPr>
          <p:cNvPr id="13" name="Every request is tracked circle"/>
          <p:cNvSpPr/>
          <p:nvPr/>
        </p:nvSpPr>
        <p:spPr>
          <a:xfrm>
            <a:off x="6909313" y="3310128"/>
            <a:ext cx="475488" cy="475488"/>
          </a:xfrm>
          <a:prstGeom prst="ellipse">
            <a:avLst/>
          </a:prstGeom>
          <a:solidFill>
            <a:schemeClr val="accent1"/>
          </a:solidFill>
          <a:ln/>
        </p:spPr>
      </p:sp>
      <p:pic>
        <p:nvPicPr>
          <p:cNvPr id="14" name="Every request is tracked icon" descr="preencoded.png"/>
          <p:cNvPicPr>
            <a:picLocks noChangeAspect="1"/>
          </p:cNvPicPr>
          <p:nvPr/>
        </p:nvPicPr>
        <p:blipFill>
          <a:blip r:embed="rId6"/>
          <a:stretch>
            <a:fillRect/>
          </a:stretch>
        </p:blipFill>
        <p:spPr>
          <a:xfrm>
            <a:off x="7028185" y="3429000"/>
            <a:ext cx="237744" cy="237744"/>
          </a:xfrm>
          <a:prstGeom prst="rect">
            <a:avLst/>
          </a:prstGeom>
        </p:spPr>
      </p:pic>
      <p:sp>
        <p:nvSpPr>
          <p:cNvPr id="15" name="Text 9"/>
          <p:cNvSpPr txBox="1"/>
          <p:nvPr/>
        </p:nvSpPr>
        <p:spPr>
          <a:xfrm>
            <a:off x="7549393" y="3273552"/>
            <a:ext cx="4093662" cy="329184"/>
          </a:xfrm>
          <a:prstGeom prst="rect">
            <a:avLst/>
          </a:prstGeom>
          <a:noFill/>
          <a:ln/>
        </p:spPr>
        <p:txBody>
          <a:bodyPr wrap="square" lIns="0" tIns="0" rIns="0" bIns="0" rtlCol="0" anchor="t"/>
          <a:lstStyle/>
          <a:p>
            <a:pPr marL="0" indent="0">
              <a:buNone/>
            </a:pPr>
            <a:r>
              <a:rPr lang="en-US" sz="1600" b="1" dirty="0">
                <a:solidFill>
                  <a:schemeClr val="tx2"/>
                </a:solidFill>
              </a:rPr>
              <a:t>Every request is tracked</a:t>
            </a:r>
            <a:endParaRPr lang="en-US" sz="1600" dirty="0"/>
          </a:p>
        </p:txBody>
      </p:sp>
      <p:sp>
        <p:nvSpPr>
          <p:cNvPr id="16" name="Text 10"/>
          <p:cNvSpPr txBox="1"/>
          <p:nvPr/>
        </p:nvSpPr>
        <p:spPr>
          <a:xfrm>
            <a:off x="7549393" y="3611880"/>
            <a:ext cx="4093662" cy="502920"/>
          </a:xfrm>
          <a:prstGeom prst="rect">
            <a:avLst/>
          </a:prstGeom>
          <a:noFill/>
          <a:ln/>
        </p:spPr>
        <p:txBody>
          <a:bodyPr wrap="square" lIns="0" tIns="0" rIns="0" bIns="0" rtlCol="0" anchor="t"/>
          <a:lstStyle/>
          <a:p>
            <a:pPr marL="0" indent="0">
              <a:buNone/>
            </a:pPr>
            <a:r>
              <a:rPr lang="en-US" sz="1400" dirty="0">
                <a:solidFill>
                  <a:schemeClr val="tx1"/>
                </a:solidFill>
              </a:rPr>
              <a:t>From Received to Released, with a reference number.</a:t>
            </a:r>
            <a:endParaRPr lang="en-US" sz="1400" dirty="0"/>
          </a:p>
        </p:txBody>
      </p:sp>
      <p:sp>
        <p:nvSpPr>
          <p:cNvPr id="17" name="Phone alerts for new requests circle"/>
          <p:cNvSpPr/>
          <p:nvPr/>
        </p:nvSpPr>
        <p:spPr>
          <a:xfrm>
            <a:off x="6909313" y="4224528"/>
            <a:ext cx="475488" cy="475488"/>
          </a:xfrm>
          <a:prstGeom prst="ellipse">
            <a:avLst/>
          </a:prstGeom>
          <a:solidFill>
            <a:schemeClr val="accent1"/>
          </a:solidFill>
          <a:ln/>
        </p:spPr>
      </p:sp>
      <p:pic>
        <p:nvPicPr>
          <p:cNvPr id="18" name="Phone alerts for new requests icon" descr="preencoded.png"/>
          <p:cNvPicPr>
            <a:picLocks noChangeAspect="1"/>
          </p:cNvPicPr>
          <p:nvPr/>
        </p:nvPicPr>
        <p:blipFill>
          <a:blip r:embed="rId7"/>
          <a:stretch>
            <a:fillRect/>
          </a:stretch>
        </p:blipFill>
        <p:spPr>
          <a:xfrm>
            <a:off x="7028185" y="4343400"/>
            <a:ext cx="237744" cy="237744"/>
          </a:xfrm>
          <a:prstGeom prst="rect">
            <a:avLst/>
          </a:prstGeom>
        </p:spPr>
      </p:pic>
      <p:sp>
        <p:nvSpPr>
          <p:cNvPr id="19" name="Text 12"/>
          <p:cNvSpPr txBox="1"/>
          <p:nvPr/>
        </p:nvSpPr>
        <p:spPr>
          <a:xfrm>
            <a:off x="7549393" y="4187952"/>
            <a:ext cx="4093662" cy="329184"/>
          </a:xfrm>
          <a:prstGeom prst="rect">
            <a:avLst/>
          </a:prstGeom>
          <a:noFill/>
          <a:ln/>
        </p:spPr>
        <p:txBody>
          <a:bodyPr wrap="square" lIns="0" tIns="0" rIns="0" bIns="0" rtlCol="0" anchor="t"/>
          <a:lstStyle/>
          <a:p>
            <a:pPr marL="0" indent="0">
              <a:buNone/>
            </a:pPr>
            <a:r>
              <a:rPr lang="en-US" sz="1600" b="1" dirty="0">
                <a:solidFill>
                  <a:schemeClr val="tx2"/>
                </a:solidFill>
              </a:rPr>
              <a:t>Phone alerts for new requests</a:t>
            </a:r>
            <a:endParaRPr lang="en-US" sz="1600" dirty="0"/>
          </a:p>
        </p:txBody>
      </p:sp>
      <p:sp>
        <p:nvSpPr>
          <p:cNvPr id="20" name="Text 13"/>
          <p:cNvSpPr txBox="1"/>
          <p:nvPr/>
        </p:nvSpPr>
        <p:spPr>
          <a:xfrm>
            <a:off x="7549393" y="4526280"/>
            <a:ext cx="4093662" cy="502920"/>
          </a:xfrm>
          <a:prstGeom prst="rect">
            <a:avLst/>
          </a:prstGeom>
          <a:noFill/>
          <a:ln/>
        </p:spPr>
        <p:txBody>
          <a:bodyPr wrap="square" lIns="0" tIns="0" rIns="0" bIns="0" rtlCol="0" anchor="t"/>
          <a:lstStyle/>
          <a:p>
            <a:pPr marL="0" indent="0">
              <a:buNone/>
            </a:pPr>
            <a:r>
              <a:rPr lang="en-US" sz="1400" dirty="0">
                <a:solidFill>
                  <a:schemeClr val="tx1"/>
                </a:solidFill>
              </a:rPr>
              <a:t>Plus a 7:00 AM summary of what is still waiting.</a:t>
            </a:r>
            <a:endParaRPr lang="en-US" sz="1400" dirty="0"/>
          </a:p>
        </p:txBody>
      </p:sp>
      <p:sp>
        <p:nvSpPr>
          <p:cNvPr id="21" name="Nothing lost by mistake circle"/>
          <p:cNvSpPr/>
          <p:nvPr/>
        </p:nvSpPr>
        <p:spPr>
          <a:xfrm>
            <a:off x="6909313" y="5138928"/>
            <a:ext cx="475488" cy="475488"/>
          </a:xfrm>
          <a:prstGeom prst="ellipse">
            <a:avLst/>
          </a:prstGeom>
          <a:solidFill>
            <a:schemeClr val="accent1"/>
          </a:solidFill>
          <a:ln/>
        </p:spPr>
      </p:sp>
      <p:pic>
        <p:nvPicPr>
          <p:cNvPr id="22" name="Nothing lost by mistake icon" descr="preencoded.png"/>
          <p:cNvPicPr>
            <a:picLocks noChangeAspect="1"/>
          </p:cNvPicPr>
          <p:nvPr/>
        </p:nvPicPr>
        <p:blipFill>
          <a:blip r:embed="rId8"/>
          <a:stretch>
            <a:fillRect/>
          </a:stretch>
        </p:blipFill>
        <p:spPr>
          <a:xfrm>
            <a:off x="7028185" y="5257800"/>
            <a:ext cx="237744" cy="237744"/>
          </a:xfrm>
          <a:prstGeom prst="rect">
            <a:avLst/>
          </a:prstGeom>
        </p:spPr>
      </p:pic>
      <p:sp>
        <p:nvSpPr>
          <p:cNvPr id="23" name="Text 15"/>
          <p:cNvSpPr txBox="1"/>
          <p:nvPr/>
        </p:nvSpPr>
        <p:spPr>
          <a:xfrm>
            <a:off x="7549393" y="5102352"/>
            <a:ext cx="4093662" cy="329184"/>
          </a:xfrm>
          <a:prstGeom prst="rect">
            <a:avLst/>
          </a:prstGeom>
          <a:noFill/>
          <a:ln/>
        </p:spPr>
        <p:txBody>
          <a:bodyPr wrap="square" lIns="0" tIns="0" rIns="0" bIns="0" rtlCol="0" anchor="t"/>
          <a:lstStyle/>
          <a:p>
            <a:pPr marL="0" indent="0">
              <a:buNone/>
            </a:pPr>
            <a:r>
              <a:rPr lang="en-US" sz="1600" b="1" dirty="0">
                <a:solidFill>
                  <a:schemeClr val="tx2"/>
                </a:solidFill>
              </a:rPr>
              <a:t>Nothing lost by mistake</a:t>
            </a:r>
            <a:endParaRPr lang="en-US" sz="1600" dirty="0"/>
          </a:p>
        </p:txBody>
      </p:sp>
      <p:sp>
        <p:nvSpPr>
          <p:cNvPr id="24" name="Text 16"/>
          <p:cNvSpPr txBox="1"/>
          <p:nvPr/>
        </p:nvSpPr>
        <p:spPr>
          <a:xfrm>
            <a:off x="7549393" y="5440680"/>
            <a:ext cx="4093662" cy="502920"/>
          </a:xfrm>
          <a:prstGeom prst="rect">
            <a:avLst/>
          </a:prstGeom>
          <a:noFill/>
          <a:ln/>
        </p:spPr>
        <p:txBody>
          <a:bodyPr wrap="square" lIns="0" tIns="0" rIns="0" bIns="0" rtlCol="0" anchor="t"/>
          <a:lstStyle/>
          <a:p>
            <a:pPr marL="0" indent="0">
              <a:buNone/>
            </a:pPr>
            <a:r>
              <a:rPr lang="en-US" sz="1400" dirty="0">
                <a:solidFill>
                  <a:schemeClr val="tx1"/>
                </a:solidFill>
              </a:rPr>
              <a:t>Deleted records stay in a Trash for 30 days.</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91672" cy="822960"/>
          </a:xfrm>
          <a:prstGeom prst="rect">
            <a:avLst/>
          </a:prstGeom>
          <a:noFill/>
          <a:ln/>
        </p:spPr>
        <p:txBody>
          <a:bodyPr wrap="square" lIns="0" tIns="0" rIns="0" bIns="0" rtlCol="0" anchor="ctr"/>
          <a:lstStyle/>
          <a:p>
            <a:pPr marL="0" indent="0" algn="l">
              <a:buNone/>
            </a:pPr>
            <a:r>
              <a:rPr lang="en-US" sz="3200" b="1" dirty="0">
                <a:solidFill>
                  <a:schemeClr val="tx2"/>
                </a:solidFill>
                <a:latin typeface="+mj-lt" pitchFamily="34" charset="0"/>
                <a:ea typeface="+mj-lt" pitchFamily="34" charset="-122"/>
                <a:cs typeface="+mj-lt" pitchFamily="34" charset="-120"/>
              </a:rPr>
              <a:t>GKK leaders lead the census in their own community</a:t>
            </a:r>
            <a:endParaRPr lang="en-US" sz="3200" dirty="0"/>
          </a:p>
        </p:txBody>
      </p:sp>
      <p:pic>
        <p:nvPicPr>
          <p:cNvPr id="3" name="Census page" descr="C:\Users\Dave\AppData\Local\Temp\claude\E--DEVELOPER--WEB--PARISH-MEMBERS-REGISTRY\9cfa56b2-76b0-4da3-8bb7-a6a7d55b9d8c\scratchpad\img\browser-adm-census.png"/>
          <p:cNvPicPr>
            <a:picLocks noChangeAspect="1"/>
          </p:cNvPicPr>
          <p:nvPr/>
        </p:nvPicPr>
        <p:blipFill>
          <a:blip r:embed="rId3"/>
          <a:stretch>
            <a:fillRect/>
          </a:stretch>
        </p:blipFill>
        <p:spPr>
          <a:xfrm>
            <a:off x="5693862" y="1463040"/>
            <a:ext cx="5949193" cy="4526280"/>
          </a:xfrm>
          <a:prstGeom prst="rect">
            <a:avLst/>
          </a:prstGeom>
        </p:spPr>
      </p:pic>
      <p:sp>
        <p:nvSpPr>
          <p:cNvPr id="4" name="Text 1"/>
          <p:cNvSpPr txBox="1"/>
          <p:nvPr/>
        </p:nvSpPr>
        <p:spPr>
          <a:xfrm>
            <a:off x="5693862" y="6035040"/>
            <a:ext cx="5949193" cy="256032"/>
          </a:xfrm>
          <a:prstGeom prst="rect">
            <a:avLst/>
          </a:prstGeom>
          <a:noFill/>
          <a:ln/>
        </p:spPr>
        <p:txBody>
          <a:bodyPr wrap="square" lIns="0" tIns="0" rIns="0" bIns="0" rtlCol="0" anchor="t"/>
          <a:lstStyle/>
          <a:p>
            <a:pPr marL="0" indent="0" algn="l">
              <a:buNone/>
            </a:pPr>
            <a:r>
              <a:rPr lang="en-US" sz="1000" i="1" dirty="0">
                <a:solidFill>
                  <a:schemeClr val="accent5"/>
                </a:solidFill>
              </a:rPr>
              <a:t>Census page on the demo site, with sample data</a:t>
            </a:r>
            <a:endParaRPr lang="en-US" sz="1000" dirty="0"/>
          </a:p>
        </p:txBody>
      </p:sp>
      <p:sp>
        <p:nvSpPr>
          <p:cNvPr id="5" name="Only their own GKK circle"/>
          <p:cNvSpPr/>
          <p:nvPr/>
        </p:nvSpPr>
        <p:spPr>
          <a:xfrm>
            <a:off x="548640" y="1572768"/>
            <a:ext cx="512064" cy="512064"/>
          </a:xfrm>
          <a:prstGeom prst="ellipse">
            <a:avLst/>
          </a:prstGeom>
          <a:solidFill>
            <a:schemeClr val="accent1"/>
          </a:solidFill>
          <a:ln/>
        </p:spPr>
      </p:sp>
      <p:pic>
        <p:nvPicPr>
          <p:cNvPr id="6" name="Only their own GKK icon" descr="preencoded.png"/>
          <p:cNvPicPr>
            <a:picLocks noChangeAspect="1"/>
          </p:cNvPicPr>
          <p:nvPr/>
        </p:nvPicPr>
        <p:blipFill>
          <a:blip r:embed="rId4"/>
          <a:stretch>
            <a:fillRect/>
          </a:stretch>
        </p:blipFill>
        <p:spPr>
          <a:xfrm>
            <a:off x="676656" y="1700784"/>
            <a:ext cx="256032" cy="256032"/>
          </a:xfrm>
          <a:prstGeom prst="rect">
            <a:avLst/>
          </a:prstGeom>
        </p:spPr>
      </p:pic>
      <p:sp>
        <p:nvSpPr>
          <p:cNvPr id="7" name="Text 3"/>
          <p:cNvSpPr txBox="1"/>
          <p:nvPr/>
        </p:nvSpPr>
        <p:spPr>
          <a:xfrm>
            <a:off x="1234440" y="1545336"/>
            <a:ext cx="4002222" cy="347472"/>
          </a:xfrm>
          <a:prstGeom prst="rect">
            <a:avLst/>
          </a:prstGeom>
          <a:noFill/>
          <a:ln/>
        </p:spPr>
        <p:txBody>
          <a:bodyPr wrap="square" lIns="0" tIns="0" rIns="0" bIns="0" rtlCol="0" anchor="t"/>
          <a:lstStyle/>
          <a:p>
            <a:pPr marL="0" indent="0">
              <a:buNone/>
            </a:pPr>
            <a:r>
              <a:rPr lang="en-US" sz="1700" b="1" dirty="0">
                <a:solidFill>
                  <a:schemeClr val="tx2"/>
                </a:solidFill>
              </a:rPr>
              <a:t>Only their own GKK</a:t>
            </a:r>
            <a:endParaRPr lang="en-US" sz="1700" dirty="0"/>
          </a:p>
        </p:txBody>
      </p:sp>
      <p:sp>
        <p:nvSpPr>
          <p:cNvPr id="8" name="Text 4"/>
          <p:cNvSpPr txBox="1"/>
          <p:nvPr/>
        </p:nvSpPr>
        <p:spPr>
          <a:xfrm>
            <a:off x="1234440" y="1911096"/>
            <a:ext cx="4002222" cy="640080"/>
          </a:xfrm>
          <a:prstGeom prst="rect">
            <a:avLst/>
          </a:prstGeom>
          <a:noFill/>
          <a:ln/>
        </p:spPr>
        <p:txBody>
          <a:bodyPr wrap="square" lIns="0" tIns="0" rIns="0" bIns="0" rtlCol="0" anchor="t"/>
          <a:lstStyle/>
          <a:p>
            <a:pPr marL="0" indent="0">
              <a:buNone/>
            </a:pPr>
            <a:r>
              <a:rPr lang="en-US" sz="1400" dirty="0">
                <a:solidFill>
                  <a:schemeClr val="tx1"/>
                </a:solidFill>
              </a:rPr>
              <a:t>They see their own families and members, and no one else’s.</a:t>
            </a:r>
            <a:endParaRPr lang="en-US" sz="1400" dirty="0"/>
          </a:p>
        </p:txBody>
      </p:sp>
      <p:sp>
        <p:nvSpPr>
          <p:cNvPr id="9" name="Last year’s list, ticked off circle"/>
          <p:cNvSpPr/>
          <p:nvPr/>
        </p:nvSpPr>
        <p:spPr>
          <a:xfrm>
            <a:off x="548640" y="2688336"/>
            <a:ext cx="512064" cy="512064"/>
          </a:xfrm>
          <a:prstGeom prst="ellipse">
            <a:avLst/>
          </a:prstGeom>
          <a:solidFill>
            <a:schemeClr val="accent1"/>
          </a:solidFill>
          <a:ln/>
        </p:spPr>
      </p:sp>
      <p:pic>
        <p:nvPicPr>
          <p:cNvPr id="10" name="Last year’s list, ticked off icon" descr="preencoded.png"/>
          <p:cNvPicPr>
            <a:picLocks noChangeAspect="1"/>
          </p:cNvPicPr>
          <p:nvPr/>
        </p:nvPicPr>
        <p:blipFill>
          <a:blip r:embed="rId5"/>
          <a:stretch>
            <a:fillRect/>
          </a:stretch>
        </p:blipFill>
        <p:spPr>
          <a:xfrm>
            <a:off x="676656" y="2816352"/>
            <a:ext cx="256032" cy="256032"/>
          </a:xfrm>
          <a:prstGeom prst="rect">
            <a:avLst/>
          </a:prstGeom>
        </p:spPr>
      </p:pic>
      <p:sp>
        <p:nvSpPr>
          <p:cNvPr id="11" name="Text 6"/>
          <p:cNvSpPr txBox="1"/>
          <p:nvPr/>
        </p:nvSpPr>
        <p:spPr>
          <a:xfrm>
            <a:off x="1234440" y="2660904"/>
            <a:ext cx="4002222" cy="347472"/>
          </a:xfrm>
          <a:prstGeom prst="rect">
            <a:avLst/>
          </a:prstGeom>
          <a:noFill/>
          <a:ln/>
        </p:spPr>
        <p:txBody>
          <a:bodyPr wrap="square" lIns="0" tIns="0" rIns="0" bIns="0" rtlCol="0" anchor="t"/>
          <a:lstStyle/>
          <a:p>
            <a:pPr marL="0" indent="0">
              <a:buNone/>
            </a:pPr>
            <a:r>
              <a:rPr lang="en-US" sz="1700" b="1" dirty="0">
                <a:solidFill>
                  <a:schemeClr val="tx2"/>
                </a:solidFill>
              </a:rPr>
              <a:t>Last year’s list, ticked off</a:t>
            </a:r>
            <a:endParaRPr lang="en-US" sz="1700" dirty="0"/>
          </a:p>
        </p:txBody>
      </p:sp>
      <p:sp>
        <p:nvSpPr>
          <p:cNvPr id="12" name="Text 7"/>
          <p:cNvSpPr txBox="1"/>
          <p:nvPr/>
        </p:nvSpPr>
        <p:spPr>
          <a:xfrm>
            <a:off x="1234440" y="3026664"/>
            <a:ext cx="4002222" cy="640080"/>
          </a:xfrm>
          <a:prstGeom prst="rect">
            <a:avLst/>
          </a:prstGeom>
          <a:noFill/>
          <a:ln/>
        </p:spPr>
        <p:txBody>
          <a:bodyPr wrap="square" lIns="0" tIns="0" rIns="0" bIns="0" rtlCol="0" anchor="t"/>
          <a:lstStyle/>
          <a:p>
            <a:pPr marL="0" indent="0">
              <a:buNone/>
            </a:pPr>
            <a:r>
              <a:rPr lang="en-US" sz="1400" dirty="0">
                <a:solidFill>
                  <a:schemeClr val="tx1"/>
                </a:solidFill>
              </a:rPr>
              <a:t>Families still to register are clear at a glance.</a:t>
            </a:r>
            <a:endParaRPr lang="en-US" sz="1400" dirty="0"/>
          </a:p>
        </p:txBody>
      </p:sp>
      <p:sp>
        <p:nvSpPr>
          <p:cNvPr id="13" name="Online first, paper last circle"/>
          <p:cNvSpPr/>
          <p:nvPr/>
        </p:nvSpPr>
        <p:spPr>
          <a:xfrm>
            <a:off x="548640" y="3803904"/>
            <a:ext cx="512064" cy="512064"/>
          </a:xfrm>
          <a:prstGeom prst="ellipse">
            <a:avLst/>
          </a:prstGeom>
          <a:solidFill>
            <a:schemeClr val="accent1"/>
          </a:solidFill>
          <a:ln/>
        </p:spPr>
      </p:sp>
      <p:pic>
        <p:nvPicPr>
          <p:cNvPr id="14" name="Online first, paper last icon" descr="preencoded.png"/>
          <p:cNvPicPr>
            <a:picLocks noChangeAspect="1"/>
          </p:cNvPicPr>
          <p:nvPr/>
        </p:nvPicPr>
        <p:blipFill>
          <a:blip r:embed="rId6"/>
          <a:stretch>
            <a:fillRect/>
          </a:stretch>
        </p:blipFill>
        <p:spPr>
          <a:xfrm>
            <a:off x="676656" y="3931920"/>
            <a:ext cx="256032" cy="256032"/>
          </a:xfrm>
          <a:prstGeom prst="rect">
            <a:avLst/>
          </a:prstGeom>
        </p:spPr>
      </p:pic>
      <p:sp>
        <p:nvSpPr>
          <p:cNvPr id="15" name="Text 9"/>
          <p:cNvSpPr txBox="1"/>
          <p:nvPr/>
        </p:nvSpPr>
        <p:spPr>
          <a:xfrm>
            <a:off x="1234440" y="3776472"/>
            <a:ext cx="4002222" cy="347472"/>
          </a:xfrm>
          <a:prstGeom prst="rect">
            <a:avLst/>
          </a:prstGeom>
          <a:noFill/>
          <a:ln/>
        </p:spPr>
        <p:txBody>
          <a:bodyPr wrap="square" lIns="0" tIns="0" rIns="0" bIns="0" rtlCol="0" anchor="t"/>
          <a:lstStyle/>
          <a:p>
            <a:pPr marL="0" indent="0">
              <a:buNone/>
            </a:pPr>
            <a:r>
              <a:rPr lang="en-US" sz="1700" b="1" dirty="0">
                <a:solidFill>
                  <a:schemeClr val="tx2"/>
                </a:solidFill>
              </a:rPr>
              <a:t>Online first, paper last</a:t>
            </a:r>
            <a:endParaRPr lang="en-US" sz="1700" dirty="0"/>
          </a:p>
        </p:txBody>
      </p:sp>
      <p:sp>
        <p:nvSpPr>
          <p:cNvPr id="16" name="Text 10"/>
          <p:cNvSpPr txBox="1"/>
          <p:nvPr/>
        </p:nvSpPr>
        <p:spPr>
          <a:xfrm>
            <a:off x="1234440" y="4142232"/>
            <a:ext cx="4002222" cy="640080"/>
          </a:xfrm>
          <a:prstGeom prst="rect">
            <a:avLst/>
          </a:prstGeom>
          <a:noFill/>
          <a:ln/>
        </p:spPr>
        <p:txBody>
          <a:bodyPr wrap="square" lIns="0" tIns="0" rIns="0" bIns="0" rtlCol="0" anchor="t"/>
          <a:lstStyle/>
          <a:p>
            <a:pPr marL="0" indent="0">
              <a:buNone/>
            </a:pPr>
            <a:r>
              <a:rPr lang="en-US" sz="1400" dirty="0">
                <a:solidFill>
                  <a:schemeClr val="tx1"/>
                </a:solidFill>
              </a:rPr>
              <a:t>They help families update by phone, and print forms only when needed.</a:t>
            </a:r>
            <a:endParaRPr lang="en-US" sz="1400" dirty="0"/>
          </a:p>
        </p:txBody>
      </p:sp>
      <p:sp>
        <p:nvSpPr>
          <p:cNvPr id="17" name="Their GKK on the website circle"/>
          <p:cNvSpPr/>
          <p:nvPr/>
        </p:nvSpPr>
        <p:spPr>
          <a:xfrm>
            <a:off x="548640" y="4919472"/>
            <a:ext cx="512064" cy="512064"/>
          </a:xfrm>
          <a:prstGeom prst="ellipse">
            <a:avLst/>
          </a:prstGeom>
          <a:solidFill>
            <a:schemeClr val="accent1"/>
          </a:solidFill>
          <a:ln/>
        </p:spPr>
      </p:sp>
      <p:pic>
        <p:nvPicPr>
          <p:cNvPr id="18" name="Their GKK on the website icon" descr="preencoded.png"/>
          <p:cNvPicPr>
            <a:picLocks noChangeAspect="1"/>
          </p:cNvPicPr>
          <p:nvPr/>
        </p:nvPicPr>
        <p:blipFill>
          <a:blip r:embed="rId7"/>
          <a:stretch>
            <a:fillRect/>
          </a:stretch>
        </p:blipFill>
        <p:spPr>
          <a:xfrm>
            <a:off x="676656" y="5047488"/>
            <a:ext cx="256032" cy="256032"/>
          </a:xfrm>
          <a:prstGeom prst="rect">
            <a:avLst/>
          </a:prstGeom>
        </p:spPr>
      </p:pic>
      <p:sp>
        <p:nvSpPr>
          <p:cNvPr id="19" name="Text 12"/>
          <p:cNvSpPr txBox="1"/>
          <p:nvPr/>
        </p:nvSpPr>
        <p:spPr>
          <a:xfrm>
            <a:off x="1234440" y="4892040"/>
            <a:ext cx="4002222" cy="347472"/>
          </a:xfrm>
          <a:prstGeom prst="rect">
            <a:avLst/>
          </a:prstGeom>
          <a:noFill/>
          <a:ln/>
        </p:spPr>
        <p:txBody>
          <a:bodyPr wrap="square" lIns="0" tIns="0" rIns="0" bIns="0" rtlCol="0" anchor="t"/>
          <a:lstStyle/>
          <a:p>
            <a:pPr marL="0" indent="0">
              <a:buNone/>
            </a:pPr>
            <a:r>
              <a:rPr lang="en-US" sz="1700" b="1" dirty="0">
                <a:solidFill>
                  <a:schemeClr val="tx2"/>
                </a:solidFill>
              </a:rPr>
              <a:t>Their GKK on the website</a:t>
            </a:r>
            <a:endParaRPr lang="en-US" sz="1700" dirty="0"/>
          </a:p>
        </p:txBody>
      </p:sp>
      <p:sp>
        <p:nvSpPr>
          <p:cNvPr id="20" name="Text 13"/>
          <p:cNvSpPr txBox="1"/>
          <p:nvPr/>
        </p:nvSpPr>
        <p:spPr>
          <a:xfrm>
            <a:off x="1234440" y="5257800"/>
            <a:ext cx="4002222" cy="640080"/>
          </a:xfrm>
          <a:prstGeom prst="rect">
            <a:avLst/>
          </a:prstGeom>
          <a:noFill/>
          <a:ln/>
        </p:spPr>
        <p:txBody>
          <a:bodyPr wrap="square" lIns="0" tIns="0" rIns="0" bIns="0" rtlCol="0" anchor="t"/>
          <a:lstStyle/>
          <a:p>
            <a:pPr marL="0" indent="0">
              <a:buNone/>
            </a:pPr>
            <a:r>
              <a:rPr lang="en-US" sz="1400" dirty="0">
                <a:solidFill>
                  <a:schemeClr val="tx1"/>
                </a:solidFill>
              </a:rPr>
              <a:t>Its chapel, photos, history and officers, kept up to date.</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91672" cy="822960"/>
          </a:xfrm>
          <a:prstGeom prst="rect">
            <a:avLst/>
          </a:prstGeom>
          <a:noFill/>
          <a:ln/>
        </p:spPr>
        <p:txBody>
          <a:bodyPr wrap="square" lIns="0" tIns="0" rIns="0" bIns="0" rtlCol="0" anchor="ctr"/>
          <a:lstStyle/>
          <a:p>
            <a:pPr marL="0" indent="0" algn="l">
              <a:buNone/>
            </a:pPr>
            <a:r>
              <a:rPr lang="en-US" sz="3200" b="1" dirty="0">
                <a:solidFill>
                  <a:schemeClr val="tx2"/>
                </a:solidFill>
                <a:latin typeface="+mj-lt" pitchFamily="34" charset="0"/>
                <a:ea typeface="+mj-lt" pitchFamily="34" charset="-122"/>
                <a:cs typeface="+mj-lt" pitchFamily="34" charset="-120"/>
              </a:rPr>
              <a:t>The council can plan from real numbers, GKK by GKK</a:t>
            </a:r>
            <a:endParaRPr lang="en-US" sz="3200" dirty="0"/>
          </a:p>
        </p:txBody>
      </p:sp>
      <p:sp>
        <p:nvSpPr>
          <p:cNvPr id="3" name="Text 1"/>
          <p:cNvSpPr txBox="1"/>
          <p:nvPr/>
        </p:nvSpPr>
        <p:spPr>
          <a:xfrm>
            <a:off x="548640" y="1463040"/>
            <a:ext cx="4160520" cy="365760"/>
          </a:xfrm>
          <a:prstGeom prst="rect">
            <a:avLst/>
          </a:prstGeom>
          <a:noFill/>
          <a:ln/>
        </p:spPr>
        <p:txBody>
          <a:bodyPr wrap="square" lIns="0" tIns="0" rIns="0" bIns="0" rtlCol="0" anchor="t"/>
          <a:lstStyle/>
          <a:p>
            <a:pPr marL="0" indent="0">
              <a:buNone/>
            </a:pPr>
            <a:r>
              <a:rPr lang="en-US" sz="1700" b="1" dirty="0">
                <a:solidFill>
                  <a:schemeClr val="accent1"/>
                </a:solidFill>
              </a:rPr>
              <a:t>Questions answered in seconds</a:t>
            </a:r>
            <a:endParaRPr lang="en-US" sz="1700" dirty="0"/>
          </a:p>
        </p:txBody>
      </p:sp>
      <p:sp>
        <p:nvSpPr>
          <p:cNvPr id="4" name="Question 1"/>
          <p:cNvSpPr/>
          <p:nvPr/>
        </p:nvSpPr>
        <p:spPr>
          <a:xfrm>
            <a:off x="548640" y="1965960"/>
            <a:ext cx="4160520" cy="868680"/>
          </a:xfrm>
          <a:prstGeom prst="roundRect">
            <a:avLst>
              <a:gd name="adj" fmla="val 12632"/>
            </a:avLst>
          </a:prstGeom>
          <a:solidFill>
            <a:schemeClr val="bg2"/>
          </a:solidFill>
          <a:ln/>
        </p:spPr>
      </p:sp>
      <p:sp>
        <p:nvSpPr>
          <p:cNvPr id="5" name="Text 3"/>
          <p:cNvSpPr/>
          <p:nvPr/>
        </p:nvSpPr>
        <p:spPr>
          <a:xfrm>
            <a:off x="731520" y="2139696"/>
            <a:ext cx="521208" cy="521208"/>
          </a:xfrm>
          <a:prstGeom prst="ellipse">
            <a:avLst/>
          </a:prstGeom>
          <a:solidFill>
            <a:schemeClr val="accent2"/>
          </a:solidFill>
          <a:ln/>
        </p:spPr>
        <p:txBody>
          <a:bodyPr wrap="square" lIns="0" tIns="0" rIns="0" bIns="0" rtlCol="0" anchor="ctr"/>
          <a:lstStyle/>
          <a:p>
            <a:pPr marL="0" indent="0" algn="ctr">
              <a:buNone/>
            </a:pPr>
            <a:r>
              <a:rPr lang="en-US" sz="1800" b="1" dirty="0">
                <a:solidFill>
                  <a:schemeClr val="tx2"/>
                </a:solidFill>
                <a:latin typeface="+mj-lt" pitchFamily="34" charset="0"/>
                <a:ea typeface="+mj-lt" pitchFamily="34" charset="-122"/>
                <a:cs typeface="+mj-lt" pitchFamily="34" charset="-120"/>
              </a:rPr>
              <a:t>1</a:t>
            </a:r>
            <a:endParaRPr lang="en-US" sz="1800" dirty="0"/>
          </a:p>
        </p:txBody>
      </p:sp>
      <p:sp>
        <p:nvSpPr>
          <p:cNvPr id="6" name="Text 4"/>
          <p:cNvSpPr txBox="1"/>
          <p:nvPr/>
        </p:nvSpPr>
        <p:spPr>
          <a:xfrm>
            <a:off x="1417320" y="1965960"/>
            <a:ext cx="3108960" cy="868680"/>
          </a:xfrm>
          <a:prstGeom prst="rect">
            <a:avLst/>
          </a:prstGeom>
          <a:noFill/>
          <a:ln/>
        </p:spPr>
        <p:txBody>
          <a:bodyPr wrap="square" lIns="0" tIns="0" rIns="0" bIns="0" rtlCol="0" anchor="ctr"/>
          <a:lstStyle/>
          <a:p>
            <a:pPr marL="0" indent="0">
              <a:buNone/>
            </a:pPr>
            <a:r>
              <a:rPr lang="en-US" sz="1500" b="1" dirty="0">
                <a:solidFill>
                  <a:schemeClr val="tx2"/>
                </a:solidFill>
              </a:rPr>
              <a:t>How many families and members does each GKK have?</a:t>
            </a:r>
            <a:endParaRPr lang="en-US" sz="1500" dirty="0"/>
          </a:p>
        </p:txBody>
      </p:sp>
      <p:sp>
        <p:nvSpPr>
          <p:cNvPr id="7" name="Question 2"/>
          <p:cNvSpPr/>
          <p:nvPr/>
        </p:nvSpPr>
        <p:spPr>
          <a:xfrm>
            <a:off x="548640" y="2990088"/>
            <a:ext cx="4160520" cy="868680"/>
          </a:xfrm>
          <a:prstGeom prst="roundRect">
            <a:avLst>
              <a:gd name="adj" fmla="val 12632"/>
            </a:avLst>
          </a:prstGeom>
          <a:solidFill>
            <a:schemeClr val="bg2"/>
          </a:solidFill>
          <a:ln/>
        </p:spPr>
      </p:sp>
      <p:sp>
        <p:nvSpPr>
          <p:cNvPr id="8" name="Text 6"/>
          <p:cNvSpPr/>
          <p:nvPr/>
        </p:nvSpPr>
        <p:spPr>
          <a:xfrm>
            <a:off x="731520" y="3163824"/>
            <a:ext cx="521208" cy="521208"/>
          </a:xfrm>
          <a:prstGeom prst="ellipse">
            <a:avLst/>
          </a:prstGeom>
          <a:solidFill>
            <a:schemeClr val="accent2"/>
          </a:solidFill>
          <a:ln/>
        </p:spPr>
        <p:txBody>
          <a:bodyPr wrap="square" lIns="0" tIns="0" rIns="0" bIns="0" rtlCol="0" anchor="ctr"/>
          <a:lstStyle/>
          <a:p>
            <a:pPr marL="0" indent="0" algn="ctr">
              <a:buNone/>
            </a:pPr>
            <a:r>
              <a:rPr lang="en-US" sz="1800" b="1" dirty="0">
                <a:solidFill>
                  <a:schemeClr val="tx2"/>
                </a:solidFill>
                <a:latin typeface="+mj-lt" pitchFamily="34" charset="0"/>
                <a:ea typeface="+mj-lt" pitchFamily="34" charset="-122"/>
                <a:cs typeface="+mj-lt" pitchFamily="34" charset="-120"/>
              </a:rPr>
              <a:t>2</a:t>
            </a:r>
            <a:endParaRPr lang="en-US" sz="1800" dirty="0"/>
          </a:p>
        </p:txBody>
      </p:sp>
      <p:sp>
        <p:nvSpPr>
          <p:cNvPr id="9" name="Text 7"/>
          <p:cNvSpPr txBox="1"/>
          <p:nvPr/>
        </p:nvSpPr>
        <p:spPr>
          <a:xfrm>
            <a:off x="1417320" y="2990088"/>
            <a:ext cx="3108960" cy="868680"/>
          </a:xfrm>
          <a:prstGeom prst="rect">
            <a:avLst/>
          </a:prstGeom>
          <a:noFill/>
          <a:ln/>
        </p:spPr>
        <p:txBody>
          <a:bodyPr wrap="square" lIns="0" tIns="0" rIns="0" bIns="0" rtlCol="0" anchor="ctr"/>
          <a:lstStyle/>
          <a:p>
            <a:pPr marL="0" indent="0">
              <a:buNone/>
            </a:pPr>
            <a:r>
              <a:rPr lang="en-US" sz="1500" b="1" dirty="0">
                <a:solidFill>
                  <a:schemeClr val="tx2"/>
                </a:solidFill>
              </a:rPr>
              <a:t>Who still needs Baptism, First Communion or Confirmation?</a:t>
            </a:r>
            <a:endParaRPr lang="en-US" sz="1500" dirty="0"/>
          </a:p>
        </p:txBody>
      </p:sp>
      <p:sp>
        <p:nvSpPr>
          <p:cNvPr id="10" name="Question 3"/>
          <p:cNvSpPr/>
          <p:nvPr/>
        </p:nvSpPr>
        <p:spPr>
          <a:xfrm>
            <a:off x="548640" y="4014216"/>
            <a:ext cx="4160520" cy="868680"/>
          </a:xfrm>
          <a:prstGeom prst="roundRect">
            <a:avLst>
              <a:gd name="adj" fmla="val 12632"/>
            </a:avLst>
          </a:prstGeom>
          <a:solidFill>
            <a:schemeClr val="bg2"/>
          </a:solidFill>
          <a:ln/>
        </p:spPr>
      </p:sp>
      <p:sp>
        <p:nvSpPr>
          <p:cNvPr id="11" name="Text 9"/>
          <p:cNvSpPr/>
          <p:nvPr/>
        </p:nvSpPr>
        <p:spPr>
          <a:xfrm>
            <a:off x="731520" y="4187952"/>
            <a:ext cx="521208" cy="521208"/>
          </a:xfrm>
          <a:prstGeom prst="ellipse">
            <a:avLst/>
          </a:prstGeom>
          <a:solidFill>
            <a:schemeClr val="accent2"/>
          </a:solidFill>
          <a:ln/>
        </p:spPr>
        <p:txBody>
          <a:bodyPr wrap="square" lIns="0" tIns="0" rIns="0" bIns="0" rtlCol="0" anchor="ctr"/>
          <a:lstStyle/>
          <a:p>
            <a:pPr marL="0" indent="0" algn="ctr">
              <a:buNone/>
            </a:pPr>
            <a:r>
              <a:rPr lang="en-US" sz="1800" b="1" dirty="0">
                <a:solidFill>
                  <a:schemeClr val="tx2"/>
                </a:solidFill>
                <a:latin typeface="+mj-lt" pitchFamily="34" charset="0"/>
                <a:ea typeface="+mj-lt" pitchFamily="34" charset="-122"/>
                <a:cs typeface="+mj-lt" pitchFamily="34" charset="-120"/>
              </a:rPr>
              <a:t>3</a:t>
            </a:r>
            <a:endParaRPr lang="en-US" sz="1800" dirty="0"/>
          </a:p>
        </p:txBody>
      </p:sp>
      <p:sp>
        <p:nvSpPr>
          <p:cNvPr id="12" name="Text 10"/>
          <p:cNvSpPr txBox="1"/>
          <p:nvPr/>
        </p:nvSpPr>
        <p:spPr>
          <a:xfrm>
            <a:off x="1417320" y="4014216"/>
            <a:ext cx="3108960" cy="868680"/>
          </a:xfrm>
          <a:prstGeom prst="rect">
            <a:avLst/>
          </a:prstGeom>
          <a:noFill/>
          <a:ln/>
        </p:spPr>
        <p:txBody>
          <a:bodyPr wrap="square" lIns="0" tIns="0" rIns="0" bIns="0" rtlCol="0" anchor="ctr"/>
          <a:lstStyle/>
          <a:p>
            <a:pPr marL="0" indent="0">
              <a:buNone/>
            </a:pPr>
            <a:r>
              <a:rPr lang="en-US" sz="1500" b="1" dirty="0">
                <a:solidFill>
                  <a:schemeClr val="tx2"/>
                </a:solidFill>
              </a:rPr>
              <a:t>Which couples could still be married in church?</a:t>
            </a:r>
            <a:endParaRPr lang="en-US" sz="1500" dirty="0"/>
          </a:p>
        </p:txBody>
      </p:sp>
      <p:sp>
        <p:nvSpPr>
          <p:cNvPr id="13" name="Question 4"/>
          <p:cNvSpPr/>
          <p:nvPr/>
        </p:nvSpPr>
        <p:spPr>
          <a:xfrm>
            <a:off x="548640" y="5038344"/>
            <a:ext cx="4160520" cy="868680"/>
          </a:xfrm>
          <a:prstGeom prst="roundRect">
            <a:avLst>
              <a:gd name="adj" fmla="val 12632"/>
            </a:avLst>
          </a:prstGeom>
          <a:solidFill>
            <a:schemeClr val="bg2"/>
          </a:solidFill>
          <a:ln/>
        </p:spPr>
      </p:sp>
      <p:sp>
        <p:nvSpPr>
          <p:cNvPr id="14" name="Text 12"/>
          <p:cNvSpPr/>
          <p:nvPr/>
        </p:nvSpPr>
        <p:spPr>
          <a:xfrm>
            <a:off x="731520" y="5212080"/>
            <a:ext cx="521208" cy="521208"/>
          </a:xfrm>
          <a:prstGeom prst="ellipse">
            <a:avLst/>
          </a:prstGeom>
          <a:solidFill>
            <a:schemeClr val="accent2"/>
          </a:solidFill>
          <a:ln/>
        </p:spPr>
        <p:txBody>
          <a:bodyPr wrap="square" lIns="0" tIns="0" rIns="0" bIns="0" rtlCol="0" anchor="ctr"/>
          <a:lstStyle/>
          <a:p>
            <a:pPr marL="0" indent="0" algn="ctr">
              <a:buNone/>
            </a:pPr>
            <a:r>
              <a:rPr lang="en-US" sz="1800" b="1" dirty="0">
                <a:solidFill>
                  <a:schemeClr val="tx2"/>
                </a:solidFill>
                <a:latin typeface="+mj-lt" pitchFamily="34" charset="0"/>
                <a:ea typeface="+mj-lt" pitchFamily="34" charset="-122"/>
                <a:cs typeface="+mj-lt" pitchFamily="34" charset="-120"/>
              </a:rPr>
              <a:t>4</a:t>
            </a:r>
            <a:endParaRPr lang="en-US" sz="1800" dirty="0"/>
          </a:p>
        </p:txBody>
      </p:sp>
      <p:sp>
        <p:nvSpPr>
          <p:cNvPr id="15" name="Text 13"/>
          <p:cNvSpPr txBox="1"/>
          <p:nvPr/>
        </p:nvSpPr>
        <p:spPr>
          <a:xfrm>
            <a:off x="1417320" y="5038344"/>
            <a:ext cx="3108960" cy="868680"/>
          </a:xfrm>
          <a:prstGeom prst="rect">
            <a:avLst/>
          </a:prstGeom>
          <a:noFill/>
          <a:ln/>
        </p:spPr>
        <p:txBody>
          <a:bodyPr wrap="square" lIns="0" tIns="0" rIns="0" bIns="0" rtlCol="0" anchor="ctr"/>
          <a:lstStyle/>
          <a:p>
            <a:pPr marL="0" indent="0">
              <a:buNone/>
            </a:pPr>
            <a:r>
              <a:rPr lang="en-US" sz="1500" b="1" dirty="0">
                <a:solidFill>
                  <a:schemeClr val="tx2"/>
                </a:solidFill>
              </a:rPr>
              <a:t>How did this census compare with the last one?</a:t>
            </a:r>
            <a:endParaRPr lang="en-US" sz="1500" dirty="0"/>
          </a:p>
        </p:txBody>
      </p:sp>
      <p:pic>
        <p:nvPicPr>
          <p:cNvPr id="16" name="Dashboard charts" descr="C:\Users\Dave\AppData\Local\Temp\claude\E--DEVELOPER--WEB--PARISH-MEMBERS-REGISTRY\9cfa56b2-76b0-4da3-8bb7-a6a7d55b9d8c\scratchpad\img\browser-adm-dashboard2.png"/>
          <p:cNvPicPr>
            <a:picLocks noChangeAspect="1"/>
          </p:cNvPicPr>
          <p:nvPr/>
        </p:nvPicPr>
        <p:blipFill>
          <a:blip r:embed="rId3"/>
          <a:stretch>
            <a:fillRect/>
          </a:stretch>
        </p:blipFill>
        <p:spPr>
          <a:xfrm>
            <a:off x="5693862" y="1463040"/>
            <a:ext cx="5949193" cy="4526280"/>
          </a:xfrm>
          <a:prstGeom prst="rect">
            <a:avLst/>
          </a:prstGeom>
        </p:spPr>
      </p:pic>
      <p:sp>
        <p:nvSpPr>
          <p:cNvPr id="17" name="Text 14"/>
          <p:cNvSpPr txBox="1"/>
          <p:nvPr/>
        </p:nvSpPr>
        <p:spPr>
          <a:xfrm>
            <a:off x="5693862" y="6035040"/>
            <a:ext cx="5949193" cy="256032"/>
          </a:xfrm>
          <a:prstGeom prst="rect">
            <a:avLst/>
          </a:prstGeom>
          <a:noFill/>
          <a:ln/>
        </p:spPr>
        <p:txBody>
          <a:bodyPr wrap="square" lIns="0" tIns="0" rIns="0" bIns="0" rtlCol="0" anchor="t"/>
          <a:lstStyle/>
          <a:p>
            <a:pPr marL="0" indent="0" algn="l">
              <a:buNone/>
            </a:pPr>
            <a:r>
              <a:rPr lang="en-US" sz="1000" i="1" dirty="0">
                <a:solidFill>
                  <a:schemeClr val="accent5"/>
                </a:solidFill>
              </a:rPr>
              <a:t>Dashboard on the demo site, with sample data</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91672" cy="822960"/>
          </a:xfrm>
          <a:prstGeom prst="rect">
            <a:avLst/>
          </a:prstGeom>
          <a:noFill/>
          <a:ln/>
        </p:spPr>
        <p:txBody>
          <a:bodyPr wrap="square" lIns="0" tIns="0" rIns="0" bIns="0" rtlCol="0" anchor="ctr"/>
          <a:lstStyle/>
          <a:p>
            <a:pPr marL="0" indent="0" algn="l">
              <a:buNone/>
            </a:pPr>
            <a:r>
              <a:rPr lang="en-US" sz="3200" b="1" dirty="0">
                <a:solidFill>
                  <a:schemeClr val="tx2"/>
                </a:solidFill>
                <a:latin typeface="+mj-lt" pitchFamily="34" charset="0"/>
                <a:ea typeface="+mj-lt" pitchFamily="34" charset="-122"/>
                <a:cs typeface="+mj-lt" pitchFamily="34" charset="-120"/>
              </a:rPr>
              <a:t>The census is done once, online first, and counted for us</a:t>
            </a:r>
            <a:endParaRPr lang="en-US" sz="3200" dirty="0"/>
          </a:p>
        </p:txBody>
      </p:sp>
      <p:sp>
        <p:nvSpPr>
          <p:cNvPr id="3" name="Step 1"/>
          <p:cNvSpPr/>
          <p:nvPr/>
        </p:nvSpPr>
        <p:spPr>
          <a:xfrm>
            <a:off x="548640" y="1463040"/>
            <a:ext cx="2587752" cy="2743200"/>
          </a:xfrm>
          <a:prstGeom prst="roundRect">
            <a:avLst>
              <a:gd name="adj" fmla="val 4240"/>
            </a:avLst>
          </a:prstGeom>
          <a:solidFill>
            <a:schemeClr val="bg2"/>
          </a:solidFill>
          <a:ln/>
        </p:spPr>
      </p:sp>
      <p:sp>
        <p:nvSpPr>
          <p:cNvPr id="4" name="Text 2"/>
          <p:cNvSpPr/>
          <p:nvPr/>
        </p:nvSpPr>
        <p:spPr>
          <a:xfrm>
            <a:off x="822960" y="1691640"/>
            <a:ext cx="603504" cy="603504"/>
          </a:xfrm>
          <a:prstGeom prst="ellipse">
            <a:avLst/>
          </a:prstGeom>
          <a:solidFill>
            <a:schemeClr val="accent2"/>
          </a:solidFill>
          <a:ln/>
        </p:spPr>
        <p:txBody>
          <a:bodyPr wrap="square" lIns="0" tIns="0" rIns="0" bIns="0" rtlCol="0" anchor="ctr"/>
          <a:lstStyle/>
          <a:p>
            <a:pPr marL="0" indent="0" algn="ctr">
              <a:buNone/>
            </a:pPr>
            <a:r>
              <a:rPr lang="en-US" sz="1800" b="1" dirty="0">
                <a:solidFill>
                  <a:schemeClr val="tx2"/>
                </a:solidFill>
                <a:latin typeface="+mj-lt" pitchFamily="34" charset="0"/>
                <a:ea typeface="+mj-lt" pitchFamily="34" charset="-122"/>
                <a:cs typeface="+mj-lt" pitchFamily="34" charset="-120"/>
              </a:rPr>
              <a:t>1</a:t>
            </a:r>
            <a:endParaRPr lang="en-US" sz="1800" dirty="0"/>
          </a:p>
        </p:txBody>
      </p:sp>
      <p:sp>
        <p:nvSpPr>
          <p:cNvPr id="5" name="Text 3"/>
          <p:cNvSpPr txBox="1"/>
          <p:nvPr/>
        </p:nvSpPr>
        <p:spPr>
          <a:xfrm>
            <a:off x="822960" y="2468880"/>
            <a:ext cx="2130552" cy="685800"/>
          </a:xfrm>
          <a:prstGeom prst="rect">
            <a:avLst/>
          </a:prstGeom>
          <a:noFill/>
          <a:ln/>
        </p:spPr>
        <p:txBody>
          <a:bodyPr wrap="square" lIns="0" tIns="0" rIns="0" bIns="0" rtlCol="0" anchor="t"/>
          <a:lstStyle/>
          <a:p>
            <a:pPr marL="0" indent="0">
              <a:buNone/>
            </a:pPr>
            <a:r>
              <a:rPr lang="en-US" sz="1700" b="1" dirty="0">
                <a:solidFill>
                  <a:schemeClr val="tx2"/>
                </a:solidFill>
                <a:latin typeface="+mj-lt" pitchFamily="34" charset="0"/>
                <a:ea typeface="+mj-lt" pitchFamily="34" charset="-122"/>
                <a:cs typeface="+mj-lt" pitchFamily="34" charset="-120"/>
              </a:rPr>
              <a:t>Start the census</a:t>
            </a:r>
            <a:endParaRPr lang="en-US" sz="1700" dirty="0"/>
          </a:p>
        </p:txBody>
      </p:sp>
      <p:sp>
        <p:nvSpPr>
          <p:cNvPr id="6" name="Text 4"/>
          <p:cNvSpPr txBox="1"/>
          <p:nvPr/>
        </p:nvSpPr>
        <p:spPr>
          <a:xfrm>
            <a:off x="822960" y="3200400"/>
            <a:ext cx="2084832" cy="914400"/>
          </a:xfrm>
          <a:prstGeom prst="rect">
            <a:avLst/>
          </a:prstGeom>
          <a:noFill/>
          <a:ln/>
        </p:spPr>
        <p:txBody>
          <a:bodyPr wrap="square" lIns="0" tIns="0" rIns="0" bIns="0" rtlCol="0" anchor="t"/>
          <a:lstStyle/>
          <a:p>
            <a:pPr marL="0" indent="0">
              <a:buNone/>
            </a:pPr>
            <a:r>
              <a:rPr lang="en-US" sz="1400" dirty="0">
                <a:solidFill>
                  <a:schemeClr val="tx1"/>
                </a:solidFill>
              </a:rPr>
              <a:t>The office opens it, for example "2026 Census", and sets the dates.</a:t>
            </a:r>
            <a:endParaRPr lang="en-US" sz="1400" dirty="0"/>
          </a:p>
        </p:txBody>
      </p:sp>
      <p:pic>
        <p:nvPicPr>
          <p:cNvPr id="7" name="Step arrow 1" descr="preencoded.png"/>
          <p:cNvPicPr>
            <a:picLocks noChangeAspect="1"/>
          </p:cNvPicPr>
          <p:nvPr/>
        </p:nvPicPr>
        <p:blipFill>
          <a:blip r:embed="rId3"/>
          <a:stretch>
            <a:fillRect/>
          </a:stretch>
        </p:blipFill>
        <p:spPr>
          <a:xfrm>
            <a:off x="3099816" y="1856232"/>
            <a:ext cx="320040" cy="274320"/>
          </a:xfrm>
          <a:prstGeom prst="rect">
            <a:avLst/>
          </a:prstGeom>
        </p:spPr>
      </p:pic>
      <p:sp>
        <p:nvSpPr>
          <p:cNvPr id="8" name="Step 2"/>
          <p:cNvSpPr/>
          <p:nvPr/>
        </p:nvSpPr>
        <p:spPr>
          <a:xfrm>
            <a:off x="3383280" y="1463040"/>
            <a:ext cx="2587752" cy="2743200"/>
          </a:xfrm>
          <a:prstGeom prst="roundRect">
            <a:avLst>
              <a:gd name="adj" fmla="val 4240"/>
            </a:avLst>
          </a:prstGeom>
          <a:solidFill>
            <a:schemeClr val="bg2"/>
          </a:solidFill>
          <a:ln/>
        </p:spPr>
      </p:sp>
      <p:sp>
        <p:nvSpPr>
          <p:cNvPr id="9" name="Text 6"/>
          <p:cNvSpPr/>
          <p:nvPr/>
        </p:nvSpPr>
        <p:spPr>
          <a:xfrm>
            <a:off x="3657600" y="1691640"/>
            <a:ext cx="603504" cy="603504"/>
          </a:xfrm>
          <a:prstGeom prst="ellipse">
            <a:avLst/>
          </a:prstGeom>
          <a:solidFill>
            <a:schemeClr val="accent2"/>
          </a:solidFill>
          <a:ln/>
        </p:spPr>
        <p:txBody>
          <a:bodyPr wrap="square" lIns="0" tIns="0" rIns="0" bIns="0" rtlCol="0" anchor="ctr"/>
          <a:lstStyle/>
          <a:p>
            <a:pPr marL="0" indent="0" algn="ctr">
              <a:buNone/>
            </a:pPr>
            <a:r>
              <a:rPr lang="en-US" sz="1800" b="1" dirty="0">
                <a:solidFill>
                  <a:schemeClr val="tx2"/>
                </a:solidFill>
                <a:latin typeface="+mj-lt" pitchFamily="34" charset="0"/>
                <a:ea typeface="+mj-lt" pitchFamily="34" charset="-122"/>
                <a:cs typeface="+mj-lt" pitchFamily="34" charset="-120"/>
              </a:rPr>
              <a:t>2</a:t>
            </a:r>
            <a:endParaRPr lang="en-US" sz="1800" dirty="0"/>
          </a:p>
        </p:txBody>
      </p:sp>
      <p:sp>
        <p:nvSpPr>
          <p:cNvPr id="10" name="Text 7"/>
          <p:cNvSpPr txBox="1"/>
          <p:nvPr/>
        </p:nvSpPr>
        <p:spPr>
          <a:xfrm>
            <a:off x="3657600" y="2468880"/>
            <a:ext cx="2130552" cy="685800"/>
          </a:xfrm>
          <a:prstGeom prst="rect">
            <a:avLst/>
          </a:prstGeom>
          <a:noFill/>
          <a:ln/>
        </p:spPr>
        <p:txBody>
          <a:bodyPr wrap="square" lIns="0" tIns="0" rIns="0" bIns="0" rtlCol="0" anchor="t"/>
          <a:lstStyle/>
          <a:p>
            <a:pPr marL="0" indent="0">
              <a:buNone/>
            </a:pPr>
            <a:r>
              <a:rPr lang="en-US" sz="1700" b="1" dirty="0">
                <a:solidFill>
                  <a:schemeClr val="tx2"/>
                </a:solidFill>
                <a:latin typeface="+mj-lt" pitchFamily="34" charset="0"/>
                <a:ea typeface="+mj-lt" pitchFamily="34" charset="-122"/>
                <a:cs typeface="+mj-lt" pitchFamily="34" charset="-120"/>
              </a:rPr>
              <a:t>Families update online</a:t>
            </a:r>
            <a:endParaRPr lang="en-US" sz="1700" dirty="0"/>
          </a:p>
        </p:txBody>
      </p:sp>
      <p:sp>
        <p:nvSpPr>
          <p:cNvPr id="11" name="Text 8"/>
          <p:cNvSpPr txBox="1"/>
          <p:nvPr/>
        </p:nvSpPr>
        <p:spPr>
          <a:xfrm>
            <a:off x="3657600" y="3200400"/>
            <a:ext cx="2084832" cy="914400"/>
          </a:xfrm>
          <a:prstGeom prst="rect">
            <a:avLst/>
          </a:prstGeom>
          <a:noFill/>
          <a:ln/>
        </p:spPr>
        <p:txBody>
          <a:bodyPr wrap="square" lIns="0" tIns="0" rIns="0" bIns="0" rtlCol="0" anchor="t"/>
          <a:lstStyle/>
          <a:p>
            <a:pPr marL="0" indent="0">
              <a:buNone/>
            </a:pPr>
            <a:r>
              <a:rPr lang="en-US" sz="1400" dirty="0">
                <a:solidFill>
                  <a:schemeClr val="tx1"/>
                </a:solidFill>
              </a:rPr>
              <a:t>With the reference number and code on their form. GKK leaders help.</a:t>
            </a:r>
            <a:endParaRPr lang="en-US" sz="1400" dirty="0"/>
          </a:p>
        </p:txBody>
      </p:sp>
      <p:pic>
        <p:nvPicPr>
          <p:cNvPr id="12" name="Step arrow 2" descr="preencoded.png"/>
          <p:cNvPicPr>
            <a:picLocks noChangeAspect="1"/>
          </p:cNvPicPr>
          <p:nvPr/>
        </p:nvPicPr>
        <p:blipFill>
          <a:blip r:embed="rId3"/>
          <a:stretch>
            <a:fillRect/>
          </a:stretch>
        </p:blipFill>
        <p:spPr>
          <a:xfrm>
            <a:off x="5934456" y="1856232"/>
            <a:ext cx="320040" cy="274320"/>
          </a:xfrm>
          <a:prstGeom prst="rect">
            <a:avLst/>
          </a:prstGeom>
        </p:spPr>
      </p:pic>
      <p:sp>
        <p:nvSpPr>
          <p:cNvPr id="13" name="Step 3"/>
          <p:cNvSpPr/>
          <p:nvPr/>
        </p:nvSpPr>
        <p:spPr>
          <a:xfrm>
            <a:off x="6217920" y="1463040"/>
            <a:ext cx="2587752" cy="2743200"/>
          </a:xfrm>
          <a:prstGeom prst="roundRect">
            <a:avLst>
              <a:gd name="adj" fmla="val 4240"/>
            </a:avLst>
          </a:prstGeom>
          <a:solidFill>
            <a:schemeClr val="bg2"/>
          </a:solidFill>
          <a:ln/>
        </p:spPr>
      </p:sp>
      <p:sp>
        <p:nvSpPr>
          <p:cNvPr id="14" name="Text 10"/>
          <p:cNvSpPr/>
          <p:nvPr/>
        </p:nvSpPr>
        <p:spPr>
          <a:xfrm>
            <a:off x="6492240" y="1691640"/>
            <a:ext cx="603504" cy="603504"/>
          </a:xfrm>
          <a:prstGeom prst="ellipse">
            <a:avLst/>
          </a:prstGeom>
          <a:solidFill>
            <a:schemeClr val="accent2"/>
          </a:solidFill>
          <a:ln/>
        </p:spPr>
        <p:txBody>
          <a:bodyPr wrap="square" lIns="0" tIns="0" rIns="0" bIns="0" rtlCol="0" anchor="ctr"/>
          <a:lstStyle/>
          <a:p>
            <a:pPr marL="0" indent="0" algn="ctr">
              <a:buNone/>
            </a:pPr>
            <a:r>
              <a:rPr lang="en-US" sz="1800" b="1" dirty="0">
                <a:solidFill>
                  <a:schemeClr val="tx2"/>
                </a:solidFill>
                <a:latin typeface="+mj-lt" pitchFamily="34" charset="0"/>
                <a:ea typeface="+mj-lt" pitchFamily="34" charset="-122"/>
                <a:cs typeface="+mj-lt" pitchFamily="34" charset="-120"/>
              </a:rPr>
              <a:t>3</a:t>
            </a:r>
            <a:endParaRPr lang="en-US" sz="1800" dirty="0"/>
          </a:p>
        </p:txBody>
      </p:sp>
      <p:sp>
        <p:nvSpPr>
          <p:cNvPr id="15" name="Text 11"/>
          <p:cNvSpPr txBox="1"/>
          <p:nvPr/>
        </p:nvSpPr>
        <p:spPr>
          <a:xfrm>
            <a:off x="6492240" y="2468880"/>
            <a:ext cx="2130552" cy="685800"/>
          </a:xfrm>
          <a:prstGeom prst="rect">
            <a:avLst/>
          </a:prstGeom>
          <a:noFill/>
          <a:ln/>
        </p:spPr>
        <p:txBody>
          <a:bodyPr wrap="square" lIns="0" tIns="0" rIns="0" bIns="0" rtlCol="0" anchor="t"/>
          <a:lstStyle/>
          <a:p>
            <a:pPr marL="0" indent="0">
              <a:buNone/>
            </a:pPr>
            <a:r>
              <a:rPr lang="en-US" sz="1700" b="1" dirty="0">
                <a:solidFill>
                  <a:schemeClr val="tx2"/>
                </a:solidFill>
                <a:latin typeface="+mj-lt" pitchFamily="34" charset="0"/>
                <a:ea typeface="+mj-lt" pitchFamily="34" charset="-122"/>
                <a:cs typeface="+mj-lt" pitchFamily="34" charset="-120"/>
              </a:rPr>
              <a:t>Paper as a last resort</a:t>
            </a:r>
            <a:endParaRPr lang="en-US" sz="1700" dirty="0"/>
          </a:p>
        </p:txBody>
      </p:sp>
      <p:sp>
        <p:nvSpPr>
          <p:cNvPr id="16" name="Text 12"/>
          <p:cNvSpPr txBox="1"/>
          <p:nvPr/>
        </p:nvSpPr>
        <p:spPr>
          <a:xfrm>
            <a:off x="6492240" y="3200400"/>
            <a:ext cx="2084832" cy="914400"/>
          </a:xfrm>
          <a:prstGeom prst="rect">
            <a:avLst/>
          </a:prstGeom>
          <a:noFill/>
          <a:ln/>
        </p:spPr>
        <p:txBody>
          <a:bodyPr wrap="square" lIns="0" tIns="0" rIns="0" bIns="0" rtlCol="0" anchor="t"/>
          <a:lstStyle/>
          <a:p>
            <a:pPr marL="0" indent="0">
              <a:buNone/>
            </a:pPr>
            <a:r>
              <a:rPr lang="en-US" sz="1400" dirty="0">
                <a:solidFill>
                  <a:schemeClr val="tx1"/>
                </a:solidFill>
              </a:rPr>
              <a:t>Pre-filled forms by GKK; staff type in the answers that come back.</a:t>
            </a:r>
            <a:endParaRPr lang="en-US" sz="1400" dirty="0"/>
          </a:p>
        </p:txBody>
      </p:sp>
      <p:pic>
        <p:nvPicPr>
          <p:cNvPr id="17" name="Step arrow 3" descr="preencoded.png"/>
          <p:cNvPicPr>
            <a:picLocks noChangeAspect="1"/>
          </p:cNvPicPr>
          <p:nvPr/>
        </p:nvPicPr>
        <p:blipFill>
          <a:blip r:embed="rId3"/>
          <a:stretch>
            <a:fillRect/>
          </a:stretch>
        </p:blipFill>
        <p:spPr>
          <a:xfrm>
            <a:off x="8769096" y="1856232"/>
            <a:ext cx="320040" cy="274320"/>
          </a:xfrm>
          <a:prstGeom prst="rect">
            <a:avLst/>
          </a:prstGeom>
        </p:spPr>
      </p:pic>
      <p:sp>
        <p:nvSpPr>
          <p:cNvPr id="18" name="Step 4"/>
          <p:cNvSpPr/>
          <p:nvPr/>
        </p:nvSpPr>
        <p:spPr>
          <a:xfrm>
            <a:off x="9052560" y="1463040"/>
            <a:ext cx="2587752" cy="2743200"/>
          </a:xfrm>
          <a:prstGeom prst="roundRect">
            <a:avLst>
              <a:gd name="adj" fmla="val 4240"/>
            </a:avLst>
          </a:prstGeom>
          <a:solidFill>
            <a:schemeClr val="bg2"/>
          </a:solidFill>
          <a:ln/>
        </p:spPr>
      </p:sp>
      <p:sp>
        <p:nvSpPr>
          <p:cNvPr id="19" name="Text 14"/>
          <p:cNvSpPr/>
          <p:nvPr/>
        </p:nvSpPr>
        <p:spPr>
          <a:xfrm>
            <a:off x="9326880" y="1691640"/>
            <a:ext cx="603504" cy="603504"/>
          </a:xfrm>
          <a:prstGeom prst="ellipse">
            <a:avLst/>
          </a:prstGeom>
          <a:solidFill>
            <a:schemeClr val="accent2"/>
          </a:solidFill>
          <a:ln/>
        </p:spPr>
        <p:txBody>
          <a:bodyPr wrap="square" lIns="0" tIns="0" rIns="0" bIns="0" rtlCol="0" anchor="ctr"/>
          <a:lstStyle/>
          <a:p>
            <a:pPr marL="0" indent="0" algn="ctr">
              <a:buNone/>
            </a:pPr>
            <a:r>
              <a:rPr lang="en-US" sz="1800" b="1" dirty="0">
                <a:solidFill>
                  <a:schemeClr val="tx2"/>
                </a:solidFill>
                <a:latin typeface="+mj-lt" pitchFamily="34" charset="0"/>
                <a:ea typeface="+mj-lt" pitchFamily="34" charset="-122"/>
                <a:cs typeface="+mj-lt" pitchFamily="34" charset="-120"/>
              </a:rPr>
              <a:t>4</a:t>
            </a:r>
            <a:endParaRPr lang="en-US" sz="1800" dirty="0"/>
          </a:p>
        </p:txBody>
      </p:sp>
      <p:sp>
        <p:nvSpPr>
          <p:cNvPr id="20" name="Text 15"/>
          <p:cNvSpPr txBox="1"/>
          <p:nvPr/>
        </p:nvSpPr>
        <p:spPr>
          <a:xfrm>
            <a:off x="9326880" y="2468880"/>
            <a:ext cx="2130552" cy="685800"/>
          </a:xfrm>
          <a:prstGeom prst="rect">
            <a:avLst/>
          </a:prstGeom>
          <a:noFill/>
          <a:ln/>
        </p:spPr>
        <p:txBody>
          <a:bodyPr wrap="square" lIns="0" tIns="0" rIns="0" bIns="0" rtlCol="0" anchor="t"/>
          <a:lstStyle/>
          <a:p>
            <a:pPr marL="0" indent="0">
              <a:buNone/>
            </a:pPr>
            <a:r>
              <a:rPr lang="en-US" sz="1700" b="1" dirty="0">
                <a:solidFill>
                  <a:schemeClr val="tx2"/>
                </a:solidFill>
                <a:latin typeface="+mj-lt" pitchFamily="34" charset="0"/>
                <a:ea typeface="+mj-lt" pitchFamily="34" charset="-122"/>
                <a:cs typeface="+mj-lt" pitchFamily="34" charset="-120"/>
              </a:rPr>
              <a:t>Approve and count</a:t>
            </a:r>
            <a:endParaRPr lang="en-US" sz="1700" dirty="0"/>
          </a:p>
        </p:txBody>
      </p:sp>
      <p:sp>
        <p:nvSpPr>
          <p:cNvPr id="21" name="Text 16"/>
          <p:cNvSpPr txBox="1"/>
          <p:nvPr/>
        </p:nvSpPr>
        <p:spPr>
          <a:xfrm>
            <a:off x="9326880" y="3200400"/>
            <a:ext cx="2084832" cy="914400"/>
          </a:xfrm>
          <a:prstGeom prst="rect">
            <a:avLst/>
          </a:prstGeom>
          <a:noFill/>
          <a:ln/>
        </p:spPr>
        <p:txBody>
          <a:bodyPr wrap="square" lIns="0" tIns="0" rIns="0" bIns="0" rtlCol="0" anchor="t"/>
          <a:lstStyle/>
          <a:p>
            <a:pPr marL="0" indent="0">
              <a:buNone/>
            </a:pPr>
            <a:r>
              <a:rPr lang="en-US" sz="1400" dirty="0">
                <a:solidFill>
                  <a:schemeClr val="tx1"/>
                </a:solidFill>
              </a:rPr>
              <a:t>Staff approve each update; results by GKK, compared with the last census.</a:t>
            </a:r>
            <a:endParaRPr lang="en-US" sz="1400" dirty="0"/>
          </a:p>
        </p:txBody>
      </p:sp>
      <p:sp>
        <p:nvSpPr>
          <p:cNvPr id="22" name="Text 17"/>
          <p:cNvSpPr txBox="1"/>
          <p:nvPr/>
        </p:nvSpPr>
        <p:spPr>
          <a:xfrm>
            <a:off x="548640" y="4480560"/>
            <a:ext cx="3108960" cy="438912"/>
          </a:xfrm>
          <a:prstGeom prst="rect">
            <a:avLst/>
          </a:prstGeom>
          <a:noFill/>
          <a:ln/>
        </p:spPr>
        <p:txBody>
          <a:bodyPr wrap="square" lIns="0" tIns="0" rIns="0" bIns="0" rtlCol="0" anchor="ctr"/>
          <a:lstStyle/>
          <a:p>
            <a:pPr marL="0" indent="0">
              <a:buNone/>
            </a:pPr>
            <a:r>
              <a:rPr lang="en-US" sz="1600" b="1" dirty="0">
                <a:solidFill>
                  <a:schemeClr val="tx2"/>
                </a:solidFill>
              </a:rPr>
              <a:t>Every member gets a status</a:t>
            </a:r>
            <a:endParaRPr lang="en-US" sz="1600" dirty="0"/>
          </a:p>
        </p:txBody>
      </p:sp>
      <p:sp>
        <p:nvSpPr>
          <p:cNvPr id="23" name="Text 18"/>
          <p:cNvSpPr/>
          <p:nvPr/>
        </p:nvSpPr>
        <p:spPr>
          <a:xfrm>
            <a:off x="3566160" y="4480560"/>
            <a:ext cx="941832" cy="438912"/>
          </a:xfrm>
          <a:prstGeom prst="roundRect">
            <a:avLst>
              <a:gd name="adj" fmla="val 50000"/>
            </a:avLst>
          </a:prstGeom>
          <a:solidFill>
            <a:schemeClr val="accent1"/>
          </a:solidFill>
          <a:ln/>
        </p:spPr>
        <p:txBody>
          <a:bodyPr wrap="square" lIns="0" tIns="0" rIns="0" bIns="0" rtlCol="0" anchor="ctr"/>
          <a:lstStyle/>
          <a:p>
            <a:pPr marL="0" indent="0" algn="ctr">
              <a:buNone/>
            </a:pPr>
            <a:r>
              <a:rPr lang="en-US" sz="1400" b="1" dirty="0">
                <a:solidFill>
                  <a:schemeClr val="bg1"/>
                </a:solidFill>
              </a:rPr>
              <a:t>Active</a:t>
            </a:r>
            <a:endParaRPr lang="en-US" sz="1400" dirty="0"/>
          </a:p>
        </p:txBody>
      </p:sp>
      <p:sp>
        <p:nvSpPr>
          <p:cNvPr id="24" name="Text 19"/>
          <p:cNvSpPr/>
          <p:nvPr/>
        </p:nvSpPr>
        <p:spPr>
          <a:xfrm>
            <a:off x="4690872" y="4480560"/>
            <a:ext cx="1133856" cy="438912"/>
          </a:xfrm>
          <a:prstGeom prst="roundRect">
            <a:avLst>
              <a:gd name="adj" fmla="val 50000"/>
            </a:avLst>
          </a:prstGeom>
          <a:solidFill>
            <a:schemeClr val="accent2"/>
          </a:solidFill>
          <a:ln/>
        </p:spPr>
        <p:txBody>
          <a:bodyPr wrap="square" lIns="0" tIns="0" rIns="0" bIns="0" rtlCol="0" anchor="ctr"/>
          <a:lstStyle/>
          <a:p>
            <a:pPr marL="0" indent="0" algn="ctr">
              <a:buNone/>
            </a:pPr>
            <a:r>
              <a:rPr lang="en-US" sz="1400" b="1" dirty="0">
                <a:solidFill>
                  <a:schemeClr val="bg1"/>
                </a:solidFill>
              </a:rPr>
              <a:t>Inactive</a:t>
            </a:r>
            <a:endParaRPr lang="en-US" sz="1400" dirty="0"/>
          </a:p>
        </p:txBody>
      </p:sp>
      <p:sp>
        <p:nvSpPr>
          <p:cNvPr id="25" name="Text 20"/>
          <p:cNvSpPr/>
          <p:nvPr/>
        </p:nvSpPr>
        <p:spPr>
          <a:xfrm>
            <a:off x="6007608" y="4480560"/>
            <a:ext cx="1325880" cy="438912"/>
          </a:xfrm>
          <a:prstGeom prst="roundRect">
            <a:avLst>
              <a:gd name="adj" fmla="val 50000"/>
            </a:avLst>
          </a:prstGeom>
          <a:solidFill>
            <a:schemeClr val="accent6"/>
          </a:solidFill>
          <a:ln/>
        </p:spPr>
        <p:txBody>
          <a:bodyPr wrap="square" lIns="0" tIns="0" rIns="0" bIns="0" rtlCol="0" anchor="ctr"/>
          <a:lstStyle/>
          <a:p>
            <a:pPr marL="0" indent="0" algn="ctr">
              <a:buNone/>
            </a:pPr>
            <a:r>
              <a:rPr lang="en-US" sz="1400" b="1" dirty="0">
                <a:solidFill>
                  <a:schemeClr val="bg1"/>
                </a:solidFill>
              </a:rPr>
              <a:t>Moved away</a:t>
            </a:r>
            <a:endParaRPr lang="en-US" sz="1400" dirty="0"/>
          </a:p>
        </p:txBody>
      </p:sp>
      <p:sp>
        <p:nvSpPr>
          <p:cNvPr id="26" name="Text 21"/>
          <p:cNvSpPr/>
          <p:nvPr/>
        </p:nvSpPr>
        <p:spPr>
          <a:xfrm>
            <a:off x="7516368" y="4480560"/>
            <a:ext cx="1133856" cy="438912"/>
          </a:xfrm>
          <a:prstGeom prst="roundRect">
            <a:avLst>
              <a:gd name="adj" fmla="val 50000"/>
            </a:avLst>
          </a:prstGeom>
          <a:solidFill>
            <a:schemeClr val="accent5"/>
          </a:solidFill>
          <a:ln/>
        </p:spPr>
        <p:txBody>
          <a:bodyPr wrap="square" lIns="0" tIns="0" rIns="0" bIns="0" rtlCol="0" anchor="ctr"/>
          <a:lstStyle/>
          <a:p>
            <a:pPr marL="0" indent="0" algn="ctr">
              <a:buNone/>
            </a:pPr>
            <a:r>
              <a:rPr lang="en-US" sz="1400" b="1" dirty="0">
                <a:solidFill>
                  <a:schemeClr val="bg1"/>
                </a:solidFill>
              </a:rPr>
              <a:t>Deceased</a:t>
            </a:r>
            <a:endParaRPr lang="en-US" sz="1400" dirty="0"/>
          </a:p>
        </p:txBody>
      </p:sp>
      <p:sp>
        <p:nvSpPr>
          <p:cNvPr id="27" name="Text 22"/>
          <p:cNvSpPr/>
          <p:nvPr/>
        </p:nvSpPr>
        <p:spPr>
          <a:xfrm>
            <a:off x="8833104" y="4480560"/>
            <a:ext cx="1805940" cy="438912"/>
          </a:xfrm>
          <a:prstGeom prst="roundRect">
            <a:avLst>
              <a:gd name="adj" fmla="val 50000"/>
            </a:avLst>
          </a:prstGeom>
          <a:solidFill>
            <a:schemeClr val="accent3"/>
          </a:solidFill>
          <a:ln/>
        </p:spPr>
        <p:txBody>
          <a:bodyPr wrap="square" lIns="0" tIns="0" rIns="0" bIns="0" rtlCol="0" anchor="ctr"/>
          <a:lstStyle/>
          <a:p>
            <a:pPr marL="0" indent="0" algn="ctr">
              <a:buNone/>
            </a:pPr>
            <a:r>
              <a:rPr lang="en-US" sz="1400" b="1" dirty="0">
                <a:solidFill>
                  <a:schemeClr val="bg1"/>
                </a:solidFill>
              </a:rPr>
              <a:t>Left the Church</a:t>
            </a:r>
            <a:endParaRPr lang="en-US" sz="1400" dirty="0"/>
          </a:p>
        </p:txBody>
      </p:sp>
      <p:sp>
        <p:nvSpPr>
          <p:cNvPr id="28" name="Safeguards"/>
          <p:cNvSpPr/>
          <p:nvPr/>
        </p:nvSpPr>
        <p:spPr>
          <a:xfrm>
            <a:off x="548640" y="5212080"/>
            <a:ext cx="11094415" cy="822960"/>
          </a:xfrm>
          <a:prstGeom prst="roundRect">
            <a:avLst>
              <a:gd name="adj" fmla="val 13333"/>
            </a:avLst>
          </a:prstGeom>
          <a:solidFill>
            <a:schemeClr val="accent1">
              <a:alpha val="11000"/>
            </a:schemeClr>
          </a:solidFill>
          <a:ln/>
        </p:spPr>
      </p:sp>
      <p:sp>
        <p:nvSpPr>
          <p:cNvPr id="29" name="Safeguards circle"/>
          <p:cNvSpPr/>
          <p:nvPr/>
        </p:nvSpPr>
        <p:spPr>
          <a:xfrm>
            <a:off x="777240" y="5376672"/>
            <a:ext cx="493776" cy="493776"/>
          </a:xfrm>
          <a:prstGeom prst="ellipse">
            <a:avLst/>
          </a:prstGeom>
          <a:solidFill>
            <a:schemeClr val="accent1"/>
          </a:solidFill>
          <a:ln/>
        </p:spPr>
      </p:sp>
      <p:pic>
        <p:nvPicPr>
          <p:cNvPr id="30" name="Safeguards icon" descr="preencoded.png"/>
          <p:cNvPicPr>
            <a:picLocks noChangeAspect="1"/>
          </p:cNvPicPr>
          <p:nvPr/>
        </p:nvPicPr>
        <p:blipFill>
          <a:blip r:embed="rId4"/>
          <a:stretch>
            <a:fillRect/>
          </a:stretch>
        </p:blipFill>
        <p:spPr>
          <a:xfrm>
            <a:off x="900684" y="5500116"/>
            <a:ext cx="246888" cy="246888"/>
          </a:xfrm>
          <a:prstGeom prst="rect">
            <a:avLst/>
          </a:prstGeom>
        </p:spPr>
      </p:pic>
      <p:sp>
        <p:nvSpPr>
          <p:cNvPr id="31" name="Text 25"/>
          <p:cNvSpPr txBox="1"/>
          <p:nvPr/>
        </p:nvSpPr>
        <p:spPr>
          <a:xfrm>
            <a:off x="1463040" y="5212080"/>
            <a:ext cx="9951415" cy="822960"/>
          </a:xfrm>
          <a:prstGeom prst="rect">
            <a:avLst/>
          </a:prstGeom>
          <a:noFill/>
          <a:ln/>
        </p:spPr>
        <p:txBody>
          <a:bodyPr wrap="square" lIns="0" tIns="0" rIns="0" bIns="0" rtlCol="0" anchor="ctr"/>
          <a:lstStyle/>
          <a:p>
            <a:pPr marL="0" indent="0">
              <a:buNone/>
            </a:pPr>
            <a:r>
              <a:rPr lang="en-US" sz="1500" b="1" dirty="0">
                <a:solidFill>
                  <a:schemeClr val="tx2"/>
                </a:solidFill>
              </a:rPr>
              <a:t>Safeguards: </a:t>
            </a:r>
            <a:r>
              <a:rPr lang="en-US" sz="1500" dirty="0">
                <a:solidFill>
                  <a:schemeClr val="tx1"/>
                </a:solidFill>
              </a:rPr>
              <a:t>nothing changes until staff approve  ·  five wrong codes lock the sign-in for 15 minutes  ·  a lost form gets a new code</a:t>
            </a:r>
            <a:endParaRPr lang="en-US" sz="1500" dirty="0"/>
          </a:p>
        </p:txBody>
      </p:sp>
      <p:sp>
        <p:nvSpPr>
          <p:cNvPr id="32"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91672" cy="822960"/>
          </a:xfrm>
          <a:prstGeom prst="rect">
            <a:avLst/>
          </a:prstGeom>
          <a:noFill/>
          <a:ln/>
        </p:spPr>
        <p:txBody>
          <a:bodyPr wrap="square" lIns="0" tIns="0" rIns="0" bIns="0" rtlCol="0" anchor="ctr"/>
          <a:lstStyle/>
          <a:p>
            <a:pPr marL="0" indent="0" algn="l">
              <a:buNone/>
            </a:pPr>
            <a:r>
              <a:rPr lang="en-US" sz="3200" b="1" dirty="0">
                <a:solidFill>
                  <a:schemeClr val="tx2"/>
                </a:solidFill>
                <a:latin typeface="+mj-lt" pitchFamily="34" charset="0"/>
                <a:ea typeface="+mj-lt" pitchFamily="34" charset="-122"/>
                <a:cs typeface="+mj-lt" pitchFamily="34" charset="-120"/>
              </a:rPr>
              <a:t>Parishioners’ information stays private and parish-owned</a:t>
            </a:r>
            <a:endParaRPr lang="en-US" sz="3200" dirty="0"/>
          </a:p>
        </p:txBody>
      </p:sp>
      <p:sp>
        <p:nvSpPr>
          <p:cNvPr id="3" name="Each staff member signs in"/>
          <p:cNvSpPr/>
          <p:nvPr/>
        </p:nvSpPr>
        <p:spPr>
          <a:xfrm>
            <a:off x="548640" y="1463040"/>
            <a:ext cx="3511296" cy="2103120"/>
          </a:xfrm>
          <a:prstGeom prst="roundRect">
            <a:avLst>
              <a:gd name="adj" fmla="val 5217"/>
            </a:avLst>
          </a:prstGeom>
          <a:solidFill>
            <a:schemeClr val="bg2"/>
          </a:solidFill>
          <a:ln/>
        </p:spPr>
      </p:sp>
      <p:sp>
        <p:nvSpPr>
          <p:cNvPr id="4" name="Each staff member signs in circle"/>
          <p:cNvSpPr/>
          <p:nvPr/>
        </p:nvSpPr>
        <p:spPr>
          <a:xfrm>
            <a:off x="822960" y="1737360"/>
            <a:ext cx="548640" cy="548640"/>
          </a:xfrm>
          <a:prstGeom prst="ellipse">
            <a:avLst/>
          </a:prstGeom>
          <a:solidFill>
            <a:schemeClr val="accent1"/>
          </a:solidFill>
          <a:ln/>
        </p:spPr>
      </p:sp>
      <p:pic>
        <p:nvPicPr>
          <p:cNvPr id="5" name="Each staff member signs in icon" descr="preencoded.png"/>
          <p:cNvPicPr>
            <a:picLocks noChangeAspect="1"/>
          </p:cNvPicPr>
          <p:nvPr/>
        </p:nvPicPr>
        <p:blipFill>
          <a:blip r:embed="rId3"/>
          <a:stretch>
            <a:fillRect/>
          </a:stretch>
        </p:blipFill>
        <p:spPr>
          <a:xfrm>
            <a:off x="960120" y="1874520"/>
            <a:ext cx="274320" cy="274320"/>
          </a:xfrm>
          <a:prstGeom prst="rect">
            <a:avLst/>
          </a:prstGeom>
        </p:spPr>
      </p:pic>
      <p:sp>
        <p:nvSpPr>
          <p:cNvPr id="6" name="Text 3"/>
          <p:cNvSpPr txBox="1"/>
          <p:nvPr/>
        </p:nvSpPr>
        <p:spPr>
          <a:xfrm>
            <a:off x="822960" y="2395728"/>
            <a:ext cx="2962656" cy="365760"/>
          </a:xfrm>
          <a:prstGeom prst="rect">
            <a:avLst/>
          </a:prstGeom>
          <a:noFill/>
          <a:ln/>
        </p:spPr>
        <p:txBody>
          <a:bodyPr wrap="square" lIns="0" tIns="0" rIns="0" bIns="0" rtlCol="0" anchor="t"/>
          <a:lstStyle/>
          <a:p>
            <a:pPr marL="0" indent="0">
              <a:buNone/>
            </a:pPr>
            <a:r>
              <a:rPr lang="en-US" sz="1700" b="1" dirty="0">
                <a:solidFill>
                  <a:schemeClr val="tx2"/>
                </a:solidFill>
              </a:rPr>
              <a:t>Each staff member signs in</a:t>
            </a:r>
            <a:endParaRPr lang="en-US" sz="1700" dirty="0"/>
          </a:p>
        </p:txBody>
      </p:sp>
      <p:sp>
        <p:nvSpPr>
          <p:cNvPr id="7" name="Text 4"/>
          <p:cNvSpPr txBox="1"/>
          <p:nvPr/>
        </p:nvSpPr>
        <p:spPr>
          <a:xfrm>
            <a:off x="822960" y="2770632"/>
            <a:ext cx="3008376" cy="731520"/>
          </a:xfrm>
          <a:prstGeom prst="rect">
            <a:avLst/>
          </a:prstGeom>
          <a:noFill/>
          <a:ln/>
        </p:spPr>
        <p:txBody>
          <a:bodyPr wrap="square" lIns="0" tIns="0" rIns="0" bIns="0" rtlCol="0" anchor="t"/>
          <a:lstStyle/>
          <a:p>
            <a:pPr marL="0" indent="0">
              <a:buNone/>
            </a:pPr>
            <a:r>
              <a:rPr lang="en-US" sz="1400" dirty="0">
                <a:solidFill>
                  <a:schemeClr val="tx1"/>
                </a:solidFill>
              </a:rPr>
              <a:t>Their own login and access level: full, read only, GKK leader, clergy and more.</a:t>
            </a:r>
            <a:endParaRPr lang="en-US" sz="1400" dirty="0"/>
          </a:p>
        </p:txBody>
      </p:sp>
      <p:sp>
        <p:nvSpPr>
          <p:cNvPr id="8" name="GKK leaders see one GKK"/>
          <p:cNvSpPr/>
          <p:nvPr/>
        </p:nvSpPr>
        <p:spPr>
          <a:xfrm>
            <a:off x="4338828" y="1463040"/>
            <a:ext cx="3511296" cy="2103120"/>
          </a:xfrm>
          <a:prstGeom prst="roundRect">
            <a:avLst>
              <a:gd name="adj" fmla="val 5217"/>
            </a:avLst>
          </a:prstGeom>
          <a:solidFill>
            <a:schemeClr val="bg2"/>
          </a:solidFill>
          <a:ln/>
        </p:spPr>
      </p:sp>
      <p:sp>
        <p:nvSpPr>
          <p:cNvPr id="9" name="GKK leaders see one GKK circle"/>
          <p:cNvSpPr/>
          <p:nvPr/>
        </p:nvSpPr>
        <p:spPr>
          <a:xfrm>
            <a:off x="4613148" y="1737360"/>
            <a:ext cx="548640" cy="548640"/>
          </a:xfrm>
          <a:prstGeom prst="ellipse">
            <a:avLst/>
          </a:prstGeom>
          <a:solidFill>
            <a:schemeClr val="accent1"/>
          </a:solidFill>
          <a:ln/>
        </p:spPr>
      </p:sp>
      <p:pic>
        <p:nvPicPr>
          <p:cNvPr id="10" name="GKK leaders see one GKK icon" descr="preencoded.png"/>
          <p:cNvPicPr>
            <a:picLocks noChangeAspect="1"/>
          </p:cNvPicPr>
          <p:nvPr/>
        </p:nvPicPr>
        <p:blipFill>
          <a:blip r:embed="rId4"/>
          <a:stretch>
            <a:fillRect/>
          </a:stretch>
        </p:blipFill>
        <p:spPr>
          <a:xfrm>
            <a:off x="4750308" y="1874520"/>
            <a:ext cx="274320" cy="274320"/>
          </a:xfrm>
          <a:prstGeom prst="rect">
            <a:avLst/>
          </a:prstGeom>
        </p:spPr>
      </p:pic>
      <p:sp>
        <p:nvSpPr>
          <p:cNvPr id="11" name="Text 7"/>
          <p:cNvSpPr txBox="1"/>
          <p:nvPr/>
        </p:nvSpPr>
        <p:spPr>
          <a:xfrm>
            <a:off x="4613148" y="2395728"/>
            <a:ext cx="2962656" cy="365760"/>
          </a:xfrm>
          <a:prstGeom prst="rect">
            <a:avLst/>
          </a:prstGeom>
          <a:noFill/>
          <a:ln/>
        </p:spPr>
        <p:txBody>
          <a:bodyPr wrap="square" lIns="0" tIns="0" rIns="0" bIns="0" rtlCol="0" anchor="t"/>
          <a:lstStyle/>
          <a:p>
            <a:pPr marL="0" indent="0">
              <a:buNone/>
            </a:pPr>
            <a:r>
              <a:rPr lang="en-US" sz="1700" b="1" dirty="0">
                <a:solidFill>
                  <a:schemeClr val="tx2"/>
                </a:solidFill>
              </a:rPr>
              <a:t>GKK leaders see one GKK</a:t>
            </a:r>
            <a:endParaRPr lang="en-US" sz="1700" dirty="0"/>
          </a:p>
        </p:txBody>
      </p:sp>
      <p:sp>
        <p:nvSpPr>
          <p:cNvPr id="12" name="Text 8"/>
          <p:cNvSpPr txBox="1"/>
          <p:nvPr/>
        </p:nvSpPr>
        <p:spPr>
          <a:xfrm>
            <a:off x="4613148" y="2770632"/>
            <a:ext cx="3008376" cy="731520"/>
          </a:xfrm>
          <a:prstGeom prst="rect">
            <a:avLst/>
          </a:prstGeom>
          <a:noFill/>
          <a:ln/>
        </p:spPr>
        <p:txBody>
          <a:bodyPr wrap="square" lIns="0" tIns="0" rIns="0" bIns="0" rtlCol="0" anchor="t"/>
          <a:lstStyle/>
          <a:p>
            <a:pPr marL="0" indent="0">
              <a:buNone/>
            </a:pPr>
            <a:r>
              <a:rPr lang="en-US" sz="1400" dirty="0">
                <a:solidFill>
                  <a:schemeClr val="tx1"/>
                </a:solidFill>
              </a:rPr>
              <a:t>Their own families only. The database itself enforces it.</a:t>
            </a:r>
            <a:endParaRPr lang="en-US" sz="1400" dirty="0"/>
          </a:p>
        </p:txBody>
      </p:sp>
      <p:sp>
        <p:nvSpPr>
          <p:cNvPr id="13" name="Nothing private goes public"/>
          <p:cNvSpPr/>
          <p:nvPr/>
        </p:nvSpPr>
        <p:spPr>
          <a:xfrm>
            <a:off x="8129016" y="1463040"/>
            <a:ext cx="3511296" cy="2103120"/>
          </a:xfrm>
          <a:prstGeom prst="roundRect">
            <a:avLst>
              <a:gd name="adj" fmla="val 5217"/>
            </a:avLst>
          </a:prstGeom>
          <a:solidFill>
            <a:schemeClr val="bg2"/>
          </a:solidFill>
          <a:ln/>
        </p:spPr>
      </p:sp>
      <p:sp>
        <p:nvSpPr>
          <p:cNvPr id="14" name="Nothing private goes public circle"/>
          <p:cNvSpPr/>
          <p:nvPr/>
        </p:nvSpPr>
        <p:spPr>
          <a:xfrm>
            <a:off x="8403336" y="1737360"/>
            <a:ext cx="548640" cy="548640"/>
          </a:xfrm>
          <a:prstGeom prst="ellipse">
            <a:avLst/>
          </a:prstGeom>
          <a:solidFill>
            <a:schemeClr val="accent1"/>
          </a:solidFill>
          <a:ln/>
        </p:spPr>
      </p:sp>
      <p:pic>
        <p:nvPicPr>
          <p:cNvPr id="15" name="Nothing private goes public icon" descr="preencoded.png"/>
          <p:cNvPicPr>
            <a:picLocks noChangeAspect="1"/>
          </p:cNvPicPr>
          <p:nvPr/>
        </p:nvPicPr>
        <p:blipFill>
          <a:blip r:embed="rId5"/>
          <a:stretch>
            <a:fillRect/>
          </a:stretch>
        </p:blipFill>
        <p:spPr>
          <a:xfrm>
            <a:off x="8540496" y="1874520"/>
            <a:ext cx="274320" cy="274320"/>
          </a:xfrm>
          <a:prstGeom prst="rect">
            <a:avLst/>
          </a:prstGeom>
        </p:spPr>
      </p:pic>
      <p:sp>
        <p:nvSpPr>
          <p:cNvPr id="16" name="Text 11"/>
          <p:cNvSpPr txBox="1"/>
          <p:nvPr/>
        </p:nvSpPr>
        <p:spPr>
          <a:xfrm>
            <a:off x="8403336" y="2395728"/>
            <a:ext cx="2962656" cy="365760"/>
          </a:xfrm>
          <a:prstGeom prst="rect">
            <a:avLst/>
          </a:prstGeom>
          <a:noFill/>
          <a:ln/>
        </p:spPr>
        <p:txBody>
          <a:bodyPr wrap="square" lIns="0" tIns="0" rIns="0" bIns="0" rtlCol="0" anchor="t"/>
          <a:lstStyle/>
          <a:p>
            <a:pPr marL="0" indent="0">
              <a:buNone/>
            </a:pPr>
            <a:r>
              <a:rPr lang="en-US" sz="1700" b="1" dirty="0">
                <a:solidFill>
                  <a:schemeClr val="tx2"/>
                </a:solidFill>
              </a:rPr>
              <a:t>Nothing private goes public</a:t>
            </a:r>
            <a:endParaRPr lang="en-US" sz="1700" dirty="0"/>
          </a:p>
        </p:txBody>
      </p:sp>
      <p:sp>
        <p:nvSpPr>
          <p:cNvPr id="17" name="Text 12"/>
          <p:cNvSpPr txBox="1"/>
          <p:nvPr/>
        </p:nvSpPr>
        <p:spPr>
          <a:xfrm>
            <a:off x="8403336" y="2770632"/>
            <a:ext cx="3008376" cy="731520"/>
          </a:xfrm>
          <a:prstGeom prst="rect">
            <a:avLst/>
          </a:prstGeom>
          <a:noFill/>
          <a:ln/>
        </p:spPr>
        <p:txBody>
          <a:bodyPr wrap="square" lIns="0" tIns="0" rIns="0" bIns="0" rtlCol="0" anchor="t"/>
          <a:lstStyle/>
          <a:p>
            <a:pPr marL="0" indent="0">
              <a:buNone/>
            </a:pPr>
            <a:r>
              <a:rPr lang="en-US" sz="1400" dirty="0">
                <a:solidFill>
                  <a:schemeClr val="tx1"/>
                </a:solidFill>
              </a:rPr>
              <a:t>Phone numbers, birthdays and blood types never show on the website.</a:t>
            </a:r>
            <a:endParaRPr lang="en-US" sz="1400" dirty="0"/>
          </a:p>
        </p:txBody>
      </p:sp>
      <p:sp>
        <p:nvSpPr>
          <p:cNvPr id="18" name="Every change is logged"/>
          <p:cNvSpPr/>
          <p:nvPr/>
        </p:nvSpPr>
        <p:spPr>
          <a:xfrm>
            <a:off x="548640" y="3840480"/>
            <a:ext cx="3511296" cy="2103120"/>
          </a:xfrm>
          <a:prstGeom prst="roundRect">
            <a:avLst>
              <a:gd name="adj" fmla="val 5217"/>
            </a:avLst>
          </a:prstGeom>
          <a:solidFill>
            <a:schemeClr val="bg2"/>
          </a:solidFill>
          <a:ln/>
        </p:spPr>
      </p:sp>
      <p:sp>
        <p:nvSpPr>
          <p:cNvPr id="19" name="Every change is logged circle"/>
          <p:cNvSpPr/>
          <p:nvPr/>
        </p:nvSpPr>
        <p:spPr>
          <a:xfrm>
            <a:off x="822960" y="4114800"/>
            <a:ext cx="548640" cy="548640"/>
          </a:xfrm>
          <a:prstGeom prst="ellipse">
            <a:avLst/>
          </a:prstGeom>
          <a:solidFill>
            <a:schemeClr val="accent1"/>
          </a:solidFill>
          <a:ln/>
        </p:spPr>
      </p:sp>
      <p:pic>
        <p:nvPicPr>
          <p:cNvPr id="20" name="Every change is logged icon" descr="preencoded.png"/>
          <p:cNvPicPr>
            <a:picLocks noChangeAspect="1"/>
          </p:cNvPicPr>
          <p:nvPr/>
        </p:nvPicPr>
        <p:blipFill>
          <a:blip r:embed="rId6"/>
          <a:stretch>
            <a:fillRect/>
          </a:stretch>
        </p:blipFill>
        <p:spPr>
          <a:xfrm>
            <a:off x="960120" y="4251960"/>
            <a:ext cx="274320" cy="274320"/>
          </a:xfrm>
          <a:prstGeom prst="rect">
            <a:avLst/>
          </a:prstGeom>
        </p:spPr>
      </p:pic>
      <p:sp>
        <p:nvSpPr>
          <p:cNvPr id="21" name="Text 15"/>
          <p:cNvSpPr txBox="1"/>
          <p:nvPr/>
        </p:nvSpPr>
        <p:spPr>
          <a:xfrm>
            <a:off x="822960" y="4773168"/>
            <a:ext cx="2962656" cy="365760"/>
          </a:xfrm>
          <a:prstGeom prst="rect">
            <a:avLst/>
          </a:prstGeom>
          <a:noFill/>
          <a:ln/>
        </p:spPr>
        <p:txBody>
          <a:bodyPr wrap="square" lIns="0" tIns="0" rIns="0" bIns="0" rtlCol="0" anchor="t"/>
          <a:lstStyle/>
          <a:p>
            <a:pPr marL="0" indent="0">
              <a:buNone/>
            </a:pPr>
            <a:r>
              <a:rPr lang="en-US" sz="1700" b="1" dirty="0">
                <a:solidFill>
                  <a:schemeClr val="tx2"/>
                </a:solidFill>
              </a:rPr>
              <a:t>Every change is logged</a:t>
            </a:r>
            <a:endParaRPr lang="en-US" sz="1700" dirty="0"/>
          </a:p>
        </p:txBody>
      </p:sp>
      <p:sp>
        <p:nvSpPr>
          <p:cNvPr id="22" name="Text 16"/>
          <p:cNvSpPr txBox="1"/>
          <p:nvPr/>
        </p:nvSpPr>
        <p:spPr>
          <a:xfrm>
            <a:off x="822960" y="5148072"/>
            <a:ext cx="3008376" cy="731520"/>
          </a:xfrm>
          <a:prstGeom prst="rect">
            <a:avLst/>
          </a:prstGeom>
          <a:noFill/>
          <a:ln/>
        </p:spPr>
        <p:txBody>
          <a:bodyPr wrap="square" lIns="0" tIns="0" rIns="0" bIns="0" rtlCol="0" anchor="t"/>
          <a:lstStyle/>
          <a:p>
            <a:pPr marL="0" indent="0">
              <a:buNone/>
            </a:pPr>
            <a:r>
              <a:rPr lang="en-US" sz="1400" dirty="0">
                <a:solidFill>
                  <a:schemeClr val="tx1"/>
                </a:solidFill>
              </a:rPr>
              <a:t>Who changed what, and when. Deleted records can be restored for 30 days.</a:t>
            </a:r>
            <a:endParaRPr lang="en-US" sz="1400" dirty="0"/>
          </a:p>
        </p:txBody>
      </p:sp>
      <p:sp>
        <p:nvSpPr>
          <p:cNvPr id="23" name="Weekly encrypted backups"/>
          <p:cNvSpPr/>
          <p:nvPr/>
        </p:nvSpPr>
        <p:spPr>
          <a:xfrm>
            <a:off x="4338828" y="3840480"/>
            <a:ext cx="3511296" cy="2103120"/>
          </a:xfrm>
          <a:prstGeom prst="roundRect">
            <a:avLst>
              <a:gd name="adj" fmla="val 5217"/>
            </a:avLst>
          </a:prstGeom>
          <a:solidFill>
            <a:schemeClr val="bg2"/>
          </a:solidFill>
          <a:ln/>
        </p:spPr>
      </p:sp>
      <p:sp>
        <p:nvSpPr>
          <p:cNvPr id="24" name="Weekly encrypted backups circle"/>
          <p:cNvSpPr/>
          <p:nvPr/>
        </p:nvSpPr>
        <p:spPr>
          <a:xfrm>
            <a:off x="4613148" y="4114800"/>
            <a:ext cx="548640" cy="548640"/>
          </a:xfrm>
          <a:prstGeom prst="ellipse">
            <a:avLst/>
          </a:prstGeom>
          <a:solidFill>
            <a:schemeClr val="accent1"/>
          </a:solidFill>
          <a:ln/>
        </p:spPr>
      </p:sp>
      <p:pic>
        <p:nvPicPr>
          <p:cNvPr id="25" name="Weekly encrypted backups icon" descr="preencoded.png"/>
          <p:cNvPicPr>
            <a:picLocks noChangeAspect="1"/>
          </p:cNvPicPr>
          <p:nvPr/>
        </p:nvPicPr>
        <p:blipFill>
          <a:blip r:embed="rId7"/>
          <a:stretch>
            <a:fillRect/>
          </a:stretch>
        </p:blipFill>
        <p:spPr>
          <a:xfrm>
            <a:off x="4750308" y="4251960"/>
            <a:ext cx="274320" cy="274320"/>
          </a:xfrm>
          <a:prstGeom prst="rect">
            <a:avLst/>
          </a:prstGeom>
        </p:spPr>
      </p:pic>
      <p:sp>
        <p:nvSpPr>
          <p:cNvPr id="26" name="Text 19"/>
          <p:cNvSpPr txBox="1"/>
          <p:nvPr/>
        </p:nvSpPr>
        <p:spPr>
          <a:xfrm>
            <a:off x="4613148" y="4773168"/>
            <a:ext cx="2962656" cy="365760"/>
          </a:xfrm>
          <a:prstGeom prst="rect">
            <a:avLst/>
          </a:prstGeom>
          <a:noFill/>
          <a:ln/>
        </p:spPr>
        <p:txBody>
          <a:bodyPr wrap="square" lIns="0" tIns="0" rIns="0" bIns="0" rtlCol="0" anchor="t"/>
          <a:lstStyle/>
          <a:p>
            <a:pPr marL="0" indent="0">
              <a:buNone/>
            </a:pPr>
            <a:r>
              <a:rPr lang="en-US" sz="1700" b="1" dirty="0">
                <a:solidFill>
                  <a:schemeClr val="tx2"/>
                </a:solidFill>
              </a:rPr>
              <a:t>Weekly encrypted backups</a:t>
            </a:r>
            <a:endParaRPr lang="en-US" sz="1700" dirty="0"/>
          </a:p>
        </p:txBody>
      </p:sp>
      <p:sp>
        <p:nvSpPr>
          <p:cNvPr id="27" name="Text 20"/>
          <p:cNvSpPr txBox="1"/>
          <p:nvPr/>
        </p:nvSpPr>
        <p:spPr>
          <a:xfrm>
            <a:off x="4613148" y="5148072"/>
            <a:ext cx="3008376" cy="731520"/>
          </a:xfrm>
          <a:prstGeom prst="rect">
            <a:avLst/>
          </a:prstGeom>
          <a:noFill/>
          <a:ln/>
        </p:spPr>
        <p:txBody>
          <a:bodyPr wrap="square" lIns="0" tIns="0" rIns="0" bIns="0" rtlCol="0" anchor="t"/>
          <a:lstStyle/>
          <a:p>
            <a:pPr marL="0" indent="0">
              <a:buNone/>
            </a:pPr>
            <a:r>
              <a:rPr lang="en-US" sz="1400" dirty="0">
                <a:solidFill>
                  <a:schemeClr val="tx1"/>
                </a:solidFill>
              </a:rPr>
              <a:t>Locked with a passphrase and kept in the parish’s own storage.</a:t>
            </a:r>
            <a:endParaRPr lang="en-US" sz="1400" dirty="0"/>
          </a:p>
        </p:txBody>
      </p:sp>
      <p:sp>
        <p:nvSpPr>
          <p:cNvPr id="28" name="Owned by the parish"/>
          <p:cNvSpPr/>
          <p:nvPr/>
        </p:nvSpPr>
        <p:spPr>
          <a:xfrm>
            <a:off x="8129016" y="3840480"/>
            <a:ext cx="3511296" cy="2103120"/>
          </a:xfrm>
          <a:prstGeom prst="roundRect">
            <a:avLst>
              <a:gd name="adj" fmla="val 5217"/>
            </a:avLst>
          </a:prstGeom>
          <a:solidFill>
            <a:schemeClr val="bg2"/>
          </a:solidFill>
          <a:ln/>
        </p:spPr>
      </p:sp>
      <p:sp>
        <p:nvSpPr>
          <p:cNvPr id="29" name="Owned by the parish circle"/>
          <p:cNvSpPr/>
          <p:nvPr/>
        </p:nvSpPr>
        <p:spPr>
          <a:xfrm>
            <a:off x="8403336" y="4114800"/>
            <a:ext cx="548640" cy="548640"/>
          </a:xfrm>
          <a:prstGeom prst="ellipse">
            <a:avLst/>
          </a:prstGeom>
          <a:solidFill>
            <a:schemeClr val="accent1"/>
          </a:solidFill>
          <a:ln/>
        </p:spPr>
      </p:sp>
      <p:pic>
        <p:nvPicPr>
          <p:cNvPr id="30" name="Owned by the parish icon" descr="preencoded.png"/>
          <p:cNvPicPr>
            <a:picLocks noChangeAspect="1"/>
          </p:cNvPicPr>
          <p:nvPr/>
        </p:nvPicPr>
        <p:blipFill>
          <a:blip r:embed="rId8"/>
          <a:stretch>
            <a:fillRect/>
          </a:stretch>
        </p:blipFill>
        <p:spPr>
          <a:xfrm>
            <a:off x="8540496" y="4251960"/>
            <a:ext cx="274320" cy="274320"/>
          </a:xfrm>
          <a:prstGeom prst="rect">
            <a:avLst/>
          </a:prstGeom>
        </p:spPr>
      </p:pic>
      <p:sp>
        <p:nvSpPr>
          <p:cNvPr id="31" name="Text 23"/>
          <p:cNvSpPr txBox="1"/>
          <p:nvPr/>
        </p:nvSpPr>
        <p:spPr>
          <a:xfrm>
            <a:off x="8403336" y="4773168"/>
            <a:ext cx="2962656" cy="365760"/>
          </a:xfrm>
          <a:prstGeom prst="rect">
            <a:avLst/>
          </a:prstGeom>
          <a:noFill/>
          <a:ln/>
        </p:spPr>
        <p:txBody>
          <a:bodyPr wrap="square" lIns="0" tIns="0" rIns="0" bIns="0" rtlCol="0" anchor="t"/>
          <a:lstStyle/>
          <a:p>
            <a:pPr marL="0" indent="0">
              <a:buNone/>
            </a:pPr>
            <a:r>
              <a:rPr lang="en-US" sz="1700" b="1" dirty="0">
                <a:solidFill>
                  <a:schemeClr val="tx2"/>
                </a:solidFill>
              </a:rPr>
              <a:t>Owned by the parish</a:t>
            </a:r>
            <a:endParaRPr lang="en-US" sz="1700" dirty="0"/>
          </a:p>
        </p:txBody>
      </p:sp>
      <p:sp>
        <p:nvSpPr>
          <p:cNvPr id="32" name="Text 24"/>
          <p:cNvSpPr txBox="1"/>
          <p:nvPr/>
        </p:nvSpPr>
        <p:spPr>
          <a:xfrm>
            <a:off x="8403336" y="5148072"/>
            <a:ext cx="3008376" cy="731520"/>
          </a:xfrm>
          <a:prstGeom prst="rect">
            <a:avLst/>
          </a:prstGeom>
          <a:noFill/>
          <a:ln/>
        </p:spPr>
        <p:txBody>
          <a:bodyPr wrap="square" lIns="0" tIns="0" rIns="0" bIns="0" rtlCol="0" anchor="t"/>
          <a:lstStyle/>
          <a:p>
            <a:pPr marL="0" indent="0">
              <a:buNone/>
            </a:pPr>
            <a:r>
              <a:rPr lang="en-US" sz="1400" dirty="0">
                <a:solidFill>
                  <a:schemeClr val="tx1"/>
                </a:solidFill>
              </a:rPr>
              <a:t>Every account is under the parish’s own Gmail, not a volunteer’s.</a:t>
            </a:r>
            <a:endParaRPr lang="en-US" sz="1400" dirty="0"/>
          </a:p>
        </p:txBody>
      </p:sp>
      <p:sp>
        <p:nvSpPr>
          <p:cNvPr id="33"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91672" cy="822960"/>
          </a:xfrm>
          <a:prstGeom prst="rect">
            <a:avLst/>
          </a:prstGeom>
          <a:noFill/>
          <a:ln/>
        </p:spPr>
        <p:txBody>
          <a:bodyPr wrap="square" lIns="0" tIns="0" rIns="0" bIns="0" rtlCol="0" anchor="ctr"/>
          <a:lstStyle/>
          <a:p>
            <a:pPr marL="0" indent="0" algn="l">
              <a:buNone/>
            </a:pPr>
            <a:r>
              <a:rPr lang="en-US" sz="3200" b="1" dirty="0">
                <a:solidFill>
                  <a:schemeClr val="tx2"/>
                </a:solidFill>
                <a:latin typeface="+mj-lt" pitchFamily="34" charset="0"/>
                <a:ea typeface="+mj-lt" pitchFamily="34" charset="-122"/>
                <a:cs typeface="+mj-lt" pitchFamily="34" charset="-120"/>
              </a:rPr>
              <a:t>It runs at no monthly cost to the parish</a:t>
            </a:r>
            <a:endParaRPr lang="en-US" sz="3200" dirty="0"/>
          </a:p>
        </p:txBody>
      </p:sp>
      <p:sp>
        <p:nvSpPr>
          <p:cNvPr id="3" name="Cost panel"/>
          <p:cNvSpPr/>
          <p:nvPr/>
        </p:nvSpPr>
        <p:spPr>
          <a:xfrm>
            <a:off x="548640" y="1463040"/>
            <a:ext cx="4023360" cy="4572000"/>
          </a:xfrm>
          <a:prstGeom prst="roundRect">
            <a:avLst>
              <a:gd name="adj" fmla="val 2727"/>
            </a:avLst>
          </a:prstGeom>
          <a:solidFill>
            <a:schemeClr val="tx2"/>
          </a:solidFill>
          <a:ln/>
        </p:spPr>
      </p:sp>
      <p:sp>
        <p:nvSpPr>
          <p:cNvPr id="4" name="Text 2"/>
          <p:cNvSpPr txBox="1"/>
          <p:nvPr/>
        </p:nvSpPr>
        <p:spPr>
          <a:xfrm>
            <a:off x="868680" y="1783080"/>
            <a:ext cx="3383280" cy="1463040"/>
          </a:xfrm>
          <a:prstGeom prst="rect">
            <a:avLst/>
          </a:prstGeom>
          <a:noFill/>
          <a:ln/>
        </p:spPr>
        <p:txBody>
          <a:bodyPr wrap="square" lIns="0" tIns="0" rIns="0" bIns="0" rtlCol="0" anchor="ctr"/>
          <a:lstStyle/>
          <a:p>
            <a:pPr marL="0" indent="0">
              <a:buNone/>
            </a:pPr>
            <a:r>
              <a:rPr lang="en-US" sz="9600" b="1" dirty="0">
                <a:solidFill>
                  <a:schemeClr val="accent2"/>
                </a:solidFill>
                <a:latin typeface="+mj-lt" pitchFamily="34" charset="0"/>
                <a:ea typeface="+mj-lt" pitchFamily="34" charset="-122"/>
                <a:cs typeface="+mj-lt" pitchFamily="34" charset="-120"/>
              </a:rPr>
              <a:t>₱0</a:t>
            </a:r>
            <a:endParaRPr lang="en-US" sz="9600" dirty="0"/>
          </a:p>
        </p:txBody>
      </p:sp>
      <p:sp>
        <p:nvSpPr>
          <p:cNvPr id="5" name="Text 3"/>
          <p:cNvSpPr txBox="1"/>
          <p:nvPr/>
        </p:nvSpPr>
        <p:spPr>
          <a:xfrm>
            <a:off x="868680" y="3246120"/>
            <a:ext cx="3383280" cy="457200"/>
          </a:xfrm>
          <a:prstGeom prst="rect">
            <a:avLst/>
          </a:prstGeom>
          <a:noFill/>
          <a:ln/>
        </p:spPr>
        <p:txBody>
          <a:bodyPr wrap="square" lIns="0" tIns="0" rIns="0" bIns="0" rtlCol="0" anchor="t"/>
          <a:lstStyle/>
          <a:p>
            <a:pPr marL="0" indent="0">
              <a:buNone/>
            </a:pPr>
            <a:r>
              <a:rPr lang="en-US" sz="2200" b="1" dirty="0">
                <a:solidFill>
                  <a:schemeClr val="bg1"/>
                </a:solidFill>
              </a:rPr>
              <a:t>a month to run</a:t>
            </a:r>
            <a:endParaRPr lang="en-US" sz="2200" dirty="0"/>
          </a:p>
        </p:txBody>
      </p:sp>
      <p:sp>
        <p:nvSpPr>
          <p:cNvPr id="6" name="Text 4"/>
          <p:cNvSpPr txBox="1"/>
          <p:nvPr/>
        </p:nvSpPr>
        <p:spPr>
          <a:xfrm>
            <a:off x="868680" y="3840480"/>
            <a:ext cx="3429000" cy="1920240"/>
          </a:xfrm>
          <a:prstGeom prst="rect">
            <a:avLst/>
          </a:prstGeom>
          <a:noFill/>
          <a:ln/>
        </p:spPr>
        <p:txBody>
          <a:bodyPr wrap="square" lIns="0" tIns="0" rIns="0" bIns="0" rtlCol="0" anchor="t"/>
          <a:lstStyle/>
          <a:p>
            <a:pPr marL="0" indent="0">
              <a:buNone/>
            </a:pPr>
            <a:r>
              <a:rPr lang="en-US" sz="1500" dirty="0">
                <a:solidFill>
                  <a:schemeClr val="bg2"/>
                </a:solidFill>
              </a:rPr>
              <a:t>On the free plans of Supabase (database and logins), Vercel (website) and Cloudflare R2 (photos and backups), with room for a few thousand households.</a:t>
            </a:r>
            <a:endParaRPr lang="en-US" sz="1500" dirty="0"/>
          </a:p>
        </p:txBody>
      </p:sp>
      <p:sp>
        <p:nvSpPr>
          <p:cNvPr id="7" name="Text 5"/>
          <p:cNvSpPr txBox="1"/>
          <p:nvPr/>
        </p:nvSpPr>
        <p:spPr>
          <a:xfrm>
            <a:off x="4983480" y="1463040"/>
            <a:ext cx="6659575" cy="411480"/>
          </a:xfrm>
          <a:prstGeom prst="rect">
            <a:avLst/>
          </a:prstGeom>
          <a:noFill/>
          <a:ln/>
        </p:spPr>
        <p:txBody>
          <a:bodyPr wrap="square" lIns="0" tIns="0" rIns="0" bIns="0" rtlCol="0" anchor="t"/>
          <a:lstStyle/>
          <a:p>
            <a:pPr marL="0" indent="0">
              <a:buNone/>
            </a:pPr>
            <a:r>
              <a:rPr lang="en-US" sz="1900" b="1" dirty="0">
                <a:solidFill>
                  <a:schemeClr val="tx2"/>
                </a:solidFill>
                <a:latin typeface="+mj-lt" pitchFamily="34" charset="0"/>
                <a:ea typeface="+mj-lt" pitchFamily="34" charset="-122"/>
                <a:cs typeface="+mj-lt" pitchFamily="34" charset="-120"/>
              </a:rPr>
              <a:t>What “free” means for us</a:t>
            </a:r>
            <a:endParaRPr lang="en-US" sz="1900" dirty="0"/>
          </a:p>
        </p:txBody>
      </p:sp>
      <p:sp>
        <p:nvSpPr>
          <p:cNvPr id="8" name="Kept awake automatically circle"/>
          <p:cNvSpPr/>
          <p:nvPr/>
        </p:nvSpPr>
        <p:spPr>
          <a:xfrm>
            <a:off x="4983480" y="2057400"/>
            <a:ext cx="457200" cy="457200"/>
          </a:xfrm>
          <a:prstGeom prst="ellipse">
            <a:avLst/>
          </a:prstGeom>
          <a:solidFill>
            <a:schemeClr val="accent1"/>
          </a:solidFill>
          <a:ln/>
        </p:spPr>
      </p:sp>
      <p:pic>
        <p:nvPicPr>
          <p:cNvPr id="9" name="Kept awake automatically icon" descr="preencoded.png"/>
          <p:cNvPicPr>
            <a:picLocks noChangeAspect="1"/>
          </p:cNvPicPr>
          <p:nvPr/>
        </p:nvPicPr>
        <p:blipFill>
          <a:blip r:embed="rId3"/>
          <a:stretch>
            <a:fillRect/>
          </a:stretch>
        </p:blipFill>
        <p:spPr>
          <a:xfrm>
            <a:off x="5097780" y="2171700"/>
            <a:ext cx="228600" cy="228600"/>
          </a:xfrm>
          <a:prstGeom prst="rect">
            <a:avLst/>
          </a:prstGeom>
        </p:spPr>
      </p:pic>
      <p:sp>
        <p:nvSpPr>
          <p:cNvPr id="10" name="Text 7"/>
          <p:cNvSpPr txBox="1"/>
          <p:nvPr/>
        </p:nvSpPr>
        <p:spPr>
          <a:xfrm>
            <a:off x="5623560" y="2020824"/>
            <a:ext cx="6019495" cy="329184"/>
          </a:xfrm>
          <a:prstGeom prst="rect">
            <a:avLst/>
          </a:prstGeom>
          <a:noFill/>
          <a:ln/>
        </p:spPr>
        <p:txBody>
          <a:bodyPr wrap="square" lIns="0" tIns="0" rIns="0" bIns="0" rtlCol="0" anchor="t"/>
          <a:lstStyle/>
          <a:p>
            <a:pPr marL="0" indent="0">
              <a:buNone/>
            </a:pPr>
            <a:r>
              <a:rPr lang="en-US" sz="1600" b="1" dirty="0">
                <a:solidFill>
                  <a:schemeClr val="tx2"/>
                </a:solidFill>
              </a:rPr>
              <a:t>Kept awake automatically</a:t>
            </a:r>
            <a:endParaRPr lang="en-US" sz="1600" dirty="0"/>
          </a:p>
        </p:txBody>
      </p:sp>
      <p:sp>
        <p:nvSpPr>
          <p:cNvPr id="11" name="Text 8"/>
          <p:cNvSpPr txBox="1"/>
          <p:nvPr/>
        </p:nvSpPr>
        <p:spPr>
          <a:xfrm>
            <a:off x="5623560" y="2350008"/>
            <a:ext cx="6019495" cy="548640"/>
          </a:xfrm>
          <a:prstGeom prst="rect">
            <a:avLst/>
          </a:prstGeom>
          <a:noFill/>
          <a:ln/>
        </p:spPr>
        <p:txBody>
          <a:bodyPr wrap="square" lIns="0" tIns="0" rIns="0" bIns="0" rtlCol="0" anchor="t"/>
          <a:lstStyle/>
          <a:p>
            <a:pPr marL="0" indent="0">
              <a:buNone/>
            </a:pPr>
            <a:r>
              <a:rPr lang="en-US" sz="1400" dirty="0">
                <a:solidFill>
                  <a:schemeClr val="tx1"/>
                </a:solidFill>
              </a:rPr>
              <a:t>The free database pauses after a week unused; a check every 3 days prevents it.</a:t>
            </a:r>
            <a:endParaRPr lang="en-US" sz="1400" dirty="0"/>
          </a:p>
        </p:txBody>
      </p:sp>
      <p:sp>
        <p:nvSpPr>
          <p:cNvPr id="12" name="No paid support circle"/>
          <p:cNvSpPr/>
          <p:nvPr/>
        </p:nvSpPr>
        <p:spPr>
          <a:xfrm>
            <a:off x="4983480" y="2990088"/>
            <a:ext cx="457200" cy="457200"/>
          </a:xfrm>
          <a:prstGeom prst="ellipse">
            <a:avLst/>
          </a:prstGeom>
          <a:solidFill>
            <a:schemeClr val="accent2"/>
          </a:solidFill>
          <a:ln/>
        </p:spPr>
      </p:sp>
      <p:pic>
        <p:nvPicPr>
          <p:cNvPr id="13" name="No paid support icon" descr="preencoded.png"/>
          <p:cNvPicPr>
            <a:picLocks noChangeAspect="1"/>
          </p:cNvPicPr>
          <p:nvPr/>
        </p:nvPicPr>
        <p:blipFill>
          <a:blip r:embed="rId4"/>
          <a:stretch>
            <a:fillRect/>
          </a:stretch>
        </p:blipFill>
        <p:spPr>
          <a:xfrm>
            <a:off x="5097780" y="3104388"/>
            <a:ext cx="228600" cy="228600"/>
          </a:xfrm>
          <a:prstGeom prst="rect">
            <a:avLst/>
          </a:prstGeom>
        </p:spPr>
      </p:pic>
      <p:sp>
        <p:nvSpPr>
          <p:cNvPr id="14" name="Text 10"/>
          <p:cNvSpPr txBox="1"/>
          <p:nvPr/>
        </p:nvSpPr>
        <p:spPr>
          <a:xfrm>
            <a:off x="5623560" y="2953512"/>
            <a:ext cx="6019495" cy="329184"/>
          </a:xfrm>
          <a:prstGeom prst="rect">
            <a:avLst/>
          </a:prstGeom>
          <a:noFill/>
          <a:ln/>
        </p:spPr>
        <p:txBody>
          <a:bodyPr wrap="square" lIns="0" tIns="0" rIns="0" bIns="0" rtlCol="0" anchor="t"/>
          <a:lstStyle/>
          <a:p>
            <a:pPr marL="0" indent="0">
              <a:buNone/>
            </a:pPr>
            <a:r>
              <a:rPr lang="en-US" sz="1600" b="1" dirty="0">
                <a:solidFill>
                  <a:schemeClr val="tx2"/>
                </a:solidFill>
              </a:rPr>
              <a:t>No paid support</a:t>
            </a:r>
            <a:endParaRPr lang="en-US" sz="1600" dirty="0"/>
          </a:p>
        </p:txBody>
      </p:sp>
      <p:sp>
        <p:nvSpPr>
          <p:cNvPr id="15" name="Text 11"/>
          <p:cNvSpPr txBox="1"/>
          <p:nvPr/>
        </p:nvSpPr>
        <p:spPr>
          <a:xfrm>
            <a:off x="5623560" y="3282696"/>
            <a:ext cx="6019495" cy="548640"/>
          </a:xfrm>
          <a:prstGeom prst="rect">
            <a:avLst/>
          </a:prstGeom>
          <a:noFill/>
          <a:ln/>
        </p:spPr>
        <p:txBody>
          <a:bodyPr wrap="square" lIns="0" tIns="0" rIns="0" bIns="0" rtlCol="0" anchor="t"/>
          <a:lstStyle/>
          <a:p>
            <a:pPr marL="0" indent="0">
              <a:buNone/>
            </a:pPr>
            <a:r>
              <a:rPr lang="en-US" sz="1400" dirty="0">
                <a:solidFill>
                  <a:schemeClr val="tx1"/>
                </a:solidFill>
              </a:rPr>
              <a:t>Help comes from the providers’ communities, and our weekly backups protect the data.</a:t>
            </a:r>
            <a:endParaRPr lang="en-US" sz="1400" dirty="0"/>
          </a:p>
        </p:txBody>
      </p:sp>
      <p:sp>
        <p:nvSpPr>
          <p:cNvPr id="16" name="If we ever outgrow it circle"/>
          <p:cNvSpPr/>
          <p:nvPr/>
        </p:nvSpPr>
        <p:spPr>
          <a:xfrm>
            <a:off x="4983480" y="3922776"/>
            <a:ext cx="457200" cy="457200"/>
          </a:xfrm>
          <a:prstGeom prst="ellipse">
            <a:avLst/>
          </a:prstGeom>
          <a:solidFill>
            <a:schemeClr val="accent1"/>
          </a:solidFill>
          <a:ln/>
        </p:spPr>
      </p:sp>
      <p:pic>
        <p:nvPicPr>
          <p:cNvPr id="17" name="If we ever outgrow it icon" descr="preencoded.png"/>
          <p:cNvPicPr>
            <a:picLocks noChangeAspect="1"/>
          </p:cNvPicPr>
          <p:nvPr/>
        </p:nvPicPr>
        <p:blipFill>
          <a:blip r:embed="rId5"/>
          <a:stretch>
            <a:fillRect/>
          </a:stretch>
        </p:blipFill>
        <p:spPr>
          <a:xfrm>
            <a:off x="5097780" y="4037076"/>
            <a:ext cx="228600" cy="228600"/>
          </a:xfrm>
          <a:prstGeom prst="rect">
            <a:avLst/>
          </a:prstGeom>
        </p:spPr>
      </p:pic>
      <p:sp>
        <p:nvSpPr>
          <p:cNvPr id="18" name="Text 13"/>
          <p:cNvSpPr txBox="1"/>
          <p:nvPr/>
        </p:nvSpPr>
        <p:spPr>
          <a:xfrm>
            <a:off x="5623560" y="3886200"/>
            <a:ext cx="6019495" cy="329184"/>
          </a:xfrm>
          <a:prstGeom prst="rect">
            <a:avLst/>
          </a:prstGeom>
          <a:noFill/>
          <a:ln/>
        </p:spPr>
        <p:txBody>
          <a:bodyPr wrap="square" lIns="0" tIns="0" rIns="0" bIns="0" rtlCol="0" anchor="t"/>
          <a:lstStyle/>
          <a:p>
            <a:pPr marL="0" indent="0">
              <a:buNone/>
            </a:pPr>
            <a:r>
              <a:rPr lang="en-US" sz="1600" b="1" dirty="0">
                <a:solidFill>
                  <a:schemeClr val="tx2"/>
                </a:solidFill>
              </a:rPr>
              <a:t>If we ever outgrow it</a:t>
            </a:r>
            <a:endParaRPr lang="en-US" sz="1600" dirty="0"/>
          </a:p>
        </p:txBody>
      </p:sp>
      <p:sp>
        <p:nvSpPr>
          <p:cNvPr id="19" name="Text 14"/>
          <p:cNvSpPr txBox="1"/>
          <p:nvPr/>
        </p:nvSpPr>
        <p:spPr>
          <a:xfrm>
            <a:off x="5623560" y="4215384"/>
            <a:ext cx="6019495" cy="548640"/>
          </a:xfrm>
          <a:prstGeom prst="rect">
            <a:avLst/>
          </a:prstGeom>
          <a:noFill/>
          <a:ln/>
        </p:spPr>
        <p:txBody>
          <a:bodyPr wrap="square" lIns="0" tIns="0" rIns="0" bIns="0" rtlCol="0" anchor="t"/>
          <a:lstStyle/>
          <a:p>
            <a:pPr marL="0" indent="0">
              <a:buNone/>
            </a:pPr>
            <a:r>
              <a:rPr lang="en-US" sz="1400" dirty="0">
                <a:solidFill>
                  <a:schemeClr val="tx1"/>
                </a:solidFill>
              </a:rPr>
              <a:t>Supabase Pro is US$25 a month and Vercel Pro US$20 a month. Not needed today.</a:t>
            </a:r>
            <a:endParaRPr lang="en-US" sz="1400" dirty="0"/>
          </a:p>
        </p:txBody>
      </p:sp>
      <p:sp>
        <p:nvSpPr>
          <p:cNvPr id="20" name="Domain option"/>
          <p:cNvSpPr/>
          <p:nvPr/>
        </p:nvSpPr>
        <p:spPr>
          <a:xfrm>
            <a:off x="4983480" y="4983480"/>
            <a:ext cx="6659575" cy="1051560"/>
          </a:xfrm>
          <a:prstGeom prst="roundRect">
            <a:avLst>
              <a:gd name="adj" fmla="val 10435"/>
            </a:avLst>
          </a:prstGeom>
          <a:solidFill>
            <a:schemeClr val="accent2">
              <a:alpha val="18000"/>
            </a:schemeClr>
          </a:solidFill>
          <a:ln/>
        </p:spPr>
      </p:sp>
      <p:sp>
        <p:nvSpPr>
          <p:cNvPr id="21" name="Domain circle"/>
          <p:cNvSpPr/>
          <p:nvPr/>
        </p:nvSpPr>
        <p:spPr>
          <a:xfrm>
            <a:off x="5212080" y="5248656"/>
            <a:ext cx="512064" cy="512064"/>
          </a:xfrm>
          <a:prstGeom prst="ellipse">
            <a:avLst/>
          </a:prstGeom>
          <a:solidFill>
            <a:schemeClr val="accent2"/>
          </a:solidFill>
          <a:ln/>
        </p:spPr>
      </p:sp>
      <p:pic>
        <p:nvPicPr>
          <p:cNvPr id="22" name="Domain icon" descr="preencoded.png"/>
          <p:cNvPicPr>
            <a:picLocks noChangeAspect="1"/>
          </p:cNvPicPr>
          <p:nvPr/>
        </p:nvPicPr>
        <p:blipFill>
          <a:blip r:embed="rId6"/>
          <a:stretch>
            <a:fillRect/>
          </a:stretch>
        </p:blipFill>
        <p:spPr>
          <a:xfrm>
            <a:off x="5340096" y="5376672"/>
            <a:ext cx="256032" cy="256032"/>
          </a:xfrm>
          <a:prstGeom prst="rect">
            <a:avLst/>
          </a:prstGeom>
        </p:spPr>
      </p:pic>
      <p:sp>
        <p:nvSpPr>
          <p:cNvPr id="23" name="Text 17"/>
          <p:cNvSpPr txBox="1"/>
          <p:nvPr/>
        </p:nvSpPr>
        <p:spPr>
          <a:xfrm>
            <a:off x="5897880" y="4983480"/>
            <a:ext cx="5562295" cy="1051560"/>
          </a:xfrm>
          <a:prstGeom prst="rect">
            <a:avLst/>
          </a:prstGeom>
          <a:noFill/>
          <a:ln/>
        </p:spPr>
        <p:txBody>
          <a:bodyPr wrap="square" lIns="0" tIns="0" rIns="0" bIns="0" rtlCol="0" anchor="ctr"/>
          <a:lstStyle/>
          <a:p>
            <a:pPr marL="0" indent="0">
              <a:buNone/>
            </a:pPr>
            <a:r>
              <a:rPr lang="en-US" sz="1500" b="1" dirty="0">
                <a:solidFill>
                  <a:schemeClr val="tx2"/>
                </a:solidFill>
              </a:rPr>
              <a:t>Optional: our own address, guadalupemuaan.org</a:t>
            </a:r>
            <a:endParaRPr lang="en-US" sz="1500" dirty="0"/>
          </a:p>
          <a:p>
            <a:pPr marL="0" indent="0">
              <a:buNone/>
            </a:pPr>
            <a:r>
              <a:rPr lang="en-US" sz="1500" dirty="0">
                <a:solidFill>
                  <a:schemeClr val="tx1"/>
                </a:solidFill>
              </a:rPr>
              <a:t>₱1,826.12 for two years (about ₱76 a month). The proposal is with the Finance Council.</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91672" cy="822960"/>
          </a:xfrm>
          <a:prstGeom prst="rect">
            <a:avLst/>
          </a:prstGeom>
          <a:noFill/>
          <a:ln/>
        </p:spPr>
        <p:txBody>
          <a:bodyPr wrap="square" lIns="0" tIns="0" rIns="0" bIns="0" rtlCol="0" anchor="ctr"/>
          <a:lstStyle/>
          <a:p>
            <a:pPr marL="0" indent="0" algn="l">
              <a:buNone/>
            </a:pPr>
            <a:r>
              <a:rPr lang="en-US" sz="3200" b="1" dirty="0">
                <a:solidFill>
                  <a:schemeClr val="tx2"/>
                </a:solidFill>
                <a:latin typeface="+mj-lt" pitchFamily="34" charset="0"/>
                <a:ea typeface="+mj-lt" pitchFamily="34" charset="-122"/>
                <a:cs typeface="+mj-lt" pitchFamily="34" charset="-120"/>
              </a:rPr>
              <a:t>It is built, tested and ready to use now</a:t>
            </a:r>
            <a:endParaRPr lang="en-US" sz="3200" dirty="0"/>
          </a:p>
        </p:txBody>
      </p:sp>
      <p:sp>
        <p:nvSpPr>
          <p:cNvPr id="3" name="Text 1"/>
          <p:cNvSpPr txBox="1"/>
          <p:nvPr/>
        </p:nvSpPr>
        <p:spPr>
          <a:xfrm>
            <a:off x="548640" y="1463040"/>
            <a:ext cx="5486400" cy="365760"/>
          </a:xfrm>
          <a:prstGeom prst="rect">
            <a:avLst/>
          </a:prstGeom>
          <a:noFill/>
          <a:ln/>
        </p:spPr>
        <p:txBody>
          <a:bodyPr wrap="square" lIns="0" tIns="0" rIns="0" bIns="0" rtlCol="0" anchor="t"/>
          <a:lstStyle/>
          <a:p>
            <a:pPr marL="0" indent="0">
              <a:buNone/>
            </a:pPr>
            <a:r>
              <a:rPr lang="en-US" sz="1700" b="1" dirty="0">
                <a:solidFill>
                  <a:schemeClr val="accent1"/>
                </a:solidFill>
              </a:rPr>
              <a:t>Ready today</a:t>
            </a:r>
            <a:endParaRPr lang="en-US" sz="1700" dirty="0"/>
          </a:p>
        </p:txBody>
      </p:sp>
      <p:sp>
        <p:nvSpPr>
          <p:cNvPr id="4" name="Shape 2"/>
          <p:cNvSpPr/>
          <p:nvPr/>
        </p:nvSpPr>
        <p:spPr>
          <a:xfrm>
            <a:off x="548640" y="2020824"/>
            <a:ext cx="384048" cy="384048"/>
          </a:xfrm>
          <a:prstGeom prst="ellipse">
            <a:avLst/>
          </a:prstGeom>
          <a:solidFill>
            <a:schemeClr val="accent1">
              <a:alpha val="15000"/>
            </a:schemeClr>
          </a:solidFill>
          <a:ln/>
        </p:spPr>
      </p:sp>
      <p:pic>
        <p:nvPicPr>
          <p:cNvPr id="5" name="Image 0" descr="preencoded.png"/>
          <p:cNvPicPr>
            <a:picLocks noChangeAspect="1"/>
          </p:cNvPicPr>
          <p:nvPr/>
        </p:nvPicPr>
        <p:blipFill>
          <a:blip r:embed="rId3"/>
          <a:stretch>
            <a:fillRect/>
          </a:stretch>
        </p:blipFill>
        <p:spPr>
          <a:xfrm>
            <a:off x="640080" y="2112264"/>
            <a:ext cx="201168" cy="201168"/>
          </a:xfrm>
          <a:prstGeom prst="rect">
            <a:avLst/>
          </a:prstGeom>
        </p:spPr>
      </p:pic>
      <p:sp>
        <p:nvSpPr>
          <p:cNvPr id="6" name="Text 3"/>
          <p:cNvSpPr txBox="1"/>
          <p:nvPr/>
        </p:nvSpPr>
        <p:spPr>
          <a:xfrm>
            <a:off x="1097280" y="1965960"/>
            <a:ext cx="5120640" cy="502920"/>
          </a:xfrm>
          <a:prstGeom prst="rect">
            <a:avLst/>
          </a:prstGeom>
          <a:noFill/>
          <a:ln/>
        </p:spPr>
        <p:txBody>
          <a:bodyPr wrap="square" lIns="0" tIns="0" rIns="0" bIns="0" rtlCol="0" anchor="ctr"/>
          <a:lstStyle/>
          <a:p>
            <a:pPr marL="0" indent="0">
              <a:buNone/>
            </a:pPr>
            <a:r>
              <a:rPr lang="en-US" sz="1500" dirty="0">
                <a:solidFill>
                  <a:schemeClr val="tx1"/>
                </a:solidFill>
              </a:rPr>
              <a:t>Online family registration in five steps, in Bisaya</a:t>
            </a:r>
            <a:endParaRPr lang="en-US" sz="1500" dirty="0"/>
          </a:p>
        </p:txBody>
      </p:sp>
      <p:sp>
        <p:nvSpPr>
          <p:cNvPr id="7" name="Shape 4"/>
          <p:cNvSpPr/>
          <p:nvPr/>
        </p:nvSpPr>
        <p:spPr>
          <a:xfrm>
            <a:off x="548640" y="2679192"/>
            <a:ext cx="384048" cy="384048"/>
          </a:xfrm>
          <a:prstGeom prst="ellipse">
            <a:avLst/>
          </a:prstGeom>
          <a:solidFill>
            <a:schemeClr val="accent1">
              <a:alpha val="15000"/>
            </a:schemeClr>
          </a:solidFill>
          <a:ln/>
        </p:spPr>
      </p:sp>
      <p:pic>
        <p:nvPicPr>
          <p:cNvPr id="8" name="Image 1" descr="preencoded.png"/>
          <p:cNvPicPr>
            <a:picLocks noChangeAspect="1"/>
          </p:cNvPicPr>
          <p:nvPr/>
        </p:nvPicPr>
        <p:blipFill>
          <a:blip r:embed="rId3"/>
          <a:stretch>
            <a:fillRect/>
          </a:stretch>
        </p:blipFill>
        <p:spPr>
          <a:xfrm>
            <a:off x="640080" y="2770632"/>
            <a:ext cx="201168" cy="201168"/>
          </a:xfrm>
          <a:prstGeom prst="rect">
            <a:avLst/>
          </a:prstGeom>
        </p:spPr>
      </p:pic>
      <p:sp>
        <p:nvSpPr>
          <p:cNvPr id="9" name="Text 5"/>
          <p:cNvSpPr txBox="1"/>
          <p:nvPr/>
        </p:nvSpPr>
        <p:spPr>
          <a:xfrm>
            <a:off x="1097280" y="2624328"/>
            <a:ext cx="5120640" cy="502920"/>
          </a:xfrm>
          <a:prstGeom prst="rect">
            <a:avLst/>
          </a:prstGeom>
          <a:noFill/>
          <a:ln/>
        </p:spPr>
        <p:txBody>
          <a:bodyPr wrap="square" lIns="0" tIns="0" rIns="0" bIns="0" rtlCol="0" anchor="ctr"/>
          <a:lstStyle/>
          <a:p>
            <a:pPr marL="0" indent="0">
              <a:buNone/>
            </a:pPr>
            <a:r>
              <a:rPr lang="en-US" sz="1500" dirty="0">
                <a:solidFill>
                  <a:schemeClr val="tx1"/>
                </a:solidFill>
              </a:rPr>
              <a:t>The census, with online updates and results by GKK</a:t>
            </a:r>
            <a:endParaRPr lang="en-US" sz="1500" dirty="0"/>
          </a:p>
        </p:txBody>
      </p:sp>
      <p:sp>
        <p:nvSpPr>
          <p:cNvPr id="10" name="Shape 6"/>
          <p:cNvSpPr/>
          <p:nvPr/>
        </p:nvSpPr>
        <p:spPr>
          <a:xfrm>
            <a:off x="548640" y="3337560"/>
            <a:ext cx="384048" cy="384048"/>
          </a:xfrm>
          <a:prstGeom prst="ellipse">
            <a:avLst/>
          </a:prstGeom>
          <a:solidFill>
            <a:schemeClr val="accent1">
              <a:alpha val="15000"/>
            </a:schemeClr>
          </a:solidFill>
          <a:ln/>
        </p:spPr>
      </p:sp>
      <p:pic>
        <p:nvPicPr>
          <p:cNvPr id="11" name="Image 2" descr="preencoded.png"/>
          <p:cNvPicPr>
            <a:picLocks noChangeAspect="1"/>
          </p:cNvPicPr>
          <p:nvPr/>
        </p:nvPicPr>
        <p:blipFill>
          <a:blip r:embed="rId3"/>
          <a:stretch>
            <a:fillRect/>
          </a:stretch>
        </p:blipFill>
        <p:spPr>
          <a:xfrm>
            <a:off x="640080" y="3429000"/>
            <a:ext cx="201168" cy="201168"/>
          </a:xfrm>
          <a:prstGeom prst="rect">
            <a:avLst/>
          </a:prstGeom>
        </p:spPr>
      </p:pic>
      <p:sp>
        <p:nvSpPr>
          <p:cNvPr id="12" name="Text 7"/>
          <p:cNvSpPr txBox="1"/>
          <p:nvPr/>
        </p:nvSpPr>
        <p:spPr>
          <a:xfrm>
            <a:off x="1097280" y="3282696"/>
            <a:ext cx="5120640" cy="502920"/>
          </a:xfrm>
          <a:prstGeom prst="rect">
            <a:avLst/>
          </a:prstGeom>
          <a:noFill/>
          <a:ln/>
        </p:spPr>
        <p:txBody>
          <a:bodyPr wrap="square" lIns="0" tIns="0" rIns="0" bIns="0" rtlCol="0" anchor="ctr"/>
          <a:lstStyle/>
          <a:p>
            <a:pPr marL="0" indent="0">
              <a:buNone/>
            </a:pPr>
            <a:r>
              <a:rPr lang="en-US" sz="1500" dirty="0">
                <a:solidFill>
                  <a:schemeClr val="tx1"/>
                </a:solidFill>
              </a:rPr>
              <a:t>Parish website: Masses, announcements, bulletin, events, sacrament guides</a:t>
            </a:r>
            <a:endParaRPr lang="en-US" sz="1500" dirty="0"/>
          </a:p>
        </p:txBody>
      </p:sp>
      <p:sp>
        <p:nvSpPr>
          <p:cNvPr id="13" name="Shape 8"/>
          <p:cNvSpPr/>
          <p:nvPr/>
        </p:nvSpPr>
        <p:spPr>
          <a:xfrm>
            <a:off x="548640" y="3995928"/>
            <a:ext cx="384048" cy="384048"/>
          </a:xfrm>
          <a:prstGeom prst="ellipse">
            <a:avLst/>
          </a:prstGeom>
          <a:solidFill>
            <a:schemeClr val="accent1">
              <a:alpha val="15000"/>
            </a:schemeClr>
          </a:solidFill>
          <a:ln/>
        </p:spPr>
      </p:sp>
      <p:pic>
        <p:nvPicPr>
          <p:cNvPr id="14" name="Image 3" descr="preencoded.png"/>
          <p:cNvPicPr>
            <a:picLocks noChangeAspect="1"/>
          </p:cNvPicPr>
          <p:nvPr/>
        </p:nvPicPr>
        <p:blipFill>
          <a:blip r:embed="rId3"/>
          <a:stretch>
            <a:fillRect/>
          </a:stretch>
        </p:blipFill>
        <p:spPr>
          <a:xfrm>
            <a:off x="640080" y="4087368"/>
            <a:ext cx="201168" cy="201168"/>
          </a:xfrm>
          <a:prstGeom prst="rect">
            <a:avLst/>
          </a:prstGeom>
        </p:spPr>
      </p:pic>
      <p:sp>
        <p:nvSpPr>
          <p:cNvPr id="15" name="Text 9"/>
          <p:cNvSpPr txBox="1"/>
          <p:nvPr/>
        </p:nvSpPr>
        <p:spPr>
          <a:xfrm>
            <a:off x="1097280" y="3941064"/>
            <a:ext cx="5120640" cy="502920"/>
          </a:xfrm>
          <a:prstGeom prst="rect">
            <a:avLst/>
          </a:prstGeom>
          <a:noFill/>
          <a:ln/>
        </p:spPr>
        <p:txBody>
          <a:bodyPr wrap="square" lIns="0" tIns="0" rIns="0" bIns="0" rtlCol="0" anchor="ctr"/>
          <a:lstStyle/>
          <a:p>
            <a:pPr marL="0" indent="0">
              <a:buNone/>
            </a:pPr>
            <a:r>
              <a:rPr lang="en-US" sz="1500" dirty="0">
                <a:solidFill>
                  <a:schemeClr val="tx1"/>
                </a:solidFill>
              </a:rPr>
              <a:t>Requests: certificates, sacraments, prayers and blood donors</a:t>
            </a:r>
            <a:endParaRPr lang="en-US" sz="1500" dirty="0"/>
          </a:p>
        </p:txBody>
      </p:sp>
      <p:sp>
        <p:nvSpPr>
          <p:cNvPr id="16" name="Shape 10"/>
          <p:cNvSpPr/>
          <p:nvPr/>
        </p:nvSpPr>
        <p:spPr>
          <a:xfrm>
            <a:off x="548640" y="4654296"/>
            <a:ext cx="384048" cy="384048"/>
          </a:xfrm>
          <a:prstGeom prst="ellipse">
            <a:avLst/>
          </a:prstGeom>
          <a:solidFill>
            <a:schemeClr val="accent1">
              <a:alpha val="15000"/>
            </a:schemeClr>
          </a:solidFill>
          <a:ln/>
        </p:spPr>
      </p:sp>
      <p:pic>
        <p:nvPicPr>
          <p:cNvPr id="17" name="Image 4" descr="preencoded.png"/>
          <p:cNvPicPr>
            <a:picLocks noChangeAspect="1"/>
          </p:cNvPicPr>
          <p:nvPr/>
        </p:nvPicPr>
        <p:blipFill>
          <a:blip r:embed="rId3"/>
          <a:stretch>
            <a:fillRect/>
          </a:stretch>
        </p:blipFill>
        <p:spPr>
          <a:xfrm>
            <a:off x="640080" y="4745736"/>
            <a:ext cx="201168" cy="201168"/>
          </a:xfrm>
          <a:prstGeom prst="rect">
            <a:avLst/>
          </a:prstGeom>
        </p:spPr>
      </p:pic>
      <p:sp>
        <p:nvSpPr>
          <p:cNvPr id="18" name="Text 11"/>
          <p:cNvSpPr txBox="1"/>
          <p:nvPr/>
        </p:nvSpPr>
        <p:spPr>
          <a:xfrm>
            <a:off x="1097280" y="4599432"/>
            <a:ext cx="5120640" cy="502920"/>
          </a:xfrm>
          <a:prstGeom prst="rect">
            <a:avLst/>
          </a:prstGeom>
          <a:noFill/>
          <a:ln/>
        </p:spPr>
        <p:txBody>
          <a:bodyPr wrap="square" lIns="0" tIns="0" rIns="0" bIns="0" rtlCol="0" anchor="ctr"/>
          <a:lstStyle/>
          <a:p>
            <a:pPr marL="0" indent="0">
              <a:buNone/>
            </a:pPr>
            <a:r>
              <a:rPr lang="en-US" sz="1500" dirty="0">
                <a:solidFill>
                  <a:schemeClr val="tx1"/>
                </a:solidFill>
              </a:rPr>
              <a:t>Reports for the council and spreadsheet exports for the diocese</a:t>
            </a:r>
            <a:endParaRPr lang="en-US" sz="1500" dirty="0"/>
          </a:p>
        </p:txBody>
      </p:sp>
      <p:sp>
        <p:nvSpPr>
          <p:cNvPr id="19" name="Shape 12"/>
          <p:cNvSpPr/>
          <p:nvPr/>
        </p:nvSpPr>
        <p:spPr>
          <a:xfrm>
            <a:off x="548640" y="5312664"/>
            <a:ext cx="384048" cy="384048"/>
          </a:xfrm>
          <a:prstGeom prst="ellipse">
            <a:avLst/>
          </a:prstGeom>
          <a:solidFill>
            <a:schemeClr val="accent1">
              <a:alpha val="15000"/>
            </a:schemeClr>
          </a:solidFill>
          <a:ln/>
        </p:spPr>
      </p:sp>
      <p:pic>
        <p:nvPicPr>
          <p:cNvPr id="20" name="Image 5" descr="preencoded.png"/>
          <p:cNvPicPr>
            <a:picLocks noChangeAspect="1"/>
          </p:cNvPicPr>
          <p:nvPr/>
        </p:nvPicPr>
        <p:blipFill>
          <a:blip r:embed="rId3"/>
          <a:stretch>
            <a:fillRect/>
          </a:stretch>
        </p:blipFill>
        <p:spPr>
          <a:xfrm>
            <a:off x="640080" y="5404104"/>
            <a:ext cx="201168" cy="201168"/>
          </a:xfrm>
          <a:prstGeom prst="rect">
            <a:avLst/>
          </a:prstGeom>
        </p:spPr>
      </p:pic>
      <p:sp>
        <p:nvSpPr>
          <p:cNvPr id="21" name="Text 13"/>
          <p:cNvSpPr txBox="1"/>
          <p:nvPr/>
        </p:nvSpPr>
        <p:spPr>
          <a:xfrm>
            <a:off x="1097280" y="5257800"/>
            <a:ext cx="5120640" cy="502920"/>
          </a:xfrm>
          <a:prstGeom prst="rect">
            <a:avLst/>
          </a:prstGeom>
          <a:noFill/>
          <a:ln/>
        </p:spPr>
        <p:txBody>
          <a:bodyPr wrap="square" lIns="0" tIns="0" rIns="0" bIns="0" rtlCol="0" anchor="ctr"/>
          <a:lstStyle/>
          <a:p>
            <a:pPr marL="0" indent="0">
              <a:buNone/>
            </a:pPr>
            <a:r>
              <a:rPr lang="en-US" sz="1500" dirty="0">
                <a:solidFill>
                  <a:schemeClr val="tx1"/>
                </a:solidFill>
              </a:rPr>
              <a:t>Staff accounts, each with its own access level</a:t>
            </a:r>
            <a:endParaRPr lang="en-US" sz="1500" dirty="0"/>
          </a:p>
        </p:txBody>
      </p:sp>
      <p:sp>
        <p:nvSpPr>
          <p:cNvPr id="22" name="Our live site"/>
          <p:cNvSpPr/>
          <p:nvPr/>
        </p:nvSpPr>
        <p:spPr>
          <a:xfrm>
            <a:off x="6705295" y="1463040"/>
            <a:ext cx="2331720" cy="4023360"/>
          </a:xfrm>
          <a:prstGeom prst="roundRect">
            <a:avLst>
              <a:gd name="adj" fmla="val 4706"/>
            </a:avLst>
          </a:prstGeom>
          <a:solidFill>
            <a:schemeClr val="bg2"/>
          </a:solidFill>
          <a:ln/>
        </p:spPr>
      </p:sp>
      <p:pic>
        <p:nvPicPr>
          <p:cNvPr id="23" name="QR code: Our live site" descr="preencoded.png"/>
          <p:cNvPicPr>
            <a:picLocks noChangeAspect="1"/>
          </p:cNvPicPr>
          <p:nvPr/>
        </p:nvPicPr>
        <p:blipFill>
          <a:blip r:embed="rId4"/>
          <a:stretch>
            <a:fillRect/>
          </a:stretch>
        </p:blipFill>
        <p:spPr>
          <a:xfrm>
            <a:off x="6979615" y="1737360"/>
            <a:ext cx="1783080" cy="1783080"/>
          </a:xfrm>
          <a:prstGeom prst="rect">
            <a:avLst/>
          </a:prstGeom>
        </p:spPr>
      </p:pic>
      <p:sp>
        <p:nvSpPr>
          <p:cNvPr id="24" name="Text 15"/>
          <p:cNvSpPr txBox="1"/>
          <p:nvPr/>
        </p:nvSpPr>
        <p:spPr>
          <a:xfrm>
            <a:off x="6888175" y="3703320"/>
            <a:ext cx="1965960" cy="365760"/>
          </a:xfrm>
          <a:prstGeom prst="rect">
            <a:avLst/>
          </a:prstGeom>
          <a:noFill/>
          <a:ln/>
        </p:spPr>
        <p:txBody>
          <a:bodyPr wrap="square" lIns="0" tIns="0" rIns="0" bIns="0" rtlCol="0" anchor="t"/>
          <a:lstStyle/>
          <a:p>
            <a:pPr marL="0" indent="0" algn="ctr">
              <a:buNone/>
            </a:pPr>
            <a:r>
              <a:rPr lang="en-US" sz="1700" b="1" dirty="0">
                <a:solidFill>
                  <a:schemeClr val="tx2"/>
                </a:solidFill>
                <a:latin typeface="+mj-lt" pitchFamily="34" charset="0"/>
                <a:ea typeface="+mj-lt" pitchFamily="34" charset="-122"/>
                <a:cs typeface="+mj-lt" pitchFamily="34" charset="-120"/>
              </a:rPr>
              <a:t>Our live site</a:t>
            </a:r>
            <a:endParaRPr lang="en-US" sz="1700" dirty="0"/>
          </a:p>
        </p:txBody>
      </p:sp>
      <p:sp>
        <p:nvSpPr>
          <p:cNvPr id="25" name="Text 16"/>
          <p:cNvSpPr txBox="1"/>
          <p:nvPr/>
        </p:nvSpPr>
        <p:spPr>
          <a:xfrm>
            <a:off x="6796735" y="4096512"/>
            <a:ext cx="2148840" cy="320040"/>
          </a:xfrm>
          <a:prstGeom prst="rect">
            <a:avLst/>
          </a:prstGeom>
          <a:noFill/>
          <a:ln/>
        </p:spPr>
        <p:txBody>
          <a:bodyPr wrap="square" lIns="0" tIns="0" rIns="0" bIns="0" rtlCol="0" anchor="t"/>
          <a:lstStyle/>
          <a:p>
            <a:pPr marL="0" indent="0" algn="ctr">
              <a:buNone/>
            </a:pPr>
            <a:r>
              <a:rPr lang="en-US" sz="1200" b="1" dirty="0">
                <a:solidFill>
                  <a:schemeClr val="accent1"/>
                </a:solidFill>
              </a:rPr>
              <a:t>guadalupe-muaan.vercel.app</a:t>
            </a:r>
            <a:endParaRPr lang="en-US" sz="1200" dirty="0"/>
          </a:p>
        </p:txBody>
      </p:sp>
      <p:sp>
        <p:nvSpPr>
          <p:cNvPr id="26" name="Text 17"/>
          <p:cNvSpPr txBox="1"/>
          <p:nvPr/>
        </p:nvSpPr>
        <p:spPr>
          <a:xfrm>
            <a:off x="6933895" y="4480560"/>
            <a:ext cx="1874520" cy="868680"/>
          </a:xfrm>
          <a:prstGeom prst="rect">
            <a:avLst/>
          </a:prstGeom>
          <a:noFill/>
          <a:ln/>
        </p:spPr>
        <p:txBody>
          <a:bodyPr wrap="square" lIns="0" tIns="0" rIns="0" bIns="0" rtlCol="0" anchor="t"/>
          <a:lstStyle/>
          <a:p>
            <a:pPr marL="0" indent="0" algn="ctr">
              <a:buNone/>
            </a:pPr>
            <a:r>
              <a:rPr lang="en-US" sz="1200" dirty="0">
                <a:solidFill>
                  <a:schemeClr val="accent5"/>
                </a:solidFill>
              </a:rPr>
              <a:t>Where our families register and update the census</a:t>
            </a:r>
            <a:endParaRPr lang="en-US" sz="1200" dirty="0"/>
          </a:p>
        </p:txBody>
      </p:sp>
      <p:sp>
        <p:nvSpPr>
          <p:cNvPr id="27" name="Try the demo"/>
          <p:cNvSpPr/>
          <p:nvPr/>
        </p:nvSpPr>
        <p:spPr>
          <a:xfrm>
            <a:off x="9311335" y="1463040"/>
            <a:ext cx="2331720" cy="4023360"/>
          </a:xfrm>
          <a:prstGeom prst="roundRect">
            <a:avLst>
              <a:gd name="adj" fmla="val 4706"/>
            </a:avLst>
          </a:prstGeom>
          <a:solidFill>
            <a:schemeClr val="bg2"/>
          </a:solidFill>
          <a:ln/>
        </p:spPr>
      </p:sp>
      <p:pic>
        <p:nvPicPr>
          <p:cNvPr id="28" name="QR code: Try the demo" descr="preencoded.png"/>
          <p:cNvPicPr>
            <a:picLocks noChangeAspect="1"/>
          </p:cNvPicPr>
          <p:nvPr/>
        </p:nvPicPr>
        <p:blipFill>
          <a:blip r:embed="rId5"/>
          <a:stretch>
            <a:fillRect/>
          </a:stretch>
        </p:blipFill>
        <p:spPr>
          <a:xfrm>
            <a:off x="9585655" y="1737360"/>
            <a:ext cx="1783080" cy="1783080"/>
          </a:xfrm>
          <a:prstGeom prst="rect">
            <a:avLst/>
          </a:prstGeom>
        </p:spPr>
      </p:pic>
      <p:sp>
        <p:nvSpPr>
          <p:cNvPr id="29" name="Text 19"/>
          <p:cNvSpPr txBox="1"/>
          <p:nvPr/>
        </p:nvSpPr>
        <p:spPr>
          <a:xfrm>
            <a:off x="9494215" y="3703320"/>
            <a:ext cx="1965960" cy="365760"/>
          </a:xfrm>
          <a:prstGeom prst="rect">
            <a:avLst/>
          </a:prstGeom>
          <a:noFill/>
          <a:ln/>
        </p:spPr>
        <p:txBody>
          <a:bodyPr wrap="square" lIns="0" tIns="0" rIns="0" bIns="0" rtlCol="0" anchor="t"/>
          <a:lstStyle/>
          <a:p>
            <a:pPr marL="0" indent="0" algn="ctr">
              <a:buNone/>
            </a:pPr>
            <a:r>
              <a:rPr lang="en-US" sz="1700" b="1" dirty="0">
                <a:solidFill>
                  <a:schemeClr val="tx2"/>
                </a:solidFill>
                <a:latin typeface="+mj-lt" pitchFamily="34" charset="0"/>
                <a:ea typeface="+mj-lt" pitchFamily="34" charset="-122"/>
                <a:cs typeface="+mj-lt" pitchFamily="34" charset="-120"/>
              </a:rPr>
              <a:t>Try the demo</a:t>
            </a:r>
            <a:endParaRPr lang="en-US" sz="1700" dirty="0"/>
          </a:p>
        </p:txBody>
      </p:sp>
      <p:sp>
        <p:nvSpPr>
          <p:cNvPr id="30" name="Text 20"/>
          <p:cNvSpPr txBox="1"/>
          <p:nvPr/>
        </p:nvSpPr>
        <p:spPr>
          <a:xfrm>
            <a:off x="9402775" y="4096512"/>
            <a:ext cx="2148840" cy="320040"/>
          </a:xfrm>
          <a:prstGeom prst="rect">
            <a:avLst/>
          </a:prstGeom>
          <a:noFill/>
          <a:ln/>
        </p:spPr>
        <p:txBody>
          <a:bodyPr wrap="square" lIns="0" tIns="0" rIns="0" bIns="0" rtlCol="0" anchor="t"/>
          <a:lstStyle/>
          <a:p>
            <a:pPr marL="0" indent="0" algn="ctr">
              <a:buNone/>
            </a:pPr>
            <a:r>
              <a:rPr lang="en-US" sz="1200" b="1" dirty="0">
                <a:solidFill>
                  <a:schemeClr val="accent1"/>
                </a:solidFill>
              </a:rPr>
              <a:t>parish-registry-demo.vercel.app</a:t>
            </a:r>
            <a:endParaRPr lang="en-US" sz="1200" dirty="0"/>
          </a:p>
        </p:txBody>
      </p:sp>
      <p:sp>
        <p:nvSpPr>
          <p:cNvPr id="31" name="Text 21"/>
          <p:cNvSpPr txBox="1"/>
          <p:nvPr/>
        </p:nvSpPr>
        <p:spPr>
          <a:xfrm>
            <a:off x="9539935" y="4480560"/>
            <a:ext cx="1874520" cy="868680"/>
          </a:xfrm>
          <a:prstGeom prst="rect">
            <a:avLst/>
          </a:prstGeom>
          <a:noFill/>
          <a:ln/>
        </p:spPr>
        <p:txBody>
          <a:bodyPr wrap="square" lIns="0" tIns="0" rIns="0" bIns="0" rtlCol="0" anchor="t"/>
          <a:lstStyle/>
          <a:p>
            <a:pPr marL="0" indent="0" algn="ctr">
              <a:buNone/>
            </a:pPr>
            <a:r>
              <a:rPr lang="en-US" sz="1200" dirty="0">
                <a:solidFill>
                  <a:schemeClr val="accent5"/>
                </a:solidFill>
              </a:rPr>
              <a:t>Sample data: try anything. Staff side: add /admin</a:t>
            </a:r>
            <a:endParaRPr lang="en-US" sz="1200" dirty="0"/>
          </a:p>
        </p:txBody>
      </p:sp>
      <p:sp>
        <p:nvSpPr>
          <p:cNvPr id="32"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1672" cy="822960"/>
          </a:xfrm>
          <a:prstGeom prst="rect">
            <a:avLst/>
          </a:prstGeom>
          <a:noFill/>
          <a:ln/>
        </p:spPr>
        <p:txBody>
          <a:bodyPr wrap="square" lIns="0" tIns="0" rIns="0" bIns="0" rtlCol="0" anchor="ctr"/>
          <a:lstStyle/>
          <a:p>
            <a:pPr marL="0" indent="0" algn="l">
              <a:buNone/>
            </a:pPr>
            <a:r>
              <a:rPr lang="en-US" sz="3200" b="1" dirty="0">
                <a:solidFill>
                  <a:schemeClr val="bg1"/>
                </a:solidFill>
                <a:latin typeface="+mj-lt" pitchFamily="34" charset="0"/>
                <a:ea typeface="+mj-lt" pitchFamily="34" charset="-122"/>
                <a:cs typeface="+mj-lt" pitchFamily="34" charset="-120"/>
              </a:rPr>
              <a:t>What we ask of the council</a:t>
            </a:r>
            <a:endParaRPr lang="en-US" sz="3200" dirty="0"/>
          </a:p>
        </p:txBody>
      </p:sp>
      <p:sp>
        <p:nvSpPr>
          <p:cNvPr id="3" name="Ask 1"/>
          <p:cNvSpPr/>
          <p:nvPr/>
        </p:nvSpPr>
        <p:spPr>
          <a:xfrm>
            <a:off x="548640" y="1463040"/>
            <a:ext cx="5394960" cy="1920240"/>
          </a:xfrm>
          <a:prstGeom prst="roundRect">
            <a:avLst>
              <a:gd name="adj" fmla="val 5714"/>
            </a:avLst>
          </a:prstGeom>
          <a:solidFill>
            <a:schemeClr val="bg1">
              <a:alpha val="9000"/>
            </a:schemeClr>
          </a:solidFill>
          <a:ln/>
        </p:spPr>
      </p:sp>
      <p:sp>
        <p:nvSpPr>
          <p:cNvPr id="4" name="Text 2"/>
          <p:cNvSpPr/>
          <p:nvPr/>
        </p:nvSpPr>
        <p:spPr>
          <a:xfrm>
            <a:off x="868680" y="1783080"/>
            <a:ext cx="658368" cy="658368"/>
          </a:xfrm>
          <a:prstGeom prst="ellipse">
            <a:avLst/>
          </a:prstGeom>
          <a:solidFill>
            <a:schemeClr val="accent2"/>
          </a:solidFill>
          <a:ln/>
        </p:spPr>
        <p:txBody>
          <a:bodyPr wrap="square" lIns="0" tIns="0" rIns="0" bIns="0" rtlCol="0" anchor="ctr"/>
          <a:lstStyle/>
          <a:p>
            <a:pPr marL="0" indent="0" algn="ctr">
              <a:buNone/>
            </a:pPr>
            <a:r>
              <a:rPr lang="en-US" sz="1800" b="1" dirty="0">
                <a:solidFill>
                  <a:schemeClr val="tx2"/>
                </a:solidFill>
                <a:latin typeface="+mj-lt" pitchFamily="34" charset="0"/>
                <a:ea typeface="+mj-lt" pitchFamily="34" charset="-122"/>
                <a:cs typeface="+mj-lt" pitchFamily="34" charset="-120"/>
              </a:rPr>
              <a:t>1</a:t>
            </a:r>
            <a:endParaRPr lang="en-US" sz="1800" dirty="0"/>
          </a:p>
        </p:txBody>
      </p:sp>
      <p:sp>
        <p:nvSpPr>
          <p:cNvPr id="5" name="Text 3"/>
          <p:cNvSpPr txBox="1"/>
          <p:nvPr/>
        </p:nvSpPr>
        <p:spPr>
          <a:xfrm>
            <a:off x="1783080" y="1783080"/>
            <a:ext cx="3886200" cy="457200"/>
          </a:xfrm>
          <a:prstGeom prst="rect">
            <a:avLst/>
          </a:prstGeom>
          <a:noFill/>
          <a:ln/>
        </p:spPr>
        <p:txBody>
          <a:bodyPr wrap="square" lIns="0" tIns="0" rIns="0" bIns="0" rtlCol="0" anchor="ctr"/>
          <a:lstStyle/>
          <a:p>
            <a:pPr marL="0" indent="0">
              <a:buNone/>
            </a:pPr>
            <a:r>
              <a:rPr lang="en-US" sz="2100" b="1" dirty="0">
                <a:solidFill>
                  <a:schemeClr val="bg1"/>
                </a:solidFill>
                <a:latin typeface="+mj-lt" pitchFamily="34" charset="0"/>
                <a:ea typeface="+mj-lt" pitchFamily="34" charset="-122"/>
                <a:cs typeface="+mj-lt" pitchFamily="34" charset="-120"/>
              </a:rPr>
              <a:t>Endorse it</a:t>
            </a:r>
            <a:endParaRPr lang="en-US" sz="2100" dirty="0"/>
          </a:p>
        </p:txBody>
      </p:sp>
      <p:sp>
        <p:nvSpPr>
          <p:cNvPr id="6" name="Text 4"/>
          <p:cNvSpPr txBox="1"/>
          <p:nvPr/>
        </p:nvSpPr>
        <p:spPr>
          <a:xfrm>
            <a:off x="1783080" y="2331720"/>
            <a:ext cx="3886200" cy="914400"/>
          </a:xfrm>
          <a:prstGeom prst="rect">
            <a:avLst/>
          </a:prstGeom>
          <a:noFill/>
          <a:ln/>
        </p:spPr>
        <p:txBody>
          <a:bodyPr wrap="square" lIns="0" tIns="0" rIns="0" bIns="0" rtlCol="0" anchor="t"/>
          <a:lstStyle/>
          <a:p>
            <a:pPr marL="0" indent="0">
              <a:buNone/>
            </a:pPr>
            <a:r>
              <a:rPr lang="en-US" sz="1600" dirty="0">
                <a:solidFill>
                  <a:schemeClr val="bg2"/>
                </a:solidFill>
              </a:rPr>
              <a:t>Adopt the registry as the parish’s official record of families and its census tool.</a:t>
            </a:r>
            <a:endParaRPr lang="en-US" sz="1600" dirty="0"/>
          </a:p>
        </p:txBody>
      </p:sp>
      <p:sp>
        <p:nvSpPr>
          <p:cNvPr id="7" name="Ask 2"/>
          <p:cNvSpPr/>
          <p:nvPr/>
        </p:nvSpPr>
        <p:spPr>
          <a:xfrm>
            <a:off x="6245352" y="1463040"/>
            <a:ext cx="5394960" cy="1920240"/>
          </a:xfrm>
          <a:prstGeom prst="roundRect">
            <a:avLst>
              <a:gd name="adj" fmla="val 5714"/>
            </a:avLst>
          </a:prstGeom>
          <a:solidFill>
            <a:schemeClr val="bg1">
              <a:alpha val="9000"/>
            </a:schemeClr>
          </a:solidFill>
          <a:ln/>
        </p:spPr>
      </p:sp>
      <p:sp>
        <p:nvSpPr>
          <p:cNvPr id="8" name="Text 6"/>
          <p:cNvSpPr/>
          <p:nvPr/>
        </p:nvSpPr>
        <p:spPr>
          <a:xfrm>
            <a:off x="6565392" y="1783080"/>
            <a:ext cx="658368" cy="658368"/>
          </a:xfrm>
          <a:prstGeom prst="ellipse">
            <a:avLst/>
          </a:prstGeom>
          <a:solidFill>
            <a:schemeClr val="accent2"/>
          </a:solidFill>
          <a:ln/>
        </p:spPr>
        <p:txBody>
          <a:bodyPr wrap="square" lIns="0" tIns="0" rIns="0" bIns="0" rtlCol="0" anchor="ctr"/>
          <a:lstStyle/>
          <a:p>
            <a:pPr marL="0" indent="0" algn="ctr">
              <a:buNone/>
            </a:pPr>
            <a:r>
              <a:rPr lang="en-US" sz="1800" b="1" dirty="0">
                <a:solidFill>
                  <a:schemeClr val="tx2"/>
                </a:solidFill>
                <a:latin typeface="+mj-lt" pitchFamily="34" charset="0"/>
                <a:ea typeface="+mj-lt" pitchFamily="34" charset="-122"/>
                <a:cs typeface="+mj-lt" pitchFamily="34" charset="-120"/>
              </a:rPr>
              <a:t>2</a:t>
            </a:r>
            <a:endParaRPr lang="en-US" sz="1800" dirty="0"/>
          </a:p>
        </p:txBody>
      </p:sp>
      <p:sp>
        <p:nvSpPr>
          <p:cNvPr id="9" name="Text 7"/>
          <p:cNvSpPr txBox="1"/>
          <p:nvPr/>
        </p:nvSpPr>
        <p:spPr>
          <a:xfrm>
            <a:off x="7479792" y="1783080"/>
            <a:ext cx="3886200" cy="457200"/>
          </a:xfrm>
          <a:prstGeom prst="rect">
            <a:avLst/>
          </a:prstGeom>
          <a:noFill/>
          <a:ln/>
        </p:spPr>
        <p:txBody>
          <a:bodyPr wrap="square" lIns="0" tIns="0" rIns="0" bIns="0" rtlCol="0" anchor="ctr"/>
          <a:lstStyle/>
          <a:p>
            <a:pPr marL="0" indent="0">
              <a:buNone/>
            </a:pPr>
            <a:r>
              <a:rPr lang="en-US" sz="2100" b="1" dirty="0">
                <a:solidFill>
                  <a:schemeClr val="bg1"/>
                </a:solidFill>
                <a:latin typeface="+mj-lt" pitchFamily="34" charset="0"/>
                <a:ea typeface="+mj-lt" pitchFamily="34" charset="-122"/>
                <a:cs typeface="+mj-lt" pitchFamily="34" charset="-120"/>
              </a:rPr>
              <a:t>Send the GKK leaders</a:t>
            </a:r>
            <a:endParaRPr lang="en-US" sz="2100" dirty="0"/>
          </a:p>
        </p:txBody>
      </p:sp>
      <p:sp>
        <p:nvSpPr>
          <p:cNvPr id="10" name="Text 8"/>
          <p:cNvSpPr txBox="1"/>
          <p:nvPr/>
        </p:nvSpPr>
        <p:spPr>
          <a:xfrm>
            <a:off x="7479792" y="2331720"/>
            <a:ext cx="3886200" cy="914400"/>
          </a:xfrm>
          <a:prstGeom prst="rect">
            <a:avLst/>
          </a:prstGeom>
          <a:noFill/>
          <a:ln/>
        </p:spPr>
        <p:txBody>
          <a:bodyPr wrap="square" lIns="0" tIns="0" rIns="0" bIns="0" rtlCol="0" anchor="t"/>
          <a:lstStyle/>
          <a:p>
            <a:pPr marL="0" indent="0">
              <a:buNone/>
            </a:pPr>
            <a:r>
              <a:rPr lang="en-US" sz="1600" dirty="0">
                <a:solidFill>
                  <a:schemeClr val="bg2"/>
                </a:solidFill>
              </a:rPr>
              <a:t>Ask every GKK leader to lead the online census in their GKK, after a short training.</a:t>
            </a:r>
            <a:endParaRPr lang="en-US" sz="1600" dirty="0"/>
          </a:p>
        </p:txBody>
      </p:sp>
      <p:sp>
        <p:nvSpPr>
          <p:cNvPr id="11" name="Ask 3"/>
          <p:cNvSpPr/>
          <p:nvPr/>
        </p:nvSpPr>
        <p:spPr>
          <a:xfrm>
            <a:off x="548640" y="3657600"/>
            <a:ext cx="5394960" cy="1920240"/>
          </a:xfrm>
          <a:prstGeom prst="roundRect">
            <a:avLst>
              <a:gd name="adj" fmla="val 5714"/>
            </a:avLst>
          </a:prstGeom>
          <a:solidFill>
            <a:schemeClr val="bg1">
              <a:alpha val="9000"/>
            </a:schemeClr>
          </a:solidFill>
          <a:ln/>
        </p:spPr>
      </p:sp>
      <p:sp>
        <p:nvSpPr>
          <p:cNvPr id="12" name="Text 10"/>
          <p:cNvSpPr/>
          <p:nvPr/>
        </p:nvSpPr>
        <p:spPr>
          <a:xfrm>
            <a:off x="868680" y="3977640"/>
            <a:ext cx="658368" cy="658368"/>
          </a:xfrm>
          <a:prstGeom prst="ellipse">
            <a:avLst/>
          </a:prstGeom>
          <a:solidFill>
            <a:schemeClr val="accent2"/>
          </a:solidFill>
          <a:ln/>
        </p:spPr>
        <p:txBody>
          <a:bodyPr wrap="square" lIns="0" tIns="0" rIns="0" bIns="0" rtlCol="0" anchor="ctr"/>
          <a:lstStyle/>
          <a:p>
            <a:pPr marL="0" indent="0" algn="ctr">
              <a:buNone/>
            </a:pPr>
            <a:r>
              <a:rPr lang="en-US" sz="1800" b="1" dirty="0">
                <a:solidFill>
                  <a:schemeClr val="tx2"/>
                </a:solidFill>
                <a:latin typeface="+mj-lt" pitchFamily="34" charset="0"/>
                <a:ea typeface="+mj-lt" pitchFamily="34" charset="-122"/>
                <a:cs typeface="+mj-lt" pitchFamily="34" charset="-120"/>
              </a:rPr>
              <a:t>3</a:t>
            </a:r>
            <a:endParaRPr lang="en-US" sz="1800" dirty="0"/>
          </a:p>
        </p:txBody>
      </p:sp>
      <p:sp>
        <p:nvSpPr>
          <p:cNvPr id="13" name="Text 11"/>
          <p:cNvSpPr txBox="1"/>
          <p:nvPr/>
        </p:nvSpPr>
        <p:spPr>
          <a:xfrm>
            <a:off x="1783080" y="3977640"/>
            <a:ext cx="3886200" cy="457200"/>
          </a:xfrm>
          <a:prstGeom prst="rect">
            <a:avLst/>
          </a:prstGeom>
          <a:noFill/>
          <a:ln/>
        </p:spPr>
        <p:txBody>
          <a:bodyPr wrap="square" lIns="0" tIns="0" rIns="0" bIns="0" rtlCol="0" anchor="ctr"/>
          <a:lstStyle/>
          <a:p>
            <a:pPr marL="0" indent="0">
              <a:buNone/>
            </a:pPr>
            <a:r>
              <a:rPr lang="en-US" sz="2100" b="1" dirty="0">
                <a:solidFill>
                  <a:schemeClr val="bg1"/>
                </a:solidFill>
                <a:latin typeface="+mj-lt" pitchFamily="34" charset="0"/>
                <a:ea typeface="+mj-lt" pitchFamily="34" charset="-122"/>
                <a:cs typeface="+mj-lt" pitchFamily="34" charset="-120"/>
              </a:rPr>
              <a:t>Name two data stewards</a:t>
            </a:r>
            <a:endParaRPr lang="en-US" sz="2100" dirty="0"/>
          </a:p>
        </p:txBody>
      </p:sp>
      <p:sp>
        <p:nvSpPr>
          <p:cNvPr id="14" name="Text 12"/>
          <p:cNvSpPr txBox="1"/>
          <p:nvPr/>
        </p:nvSpPr>
        <p:spPr>
          <a:xfrm>
            <a:off x="1783080" y="4526280"/>
            <a:ext cx="3886200" cy="914400"/>
          </a:xfrm>
          <a:prstGeom prst="rect">
            <a:avLst/>
          </a:prstGeom>
          <a:noFill/>
          <a:ln/>
        </p:spPr>
        <p:txBody>
          <a:bodyPr wrap="square" lIns="0" tIns="0" rIns="0" bIns="0" rtlCol="0" anchor="t"/>
          <a:lstStyle/>
          <a:p>
            <a:pPr marL="0" indent="0">
              <a:buNone/>
            </a:pPr>
            <a:r>
              <a:rPr lang="en-US" sz="1600" dirty="0">
                <a:solidFill>
                  <a:schemeClr val="bg2"/>
                </a:solidFill>
              </a:rPr>
              <a:t>Two trusted people who hold the parish logins with the office and look after privacy.</a:t>
            </a:r>
            <a:endParaRPr lang="en-US" sz="1600" dirty="0"/>
          </a:p>
        </p:txBody>
      </p:sp>
      <p:sp>
        <p:nvSpPr>
          <p:cNvPr id="15" name="Ask 4"/>
          <p:cNvSpPr/>
          <p:nvPr/>
        </p:nvSpPr>
        <p:spPr>
          <a:xfrm>
            <a:off x="6245352" y="3657600"/>
            <a:ext cx="5394960" cy="1920240"/>
          </a:xfrm>
          <a:prstGeom prst="roundRect">
            <a:avLst>
              <a:gd name="adj" fmla="val 5714"/>
            </a:avLst>
          </a:prstGeom>
          <a:solidFill>
            <a:schemeClr val="bg1">
              <a:alpha val="9000"/>
            </a:schemeClr>
          </a:solidFill>
          <a:ln/>
        </p:spPr>
      </p:sp>
      <p:sp>
        <p:nvSpPr>
          <p:cNvPr id="16" name="Text 14"/>
          <p:cNvSpPr/>
          <p:nvPr/>
        </p:nvSpPr>
        <p:spPr>
          <a:xfrm>
            <a:off x="6565392" y="3977640"/>
            <a:ext cx="658368" cy="658368"/>
          </a:xfrm>
          <a:prstGeom prst="ellipse">
            <a:avLst/>
          </a:prstGeom>
          <a:solidFill>
            <a:schemeClr val="accent2"/>
          </a:solidFill>
          <a:ln/>
        </p:spPr>
        <p:txBody>
          <a:bodyPr wrap="square" lIns="0" tIns="0" rIns="0" bIns="0" rtlCol="0" anchor="ctr"/>
          <a:lstStyle/>
          <a:p>
            <a:pPr marL="0" indent="0" algn="ctr">
              <a:buNone/>
            </a:pPr>
            <a:r>
              <a:rPr lang="en-US" sz="1800" b="1" dirty="0">
                <a:solidFill>
                  <a:schemeClr val="tx2"/>
                </a:solidFill>
                <a:latin typeface="+mj-lt" pitchFamily="34" charset="0"/>
                <a:ea typeface="+mj-lt" pitchFamily="34" charset="-122"/>
                <a:cs typeface="+mj-lt" pitchFamily="34" charset="-120"/>
              </a:rPr>
              <a:t>4</a:t>
            </a:r>
            <a:endParaRPr lang="en-US" sz="1800" dirty="0"/>
          </a:p>
        </p:txBody>
      </p:sp>
      <p:sp>
        <p:nvSpPr>
          <p:cNvPr id="17" name="Text 15"/>
          <p:cNvSpPr txBox="1"/>
          <p:nvPr/>
        </p:nvSpPr>
        <p:spPr>
          <a:xfrm>
            <a:off x="7479792" y="3977640"/>
            <a:ext cx="3886200" cy="457200"/>
          </a:xfrm>
          <a:prstGeom prst="rect">
            <a:avLst/>
          </a:prstGeom>
          <a:noFill/>
          <a:ln/>
        </p:spPr>
        <p:txBody>
          <a:bodyPr wrap="square" lIns="0" tIns="0" rIns="0" bIns="0" rtlCol="0" anchor="ctr"/>
          <a:lstStyle/>
          <a:p>
            <a:pPr marL="0" indent="0">
              <a:buNone/>
            </a:pPr>
            <a:r>
              <a:rPr lang="en-US" sz="2100" b="1" dirty="0">
                <a:solidFill>
                  <a:schemeClr val="bg1"/>
                </a:solidFill>
                <a:latin typeface="+mj-lt" pitchFamily="34" charset="0"/>
                <a:ea typeface="+mj-lt" pitchFamily="34" charset="-122"/>
                <a:cs typeface="+mj-lt" pitchFamily="34" charset="-120"/>
              </a:rPr>
              <a:t>Announce it</a:t>
            </a:r>
            <a:endParaRPr lang="en-US" sz="2100" dirty="0"/>
          </a:p>
        </p:txBody>
      </p:sp>
      <p:sp>
        <p:nvSpPr>
          <p:cNvPr id="18" name="Text 16"/>
          <p:cNvSpPr txBox="1"/>
          <p:nvPr/>
        </p:nvSpPr>
        <p:spPr>
          <a:xfrm>
            <a:off x="7479792" y="4526280"/>
            <a:ext cx="3886200" cy="914400"/>
          </a:xfrm>
          <a:prstGeom prst="rect">
            <a:avLst/>
          </a:prstGeom>
          <a:noFill/>
          <a:ln/>
        </p:spPr>
        <p:txBody>
          <a:bodyPr wrap="square" lIns="0" tIns="0" rIns="0" bIns="0" rtlCol="0" anchor="t"/>
          <a:lstStyle/>
          <a:p>
            <a:pPr marL="0" indent="0">
              <a:buNone/>
            </a:pPr>
            <a:r>
              <a:rPr lang="en-US" sz="1600" dirty="0">
                <a:solidFill>
                  <a:schemeClr val="bg2"/>
                </a:solidFill>
              </a:rPr>
              <a:t>At every Mass and in the bulletin, and help families without a phone register at the office.</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12</a:t>
            </a:fld>
            <a:endParaRPr lang="en-US"/>
          </a:p>
        </p:txBody>
      </p:sp>
    </p:spTree>
  </p:cSld>
  <p:clrMapOvr>
    <a:masterClrMapping/>
  </p:clrMapOvr>
</p:sld>
</file>

<file path=ppt/theme/theme1.xml><?xml version="1.0" encoding="utf-8"?>
<a:theme xmlns:a="http://schemas.openxmlformats.org/drawingml/2006/main" name="Guadalupe Parish">
  <a:themeElements>
    <a:clrScheme name="Guadalupe Parish">
      <a:dk1>
        <a:srgbClr val="1C2B24"/>
      </a:dk1>
      <a:lt1>
        <a:srgbClr val="FFFFFF"/>
      </a:lt1>
      <a:dk2>
        <a:srgbClr val="14432F"/>
      </a:dk2>
      <a:lt2>
        <a:srgbClr val="F6F1E6"/>
      </a:lt2>
      <a:accent1>
        <a:srgbClr val="1F6B4F"/>
      </a:accent1>
      <a:accent2>
        <a:srgbClr val="C9A24A"/>
      </a:accent2>
      <a:accent3>
        <a:srgbClr val="A4432F"/>
      </a:accent3>
      <a:accent4>
        <a:srgbClr val="E8D9B0"/>
      </a:accent4>
      <a:accent5>
        <a:srgbClr val="66736B"/>
      </a:accent5>
      <a:accent6>
        <a:srgbClr val="3B7EA1"/>
      </a:accent6>
      <a:hlink>
        <a:srgbClr val="1F6B4F"/>
      </a:hlink>
      <a:folHlink>
        <a:srgbClr val="66736B"/>
      </a:folHlink>
    </a:clrScheme>
    <a:fontScheme name="Guadalupe Paris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TotalTime>
  <Words>2510</Words>
  <Application>Microsoft Office PowerPoint</Application>
  <PresentationFormat>Widescreen</PresentationFormat>
  <Paragraphs>175</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Guadalupe Parish</vt:lpstr>
      <vt:lpstr>PowerPoint Presentation</vt:lpstr>
      <vt:lpstr>Today, knowing our parish takes paper, time and retyping</vt:lpstr>
      <vt:lpstr>One registry serves the whole parish</vt:lpstr>
      <vt:lpstr>Families take part from their phones, in Bisaya</vt:lpstr>
      <vt:lpstr>The parish office works from one queue, not piles of paper</vt:lpstr>
      <vt:lpstr>GKK leaders lead the census in their own community</vt:lpstr>
      <vt:lpstr>The council can plan from real numbers, GKK by GKK</vt:lpstr>
      <vt:lpstr>The census is done once, online first, and counted for us</vt:lpstr>
      <vt:lpstr>Parishioners’ information stays private and parish-owned</vt:lpstr>
      <vt:lpstr>It runs at no monthly cost to the parish</vt:lpstr>
      <vt:lpstr>It is built, tested and ready to use now</vt:lpstr>
      <vt:lpstr>What we ask of the council</vt:lpstr>
    </vt:vector>
  </TitlesOfParts>
  <Company>Our Lady of Guadalupe Quasi-Parish, Mua-an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Parish Members Registry: Council Pitch</dc:title>
  <dc:subject>Proposal to the Parish Pastoral Council</dc:subject>
  <dc:creator>PptxGenJS</dc:creator>
  <cp:lastModifiedBy>Dave</cp:lastModifiedBy>
  <cp:revision>2</cp:revision>
  <dcterms:created xsi:type="dcterms:W3CDTF">2026-10-17T01:04:39Z</dcterms:created>
  <dcterms:modified xsi:type="dcterms:W3CDTF">2026-10-17T01:31:54Z</dcterms:modified>
</cp:coreProperties>
</file>