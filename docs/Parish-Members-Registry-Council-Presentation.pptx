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9" r:id="rId4"/>
    <p:sldId id="258"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8434B7-0C50-F59A-868B-4AF8E15B1384}">
          <p14:sldIdLst>
            <p14:sldId id="256"/>
          </p14:sldIdLst>
        </p14:section>
        <p14:section name="Benefits" id="{CA92FEF2-3A6A-0A84-F9C0-A9C947B949F2}">
          <p14:sldIdLst>
            <p14:sldId id="257"/>
          </p14:sldIdLst>
        </p14:section>
        <p14:section name="How it works" id="{CD517F44-4E32-3E13-1072-B36EA9C3CBC4}">
          <p14:sldIdLst>
            <p14:sldId id="259"/>
            <p14:sldId id="258"/>
          </p14:sldIdLst>
        </p14:section>
        <p14:section name="Hosting" id="{B1159558-F6B5-D362-1C2A-24BEFF60863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513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the online registry for our parish families. Today covers four things: what it gives the parish, how a new household registers, how the census runs, and the limits of the free hosting it runs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benefits. The short version: one accurate, searchable record of our families; families enter their own details from a phone; staff verify before anything counts; reports by GKK are instant; the census no longer means retyping; and access is controlled and logged. The same app also runs the parish website and takes certificate, prayer and blood requests.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census replaces the hand-filled census sheet. Staff start it, print one pre-filled page per household by GKK, and the answers come back in one of two ways: on paper, typed in by staff, or online by the family using the reference number and access code printed on its form. The form asks about participation per member (Aktibo, Panagsa, Wala); the system suggests a status but staff always choose it. The census is per member, not per household, so one family can have active and inactive members. Members marked Moved away or Deceased stay on record but drop out of counts and the next census forms.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opens the parish website and taps Register. Five steps, all in Bisaya: the family and its head, the members, their sacraments, their involvement in the church, then a review page. Required fields are checked at each step, and the data privacy consent must be ticked. On submit the family gets a reference number. The record is not counted as verified until staff check it in the office. Families can look up their status any time with the reference number; only the family name and status are shown.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costs nothing a month to host, and these are the trade-offs. On Supabase the two real risks, pausing and no backups, are already covered by two scheduled jobs on GitHub: a keep-alive every 3 days and an encrypted weekly backup kept 90 days. GitHub pauses scheduled jobs if the repository has no commits for 60 days; it emails the owner and one click turns them back on. On Vercel the point to decide is the non-commercial rule: Vercel counts a site as commercial if anyone is paid to create, update or host it (asking for donations is allowed). If that applies, the parish should budget for Vercel Pro. Usage limits are far above what one parish will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514600"/>
            <a:ext cx="8686800" cy="13716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548640" y="3977640"/>
            <a:ext cx="8686800" cy="118872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txBox="1"/>
          <p:nvPr/>
        </p:nvSpPr>
        <p:spPr>
          <a:xfrm>
            <a:off x="548640" y="6382512"/>
            <a:ext cx="8229600" cy="274320"/>
          </a:xfrm>
          <a:prstGeom prst="rect">
            <a:avLst/>
          </a:prstGeom>
          <a:noFill/>
          <a:ln/>
        </p:spPr>
        <p:txBody>
          <a:bodyPr wrap="square" lIns="0" tIns="0" rIns="0" bIns="0" rtlCol="0" anchor="ctr"/>
          <a:lstStyle/>
          <a:p>
            <a:pPr marL="0" indent="0">
              <a:buNone/>
            </a:pPr>
            <a:r>
              <a:rPr lang="en-US" sz="1050" dirty="0">
                <a:solidFill>
                  <a:schemeClr val="tx2"/>
                </a:solidFill>
              </a:rPr>
              <a:t>Our Lady of Guadalupe Quasi-Parish, Mua-an  ·  Parish Members Registry</a:t>
            </a:r>
            <a:endParaRPr lang="en-US" sz="10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gistry mark" descr="Star and cross mark of the registry"/>
          <p:cNvPicPr>
            <a:picLocks noChangeAspect="1"/>
          </p:cNvPicPr>
          <p:nvPr/>
        </p:nvPicPr>
        <p:blipFill>
          <a:blip r:embed="rId3"/>
          <a:stretch>
            <a:fillRect/>
          </a:stretch>
        </p:blipFill>
        <p:spPr>
          <a:xfrm>
            <a:off x="548640" y="1097280"/>
            <a:ext cx="1051560" cy="1051560"/>
          </a:xfrm>
          <a:prstGeom prst="rect">
            <a:avLst/>
          </a:prstGeom>
        </p:spPr>
      </p:pic>
      <p:sp>
        <p:nvSpPr>
          <p:cNvPr id="3" name="Text 0"/>
          <p:cNvSpPr>
            <a:spLocks noGrp="1"/>
          </p:cNvSpPr>
          <p:nvPr>
            <p:ph type="title" idx="100" hasCustomPrompt="1"/>
          </p:nvPr>
        </p:nvSpPr>
        <p:spPr>
          <a:xfrm>
            <a:off x="548640" y="2514600"/>
            <a:ext cx="8686800" cy="1371600"/>
          </a:xfrm>
          <a:prstGeom prst="rect">
            <a:avLst/>
          </a:prstGeom>
          <a:noFill/>
          <a:ln/>
        </p:spPr>
        <p:txBody>
          <a:bodyPr wrap="square" lIns="0" tIns="0" rIns="0" bIns="0" rtlCol="0" anchor="t"/>
          <a:lstStyle/>
          <a:p>
            <a:pPr marL="0" indent="0" algn="l">
              <a:buNone/>
            </a:pPr>
            <a:r>
              <a:rPr lang="en-US" sz="5400" b="1" dirty="0">
                <a:solidFill>
                  <a:schemeClr val="bg1"/>
                </a:solidFill>
              </a:rPr>
              <a:t>Parish Members Registry</a:t>
            </a:r>
            <a:endParaRPr lang="en-US" sz="5400" dirty="0"/>
          </a:p>
        </p:txBody>
      </p:sp>
      <p:sp>
        <p:nvSpPr>
          <p:cNvPr id="4" name="Text 0"/>
          <p:cNvSpPr>
            <a:spLocks noGrp="1"/>
          </p:cNvSpPr>
          <p:nvPr>
            <p:ph type="body" idx="101" hasCustomPrompt="1"/>
          </p:nvPr>
        </p:nvSpPr>
        <p:spPr>
          <a:xfrm>
            <a:off x="548640" y="3977640"/>
            <a:ext cx="8686800" cy="1188720"/>
          </a:xfrm>
          <a:prstGeom prst="rect">
            <a:avLst/>
          </a:prstGeom>
          <a:noFill/>
          <a:ln/>
        </p:spPr>
        <p:txBody>
          <a:bodyPr wrap="square" lIns="0" tIns="0" rIns="0" bIns="0" rtlCol="0" anchor="t"/>
          <a:lstStyle/>
          <a:p>
            <a:pPr marL="0" indent="0">
              <a:buNone/>
            </a:pPr>
            <a:r>
              <a:rPr lang="en-US" sz="2200" dirty="0">
                <a:solidFill>
                  <a:schemeClr val="accent6"/>
                </a:solidFill>
              </a:rPr>
              <a:t>Our Lady of Guadalupe Quasi-Parish, Mua-an</a:t>
            </a:r>
            <a:endParaRPr lang="en-US" sz="2200" dirty="0"/>
          </a:p>
          <a:p>
            <a:pPr marL="0" indent="0">
              <a:buNone/>
            </a:pPr>
            <a:r>
              <a:rPr lang="en-US" sz="1600" dirty="0">
                <a:solidFill>
                  <a:schemeClr val="bg1"/>
                </a:solidFill>
              </a:rPr>
              <a:t>Presentation to the Parish Council  ·  October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400" b="1" dirty="0">
                <a:solidFill>
                  <a:schemeClr val="tx1"/>
                </a:solidFill>
              </a:rPr>
              <a:t>What the registry gives the parish</a:t>
            </a:r>
            <a:endParaRPr lang="en-US" sz="3400" dirty="0"/>
          </a:p>
        </p:txBody>
      </p:sp>
      <p:sp>
        <p:nvSpPr>
          <p:cNvPr id="3" name="Benefit 1 card"/>
          <p:cNvSpPr/>
          <p:nvPr/>
        </p:nvSpPr>
        <p:spPr>
          <a:xfrm>
            <a:off x="548640" y="1463040"/>
            <a:ext cx="3515258" cy="1920240"/>
          </a:xfrm>
          <a:prstGeom prst="roundRect">
            <a:avLst>
              <a:gd name="adj" fmla="val 5714"/>
            </a:avLst>
          </a:prstGeom>
          <a:solidFill>
            <a:schemeClr val="bg2"/>
          </a:solidFill>
          <a:ln w="12700">
            <a:solidFill>
              <a:schemeClr val="bg2"/>
            </a:solidFill>
            <a:prstDash val="solid"/>
          </a:ln>
        </p:spPr>
      </p:sp>
      <p:sp>
        <p:nvSpPr>
          <p:cNvPr id="4" name="Benefit 1 icon circle"/>
          <p:cNvSpPr/>
          <p:nvPr/>
        </p:nvSpPr>
        <p:spPr>
          <a:xfrm>
            <a:off x="804672" y="1719072"/>
            <a:ext cx="566928" cy="566928"/>
          </a:xfrm>
          <a:prstGeom prst="ellipse">
            <a:avLst/>
          </a:prstGeom>
          <a:solidFill>
            <a:schemeClr val="accent1"/>
          </a:solidFill>
          <a:ln w="12700">
            <a:solidFill>
              <a:schemeClr val="accent1"/>
            </a:solidFill>
            <a:prstDash val="solid"/>
          </a:ln>
        </p:spPr>
      </p:sp>
      <p:pic>
        <p:nvPicPr>
          <p:cNvPr id="5" name="Benefit 1 icon" descr="preencoded.png"/>
          <p:cNvPicPr>
            <a:picLocks noChangeAspect="1"/>
          </p:cNvPicPr>
          <p:nvPr/>
        </p:nvPicPr>
        <p:blipFill>
          <a:blip r:embed="rId3"/>
          <a:stretch>
            <a:fillRect/>
          </a:stretch>
        </p:blipFill>
        <p:spPr>
          <a:xfrm>
            <a:off x="950976" y="1865376"/>
            <a:ext cx="274320" cy="274320"/>
          </a:xfrm>
          <a:prstGeom prst="rect">
            <a:avLst/>
          </a:prstGeom>
        </p:spPr>
      </p:pic>
      <p:sp>
        <p:nvSpPr>
          <p:cNvPr id="6" name="Benefit 1 heading"/>
          <p:cNvSpPr txBox="1"/>
          <p:nvPr/>
        </p:nvSpPr>
        <p:spPr>
          <a:xfrm>
            <a:off x="1508760" y="171907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One record for every family</a:t>
            </a:r>
            <a:endParaRPr lang="en-US" sz="1700" dirty="0"/>
          </a:p>
        </p:txBody>
      </p:sp>
      <p:sp>
        <p:nvSpPr>
          <p:cNvPr id="7" name="Benefit 1 text"/>
          <p:cNvSpPr txBox="1"/>
          <p:nvPr/>
        </p:nvSpPr>
        <p:spPr>
          <a:xfrm>
            <a:off x="804672" y="2423160"/>
            <a:ext cx="3003194" cy="822960"/>
          </a:xfrm>
          <a:prstGeom prst="rect">
            <a:avLst/>
          </a:prstGeom>
          <a:noFill/>
          <a:ln/>
        </p:spPr>
        <p:txBody>
          <a:bodyPr wrap="square" lIns="0" tIns="0" rIns="0" bIns="0" rtlCol="0" anchor="t"/>
          <a:lstStyle/>
          <a:p>
            <a:pPr marL="0" indent="0">
              <a:buNone/>
            </a:pPr>
            <a:r>
              <a:rPr lang="en-US" sz="1350" dirty="0">
                <a:solidFill>
                  <a:schemeClr val="tx2"/>
                </a:solidFill>
              </a:rPr>
              <a:t>Households, members, sacraments, ministries and GKK in one searchable place instead of scattered paper sheets.</a:t>
            </a:r>
            <a:endParaRPr lang="en-US" sz="1350" dirty="0"/>
          </a:p>
        </p:txBody>
      </p:sp>
      <p:sp>
        <p:nvSpPr>
          <p:cNvPr id="8" name="Benefit 2 card"/>
          <p:cNvSpPr/>
          <p:nvPr/>
        </p:nvSpPr>
        <p:spPr>
          <a:xfrm>
            <a:off x="4338218" y="1463040"/>
            <a:ext cx="3515258" cy="1920240"/>
          </a:xfrm>
          <a:prstGeom prst="roundRect">
            <a:avLst>
              <a:gd name="adj" fmla="val 5714"/>
            </a:avLst>
          </a:prstGeom>
          <a:solidFill>
            <a:schemeClr val="bg2"/>
          </a:solidFill>
          <a:ln w="12700">
            <a:solidFill>
              <a:schemeClr val="bg2"/>
            </a:solidFill>
            <a:prstDash val="solid"/>
          </a:ln>
        </p:spPr>
      </p:sp>
      <p:sp>
        <p:nvSpPr>
          <p:cNvPr id="9" name="Benefit 2 icon circle"/>
          <p:cNvSpPr/>
          <p:nvPr/>
        </p:nvSpPr>
        <p:spPr>
          <a:xfrm>
            <a:off x="4594250" y="1719072"/>
            <a:ext cx="566928" cy="566928"/>
          </a:xfrm>
          <a:prstGeom prst="ellipse">
            <a:avLst/>
          </a:prstGeom>
          <a:solidFill>
            <a:schemeClr val="accent1"/>
          </a:solidFill>
          <a:ln w="12700">
            <a:solidFill>
              <a:schemeClr val="accent1"/>
            </a:solidFill>
            <a:prstDash val="solid"/>
          </a:ln>
        </p:spPr>
      </p:sp>
      <p:pic>
        <p:nvPicPr>
          <p:cNvPr id="10" name="Benefit 2 icon" descr="preencoded.png"/>
          <p:cNvPicPr>
            <a:picLocks noChangeAspect="1"/>
          </p:cNvPicPr>
          <p:nvPr/>
        </p:nvPicPr>
        <p:blipFill>
          <a:blip r:embed="rId4"/>
          <a:stretch>
            <a:fillRect/>
          </a:stretch>
        </p:blipFill>
        <p:spPr>
          <a:xfrm>
            <a:off x="4740554" y="1865376"/>
            <a:ext cx="274320" cy="274320"/>
          </a:xfrm>
          <a:prstGeom prst="rect">
            <a:avLst/>
          </a:prstGeom>
        </p:spPr>
      </p:pic>
      <p:sp>
        <p:nvSpPr>
          <p:cNvPr id="11" name="Benefit 2 heading"/>
          <p:cNvSpPr txBox="1"/>
          <p:nvPr/>
        </p:nvSpPr>
        <p:spPr>
          <a:xfrm>
            <a:off x="5298338" y="171907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Families register by phone</a:t>
            </a:r>
            <a:endParaRPr lang="en-US" sz="1700" dirty="0"/>
          </a:p>
        </p:txBody>
      </p:sp>
      <p:sp>
        <p:nvSpPr>
          <p:cNvPr id="12" name="Benefit 2 text"/>
          <p:cNvSpPr txBox="1"/>
          <p:nvPr/>
        </p:nvSpPr>
        <p:spPr>
          <a:xfrm>
            <a:off x="4594250" y="2423160"/>
            <a:ext cx="3003194" cy="822960"/>
          </a:xfrm>
          <a:prstGeom prst="rect">
            <a:avLst/>
          </a:prstGeom>
          <a:noFill/>
          <a:ln/>
        </p:spPr>
        <p:txBody>
          <a:bodyPr wrap="square" lIns="0" tIns="0" rIns="0" bIns="0" rtlCol="0" anchor="t"/>
          <a:lstStyle/>
          <a:p>
            <a:pPr marL="0" indent="0">
              <a:buNone/>
            </a:pPr>
            <a:r>
              <a:rPr lang="en-US" sz="1350" dirty="0">
                <a:solidFill>
                  <a:schemeClr val="tx2"/>
                </a:solidFill>
              </a:rPr>
              <a:t>A 5-step form in Bisaya. The family gets a reference number at once and can check its status online.</a:t>
            </a:r>
            <a:endParaRPr lang="en-US" sz="1350" dirty="0"/>
          </a:p>
        </p:txBody>
      </p:sp>
      <p:sp>
        <p:nvSpPr>
          <p:cNvPr id="13" name="Benefit 3 card"/>
          <p:cNvSpPr/>
          <p:nvPr/>
        </p:nvSpPr>
        <p:spPr>
          <a:xfrm>
            <a:off x="8127797" y="1463040"/>
            <a:ext cx="3515258" cy="1920240"/>
          </a:xfrm>
          <a:prstGeom prst="roundRect">
            <a:avLst>
              <a:gd name="adj" fmla="val 5714"/>
            </a:avLst>
          </a:prstGeom>
          <a:solidFill>
            <a:schemeClr val="bg2"/>
          </a:solidFill>
          <a:ln w="12700">
            <a:solidFill>
              <a:schemeClr val="bg2"/>
            </a:solidFill>
            <a:prstDash val="solid"/>
          </a:ln>
        </p:spPr>
      </p:sp>
      <p:sp>
        <p:nvSpPr>
          <p:cNvPr id="14" name="Benefit 3 icon circle"/>
          <p:cNvSpPr/>
          <p:nvPr/>
        </p:nvSpPr>
        <p:spPr>
          <a:xfrm>
            <a:off x="8383829" y="1719072"/>
            <a:ext cx="566928" cy="566928"/>
          </a:xfrm>
          <a:prstGeom prst="ellipse">
            <a:avLst/>
          </a:prstGeom>
          <a:solidFill>
            <a:schemeClr val="accent1"/>
          </a:solidFill>
          <a:ln w="12700">
            <a:solidFill>
              <a:schemeClr val="accent1"/>
            </a:solidFill>
            <a:prstDash val="solid"/>
          </a:ln>
        </p:spPr>
      </p:sp>
      <p:pic>
        <p:nvPicPr>
          <p:cNvPr id="15" name="Benefit 3 icon" descr="preencoded.png"/>
          <p:cNvPicPr>
            <a:picLocks noChangeAspect="1"/>
          </p:cNvPicPr>
          <p:nvPr/>
        </p:nvPicPr>
        <p:blipFill>
          <a:blip r:embed="rId5"/>
          <a:stretch>
            <a:fillRect/>
          </a:stretch>
        </p:blipFill>
        <p:spPr>
          <a:xfrm>
            <a:off x="8530133" y="1865376"/>
            <a:ext cx="274320" cy="274320"/>
          </a:xfrm>
          <a:prstGeom prst="rect">
            <a:avLst/>
          </a:prstGeom>
        </p:spPr>
      </p:pic>
      <p:sp>
        <p:nvSpPr>
          <p:cNvPr id="16" name="Benefit 3 heading"/>
          <p:cNvSpPr txBox="1"/>
          <p:nvPr/>
        </p:nvSpPr>
        <p:spPr>
          <a:xfrm>
            <a:off x="9087917" y="171907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Checked before it counts</a:t>
            </a:r>
            <a:endParaRPr lang="en-US" sz="1700" dirty="0"/>
          </a:p>
        </p:txBody>
      </p:sp>
      <p:sp>
        <p:nvSpPr>
          <p:cNvPr id="17" name="Benefit 3 text"/>
          <p:cNvSpPr txBox="1"/>
          <p:nvPr/>
        </p:nvSpPr>
        <p:spPr>
          <a:xfrm>
            <a:off x="8383829" y="2423160"/>
            <a:ext cx="3003194" cy="822960"/>
          </a:xfrm>
          <a:prstGeom prst="rect">
            <a:avLst/>
          </a:prstGeom>
          <a:noFill/>
          <a:ln/>
        </p:spPr>
        <p:txBody>
          <a:bodyPr wrap="square" lIns="0" tIns="0" rIns="0" bIns="0" rtlCol="0" anchor="t"/>
          <a:lstStyle/>
          <a:p>
            <a:pPr marL="0" indent="0">
              <a:buNone/>
            </a:pPr>
            <a:r>
              <a:rPr lang="en-US" sz="1350" dirty="0">
                <a:solidFill>
                  <a:schemeClr val="tx2"/>
                </a:solidFill>
              </a:rPr>
              <a:t>Staff verify every registration. Possible duplicates are flagged, and sacraments can be confirmed against the parish register.</a:t>
            </a:r>
            <a:endParaRPr lang="en-US" sz="1350" dirty="0"/>
          </a:p>
        </p:txBody>
      </p:sp>
      <p:sp>
        <p:nvSpPr>
          <p:cNvPr id="18" name="Benefit 4 card"/>
          <p:cNvSpPr/>
          <p:nvPr/>
        </p:nvSpPr>
        <p:spPr>
          <a:xfrm>
            <a:off x="548640" y="3657600"/>
            <a:ext cx="3515258" cy="1920240"/>
          </a:xfrm>
          <a:prstGeom prst="roundRect">
            <a:avLst>
              <a:gd name="adj" fmla="val 5714"/>
            </a:avLst>
          </a:prstGeom>
          <a:solidFill>
            <a:schemeClr val="bg2"/>
          </a:solidFill>
          <a:ln w="12700">
            <a:solidFill>
              <a:schemeClr val="bg2"/>
            </a:solidFill>
            <a:prstDash val="solid"/>
          </a:ln>
        </p:spPr>
      </p:sp>
      <p:sp>
        <p:nvSpPr>
          <p:cNvPr id="19" name="Benefit 4 icon circle"/>
          <p:cNvSpPr/>
          <p:nvPr/>
        </p:nvSpPr>
        <p:spPr>
          <a:xfrm>
            <a:off x="804672" y="3913632"/>
            <a:ext cx="566928" cy="566928"/>
          </a:xfrm>
          <a:prstGeom prst="ellipse">
            <a:avLst/>
          </a:prstGeom>
          <a:solidFill>
            <a:schemeClr val="accent1"/>
          </a:solidFill>
          <a:ln w="12700">
            <a:solidFill>
              <a:schemeClr val="accent1"/>
            </a:solidFill>
            <a:prstDash val="solid"/>
          </a:ln>
        </p:spPr>
      </p:sp>
      <p:pic>
        <p:nvPicPr>
          <p:cNvPr id="20" name="Benefit 4 icon" descr="preencoded.png"/>
          <p:cNvPicPr>
            <a:picLocks noChangeAspect="1"/>
          </p:cNvPicPr>
          <p:nvPr/>
        </p:nvPicPr>
        <p:blipFill>
          <a:blip r:embed="rId6"/>
          <a:stretch>
            <a:fillRect/>
          </a:stretch>
        </p:blipFill>
        <p:spPr>
          <a:xfrm>
            <a:off x="950976" y="4059936"/>
            <a:ext cx="274320" cy="274320"/>
          </a:xfrm>
          <a:prstGeom prst="rect">
            <a:avLst/>
          </a:prstGeom>
        </p:spPr>
      </p:pic>
      <p:sp>
        <p:nvSpPr>
          <p:cNvPr id="21" name="Benefit 4 heading"/>
          <p:cNvSpPr txBox="1"/>
          <p:nvPr/>
        </p:nvSpPr>
        <p:spPr>
          <a:xfrm>
            <a:off x="1508760" y="391363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Parish numbers in seconds</a:t>
            </a:r>
            <a:endParaRPr lang="en-US" sz="1700" dirty="0"/>
          </a:p>
        </p:txBody>
      </p:sp>
      <p:sp>
        <p:nvSpPr>
          <p:cNvPr id="22" name="Benefit 4 text"/>
          <p:cNvSpPr txBox="1"/>
          <p:nvPr/>
        </p:nvSpPr>
        <p:spPr>
          <a:xfrm>
            <a:off x="804672" y="4617720"/>
            <a:ext cx="3003194" cy="822960"/>
          </a:xfrm>
          <a:prstGeom prst="rect">
            <a:avLst/>
          </a:prstGeom>
          <a:noFill/>
          <a:ln/>
        </p:spPr>
        <p:txBody>
          <a:bodyPr wrap="square" lIns="0" tIns="0" rIns="0" bIns="0" rtlCol="0" anchor="t"/>
          <a:lstStyle/>
          <a:p>
            <a:pPr marL="0" indent="0">
              <a:buNone/>
            </a:pPr>
            <a:r>
              <a:rPr lang="en-US" sz="1350" dirty="0">
                <a:solidFill>
                  <a:schemeClr val="tx2"/>
                </a:solidFill>
              </a:rPr>
              <a:t>Dashboard and reports by GKK: members, ages, sacraments, ministries. Lists export to a spreadsheet.</a:t>
            </a:r>
            <a:endParaRPr lang="en-US" sz="1350" dirty="0"/>
          </a:p>
        </p:txBody>
      </p:sp>
      <p:sp>
        <p:nvSpPr>
          <p:cNvPr id="23" name="Benefit 5 card"/>
          <p:cNvSpPr/>
          <p:nvPr/>
        </p:nvSpPr>
        <p:spPr>
          <a:xfrm>
            <a:off x="4338218" y="3657600"/>
            <a:ext cx="3515258" cy="1920240"/>
          </a:xfrm>
          <a:prstGeom prst="roundRect">
            <a:avLst>
              <a:gd name="adj" fmla="val 5714"/>
            </a:avLst>
          </a:prstGeom>
          <a:solidFill>
            <a:schemeClr val="bg2"/>
          </a:solidFill>
          <a:ln w="12700">
            <a:solidFill>
              <a:schemeClr val="bg2"/>
            </a:solidFill>
            <a:prstDash val="solid"/>
          </a:ln>
        </p:spPr>
      </p:sp>
      <p:sp>
        <p:nvSpPr>
          <p:cNvPr id="24" name="Benefit 5 icon circle"/>
          <p:cNvSpPr/>
          <p:nvPr/>
        </p:nvSpPr>
        <p:spPr>
          <a:xfrm>
            <a:off x="4594250" y="3913632"/>
            <a:ext cx="566928" cy="566928"/>
          </a:xfrm>
          <a:prstGeom prst="ellipse">
            <a:avLst/>
          </a:prstGeom>
          <a:solidFill>
            <a:schemeClr val="accent1"/>
          </a:solidFill>
          <a:ln w="12700">
            <a:solidFill>
              <a:schemeClr val="accent1"/>
            </a:solidFill>
            <a:prstDash val="solid"/>
          </a:ln>
        </p:spPr>
      </p:sp>
      <p:pic>
        <p:nvPicPr>
          <p:cNvPr id="25" name="Benefit 5 icon" descr="preencoded.png"/>
          <p:cNvPicPr>
            <a:picLocks noChangeAspect="1"/>
          </p:cNvPicPr>
          <p:nvPr/>
        </p:nvPicPr>
        <p:blipFill>
          <a:blip r:embed="rId7"/>
          <a:stretch>
            <a:fillRect/>
          </a:stretch>
        </p:blipFill>
        <p:spPr>
          <a:xfrm>
            <a:off x="4740554" y="4059936"/>
            <a:ext cx="274320" cy="274320"/>
          </a:xfrm>
          <a:prstGeom prst="rect">
            <a:avLst/>
          </a:prstGeom>
        </p:spPr>
      </p:pic>
      <p:sp>
        <p:nvSpPr>
          <p:cNvPr id="26" name="Benefit 5 heading"/>
          <p:cNvSpPr txBox="1"/>
          <p:nvPr/>
        </p:nvSpPr>
        <p:spPr>
          <a:xfrm>
            <a:off x="5298338" y="391363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A census without retyping</a:t>
            </a:r>
            <a:endParaRPr lang="en-US" sz="1700" dirty="0"/>
          </a:p>
        </p:txBody>
      </p:sp>
      <p:sp>
        <p:nvSpPr>
          <p:cNvPr id="27" name="Benefit 5 text"/>
          <p:cNvSpPr txBox="1"/>
          <p:nvPr/>
        </p:nvSpPr>
        <p:spPr>
          <a:xfrm>
            <a:off x="4594250" y="4617720"/>
            <a:ext cx="3003194" cy="822960"/>
          </a:xfrm>
          <a:prstGeom prst="rect">
            <a:avLst/>
          </a:prstGeom>
          <a:noFill/>
          <a:ln/>
        </p:spPr>
        <p:txBody>
          <a:bodyPr wrap="square" lIns="0" tIns="0" rIns="0" bIns="0" rtlCol="0" anchor="t"/>
          <a:lstStyle/>
          <a:p>
            <a:pPr marL="0" indent="0">
              <a:buNone/>
            </a:pPr>
            <a:r>
              <a:rPr lang="en-US" sz="1350" dirty="0">
                <a:solidFill>
                  <a:schemeClr val="tx2"/>
                </a:solidFill>
              </a:rPr>
              <a:t>Forms print pre-filled per household. Families can also answer online, and staff approve each update.</a:t>
            </a:r>
            <a:endParaRPr lang="en-US" sz="1350" dirty="0"/>
          </a:p>
        </p:txBody>
      </p:sp>
      <p:sp>
        <p:nvSpPr>
          <p:cNvPr id="28" name="Benefit 6 card"/>
          <p:cNvSpPr/>
          <p:nvPr/>
        </p:nvSpPr>
        <p:spPr>
          <a:xfrm>
            <a:off x="8127797" y="3657600"/>
            <a:ext cx="3515258" cy="1920240"/>
          </a:xfrm>
          <a:prstGeom prst="roundRect">
            <a:avLst>
              <a:gd name="adj" fmla="val 5714"/>
            </a:avLst>
          </a:prstGeom>
          <a:solidFill>
            <a:schemeClr val="bg2"/>
          </a:solidFill>
          <a:ln w="12700">
            <a:solidFill>
              <a:schemeClr val="bg2"/>
            </a:solidFill>
            <a:prstDash val="solid"/>
          </a:ln>
        </p:spPr>
      </p:sp>
      <p:sp>
        <p:nvSpPr>
          <p:cNvPr id="29" name="Benefit 6 icon circle"/>
          <p:cNvSpPr/>
          <p:nvPr/>
        </p:nvSpPr>
        <p:spPr>
          <a:xfrm>
            <a:off x="8383829" y="3913632"/>
            <a:ext cx="566928" cy="566928"/>
          </a:xfrm>
          <a:prstGeom prst="ellipse">
            <a:avLst/>
          </a:prstGeom>
          <a:solidFill>
            <a:schemeClr val="accent1"/>
          </a:solidFill>
          <a:ln w="12700">
            <a:solidFill>
              <a:schemeClr val="accent1"/>
            </a:solidFill>
            <a:prstDash val="solid"/>
          </a:ln>
        </p:spPr>
      </p:sp>
      <p:pic>
        <p:nvPicPr>
          <p:cNvPr id="30" name="Benefit 6 icon" descr="preencoded.png"/>
          <p:cNvPicPr>
            <a:picLocks noChangeAspect="1"/>
          </p:cNvPicPr>
          <p:nvPr/>
        </p:nvPicPr>
        <p:blipFill>
          <a:blip r:embed="rId8"/>
          <a:stretch>
            <a:fillRect/>
          </a:stretch>
        </p:blipFill>
        <p:spPr>
          <a:xfrm>
            <a:off x="8530133" y="4059936"/>
            <a:ext cx="274320" cy="274320"/>
          </a:xfrm>
          <a:prstGeom prst="rect">
            <a:avLst/>
          </a:prstGeom>
        </p:spPr>
      </p:pic>
      <p:sp>
        <p:nvSpPr>
          <p:cNvPr id="31" name="Benefit 6 heading"/>
          <p:cNvSpPr txBox="1"/>
          <p:nvPr/>
        </p:nvSpPr>
        <p:spPr>
          <a:xfrm>
            <a:off x="9087917" y="3913632"/>
            <a:ext cx="2326538" cy="566928"/>
          </a:xfrm>
          <a:prstGeom prst="rect">
            <a:avLst/>
          </a:prstGeom>
          <a:noFill/>
          <a:ln/>
        </p:spPr>
        <p:txBody>
          <a:bodyPr wrap="square" lIns="0" tIns="0" rIns="0" bIns="0" rtlCol="0" anchor="ctr"/>
          <a:lstStyle/>
          <a:p>
            <a:pPr marL="0" indent="0">
              <a:buNone/>
            </a:pPr>
            <a:r>
              <a:rPr lang="en-US" sz="1700" b="1" dirty="0">
                <a:solidFill>
                  <a:schemeClr val="tx1"/>
                </a:solidFill>
              </a:rPr>
              <a:t>Private and accountable</a:t>
            </a:r>
            <a:endParaRPr lang="en-US" sz="1700" dirty="0"/>
          </a:p>
        </p:txBody>
      </p:sp>
      <p:sp>
        <p:nvSpPr>
          <p:cNvPr id="32" name="Benefit 6 text"/>
          <p:cNvSpPr txBox="1"/>
          <p:nvPr/>
        </p:nvSpPr>
        <p:spPr>
          <a:xfrm>
            <a:off x="8383829" y="4617720"/>
            <a:ext cx="3003194" cy="822960"/>
          </a:xfrm>
          <a:prstGeom prst="rect">
            <a:avLst/>
          </a:prstGeom>
          <a:noFill/>
          <a:ln/>
        </p:spPr>
        <p:txBody>
          <a:bodyPr wrap="square" lIns="0" tIns="0" rIns="0" bIns="0" rtlCol="0" anchor="t"/>
          <a:lstStyle/>
          <a:p>
            <a:pPr marL="0" indent="0">
              <a:buNone/>
            </a:pPr>
            <a:r>
              <a:rPr lang="en-US" sz="1350" dirty="0">
                <a:solidFill>
                  <a:schemeClr val="tx2"/>
                </a:solidFill>
              </a:rPr>
              <a:t>Each staff account has its own access level. Every change is logged, and deleted records can be restored for 30 days.</a:t>
            </a:r>
            <a:endParaRPr lang="en-US" sz="1350" dirty="0"/>
          </a:p>
        </p:txBody>
      </p:sp>
      <p:sp>
        <p:nvSpPr>
          <p:cNvPr id="33" name="Also included line"/>
          <p:cNvSpPr txBox="1"/>
          <p:nvPr/>
        </p:nvSpPr>
        <p:spPr>
          <a:xfrm>
            <a:off x="548640" y="5760720"/>
            <a:ext cx="11094415" cy="365760"/>
          </a:xfrm>
          <a:prstGeom prst="rect">
            <a:avLst/>
          </a:prstGeom>
          <a:noFill/>
          <a:ln/>
        </p:spPr>
        <p:txBody>
          <a:bodyPr wrap="square" lIns="0" tIns="0" rIns="0" bIns="0" rtlCol="0" anchor="ctr"/>
          <a:lstStyle/>
          <a:p>
            <a:pPr marL="0" indent="0">
              <a:buNone/>
            </a:pPr>
            <a:r>
              <a:rPr lang="en-US" sz="1300" b="1" dirty="0">
                <a:solidFill>
                  <a:schemeClr val="accent4"/>
                </a:solidFill>
              </a:rPr>
              <a:t>Also included:  </a:t>
            </a:r>
            <a:r>
              <a:rPr lang="en-US" sz="1300" dirty="0">
                <a:solidFill>
                  <a:schemeClr val="tx2"/>
                </a:solidFill>
              </a:rPr>
              <a:t>the parish website (Mass schedule, announcements, bulletin, events)  ·  certificate, prayer and blood requests  ·  ₱0 monthly hosting</a:t>
            </a:r>
            <a:endParaRPr lang="en-US" sz="1300" dirty="0"/>
          </a:p>
        </p:txBody>
      </p:sp>
      <p:sp>
        <p:nvSpPr>
          <p:cNvPr id="34"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400" b="1" dirty="0">
                <a:solidFill>
                  <a:schemeClr val="tx1"/>
                </a:solidFill>
              </a:rPr>
              <a:t>How the parish census runs</a:t>
            </a:r>
            <a:endParaRPr lang="en-US" sz="3400" dirty="0"/>
          </a:p>
        </p:txBody>
      </p:sp>
      <p:sp>
        <p:nvSpPr>
          <p:cNvPr id="3" name="Census 1 card"/>
          <p:cNvSpPr/>
          <p:nvPr/>
        </p:nvSpPr>
        <p:spPr>
          <a:xfrm>
            <a:off x="548640" y="1463040"/>
            <a:ext cx="2377440" cy="2697480"/>
          </a:xfrm>
          <a:prstGeom prst="roundRect">
            <a:avLst>
              <a:gd name="adj" fmla="val 4615"/>
            </a:avLst>
          </a:prstGeom>
          <a:solidFill>
            <a:schemeClr val="bg2"/>
          </a:solidFill>
          <a:ln w="12700">
            <a:solidFill>
              <a:schemeClr val="bg2"/>
            </a:solidFill>
            <a:prstDash val="solid"/>
          </a:ln>
        </p:spPr>
      </p:sp>
      <p:sp>
        <p:nvSpPr>
          <p:cNvPr id="4" name="Census 1 dot"/>
          <p:cNvSpPr/>
          <p:nvPr/>
        </p:nvSpPr>
        <p:spPr>
          <a:xfrm>
            <a:off x="749808" y="1664208"/>
            <a:ext cx="420624" cy="420624"/>
          </a:xfrm>
          <a:prstGeom prst="ellipse">
            <a:avLst/>
          </a:prstGeom>
          <a:solidFill>
            <a:schemeClr val="accent1"/>
          </a:solidFill>
          <a:ln w="12700">
            <a:solidFill>
              <a:schemeClr val="accent1"/>
            </a:solidFill>
            <a:prstDash val="solid"/>
          </a:ln>
        </p:spPr>
      </p:sp>
      <p:sp>
        <p:nvSpPr>
          <p:cNvPr id="5" name="Census 1 number"/>
          <p:cNvSpPr txBox="1"/>
          <p:nvPr/>
        </p:nvSpPr>
        <p:spPr>
          <a:xfrm>
            <a:off x="749808" y="166420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pic>
        <p:nvPicPr>
          <p:cNvPr id="6" name="Census 1 icon" descr="preencoded.png"/>
          <p:cNvPicPr>
            <a:picLocks noChangeAspect="1"/>
          </p:cNvPicPr>
          <p:nvPr/>
        </p:nvPicPr>
        <p:blipFill>
          <a:blip r:embed="rId3"/>
          <a:stretch>
            <a:fillRect/>
          </a:stretch>
        </p:blipFill>
        <p:spPr>
          <a:xfrm>
            <a:off x="2267712" y="1664208"/>
            <a:ext cx="420624" cy="420624"/>
          </a:xfrm>
          <a:prstGeom prst="rect">
            <a:avLst/>
          </a:prstGeom>
        </p:spPr>
      </p:pic>
      <p:sp>
        <p:nvSpPr>
          <p:cNvPr id="7" name="Census 1 heading"/>
          <p:cNvSpPr txBox="1"/>
          <p:nvPr/>
        </p:nvSpPr>
        <p:spPr>
          <a:xfrm>
            <a:off x="749808" y="2286000"/>
            <a:ext cx="1975104" cy="365760"/>
          </a:xfrm>
          <a:prstGeom prst="rect">
            <a:avLst/>
          </a:prstGeom>
          <a:noFill/>
          <a:ln/>
        </p:spPr>
        <p:txBody>
          <a:bodyPr wrap="square" lIns="0" tIns="0" rIns="0" bIns="0" rtlCol="0" anchor="t"/>
          <a:lstStyle/>
          <a:p>
            <a:pPr marL="0" indent="0">
              <a:buNone/>
            </a:pPr>
            <a:r>
              <a:rPr lang="en-US" sz="1700" b="1" dirty="0">
                <a:solidFill>
                  <a:schemeClr val="tx1"/>
                </a:solidFill>
              </a:rPr>
              <a:t>Staff start a census</a:t>
            </a:r>
            <a:endParaRPr lang="en-US" sz="1700" dirty="0"/>
          </a:p>
        </p:txBody>
      </p:sp>
      <p:sp>
        <p:nvSpPr>
          <p:cNvPr id="8" name="Census 1 text"/>
          <p:cNvSpPr txBox="1"/>
          <p:nvPr/>
        </p:nvSpPr>
        <p:spPr>
          <a:xfrm>
            <a:off x="749808" y="2761488"/>
            <a:ext cx="1975104" cy="1234440"/>
          </a:xfrm>
          <a:prstGeom prst="rect">
            <a:avLst/>
          </a:prstGeom>
          <a:noFill/>
          <a:ln/>
        </p:spPr>
        <p:txBody>
          <a:bodyPr wrap="square" lIns="0" tIns="0" rIns="0" bIns="0" rtlCol="0" anchor="t"/>
          <a:lstStyle/>
          <a:p>
            <a:pPr marL="0" indent="0">
              <a:buNone/>
            </a:pPr>
            <a:r>
              <a:rPr lang="en-US" sz="1300" dirty="0">
                <a:solidFill>
                  <a:schemeClr val="tx2"/>
                </a:solidFill>
              </a:rPr>
              <a:t>For example "2026 Census". The parish decides when: every year, every two years, or as needed.</a:t>
            </a:r>
            <a:br>
              <a:rPr lang="en-US" sz="1300" dirty="0">
                <a:solidFill>
                  <a:schemeClr val="tx2"/>
                </a:solidFill>
              </a:rPr>
            </a:br>
            <a:r>
              <a:rPr lang="en-US" sz="1300" b="1" dirty="0">
                <a:solidFill>
                  <a:schemeClr val="tx2"/>
                </a:solidFill>
              </a:rPr>
              <a:t>Date Range: </a:t>
            </a:r>
            <a:r>
              <a:rPr lang="en-US" sz="1300" dirty="0">
                <a:solidFill>
                  <a:schemeClr val="tx2"/>
                </a:solidFill>
              </a:rPr>
              <a:t>(example)</a:t>
            </a:r>
            <a:br>
              <a:rPr lang="en-US" sz="1300" dirty="0">
                <a:solidFill>
                  <a:schemeClr val="tx2"/>
                </a:solidFill>
              </a:rPr>
            </a:br>
            <a:r>
              <a:rPr lang="en-US" sz="1300" b="1" dirty="0">
                <a:solidFill>
                  <a:schemeClr val="tx2"/>
                </a:solidFill>
              </a:rPr>
              <a:t>October 05 – 30, 2026</a:t>
            </a:r>
            <a:endParaRPr lang="en-US" sz="1300" b="1" dirty="0"/>
          </a:p>
        </p:txBody>
      </p:sp>
      <p:sp>
        <p:nvSpPr>
          <p:cNvPr id="9" name="Census arrow 1"/>
          <p:cNvSpPr/>
          <p:nvPr/>
        </p:nvSpPr>
        <p:spPr>
          <a:xfrm>
            <a:off x="2999232" y="2674620"/>
            <a:ext cx="173736" cy="274320"/>
          </a:xfrm>
          <a:prstGeom prst="chevron">
            <a:avLst/>
          </a:prstGeom>
          <a:solidFill>
            <a:schemeClr val="accent2"/>
          </a:solidFill>
          <a:ln w="12700">
            <a:solidFill>
              <a:schemeClr val="accent2"/>
            </a:solidFill>
            <a:prstDash val="solid"/>
          </a:ln>
        </p:spPr>
      </p:sp>
      <p:sp>
        <p:nvSpPr>
          <p:cNvPr id="10" name="Census 2 card"/>
          <p:cNvSpPr/>
          <p:nvPr/>
        </p:nvSpPr>
        <p:spPr>
          <a:xfrm>
            <a:off x="3246120" y="1463040"/>
            <a:ext cx="2377440" cy="1485900"/>
          </a:xfrm>
          <a:prstGeom prst="roundRect">
            <a:avLst>
              <a:gd name="adj" fmla="val 4615"/>
            </a:avLst>
          </a:prstGeom>
          <a:solidFill>
            <a:schemeClr val="bg2"/>
          </a:solidFill>
          <a:ln w="12700">
            <a:solidFill>
              <a:schemeClr val="bg2"/>
            </a:solidFill>
            <a:prstDash val="solid"/>
          </a:ln>
        </p:spPr>
      </p:sp>
      <p:sp>
        <p:nvSpPr>
          <p:cNvPr id="11" name="Census 2 dot"/>
          <p:cNvSpPr/>
          <p:nvPr/>
        </p:nvSpPr>
        <p:spPr>
          <a:xfrm>
            <a:off x="3447288" y="1664208"/>
            <a:ext cx="420624" cy="420624"/>
          </a:xfrm>
          <a:prstGeom prst="ellipse">
            <a:avLst/>
          </a:prstGeom>
          <a:solidFill>
            <a:schemeClr val="accent1"/>
          </a:solidFill>
          <a:ln w="12700">
            <a:solidFill>
              <a:schemeClr val="accent1"/>
            </a:solidFill>
            <a:prstDash val="solid"/>
          </a:ln>
        </p:spPr>
      </p:sp>
      <p:sp>
        <p:nvSpPr>
          <p:cNvPr id="12" name="Census 2 number"/>
          <p:cNvSpPr txBox="1"/>
          <p:nvPr/>
        </p:nvSpPr>
        <p:spPr>
          <a:xfrm>
            <a:off x="3447288" y="1665275"/>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a:t>
            </a:r>
            <a:endParaRPr lang="en-US" sz="1500" dirty="0"/>
          </a:p>
        </p:txBody>
      </p:sp>
      <p:pic>
        <p:nvPicPr>
          <p:cNvPr id="13" name="Census 2 icon" descr="preencoded.png"/>
          <p:cNvPicPr>
            <a:picLocks noChangeAspect="1"/>
          </p:cNvPicPr>
          <p:nvPr/>
        </p:nvPicPr>
        <p:blipFill>
          <a:blip r:embed="rId4"/>
          <a:stretch>
            <a:fillRect/>
          </a:stretch>
        </p:blipFill>
        <p:spPr>
          <a:xfrm>
            <a:off x="5152644" y="1655278"/>
            <a:ext cx="420624" cy="420624"/>
          </a:xfrm>
          <a:prstGeom prst="rect">
            <a:avLst/>
          </a:prstGeom>
        </p:spPr>
      </p:pic>
      <p:sp>
        <p:nvSpPr>
          <p:cNvPr id="14" name="Census 2 heading"/>
          <p:cNvSpPr txBox="1"/>
          <p:nvPr/>
        </p:nvSpPr>
        <p:spPr>
          <a:xfrm>
            <a:off x="3962917" y="1604665"/>
            <a:ext cx="1975104" cy="365760"/>
          </a:xfrm>
          <a:prstGeom prst="rect">
            <a:avLst/>
          </a:prstGeom>
          <a:noFill/>
          <a:ln/>
        </p:spPr>
        <p:txBody>
          <a:bodyPr wrap="square" lIns="0" tIns="0" rIns="0" bIns="0" rtlCol="0" anchor="t"/>
          <a:lstStyle/>
          <a:p>
            <a:pPr marL="0" indent="0">
              <a:buNone/>
            </a:pPr>
            <a:r>
              <a:rPr lang="en-US" b="1" dirty="0">
                <a:solidFill>
                  <a:schemeClr val="tx1"/>
                </a:solidFill>
              </a:rPr>
              <a:t>Print forms </a:t>
            </a:r>
            <a:br>
              <a:rPr lang="en-US" b="1" dirty="0">
                <a:solidFill>
                  <a:schemeClr val="tx1"/>
                </a:solidFill>
              </a:rPr>
            </a:br>
            <a:r>
              <a:rPr lang="en-US" b="1" dirty="0">
                <a:solidFill>
                  <a:schemeClr val="tx1"/>
                </a:solidFill>
              </a:rPr>
              <a:t>by GKK</a:t>
            </a:r>
            <a:endParaRPr lang="en-US" dirty="0"/>
          </a:p>
        </p:txBody>
      </p:sp>
      <p:sp>
        <p:nvSpPr>
          <p:cNvPr id="15" name="Census 2 text"/>
          <p:cNvSpPr txBox="1"/>
          <p:nvPr/>
        </p:nvSpPr>
        <p:spPr>
          <a:xfrm>
            <a:off x="3477587" y="2151019"/>
            <a:ext cx="2045265" cy="810140"/>
          </a:xfrm>
          <a:prstGeom prst="rect">
            <a:avLst/>
          </a:prstGeom>
          <a:noFill/>
          <a:ln/>
        </p:spPr>
        <p:txBody>
          <a:bodyPr wrap="square" lIns="0" tIns="0" rIns="0" bIns="0" rtlCol="0" anchor="t"/>
          <a:lstStyle/>
          <a:p>
            <a:pPr marL="0" indent="0">
              <a:buNone/>
            </a:pPr>
            <a:r>
              <a:rPr lang="en-US" sz="1300" dirty="0">
                <a:solidFill>
                  <a:schemeClr val="tx2"/>
                </a:solidFill>
              </a:rPr>
              <a:t>One page per household, pre-filled with what is on file, plus the family’s access code for the online portal.</a:t>
            </a:r>
            <a:endParaRPr lang="en-US" sz="1300" dirty="0"/>
          </a:p>
        </p:txBody>
      </p:sp>
      <p:sp>
        <p:nvSpPr>
          <p:cNvPr id="16" name="Census arrow 2"/>
          <p:cNvSpPr/>
          <p:nvPr/>
        </p:nvSpPr>
        <p:spPr>
          <a:xfrm>
            <a:off x="5696712" y="2674620"/>
            <a:ext cx="173736" cy="274320"/>
          </a:xfrm>
          <a:prstGeom prst="chevron">
            <a:avLst/>
          </a:prstGeom>
          <a:solidFill>
            <a:schemeClr val="accent2"/>
          </a:solidFill>
          <a:ln w="12700">
            <a:solidFill>
              <a:schemeClr val="accent2"/>
            </a:solidFill>
            <a:prstDash val="solid"/>
          </a:ln>
        </p:spPr>
      </p:sp>
      <p:sp>
        <p:nvSpPr>
          <p:cNvPr id="17" name="Census 3a card"/>
          <p:cNvSpPr/>
          <p:nvPr/>
        </p:nvSpPr>
        <p:spPr>
          <a:xfrm>
            <a:off x="5943600" y="1463040"/>
            <a:ext cx="3001975" cy="1234440"/>
          </a:xfrm>
          <a:prstGeom prst="roundRect">
            <a:avLst>
              <a:gd name="adj" fmla="val 8889"/>
            </a:avLst>
          </a:prstGeom>
          <a:solidFill>
            <a:schemeClr val="bg2"/>
          </a:solidFill>
          <a:ln w="12700">
            <a:solidFill>
              <a:schemeClr val="bg2"/>
            </a:solidFill>
            <a:prstDash val="solid"/>
          </a:ln>
        </p:spPr>
      </p:sp>
      <p:sp>
        <p:nvSpPr>
          <p:cNvPr id="18" name="Census 3a icon circle"/>
          <p:cNvSpPr/>
          <p:nvPr/>
        </p:nvSpPr>
        <p:spPr>
          <a:xfrm>
            <a:off x="6126480" y="1645920"/>
            <a:ext cx="420624" cy="420624"/>
          </a:xfrm>
          <a:prstGeom prst="ellipse">
            <a:avLst/>
          </a:prstGeom>
          <a:solidFill>
            <a:schemeClr val="accent2"/>
          </a:solidFill>
          <a:ln w="12700">
            <a:solidFill>
              <a:schemeClr val="accent2"/>
            </a:solidFill>
            <a:prstDash val="solid"/>
          </a:ln>
        </p:spPr>
      </p:sp>
      <p:pic>
        <p:nvPicPr>
          <p:cNvPr id="19" name="Census 3a icon" descr="preencoded.png"/>
          <p:cNvPicPr>
            <a:picLocks noChangeAspect="1"/>
          </p:cNvPicPr>
          <p:nvPr/>
        </p:nvPicPr>
        <p:blipFill>
          <a:blip r:embed="rId5"/>
          <a:stretch>
            <a:fillRect/>
          </a:stretch>
        </p:blipFill>
        <p:spPr>
          <a:xfrm>
            <a:off x="6236208" y="1755648"/>
            <a:ext cx="201168" cy="201168"/>
          </a:xfrm>
          <a:prstGeom prst="rect">
            <a:avLst/>
          </a:prstGeom>
        </p:spPr>
      </p:pic>
      <p:sp>
        <p:nvSpPr>
          <p:cNvPr id="20" name="Census 3a heading"/>
          <p:cNvSpPr txBox="1"/>
          <p:nvPr/>
        </p:nvSpPr>
        <p:spPr>
          <a:xfrm>
            <a:off x="6675120" y="1645920"/>
            <a:ext cx="2087575" cy="420624"/>
          </a:xfrm>
          <a:prstGeom prst="rect">
            <a:avLst/>
          </a:prstGeom>
          <a:noFill/>
          <a:ln/>
        </p:spPr>
        <p:txBody>
          <a:bodyPr wrap="square" lIns="0" tIns="0" rIns="0" bIns="0" rtlCol="0" anchor="ctr"/>
          <a:lstStyle/>
          <a:p>
            <a:pPr marL="0" indent="0">
              <a:buNone/>
            </a:pPr>
            <a:r>
              <a:rPr lang="en-US" sz="1550" b="1" dirty="0">
                <a:solidFill>
                  <a:schemeClr val="tx1"/>
                </a:solidFill>
              </a:rPr>
              <a:t> On paper</a:t>
            </a:r>
            <a:endParaRPr lang="en-US" sz="1550" dirty="0"/>
          </a:p>
        </p:txBody>
      </p:sp>
      <p:sp>
        <p:nvSpPr>
          <p:cNvPr id="21" name="Census 3a text"/>
          <p:cNvSpPr txBox="1"/>
          <p:nvPr/>
        </p:nvSpPr>
        <p:spPr>
          <a:xfrm>
            <a:off x="6126480" y="2139696"/>
            <a:ext cx="2636215" cy="466344"/>
          </a:xfrm>
          <a:prstGeom prst="rect">
            <a:avLst/>
          </a:prstGeom>
          <a:noFill/>
          <a:ln/>
        </p:spPr>
        <p:txBody>
          <a:bodyPr wrap="square" lIns="0" tIns="0" rIns="0" bIns="0" rtlCol="0" anchor="t"/>
          <a:lstStyle/>
          <a:p>
            <a:pPr marL="0" indent="0">
              <a:buNone/>
            </a:pPr>
            <a:r>
              <a:rPr lang="en-US" sz="1200" dirty="0">
                <a:solidFill>
                  <a:schemeClr val="tx2"/>
                </a:solidFill>
              </a:rPr>
              <a:t>The family fills in the form. Staff record each member’s answers. </a:t>
            </a:r>
            <a:r>
              <a:rPr lang="en-US" sz="1200" b="1" dirty="0">
                <a:solidFill>
                  <a:schemeClr val="tx2"/>
                </a:solidFill>
              </a:rPr>
              <a:t>Then</a:t>
            </a:r>
            <a:r>
              <a:rPr lang="en-US" sz="1200" dirty="0">
                <a:solidFill>
                  <a:schemeClr val="tx2"/>
                </a:solidFill>
              </a:rPr>
              <a:t> </a:t>
            </a:r>
            <a:r>
              <a:rPr lang="en-US" sz="1200" b="1" dirty="0">
                <a:solidFill>
                  <a:schemeClr val="tx2"/>
                </a:solidFill>
              </a:rPr>
              <a:t>GKK Leaders can update the ONLINE CENSUS.</a:t>
            </a:r>
            <a:endParaRPr lang="en-US" sz="1200" b="1" dirty="0"/>
          </a:p>
        </p:txBody>
      </p:sp>
      <p:sp>
        <p:nvSpPr>
          <p:cNvPr id="22" name="Census 3b card"/>
          <p:cNvSpPr/>
          <p:nvPr/>
        </p:nvSpPr>
        <p:spPr>
          <a:xfrm>
            <a:off x="3246120" y="3058668"/>
            <a:ext cx="5699455" cy="1101852"/>
          </a:xfrm>
          <a:prstGeom prst="roundRect">
            <a:avLst>
              <a:gd name="adj" fmla="val 8889"/>
            </a:avLst>
          </a:prstGeom>
          <a:solidFill>
            <a:schemeClr val="bg2"/>
          </a:solidFill>
          <a:ln w="12700">
            <a:solidFill>
              <a:schemeClr val="bg2"/>
            </a:solidFill>
            <a:prstDash val="solid"/>
          </a:ln>
        </p:spPr>
      </p:sp>
      <p:sp>
        <p:nvSpPr>
          <p:cNvPr id="25" name="Census 3b heading"/>
          <p:cNvSpPr txBox="1"/>
          <p:nvPr/>
        </p:nvSpPr>
        <p:spPr>
          <a:xfrm>
            <a:off x="3782873" y="3120838"/>
            <a:ext cx="3547034" cy="420624"/>
          </a:xfrm>
          <a:prstGeom prst="rect">
            <a:avLst/>
          </a:prstGeom>
          <a:noFill/>
          <a:ln/>
        </p:spPr>
        <p:txBody>
          <a:bodyPr wrap="square" lIns="0" tIns="0" rIns="0" bIns="0" rtlCol="0" anchor="ctr"/>
          <a:lstStyle/>
          <a:p>
            <a:pPr marL="0" indent="0">
              <a:buNone/>
            </a:pPr>
            <a:r>
              <a:rPr lang="en-US" sz="1550" b="1" dirty="0">
                <a:solidFill>
                  <a:schemeClr val="tx1"/>
                </a:solidFill>
              </a:rPr>
              <a:t>Online register/update of CENSUS Record</a:t>
            </a:r>
            <a:endParaRPr lang="en-US" sz="1550" dirty="0"/>
          </a:p>
        </p:txBody>
      </p:sp>
      <p:sp>
        <p:nvSpPr>
          <p:cNvPr id="26" name="Census 3b text"/>
          <p:cNvSpPr txBox="1"/>
          <p:nvPr/>
        </p:nvSpPr>
        <p:spPr>
          <a:xfrm>
            <a:off x="3831460" y="3609594"/>
            <a:ext cx="2636215" cy="466344"/>
          </a:xfrm>
          <a:prstGeom prst="rect">
            <a:avLst/>
          </a:prstGeom>
          <a:noFill/>
          <a:ln/>
        </p:spPr>
        <p:txBody>
          <a:bodyPr wrap="square" lIns="0" tIns="0" rIns="0" bIns="0" rtlCol="0" anchor="t"/>
          <a:lstStyle/>
          <a:p>
            <a:pPr marL="0" indent="0">
              <a:buNone/>
            </a:pPr>
            <a:r>
              <a:rPr lang="en-US" sz="1200" dirty="0">
                <a:solidFill>
                  <a:schemeClr val="tx2"/>
                </a:solidFill>
              </a:rPr>
              <a:t>The family signs in with its reference number and code; staff approve.</a:t>
            </a:r>
            <a:endParaRPr lang="en-US" sz="1200" dirty="0"/>
          </a:p>
        </p:txBody>
      </p:sp>
      <p:sp>
        <p:nvSpPr>
          <p:cNvPr id="27" name="Census arrow 3"/>
          <p:cNvSpPr/>
          <p:nvPr/>
        </p:nvSpPr>
        <p:spPr>
          <a:xfrm>
            <a:off x="9018727" y="2674620"/>
            <a:ext cx="173736" cy="274320"/>
          </a:xfrm>
          <a:prstGeom prst="chevron">
            <a:avLst/>
          </a:prstGeom>
          <a:solidFill>
            <a:schemeClr val="accent2"/>
          </a:solidFill>
          <a:ln w="12700">
            <a:solidFill>
              <a:schemeClr val="accent2"/>
            </a:solidFill>
            <a:prstDash val="solid"/>
          </a:ln>
        </p:spPr>
      </p:sp>
      <p:sp>
        <p:nvSpPr>
          <p:cNvPr id="28" name="Census 4 card"/>
          <p:cNvSpPr/>
          <p:nvPr/>
        </p:nvSpPr>
        <p:spPr>
          <a:xfrm>
            <a:off x="9265615" y="1463040"/>
            <a:ext cx="2377440" cy="2697480"/>
          </a:xfrm>
          <a:prstGeom prst="roundRect">
            <a:avLst>
              <a:gd name="adj" fmla="val 4615"/>
            </a:avLst>
          </a:prstGeom>
          <a:solidFill>
            <a:schemeClr val="bg2"/>
          </a:solidFill>
          <a:ln w="12700">
            <a:solidFill>
              <a:schemeClr val="bg2"/>
            </a:solidFill>
            <a:prstDash val="solid"/>
          </a:ln>
        </p:spPr>
      </p:sp>
      <p:sp>
        <p:nvSpPr>
          <p:cNvPr id="29" name="Census 4 dot"/>
          <p:cNvSpPr/>
          <p:nvPr/>
        </p:nvSpPr>
        <p:spPr>
          <a:xfrm>
            <a:off x="9466783" y="1664208"/>
            <a:ext cx="420624" cy="420624"/>
          </a:xfrm>
          <a:prstGeom prst="ellipse">
            <a:avLst/>
          </a:prstGeom>
          <a:solidFill>
            <a:schemeClr val="accent1"/>
          </a:solidFill>
          <a:ln w="12700">
            <a:solidFill>
              <a:schemeClr val="accent1"/>
            </a:solidFill>
            <a:prstDash val="solid"/>
          </a:ln>
        </p:spPr>
      </p:sp>
      <p:sp>
        <p:nvSpPr>
          <p:cNvPr id="30" name="Census 4 number"/>
          <p:cNvSpPr txBox="1"/>
          <p:nvPr/>
        </p:nvSpPr>
        <p:spPr>
          <a:xfrm>
            <a:off x="9466783" y="166420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pic>
        <p:nvPicPr>
          <p:cNvPr id="31" name="Census 4 icon" descr="preencoded.png"/>
          <p:cNvPicPr>
            <a:picLocks noChangeAspect="1"/>
          </p:cNvPicPr>
          <p:nvPr/>
        </p:nvPicPr>
        <p:blipFill>
          <a:blip r:embed="rId6"/>
          <a:stretch>
            <a:fillRect/>
          </a:stretch>
        </p:blipFill>
        <p:spPr>
          <a:xfrm>
            <a:off x="10984687" y="1664208"/>
            <a:ext cx="420624" cy="420624"/>
          </a:xfrm>
          <a:prstGeom prst="rect">
            <a:avLst/>
          </a:prstGeom>
        </p:spPr>
      </p:pic>
      <p:sp>
        <p:nvSpPr>
          <p:cNvPr id="32" name="Census 4 heading"/>
          <p:cNvSpPr txBox="1"/>
          <p:nvPr/>
        </p:nvSpPr>
        <p:spPr>
          <a:xfrm>
            <a:off x="9466783" y="2286000"/>
            <a:ext cx="1975104" cy="365760"/>
          </a:xfrm>
          <a:prstGeom prst="rect">
            <a:avLst/>
          </a:prstGeom>
          <a:noFill/>
          <a:ln/>
        </p:spPr>
        <p:txBody>
          <a:bodyPr wrap="square" lIns="0" tIns="0" rIns="0" bIns="0" rtlCol="0" anchor="t"/>
          <a:lstStyle/>
          <a:p>
            <a:pPr marL="0" indent="0">
              <a:buNone/>
            </a:pPr>
            <a:r>
              <a:rPr lang="en-US" sz="1700" b="1" dirty="0">
                <a:solidFill>
                  <a:schemeClr val="tx1"/>
                </a:solidFill>
              </a:rPr>
              <a:t>Close and see results</a:t>
            </a:r>
            <a:endParaRPr lang="en-US" sz="1700" dirty="0"/>
          </a:p>
        </p:txBody>
      </p:sp>
      <p:sp>
        <p:nvSpPr>
          <p:cNvPr id="33" name="Census 4 text"/>
          <p:cNvSpPr txBox="1"/>
          <p:nvPr/>
        </p:nvSpPr>
        <p:spPr>
          <a:xfrm>
            <a:off x="9466783" y="2761488"/>
            <a:ext cx="1975104" cy="1234440"/>
          </a:xfrm>
          <a:prstGeom prst="rect">
            <a:avLst/>
          </a:prstGeom>
          <a:noFill/>
          <a:ln/>
        </p:spPr>
        <p:txBody>
          <a:bodyPr wrap="square" lIns="0" tIns="0" rIns="0" bIns="0" rtlCol="0" anchor="t"/>
          <a:lstStyle/>
          <a:p>
            <a:pPr marL="0" indent="0">
              <a:buNone/>
            </a:pPr>
            <a:r>
              <a:rPr lang="en-US" sz="1300" dirty="0">
                <a:solidFill>
                  <a:schemeClr val="tx2"/>
                </a:solidFill>
              </a:rPr>
              <a:t>Results by GKK. Members nobody confirmed are listed for follow-up. Closing changes no data.</a:t>
            </a:r>
            <a:endParaRPr lang="en-US" sz="1300" dirty="0"/>
          </a:p>
        </p:txBody>
      </p:sp>
      <p:sp>
        <p:nvSpPr>
          <p:cNvPr id="34" name="Status band"/>
          <p:cNvSpPr/>
          <p:nvPr/>
        </p:nvSpPr>
        <p:spPr>
          <a:xfrm>
            <a:off x="548640" y="4434840"/>
            <a:ext cx="11094415" cy="960120"/>
          </a:xfrm>
          <a:prstGeom prst="roundRect">
            <a:avLst>
              <a:gd name="adj" fmla="val 11429"/>
            </a:avLst>
          </a:prstGeom>
          <a:solidFill>
            <a:schemeClr val="tx1"/>
          </a:solidFill>
          <a:ln w="12700">
            <a:solidFill>
              <a:schemeClr val="tx1"/>
            </a:solidFill>
            <a:prstDash val="solid"/>
          </a:ln>
        </p:spPr>
      </p:sp>
      <p:sp>
        <p:nvSpPr>
          <p:cNvPr id="35" name="Status band label"/>
          <p:cNvSpPr txBox="1"/>
          <p:nvPr/>
        </p:nvSpPr>
        <p:spPr>
          <a:xfrm>
            <a:off x="822960" y="4434840"/>
            <a:ext cx="2743200" cy="960120"/>
          </a:xfrm>
          <a:prstGeom prst="rect">
            <a:avLst/>
          </a:prstGeom>
          <a:noFill/>
          <a:ln/>
        </p:spPr>
        <p:txBody>
          <a:bodyPr wrap="square" lIns="0" tIns="0" rIns="0" bIns="0" rtlCol="0" anchor="ctr"/>
          <a:lstStyle/>
          <a:p>
            <a:pPr marL="0" indent="0">
              <a:buNone/>
            </a:pPr>
            <a:r>
              <a:rPr lang="en-US" sz="1600" b="1" dirty="0">
                <a:solidFill>
                  <a:schemeClr val="bg1"/>
                </a:solidFill>
              </a:rPr>
              <a:t>Every member gets a status</a:t>
            </a:r>
            <a:endParaRPr lang="en-US" sz="1600" dirty="0"/>
          </a:p>
        </p:txBody>
      </p:sp>
      <p:sp>
        <p:nvSpPr>
          <p:cNvPr id="36" name="Status chip 1"/>
          <p:cNvSpPr/>
          <p:nvPr/>
        </p:nvSpPr>
        <p:spPr>
          <a:xfrm>
            <a:off x="3657600" y="4690872"/>
            <a:ext cx="1410553" cy="457200"/>
          </a:xfrm>
          <a:prstGeom prst="roundRect">
            <a:avLst>
              <a:gd name="adj" fmla="val 50000"/>
            </a:avLst>
          </a:prstGeom>
          <a:solidFill>
            <a:schemeClr val="bg1"/>
          </a:solidFill>
          <a:ln w="12700">
            <a:solidFill>
              <a:schemeClr val="bg1"/>
            </a:solidFill>
            <a:prstDash val="solid"/>
          </a:ln>
        </p:spPr>
      </p:sp>
      <p:sp>
        <p:nvSpPr>
          <p:cNvPr id="37" name="Status chip 1 text"/>
          <p:cNvSpPr txBox="1"/>
          <p:nvPr/>
        </p:nvSpPr>
        <p:spPr>
          <a:xfrm>
            <a:off x="3657600" y="4690872"/>
            <a:ext cx="1410553" cy="457200"/>
          </a:xfrm>
          <a:prstGeom prst="rect">
            <a:avLst/>
          </a:prstGeom>
          <a:noFill/>
          <a:ln/>
        </p:spPr>
        <p:txBody>
          <a:bodyPr wrap="square" lIns="0" tIns="0" rIns="0" bIns="0" rtlCol="0" anchor="ctr"/>
          <a:lstStyle/>
          <a:p>
            <a:pPr marL="0" indent="0" algn="ctr">
              <a:buNone/>
            </a:pPr>
            <a:r>
              <a:rPr lang="en-US" sz="1350" b="1" dirty="0">
                <a:solidFill>
                  <a:schemeClr val="tx1"/>
                </a:solidFill>
              </a:rPr>
              <a:t>Active</a:t>
            </a:r>
            <a:endParaRPr lang="en-US" sz="1350" dirty="0"/>
          </a:p>
        </p:txBody>
      </p:sp>
      <p:sp>
        <p:nvSpPr>
          <p:cNvPr id="38" name="Status chip 2"/>
          <p:cNvSpPr/>
          <p:nvPr/>
        </p:nvSpPr>
        <p:spPr>
          <a:xfrm>
            <a:off x="5232745" y="4690872"/>
            <a:ext cx="1410553" cy="457200"/>
          </a:xfrm>
          <a:prstGeom prst="roundRect">
            <a:avLst>
              <a:gd name="adj" fmla="val 50000"/>
            </a:avLst>
          </a:prstGeom>
          <a:solidFill>
            <a:schemeClr val="bg1"/>
          </a:solidFill>
          <a:ln w="12700">
            <a:solidFill>
              <a:schemeClr val="bg1"/>
            </a:solidFill>
            <a:prstDash val="solid"/>
          </a:ln>
        </p:spPr>
      </p:sp>
      <p:sp>
        <p:nvSpPr>
          <p:cNvPr id="39" name="Status chip 2 text"/>
          <p:cNvSpPr txBox="1"/>
          <p:nvPr/>
        </p:nvSpPr>
        <p:spPr>
          <a:xfrm>
            <a:off x="5232745" y="4690872"/>
            <a:ext cx="1410553" cy="457200"/>
          </a:xfrm>
          <a:prstGeom prst="rect">
            <a:avLst/>
          </a:prstGeom>
          <a:noFill/>
          <a:ln/>
        </p:spPr>
        <p:txBody>
          <a:bodyPr wrap="square" lIns="0" tIns="0" rIns="0" bIns="0" rtlCol="0" anchor="ctr"/>
          <a:lstStyle/>
          <a:p>
            <a:pPr marL="0" indent="0" algn="ctr">
              <a:buNone/>
            </a:pPr>
            <a:r>
              <a:rPr lang="en-US" sz="1350" b="1" dirty="0">
                <a:solidFill>
                  <a:schemeClr val="tx1"/>
                </a:solidFill>
              </a:rPr>
              <a:t>Inactive</a:t>
            </a:r>
            <a:endParaRPr lang="en-US" sz="1350" dirty="0"/>
          </a:p>
        </p:txBody>
      </p:sp>
      <p:sp>
        <p:nvSpPr>
          <p:cNvPr id="40" name="Status chip 3"/>
          <p:cNvSpPr/>
          <p:nvPr/>
        </p:nvSpPr>
        <p:spPr>
          <a:xfrm>
            <a:off x="6807891" y="4690872"/>
            <a:ext cx="1410553" cy="457200"/>
          </a:xfrm>
          <a:prstGeom prst="roundRect">
            <a:avLst>
              <a:gd name="adj" fmla="val 50000"/>
            </a:avLst>
          </a:prstGeom>
          <a:solidFill>
            <a:schemeClr val="bg1"/>
          </a:solidFill>
          <a:ln w="12700">
            <a:solidFill>
              <a:schemeClr val="bg1"/>
            </a:solidFill>
            <a:prstDash val="solid"/>
          </a:ln>
        </p:spPr>
      </p:sp>
      <p:sp>
        <p:nvSpPr>
          <p:cNvPr id="41" name="Status chip 3 text"/>
          <p:cNvSpPr txBox="1"/>
          <p:nvPr/>
        </p:nvSpPr>
        <p:spPr>
          <a:xfrm>
            <a:off x="6807891" y="4690872"/>
            <a:ext cx="1410553" cy="457200"/>
          </a:xfrm>
          <a:prstGeom prst="rect">
            <a:avLst/>
          </a:prstGeom>
          <a:noFill/>
          <a:ln/>
        </p:spPr>
        <p:txBody>
          <a:bodyPr wrap="square" lIns="0" tIns="0" rIns="0" bIns="0" rtlCol="0" anchor="ctr"/>
          <a:lstStyle/>
          <a:p>
            <a:pPr marL="0" indent="0" algn="ctr">
              <a:buNone/>
            </a:pPr>
            <a:r>
              <a:rPr lang="en-US" sz="1350" b="1" dirty="0">
                <a:solidFill>
                  <a:schemeClr val="tx1"/>
                </a:solidFill>
              </a:rPr>
              <a:t>Moved away</a:t>
            </a:r>
            <a:endParaRPr lang="en-US" sz="1350" dirty="0"/>
          </a:p>
        </p:txBody>
      </p:sp>
      <p:sp>
        <p:nvSpPr>
          <p:cNvPr id="42" name="Status chip 4"/>
          <p:cNvSpPr/>
          <p:nvPr/>
        </p:nvSpPr>
        <p:spPr>
          <a:xfrm>
            <a:off x="8383036" y="4690872"/>
            <a:ext cx="1410553" cy="457200"/>
          </a:xfrm>
          <a:prstGeom prst="roundRect">
            <a:avLst>
              <a:gd name="adj" fmla="val 50000"/>
            </a:avLst>
          </a:prstGeom>
          <a:solidFill>
            <a:schemeClr val="bg1"/>
          </a:solidFill>
          <a:ln w="12700">
            <a:solidFill>
              <a:schemeClr val="bg1"/>
            </a:solidFill>
            <a:prstDash val="solid"/>
          </a:ln>
        </p:spPr>
      </p:sp>
      <p:sp>
        <p:nvSpPr>
          <p:cNvPr id="43" name="Status chip 4 text"/>
          <p:cNvSpPr txBox="1"/>
          <p:nvPr/>
        </p:nvSpPr>
        <p:spPr>
          <a:xfrm>
            <a:off x="8383036" y="4690872"/>
            <a:ext cx="1410553" cy="457200"/>
          </a:xfrm>
          <a:prstGeom prst="rect">
            <a:avLst/>
          </a:prstGeom>
          <a:noFill/>
          <a:ln/>
        </p:spPr>
        <p:txBody>
          <a:bodyPr wrap="square" lIns="0" tIns="0" rIns="0" bIns="0" rtlCol="0" anchor="ctr"/>
          <a:lstStyle/>
          <a:p>
            <a:pPr marL="0" indent="0" algn="ctr">
              <a:buNone/>
            </a:pPr>
            <a:r>
              <a:rPr lang="en-US" sz="1350" b="1" dirty="0">
                <a:solidFill>
                  <a:schemeClr val="tx1"/>
                </a:solidFill>
              </a:rPr>
              <a:t>Deceased</a:t>
            </a:r>
            <a:endParaRPr lang="en-US" sz="1350" dirty="0"/>
          </a:p>
        </p:txBody>
      </p:sp>
      <p:sp>
        <p:nvSpPr>
          <p:cNvPr id="44" name="Status chip 5"/>
          <p:cNvSpPr/>
          <p:nvPr/>
        </p:nvSpPr>
        <p:spPr>
          <a:xfrm>
            <a:off x="9958182" y="4690872"/>
            <a:ext cx="1410553" cy="457200"/>
          </a:xfrm>
          <a:prstGeom prst="roundRect">
            <a:avLst>
              <a:gd name="adj" fmla="val 50000"/>
            </a:avLst>
          </a:prstGeom>
          <a:solidFill>
            <a:schemeClr val="bg1"/>
          </a:solidFill>
          <a:ln w="12700">
            <a:solidFill>
              <a:schemeClr val="bg1"/>
            </a:solidFill>
            <a:prstDash val="solid"/>
          </a:ln>
        </p:spPr>
      </p:sp>
      <p:sp>
        <p:nvSpPr>
          <p:cNvPr id="45" name="Status chip 5 text"/>
          <p:cNvSpPr txBox="1"/>
          <p:nvPr/>
        </p:nvSpPr>
        <p:spPr>
          <a:xfrm>
            <a:off x="9958182" y="4690872"/>
            <a:ext cx="1410553" cy="457200"/>
          </a:xfrm>
          <a:prstGeom prst="rect">
            <a:avLst/>
          </a:prstGeom>
          <a:noFill/>
          <a:ln/>
        </p:spPr>
        <p:txBody>
          <a:bodyPr wrap="square" lIns="0" tIns="0" rIns="0" bIns="0" rtlCol="0" anchor="ctr"/>
          <a:lstStyle/>
          <a:p>
            <a:pPr marL="0" indent="0" algn="ctr">
              <a:buNone/>
            </a:pPr>
            <a:r>
              <a:rPr lang="en-US" sz="1350" b="1" dirty="0">
                <a:solidFill>
                  <a:schemeClr val="tx1"/>
                </a:solidFill>
              </a:rPr>
              <a:t>Left the Church</a:t>
            </a:r>
            <a:endParaRPr lang="en-US" sz="1350" dirty="0"/>
          </a:p>
        </p:txBody>
      </p:sp>
      <p:sp>
        <p:nvSpPr>
          <p:cNvPr id="46" name="Safeguards note"/>
          <p:cNvSpPr txBox="1"/>
          <p:nvPr/>
        </p:nvSpPr>
        <p:spPr>
          <a:xfrm>
            <a:off x="548640" y="5669280"/>
            <a:ext cx="11094415" cy="502920"/>
          </a:xfrm>
          <a:prstGeom prst="rect">
            <a:avLst/>
          </a:prstGeom>
          <a:noFill/>
          <a:ln/>
        </p:spPr>
        <p:txBody>
          <a:bodyPr wrap="square" lIns="0" tIns="0" rIns="0" bIns="0" rtlCol="0" anchor="t"/>
          <a:lstStyle/>
          <a:p>
            <a:pPr marL="0" indent="0">
              <a:buNone/>
            </a:pPr>
            <a:r>
              <a:rPr lang="en-US" sz="1300" b="1" dirty="0">
                <a:solidFill>
                  <a:schemeClr val="accent4"/>
                </a:solidFill>
              </a:rPr>
              <a:t>Safeguards:  </a:t>
            </a:r>
            <a:r>
              <a:rPr lang="en-US" sz="1300" dirty="0">
                <a:solidFill>
                  <a:schemeClr val="tx2"/>
                </a:solidFill>
              </a:rPr>
              <a:t>nothing changes in the registry until staff save or approve  ·  five wrong codes lock a household’s sign-in for 15 minutes  ·  a lost form gets a new code</a:t>
            </a:r>
            <a:endParaRPr lang="en-US" sz="1300" dirty="0"/>
          </a:p>
        </p:txBody>
      </p:sp>
      <p:sp>
        <p:nvSpPr>
          <p:cNvPr id="47"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3</a:t>
            </a:fld>
            <a:endParaRPr lang="en-US"/>
          </a:p>
        </p:txBody>
      </p:sp>
      <p:sp>
        <p:nvSpPr>
          <p:cNvPr id="51" name="Census 2 dot">
            <a:extLst>
              <a:ext uri="{FF2B5EF4-FFF2-40B4-BE49-F238E27FC236}">
                <a16:creationId xmlns:a16="http://schemas.microsoft.com/office/drawing/2014/main" id="{EE500DA8-429B-461D-9D40-67E1D36CA7CD}"/>
              </a:ext>
            </a:extLst>
          </p:cNvPr>
          <p:cNvSpPr/>
          <p:nvPr/>
        </p:nvSpPr>
        <p:spPr>
          <a:xfrm>
            <a:off x="3267228" y="3120838"/>
            <a:ext cx="420624" cy="420624"/>
          </a:xfrm>
          <a:prstGeom prst="ellipse">
            <a:avLst/>
          </a:prstGeom>
          <a:solidFill>
            <a:schemeClr val="accent1"/>
          </a:solidFill>
          <a:ln w="12700">
            <a:solidFill>
              <a:schemeClr val="accent1"/>
            </a:solidFill>
            <a:prstDash val="solid"/>
          </a:ln>
        </p:spPr>
      </p:sp>
      <p:sp>
        <p:nvSpPr>
          <p:cNvPr id="48" name="Census 2 number">
            <a:extLst>
              <a:ext uri="{FF2B5EF4-FFF2-40B4-BE49-F238E27FC236}">
                <a16:creationId xmlns:a16="http://schemas.microsoft.com/office/drawing/2014/main" id="{0769BBE4-7C80-98F0-37DC-CADDFCF42088}"/>
              </a:ext>
            </a:extLst>
          </p:cNvPr>
          <p:cNvSpPr txBox="1"/>
          <p:nvPr/>
        </p:nvSpPr>
        <p:spPr>
          <a:xfrm>
            <a:off x="3278124" y="312083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2b</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400" b="1" dirty="0">
                <a:solidFill>
                  <a:schemeClr val="tx1"/>
                </a:solidFill>
              </a:rPr>
              <a:t>How a new household registers</a:t>
            </a:r>
            <a:endParaRPr lang="en-US" sz="3400" dirty="0"/>
          </a:p>
        </p:txBody>
      </p:sp>
      <p:sp>
        <p:nvSpPr>
          <p:cNvPr id="3" name="Family lane label"/>
          <p:cNvSpPr txBox="1"/>
          <p:nvPr/>
        </p:nvSpPr>
        <p:spPr>
          <a:xfrm>
            <a:off x="548640" y="1371600"/>
            <a:ext cx="11094415" cy="274320"/>
          </a:xfrm>
          <a:prstGeom prst="rect">
            <a:avLst/>
          </a:prstGeom>
          <a:noFill/>
          <a:ln/>
        </p:spPr>
        <p:txBody>
          <a:bodyPr wrap="square" lIns="0" tIns="0" rIns="0" bIns="0" rtlCol="0" anchor="ctr"/>
          <a:lstStyle/>
          <a:p>
            <a:pPr marL="0" indent="0">
              <a:buNone/>
            </a:pPr>
            <a:r>
              <a:rPr lang="en-US" sz="1200" b="1" kern="0" spc="200" dirty="0">
                <a:solidFill>
                  <a:schemeClr val="accent4"/>
                </a:solidFill>
              </a:rPr>
              <a:t>THE FAMILY  ·  ON THE PARISH WEBSITE, FROM ANY PHONE</a:t>
            </a:r>
            <a:endParaRPr lang="en-US" sz="1200" dirty="0"/>
          </a:p>
        </p:txBody>
      </p:sp>
      <p:sp>
        <p:nvSpPr>
          <p:cNvPr id="4" name="Step 1 card"/>
          <p:cNvSpPr/>
          <p:nvPr/>
        </p:nvSpPr>
        <p:spPr>
          <a:xfrm>
            <a:off x="548640" y="1737360"/>
            <a:ext cx="1962851" cy="2011680"/>
          </a:xfrm>
          <a:prstGeom prst="roundRect">
            <a:avLst>
              <a:gd name="adj" fmla="val 5590"/>
            </a:avLst>
          </a:prstGeom>
          <a:solidFill>
            <a:schemeClr val="bg2"/>
          </a:solidFill>
          <a:ln w="12700">
            <a:solidFill>
              <a:schemeClr val="bg2"/>
            </a:solidFill>
            <a:prstDash val="solid"/>
          </a:ln>
        </p:spPr>
      </p:sp>
      <p:sp>
        <p:nvSpPr>
          <p:cNvPr id="5" name="Step 1 dot"/>
          <p:cNvSpPr/>
          <p:nvPr/>
        </p:nvSpPr>
        <p:spPr>
          <a:xfrm>
            <a:off x="731520" y="1920240"/>
            <a:ext cx="420624" cy="420624"/>
          </a:xfrm>
          <a:prstGeom prst="ellipse">
            <a:avLst/>
          </a:prstGeom>
          <a:solidFill>
            <a:schemeClr val="accent1"/>
          </a:solidFill>
          <a:ln w="12700">
            <a:solidFill>
              <a:schemeClr val="accent1"/>
            </a:solidFill>
            <a:prstDash val="solid"/>
          </a:ln>
        </p:spPr>
      </p:sp>
      <p:sp>
        <p:nvSpPr>
          <p:cNvPr id="6" name="Step 1 number"/>
          <p:cNvSpPr txBox="1"/>
          <p:nvPr/>
        </p:nvSpPr>
        <p:spPr>
          <a:xfrm>
            <a:off x="731520" y="1920240"/>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Step 1 name"/>
          <p:cNvSpPr txBox="1"/>
          <p:nvPr/>
        </p:nvSpPr>
        <p:spPr>
          <a:xfrm>
            <a:off x="731520" y="2432304"/>
            <a:ext cx="1597091" cy="310896"/>
          </a:xfrm>
          <a:prstGeom prst="rect">
            <a:avLst/>
          </a:prstGeom>
          <a:noFill/>
          <a:ln/>
        </p:spPr>
        <p:txBody>
          <a:bodyPr wrap="square" lIns="0" tIns="0" rIns="0" bIns="0" rtlCol="0" anchor="ctr"/>
          <a:lstStyle/>
          <a:p>
            <a:pPr marL="0" indent="0">
              <a:buNone/>
            </a:pPr>
            <a:r>
              <a:rPr lang="en-US" sz="1550" b="1" dirty="0">
                <a:solidFill>
                  <a:schemeClr val="tx1"/>
                </a:solidFill>
              </a:rPr>
              <a:t>Pamilya ug Ulo</a:t>
            </a:r>
            <a:endParaRPr lang="en-US" sz="1550" dirty="0"/>
          </a:p>
        </p:txBody>
      </p:sp>
      <p:sp>
        <p:nvSpPr>
          <p:cNvPr id="8" name="Step 1 text"/>
          <p:cNvSpPr txBox="1"/>
          <p:nvPr/>
        </p:nvSpPr>
        <p:spPr>
          <a:xfrm>
            <a:off x="731520" y="2743200"/>
            <a:ext cx="1597091" cy="914400"/>
          </a:xfrm>
          <a:prstGeom prst="rect">
            <a:avLst/>
          </a:prstGeom>
          <a:noFill/>
          <a:ln/>
        </p:spPr>
        <p:txBody>
          <a:bodyPr wrap="square" lIns="0" tIns="0" rIns="0" bIns="0" rtlCol="0" anchor="t"/>
          <a:lstStyle/>
          <a:p>
            <a:pPr marL="0" indent="0">
              <a:buNone/>
            </a:pPr>
            <a:r>
              <a:rPr lang="en-US" sz="1200" dirty="0">
                <a:solidFill>
                  <a:schemeClr val="tx2"/>
                </a:solidFill>
              </a:rPr>
              <a:t>Head of the family, address, contact number and GKK. A family name already on file is flagged.</a:t>
            </a:r>
            <a:endParaRPr lang="en-US" sz="1200" dirty="0"/>
          </a:p>
        </p:txBody>
      </p:sp>
      <p:sp>
        <p:nvSpPr>
          <p:cNvPr id="9" name="Step 1 arrow"/>
          <p:cNvSpPr/>
          <p:nvPr/>
        </p:nvSpPr>
        <p:spPr>
          <a:xfrm>
            <a:off x="2584643" y="2606040"/>
            <a:ext cx="173736" cy="274320"/>
          </a:xfrm>
          <a:prstGeom prst="chevron">
            <a:avLst/>
          </a:prstGeom>
          <a:solidFill>
            <a:schemeClr val="accent2"/>
          </a:solidFill>
          <a:ln w="12700">
            <a:solidFill>
              <a:schemeClr val="accent2"/>
            </a:solidFill>
            <a:prstDash val="solid"/>
          </a:ln>
        </p:spPr>
      </p:sp>
      <p:sp>
        <p:nvSpPr>
          <p:cNvPr id="10" name="Step 2 card"/>
          <p:cNvSpPr/>
          <p:nvPr/>
        </p:nvSpPr>
        <p:spPr>
          <a:xfrm>
            <a:off x="2831531" y="1737360"/>
            <a:ext cx="1962851" cy="2011680"/>
          </a:xfrm>
          <a:prstGeom prst="roundRect">
            <a:avLst>
              <a:gd name="adj" fmla="val 5590"/>
            </a:avLst>
          </a:prstGeom>
          <a:solidFill>
            <a:schemeClr val="bg2"/>
          </a:solidFill>
          <a:ln w="12700">
            <a:solidFill>
              <a:schemeClr val="bg2"/>
            </a:solidFill>
            <a:prstDash val="solid"/>
          </a:ln>
        </p:spPr>
      </p:sp>
      <p:sp>
        <p:nvSpPr>
          <p:cNvPr id="11" name="Step 2 dot"/>
          <p:cNvSpPr/>
          <p:nvPr/>
        </p:nvSpPr>
        <p:spPr>
          <a:xfrm>
            <a:off x="3014411" y="1920240"/>
            <a:ext cx="420624" cy="420624"/>
          </a:xfrm>
          <a:prstGeom prst="ellipse">
            <a:avLst/>
          </a:prstGeom>
          <a:solidFill>
            <a:schemeClr val="accent1"/>
          </a:solidFill>
          <a:ln w="12700">
            <a:solidFill>
              <a:schemeClr val="accent1"/>
            </a:solidFill>
            <a:prstDash val="solid"/>
          </a:ln>
        </p:spPr>
      </p:sp>
      <p:sp>
        <p:nvSpPr>
          <p:cNvPr id="12" name="Step 2 number"/>
          <p:cNvSpPr txBox="1"/>
          <p:nvPr/>
        </p:nvSpPr>
        <p:spPr>
          <a:xfrm>
            <a:off x="3014411" y="1920240"/>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Step 2 name"/>
          <p:cNvSpPr txBox="1"/>
          <p:nvPr/>
        </p:nvSpPr>
        <p:spPr>
          <a:xfrm>
            <a:off x="3014411" y="2432304"/>
            <a:ext cx="1597091" cy="310896"/>
          </a:xfrm>
          <a:prstGeom prst="rect">
            <a:avLst/>
          </a:prstGeom>
          <a:noFill/>
          <a:ln/>
        </p:spPr>
        <p:txBody>
          <a:bodyPr wrap="square" lIns="0" tIns="0" rIns="0" bIns="0" rtlCol="0" anchor="ctr"/>
          <a:lstStyle/>
          <a:p>
            <a:pPr marL="0" indent="0">
              <a:buNone/>
            </a:pPr>
            <a:r>
              <a:rPr lang="en-US" sz="1550" b="1" dirty="0">
                <a:solidFill>
                  <a:schemeClr val="tx1"/>
                </a:solidFill>
              </a:rPr>
              <a:t>Mga Miyembro</a:t>
            </a:r>
            <a:endParaRPr lang="en-US" sz="1550" dirty="0"/>
          </a:p>
        </p:txBody>
      </p:sp>
      <p:sp>
        <p:nvSpPr>
          <p:cNvPr id="14" name="Step 2 text"/>
          <p:cNvSpPr txBox="1"/>
          <p:nvPr/>
        </p:nvSpPr>
        <p:spPr>
          <a:xfrm>
            <a:off x="3014411" y="2743200"/>
            <a:ext cx="1597091" cy="914400"/>
          </a:xfrm>
          <a:prstGeom prst="rect">
            <a:avLst/>
          </a:prstGeom>
          <a:noFill/>
          <a:ln/>
        </p:spPr>
        <p:txBody>
          <a:bodyPr wrap="square" lIns="0" tIns="0" rIns="0" bIns="0" rtlCol="0" anchor="t"/>
          <a:lstStyle/>
          <a:p>
            <a:pPr marL="0" indent="0">
              <a:buNone/>
            </a:pPr>
            <a:r>
              <a:rPr lang="en-US" sz="1200" dirty="0">
                <a:solidFill>
                  <a:schemeClr val="tx2"/>
                </a:solidFill>
              </a:rPr>
              <a:t>Each member: name, relationship to the head, birthday, civil status.</a:t>
            </a:r>
            <a:endParaRPr lang="en-US" sz="1200" dirty="0"/>
          </a:p>
        </p:txBody>
      </p:sp>
      <p:sp>
        <p:nvSpPr>
          <p:cNvPr id="15" name="Step 2 arrow"/>
          <p:cNvSpPr/>
          <p:nvPr/>
        </p:nvSpPr>
        <p:spPr>
          <a:xfrm>
            <a:off x="4867534" y="2606040"/>
            <a:ext cx="173736" cy="274320"/>
          </a:xfrm>
          <a:prstGeom prst="chevron">
            <a:avLst/>
          </a:prstGeom>
          <a:solidFill>
            <a:schemeClr val="accent2"/>
          </a:solidFill>
          <a:ln w="12700">
            <a:solidFill>
              <a:schemeClr val="accent2"/>
            </a:solidFill>
            <a:prstDash val="solid"/>
          </a:ln>
        </p:spPr>
      </p:sp>
      <p:sp>
        <p:nvSpPr>
          <p:cNvPr id="16" name="Step 3 card"/>
          <p:cNvSpPr/>
          <p:nvPr/>
        </p:nvSpPr>
        <p:spPr>
          <a:xfrm>
            <a:off x="5114422" y="1737360"/>
            <a:ext cx="1962851" cy="2011680"/>
          </a:xfrm>
          <a:prstGeom prst="roundRect">
            <a:avLst>
              <a:gd name="adj" fmla="val 5590"/>
            </a:avLst>
          </a:prstGeom>
          <a:solidFill>
            <a:schemeClr val="bg2"/>
          </a:solidFill>
          <a:ln w="12700">
            <a:solidFill>
              <a:schemeClr val="bg2"/>
            </a:solidFill>
            <a:prstDash val="solid"/>
          </a:ln>
        </p:spPr>
      </p:sp>
      <p:sp>
        <p:nvSpPr>
          <p:cNvPr id="17" name="Step 3 dot"/>
          <p:cNvSpPr/>
          <p:nvPr/>
        </p:nvSpPr>
        <p:spPr>
          <a:xfrm>
            <a:off x="5297302" y="1920240"/>
            <a:ext cx="420624" cy="420624"/>
          </a:xfrm>
          <a:prstGeom prst="ellipse">
            <a:avLst/>
          </a:prstGeom>
          <a:solidFill>
            <a:schemeClr val="accent1"/>
          </a:solidFill>
          <a:ln w="12700">
            <a:solidFill>
              <a:schemeClr val="accent1"/>
            </a:solidFill>
            <a:prstDash val="solid"/>
          </a:ln>
        </p:spPr>
      </p:sp>
      <p:sp>
        <p:nvSpPr>
          <p:cNvPr id="18" name="Step 3 number"/>
          <p:cNvSpPr txBox="1"/>
          <p:nvPr/>
        </p:nvSpPr>
        <p:spPr>
          <a:xfrm>
            <a:off x="5297302" y="1920240"/>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9" name="Step 3 name"/>
          <p:cNvSpPr txBox="1"/>
          <p:nvPr/>
        </p:nvSpPr>
        <p:spPr>
          <a:xfrm>
            <a:off x="5297302" y="2432304"/>
            <a:ext cx="1597091" cy="310896"/>
          </a:xfrm>
          <a:prstGeom prst="rect">
            <a:avLst/>
          </a:prstGeom>
          <a:noFill/>
          <a:ln/>
        </p:spPr>
        <p:txBody>
          <a:bodyPr wrap="square" lIns="0" tIns="0" rIns="0" bIns="0" rtlCol="0" anchor="ctr"/>
          <a:lstStyle/>
          <a:p>
            <a:pPr marL="0" indent="0">
              <a:buNone/>
            </a:pPr>
            <a:r>
              <a:rPr lang="en-US" sz="1550" b="1" dirty="0">
                <a:solidFill>
                  <a:schemeClr val="tx1"/>
                </a:solidFill>
              </a:rPr>
              <a:t>Mga Sakramento</a:t>
            </a:r>
            <a:endParaRPr lang="en-US" sz="1550" dirty="0"/>
          </a:p>
        </p:txBody>
      </p:sp>
      <p:sp>
        <p:nvSpPr>
          <p:cNvPr id="20" name="Step 3 text"/>
          <p:cNvSpPr txBox="1"/>
          <p:nvPr/>
        </p:nvSpPr>
        <p:spPr>
          <a:xfrm>
            <a:off x="5297302" y="2743200"/>
            <a:ext cx="1597091" cy="914400"/>
          </a:xfrm>
          <a:prstGeom prst="rect">
            <a:avLst/>
          </a:prstGeom>
          <a:noFill/>
          <a:ln/>
        </p:spPr>
        <p:txBody>
          <a:bodyPr wrap="square" lIns="0" tIns="0" rIns="0" bIns="0" rtlCol="0" anchor="t"/>
          <a:lstStyle/>
          <a:p>
            <a:pPr marL="0" indent="0">
              <a:buNone/>
            </a:pPr>
            <a:r>
              <a:rPr lang="en-US" sz="1200" dirty="0">
                <a:solidFill>
                  <a:schemeClr val="tx2"/>
                </a:solidFill>
              </a:rPr>
              <a:t>Baptism, First Communion, Confirmation and Marriage: date and church.</a:t>
            </a:r>
            <a:endParaRPr lang="en-US" sz="1200" dirty="0"/>
          </a:p>
        </p:txBody>
      </p:sp>
      <p:sp>
        <p:nvSpPr>
          <p:cNvPr id="21" name="Step 3 arrow"/>
          <p:cNvSpPr/>
          <p:nvPr/>
        </p:nvSpPr>
        <p:spPr>
          <a:xfrm>
            <a:off x="7150425" y="2606040"/>
            <a:ext cx="173736" cy="274320"/>
          </a:xfrm>
          <a:prstGeom prst="chevron">
            <a:avLst/>
          </a:prstGeom>
          <a:solidFill>
            <a:schemeClr val="accent2"/>
          </a:solidFill>
          <a:ln w="12700">
            <a:solidFill>
              <a:schemeClr val="accent2"/>
            </a:solidFill>
            <a:prstDash val="solid"/>
          </a:ln>
        </p:spPr>
      </p:sp>
      <p:sp>
        <p:nvSpPr>
          <p:cNvPr id="22" name="Step 4 card"/>
          <p:cNvSpPr/>
          <p:nvPr/>
        </p:nvSpPr>
        <p:spPr>
          <a:xfrm>
            <a:off x="7397313" y="1737360"/>
            <a:ext cx="1962851" cy="2011680"/>
          </a:xfrm>
          <a:prstGeom prst="roundRect">
            <a:avLst>
              <a:gd name="adj" fmla="val 5590"/>
            </a:avLst>
          </a:prstGeom>
          <a:solidFill>
            <a:schemeClr val="bg2"/>
          </a:solidFill>
          <a:ln w="12700">
            <a:solidFill>
              <a:schemeClr val="bg2"/>
            </a:solidFill>
            <a:prstDash val="solid"/>
          </a:ln>
        </p:spPr>
      </p:sp>
      <p:sp>
        <p:nvSpPr>
          <p:cNvPr id="23" name="Step 4 dot"/>
          <p:cNvSpPr/>
          <p:nvPr/>
        </p:nvSpPr>
        <p:spPr>
          <a:xfrm>
            <a:off x="7580193" y="1920240"/>
            <a:ext cx="420624" cy="420624"/>
          </a:xfrm>
          <a:prstGeom prst="ellipse">
            <a:avLst/>
          </a:prstGeom>
          <a:solidFill>
            <a:schemeClr val="accent1"/>
          </a:solidFill>
          <a:ln w="12700">
            <a:solidFill>
              <a:schemeClr val="accent1"/>
            </a:solidFill>
            <a:prstDash val="solid"/>
          </a:ln>
        </p:spPr>
      </p:sp>
      <p:sp>
        <p:nvSpPr>
          <p:cNvPr id="24" name="Step 4 number"/>
          <p:cNvSpPr txBox="1"/>
          <p:nvPr/>
        </p:nvSpPr>
        <p:spPr>
          <a:xfrm>
            <a:off x="7580193" y="1920240"/>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5" name="Step 4 name"/>
          <p:cNvSpPr txBox="1"/>
          <p:nvPr/>
        </p:nvSpPr>
        <p:spPr>
          <a:xfrm>
            <a:off x="7580193" y="2432304"/>
            <a:ext cx="1597091" cy="310896"/>
          </a:xfrm>
          <a:prstGeom prst="rect">
            <a:avLst/>
          </a:prstGeom>
          <a:noFill/>
          <a:ln/>
        </p:spPr>
        <p:txBody>
          <a:bodyPr wrap="square" lIns="0" tIns="0" rIns="0" bIns="0" rtlCol="0" anchor="ctr"/>
          <a:lstStyle/>
          <a:p>
            <a:pPr marL="0" indent="0">
              <a:buNone/>
            </a:pPr>
            <a:r>
              <a:rPr lang="en-US" sz="1550" b="1" dirty="0">
                <a:solidFill>
                  <a:schemeClr val="tx1"/>
                </a:solidFill>
              </a:rPr>
              <a:t>Pag-apil</a:t>
            </a:r>
            <a:endParaRPr lang="en-US" sz="1550" dirty="0"/>
          </a:p>
        </p:txBody>
      </p:sp>
      <p:sp>
        <p:nvSpPr>
          <p:cNvPr id="26" name="Step 4 text"/>
          <p:cNvSpPr txBox="1"/>
          <p:nvPr/>
        </p:nvSpPr>
        <p:spPr>
          <a:xfrm>
            <a:off x="7580193" y="2743200"/>
            <a:ext cx="1597091" cy="914400"/>
          </a:xfrm>
          <a:prstGeom prst="rect">
            <a:avLst/>
          </a:prstGeom>
          <a:noFill/>
          <a:ln/>
        </p:spPr>
        <p:txBody>
          <a:bodyPr wrap="square" lIns="0" tIns="0" rIns="0" bIns="0" rtlCol="0" anchor="t"/>
          <a:lstStyle/>
          <a:p>
            <a:pPr marL="0" indent="0">
              <a:buNone/>
            </a:pPr>
            <a:r>
              <a:rPr lang="en-US" sz="1200" dirty="0">
                <a:solidFill>
                  <a:schemeClr val="tx2"/>
                </a:solidFill>
              </a:rPr>
              <a:t>Organizations, roles in the GKK and parish, volunteering, and data privacy consent.</a:t>
            </a:r>
            <a:endParaRPr lang="en-US" sz="1200" dirty="0"/>
          </a:p>
        </p:txBody>
      </p:sp>
      <p:sp>
        <p:nvSpPr>
          <p:cNvPr id="27" name="Step 4 arrow"/>
          <p:cNvSpPr/>
          <p:nvPr/>
        </p:nvSpPr>
        <p:spPr>
          <a:xfrm>
            <a:off x="9433316" y="2606040"/>
            <a:ext cx="173736" cy="274320"/>
          </a:xfrm>
          <a:prstGeom prst="chevron">
            <a:avLst/>
          </a:prstGeom>
          <a:solidFill>
            <a:schemeClr val="accent2"/>
          </a:solidFill>
          <a:ln w="12700">
            <a:solidFill>
              <a:schemeClr val="accent2"/>
            </a:solidFill>
            <a:prstDash val="solid"/>
          </a:ln>
        </p:spPr>
      </p:sp>
      <p:sp>
        <p:nvSpPr>
          <p:cNvPr id="28" name="Step 5 card"/>
          <p:cNvSpPr/>
          <p:nvPr/>
        </p:nvSpPr>
        <p:spPr>
          <a:xfrm>
            <a:off x="9680204" y="1737360"/>
            <a:ext cx="1962851" cy="2011680"/>
          </a:xfrm>
          <a:prstGeom prst="roundRect">
            <a:avLst>
              <a:gd name="adj" fmla="val 5590"/>
            </a:avLst>
          </a:prstGeom>
          <a:solidFill>
            <a:schemeClr val="bg2"/>
          </a:solidFill>
          <a:ln w="12700">
            <a:solidFill>
              <a:schemeClr val="bg2"/>
            </a:solidFill>
            <a:prstDash val="solid"/>
          </a:ln>
        </p:spPr>
      </p:sp>
      <p:sp>
        <p:nvSpPr>
          <p:cNvPr id="29" name="Step 5 dot"/>
          <p:cNvSpPr/>
          <p:nvPr/>
        </p:nvSpPr>
        <p:spPr>
          <a:xfrm>
            <a:off x="9863084" y="1920240"/>
            <a:ext cx="420624" cy="420624"/>
          </a:xfrm>
          <a:prstGeom prst="ellipse">
            <a:avLst/>
          </a:prstGeom>
          <a:solidFill>
            <a:schemeClr val="accent1"/>
          </a:solidFill>
          <a:ln w="12700">
            <a:solidFill>
              <a:schemeClr val="accent1"/>
            </a:solidFill>
            <a:prstDash val="solid"/>
          </a:ln>
        </p:spPr>
      </p:sp>
      <p:sp>
        <p:nvSpPr>
          <p:cNvPr id="30" name="Step 5 number"/>
          <p:cNvSpPr txBox="1"/>
          <p:nvPr/>
        </p:nvSpPr>
        <p:spPr>
          <a:xfrm>
            <a:off x="9863084" y="1920240"/>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31" name="Step 5 name"/>
          <p:cNvSpPr txBox="1"/>
          <p:nvPr/>
        </p:nvSpPr>
        <p:spPr>
          <a:xfrm>
            <a:off x="9863084" y="2432304"/>
            <a:ext cx="1597091" cy="310896"/>
          </a:xfrm>
          <a:prstGeom prst="rect">
            <a:avLst/>
          </a:prstGeom>
          <a:noFill/>
          <a:ln/>
        </p:spPr>
        <p:txBody>
          <a:bodyPr wrap="square" lIns="0" tIns="0" rIns="0" bIns="0" rtlCol="0" anchor="ctr"/>
          <a:lstStyle/>
          <a:p>
            <a:pPr marL="0" indent="0">
              <a:buNone/>
            </a:pPr>
            <a:r>
              <a:rPr lang="en-US" sz="1550" b="1" dirty="0">
                <a:solidFill>
                  <a:schemeClr val="tx1"/>
                </a:solidFill>
              </a:rPr>
              <a:t>Pagsusi</a:t>
            </a:r>
            <a:endParaRPr lang="en-US" sz="1550" dirty="0"/>
          </a:p>
        </p:txBody>
      </p:sp>
      <p:sp>
        <p:nvSpPr>
          <p:cNvPr id="32" name="Step 5 text"/>
          <p:cNvSpPr txBox="1"/>
          <p:nvPr/>
        </p:nvSpPr>
        <p:spPr>
          <a:xfrm>
            <a:off x="9863084" y="2743200"/>
            <a:ext cx="1597091" cy="914400"/>
          </a:xfrm>
          <a:prstGeom prst="rect">
            <a:avLst/>
          </a:prstGeom>
          <a:noFill/>
          <a:ln/>
        </p:spPr>
        <p:txBody>
          <a:bodyPr wrap="square" lIns="0" tIns="0" rIns="0" bIns="0" rtlCol="0" anchor="t"/>
          <a:lstStyle/>
          <a:p>
            <a:pPr marL="0" indent="0">
              <a:buNone/>
            </a:pPr>
            <a:r>
              <a:rPr lang="en-US" sz="1200" dirty="0">
                <a:solidFill>
                  <a:schemeClr val="tx2"/>
                </a:solidFill>
              </a:rPr>
              <a:t>The family reviews everything, corrects any step, then submits.</a:t>
            </a:r>
            <a:endParaRPr lang="en-US" sz="1200" dirty="0"/>
          </a:p>
        </p:txBody>
      </p:sp>
      <p:sp>
        <p:nvSpPr>
          <p:cNvPr id="33" name="After lane label"/>
          <p:cNvSpPr txBox="1"/>
          <p:nvPr/>
        </p:nvSpPr>
        <p:spPr>
          <a:xfrm>
            <a:off x="548640" y="3977640"/>
            <a:ext cx="11094415" cy="274320"/>
          </a:xfrm>
          <a:prstGeom prst="rect">
            <a:avLst/>
          </a:prstGeom>
          <a:noFill/>
          <a:ln/>
        </p:spPr>
        <p:txBody>
          <a:bodyPr wrap="square" lIns="0" tIns="0" rIns="0" bIns="0" rtlCol="0" anchor="ctr"/>
          <a:lstStyle/>
          <a:p>
            <a:pPr marL="0" indent="0">
              <a:buNone/>
            </a:pPr>
            <a:r>
              <a:rPr lang="en-US" sz="1200" b="1" kern="0" spc="200" dirty="0">
                <a:solidFill>
                  <a:schemeClr val="accent4"/>
                </a:solidFill>
              </a:rPr>
              <a:t>AFTER SUBMITTING</a:t>
            </a:r>
            <a:endParaRPr lang="en-US" sz="1200" dirty="0"/>
          </a:p>
        </p:txBody>
      </p:sp>
      <p:sp>
        <p:nvSpPr>
          <p:cNvPr id="34" name="After 1 card"/>
          <p:cNvSpPr/>
          <p:nvPr/>
        </p:nvSpPr>
        <p:spPr>
          <a:xfrm>
            <a:off x="548640" y="4343400"/>
            <a:ext cx="2533574" cy="1325880"/>
          </a:xfrm>
          <a:prstGeom prst="roundRect">
            <a:avLst>
              <a:gd name="adj" fmla="val 8276"/>
            </a:avLst>
          </a:prstGeom>
          <a:solidFill>
            <a:schemeClr val="bg2"/>
          </a:solidFill>
          <a:ln w="12700">
            <a:solidFill>
              <a:schemeClr val="bg2"/>
            </a:solidFill>
            <a:prstDash val="solid"/>
          </a:ln>
        </p:spPr>
      </p:sp>
      <p:sp>
        <p:nvSpPr>
          <p:cNvPr id="35" name="After 1 icon circle"/>
          <p:cNvSpPr/>
          <p:nvPr/>
        </p:nvSpPr>
        <p:spPr>
          <a:xfrm>
            <a:off x="731520" y="4526280"/>
            <a:ext cx="420624" cy="420624"/>
          </a:xfrm>
          <a:prstGeom prst="ellipse">
            <a:avLst/>
          </a:prstGeom>
          <a:solidFill>
            <a:schemeClr val="accent2"/>
          </a:solidFill>
          <a:ln w="12700">
            <a:solidFill>
              <a:schemeClr val="accent2"/>
            </a:solidFill>
            <a:prstDash val="solid"/>
          </a:ln>
        </p:spPr>
      </p:sp>
      <p:pic>
        <p:nvPicPr>
          <p:cNvPr id="36" name="After 1 icon" descr="preencoded.png"/>
          <p:cNvPicPr>
            <a:picLocks noChangeAspect="1"/>
          </p:cNvPicPr>
          <p:nvPr/>
        </p:nvPicPr>
        <p:blipFill>
          <a:blip r:embed="rId3"/>
          <a:stretch>
            <a:fillRect/>
          </a:stretch>
        </p:blipFill>
        <p:spPr>
          <a:xfrm>
            <a:off x="841248" y="4636008"/>
            <a:ext cx="201168" cy="201168"/>
          </a:xfrm>
          <a:prstGeom prst="rect">
            <a:avLst/>
          </a:prstGeom>
        </p:spPr>
      </p:pic>
      <p:sp>
        <p:nvSpPr>
          <p:cNvPr id="37" name="After 1 heading"/>
          <p:cNvSpPr txBox="1"/>
          <p:nvPr/>
        </p:nvSpPr>
        <p:spPr>
          <a:xfrm>
            <a:off x="1280160" y="4526280"/>
            <a:ext cx="1619174" cy="420624"/>
          </a:xfrm>
          <a:prstGeom prst="rect">
            <a:avLst/>
          </a:prstGeom>
          <a:noFill/>
          <a:ln/>
        </p:spPr>
        <p:txBody>
          <a:bodyPr wrap="square" lIns="0" tIns="0" rIns="0" bIns="0" rtlCol="0" anchor="ctr"/>
          <a:lstStyle/>
          <a:p>
            <a:pPr marL="0" indent="0">
              <a:buNone/>
            </a:pPr>
            <a:r>
              <a:rPr lang="en-US" sz="1550" b="1" dirty="0">
                <a:solidFill>
                  <a:schemeClr val="tx1"/>
                </a:solidFill>
              </a:rPr>
              <a:t>Reference number</a:t>
            </a:r>
            <a:endParaRPr lang="en-US" sz="1550" dirty="0"/>
          </a:p>
        </p:txBody>
      </p:sp>
      <p:sp>
        <p:nvSpPr>
          <p:cNvPr id="38" name="After 1 text"/>
          <p:cNvSpPr txBox="1"/>
          <p:nvPr/>
        </p:nvSpPr>
        <p:spPr>
          <a:xfrm>
            <a:off x="731520" y="5056632"/>
            <a:ext cx="2167814" cy="566928"/>
          </a:xfrm>
          <a:prstGeom prst="rect">
            <a:avLst/>
          </a:prstGeom>
          <a:noFill/>
          <a:ln/>
        </p:spPr>
        <p:txBody>
          <a:bodyPr wrap="square" lIns="0" tIns="0" rIns="0" bIns="0" rtlCol="0" anchor="t"/>
          <a:lstStyle/>
          <a:p>
            <a:pPr marL="0" indent="0">
              <a:buNone/>
            </a:pPr>
            <a:r>
              <a:rPr lang="en-US" sz="1200" dirty="0">
                <a:solidFill>
                  <a:schemeClr val="tx2"/>
                </a:solidFill>
              </a:rPr>
              <a:t>Shown at once (OLG-2026-…), with a confirmation slip the family can print.</a:t>
            </a:r>
            <a:endParaRPr lang="en-US" sz="1200" dirty="0"/>
          </a:p>
        </p:txBody>
      </p:sp>
      <p:sp>
        <p:nvSpPr>
          <p:cNvPr id="39" name="After 1 arrow"/>
          <p:cNvSpPr/>
          <p:nvPr/>
        </p:nvSpPr>
        <p:spPr>
          <a:xfrm>
            <a:off x="3155366" y="4869180"/>
            <a:ext cx="173736" cy="274320"/>
          </a:xfrm>
          <a:prstGeom prst="chevron">
            <a:avLst/>
          </a:prstGeom>
          <a:solidFill>
            <a:schemeClr val="accent2"/>
          </a:solidFill>
          <a:ln w="12700">
            <a:solidFill>
              <a:schemeClr val="accent2"/>
            </a:solidFill>
            <a:prstDash val="solid"/>
          </a:ln>
        </p:spPr>
      </p:sp>
      <p:sp>
        <p:nvSpPr>
          <p:cNvPr id="40" name="After 2 card"/>
          <p:cNvSpPr/>
          <p:nvPr/>
        </p:nvSpPr>
        <p:spPr>
          <a:xfrm>
            <a:off x="3402254" y="4343400"/>
            <a:ext cx="2533574" cy="1325880"/>
          </a:xfrm>
          <a:prstGeom prst="roundRect">
            <a:avLst>
              <a:gd name="adj" fmla="val 8276"/>
            </a:avLst>
          </a:prstGeom>
          <a:solidFill>
            <a:schemeClr val="bg2"/>
          </a:solidFill>
          <a:ln w="12700">
            <a:solidFill>
              <a:schemeClr val="bg2"/>
            </a:solidFill>
            <a:prstDash val="solid"/>
          </a:ln>
        </p:spPr>
      </p:sp>
      <p:sp>
        <p:nvSpPr>
          <p:cNvPr id="41" name="After 2 icon circle"/>
          <p:cNvSpPr/>
          <p:nvPr/>
        </p:nvSpPr>
        <p:spPr>
          <a:xfrm>
            <a:off x="3585134" y="4526280"/>
            <a:ext cx="420624" cy="420624"/>
          </a:xfrm>
          <a:prstGeom prst="ellipse">
            <a:avLst/>
          </a:prstGeom>
          <a:solidFill>
            <a:schemeClr val="accent1"/>
          </a:solidFill>
          <a:ln w="12700">
            <a:solidFill>
              <a:schemeClr val="accent1"/>
            </a:solidFill>
            <a:prstDash val="solid"/>
          </a:ln>
        </p:spPr>
      </p:sp>
      <p:pic>
        <p:nvPicPr>
          <p:cNvPr id="42" name="After 2 icon" descr="preencoded.png"/>
          <p:cNvPicPr>
            <a:picLocks noChangeAspect="1"/>
          </p:cNvPicPr>
          <p:nvPr/>
        </p:nvPicPr>
        <p:blipFill>
          <a:blip r:embed="rId4"/>
          <a:stretch>
            <a:fillRect/>
          </a:stretch>
        </p:blipFill>
        <p:spPr>
          <a:xfrm>
            <a:off x="3694862" y="4636008"/>
            <a:ext cx="201168" cy="201168"/>
          </a:xfrm>
          <a:prstGeom prst="rect">
            <a:avLst/>
          </a:prstGeom>
        </p:spPr>
      </p:pic>
      <p:sp>
        <p:nvSpPr>
          <p:cNvPr id="43" name="After 2 heading"/>
          <p:cNvSpPr txBox="1"/>
          <p:nvPr/>
        </p:nvSpPr>
        <p:spPr>
          <a:xfrm>
            <a:off x="4133774" y="4526280"/>
            <a:ext cx="1619174" cy="420624"/>
          </a:xfrm>
          <a:prstGeom prst="rect">
            <a:avLst/>
          </a:prstGeom>
          <a:noFill/>
          <a:ln/>
        </p:spPr>
        <p:txBody>
          <a:bodyPr wrap="square" lIns="0" tIns="0" rIns="0" bIns="0" rtlCol="0" anchor="ctr"/>
          <a:lstStyle/>
          <a:p>
            <a:pPr marL="0" indent="0">
              <a:buNone/>
            </a:pPr>
            <a:r>
              <a:rPr lang="en-US" sz="1550" b="1" dirty="0">
                <a:solidFill>
                  <a:schemeClr val="tx1"/>
                </a:solidFill>
              </a:rPr>
              <a:t>Office queue</a:t>
            </a:r>
            <a:endParaRPr lang="en-US" sz="1550" dirty="0"/>
          </a:p>
        </p:txBody>
      </p:sp>
      <p:sp>
        <p:nvSpPr>
          <p:cNvPr id="44" name="After 2 text"/>
          <p:cNvSpPr txBox="1"/>
          <p:nvPr/>
        </p:nvSpPr>
        <p:spPr>
          <a:xfrm>
            <a:off x="3585134" y="5056632"/>
            <a:ext cx="2167814" cy="566928"/>
          </a:xfrm>
          <a:prstGeom prst="rect">
            <a:avLst/>
          </a:prstGeom>
          <a:noFill/>
          <a:ln/>
        </p:spPr>
        <p:txBody>
          <a:bodyPr wrap="square" lIns="0" tIns="0" rIns="0" bIns="0" rtlCol="0" anchor="t"/>
          <a:lstStyle/>
          <a:p>
            <a:pPr marL="0" indent="0">
              <a:buNone/>
            </a:pPr>
            <a:r>
              <a:rPr lang="en-US" sz="1200" dirty="0">
                <a:solidFill>
                  <a:schemeClr val="tx2"/>
                </a:solidFill>
              </a:rPr>
              <a:t>The household appears on the staff dashboard as awaiting verification.</a:t>
            </a:r>
            <a:endParaRPr lang="en-US" sz="1200" dirty="0"/>
          </a:p>
        </p:txBody>
      </p:sp>
      <p:sp>
        <p:nvSpPr>
          <p:cNvPr id="45" name="After 2 arrow"/>
          <p:cNvSpPr/>
          <p:nvPr/>
        </p:nvSpPr>
        <p:spPr>
          <a:xfrm>
            <a:off x="6008980" y="4869180"/>
            <a:ext cx="173736" cy="274320"/>
          </a:xfrm>
          <a:prstGeom prst="chevron">
            <a:avLst/>
          </a:prstGeom>
          <a:solidFill>
            <a:schemeClr val="accent2"/>
          </a:solidFill>
          <a:ln w="12700">
            <a:solidFill>
              <a:schemeClr val="accent2"/>
            </a:solidFill>
            <a:prstDash val="solid"/>
          </a:ln>
        </p:spPr>
      </p:sp>
      <p:sp>
        <p:nvSpPr>
          <p:cNvPr id="46" name="After 3 card"/>
          <p:cNvSpPr/>
          <p:nvPr/>
        </p:nvSpPr>
        <p:spPr>
          <a:xfrm>
            <a:off x="6255868" y="4343400"/>
            <a:ext cx="2533574" cy="1325880"/>
          </a:xfrm>
          <a:prstGeom prst="roundRect">
            <a:avLst>
              <a:gd name="adj" fmla="val 8276"/>
            </a:avLst>
          </a:prstGeom>
          <a:solidFill>
            <a:schemeClr val="bg2"/>
          </a:solidFill>
          <a:ln w="12700">
            <a:solidFill>
              <a:schemeClr val="bg2"/>
            </a:solidFill>
            <a:prstDash val="solid"/>
          </a:ln>
        </p:spPr>
      </p:sp>
      <p:sp>
        <p:nvSpPr>
          <p:cNvPr id="47" name="After 3 icon circle"/>
          <p:cNvSpPr/>
          <p:nvPr/>
        </p:nvSpPr>
        <p:spPr>
          <a:xfrm>
            <a:off x="6438748" y="4526280"/>
            <a:ext cx="420624" cy="420624"/>
          </a:xfrm>
          <a:prstGeom prst="ellipse">
            <a:avLst/>
          </a:prstGeom>
          <a:solidFill>
            <a:schemeClr val="accent3"/>
          </a:solidFill>
          <a:ln w="12700">
            <a:solidFill>
              <a:schemeClr val="accent3"/>
            </a:solidFill>
            <a:prstDash val="solid"/>
          </a:ln>
        </p:spPr>
      </p:sp>
      <p:pic>
        <p:nvPicPr>
          <p:cNvPr id="48" name="After 3 icon" descr="preencoded.png"/>
          <p:cNvPicPr>
            <a:picLocks noChangeAspect="1"/>
          </p:cNvPicPr>
          <p:nvPr/>
        </p:nvPicPr>
        <p:blipFill>
          <a:blip r:embed="rId5"/>
          <a:stretch>
            <a:fillRect/>
          </a:stretch>
        </p:blipFill>
        <p:spPr>
          <a:xfrm>
            <a:off x="6548476" y="4636008"/>
            <a:ext cx="201168" cy="201168"/>
          </a:xfrm>
          <a:prstGeom prst="rect">
            <a:avLst/>
          </a:prstGeom>
        </p:spPr>
      </p:pic>
      <p:sp>
        <p:nvSpPr>
          <p:cNvPr id="49" name="After 3 heading"/>
          <p:cNvSpPr txBox="1"/>
          <p:nvPr/>
        </p:nvSpPr>
        <p:spPr>
          <a:xfrm>
            <a:off x="6987388" y="4526280"/>
            <a:ext cx="1619174" cy="420624"/>
          </a:xfrm>
          <a:prstGeom prst="rect">
            <a:avLst/>
          </a:prstGeom>
          <a:noFill/>
          <a:ln/>
        </p:spPr>
        <p:txBody>
          <a:bodyPr wrap="square" lIns="0" tIns="0" rIns="0" bIns="0" rtlCol="0" anchor="ctr"/>
          <a:lstStyle/>
          <a:p>
            <a:pPr marL="0" indent="0">
              <a:buNone/>
            </a:pPr>
            <a:r>
              <a:rPr lang="en-US" sz="1550" b="1" dirty="0">
                <a:solidFill>
                  <a:schemeClr val="tx1"/>
                </a:solidFill>
              </a:rPr>
              <a:t>Staff verify</a:t>
            </a:r>
            <a:endParaRPr lang="en-US" sz="1550" dirty="0"/>
          </a:p>
        </p:txBody>
      </p:sp>
      <p:sp>
        <p:nvSpPr>
          <p:cNvPr id="50" name="After 3 text"/>
          <p:cNvSpPr txBox="1"/>
          <p:nvPr/>
        </p:nvSpPr>
        <p:spPr>
          <a:xfrm>
            <a:off x="6438748" y="5056632"/>
            <a:ext cx="2167814" cy="566928"/>
          </a:xfrm>
          <a:prstGeom prst="rect">
            <a:avLst/>
          </a:prstGeom>
          <a:noFill/>
          <a:ln/>
        </p:spPr>
        <p:txBody>
          <a:bodyPr wrap="square" lIns="0" tIns="0" rIns="0" bIns="0" rtlCol="0" anchor="t"/>
          <a:lstStyle/>
          <a:p>
            <a:pPr marL="0" indent="0">
              <a:buNone/>
            </a:pPr>
            <a:r>
              <a:rPr lang="en-US" sz="1200" dirty="0">
                <a:solidFill>
                  <a:schemeClr val="tx2"/>
                </a:solidFill>
              </a:rPr>
              <a:t>Staff check the details. Who verified, and when, is recorded.</a:t>
            </a:r>
            <a:endParaRPr lang="en-US" sz="1200" dirty="0"/>
          </a:p>
        </p:txBody>
      </p:sp>
      <p:sp>
        <p:nvSpPr>
          <p:cNvPr id="51" name="After 3 arrow"/>
          <p:cNvSpPr/>
          <p:nvPr/>
        </p:nvSpPr>
        <p:spPr>
          <a:xfrm>
            <a:off x="8862593" y="4869180"/>
            <a:ext cx="173736" cy="274320"/>
          </a:xfrm>
          <a:prstGeom prst="chevron">
            <a:avLst/>
          </a:prstGeom>
          <a:solidFill>
            <a:schemeClr val="accent2"/>
          </a:solidFill>
          <a:ln w="12700">
            <a:solidFill>
              <a:schemeClr val="accent2"/>
            </a:solidFill>
            <a:prstDash val="solid"/>
          </a:ln>
        </p:spPr>
      </p:sp>
      <p:sp>
        <p:nvSpPr>
          <p:cNvPr id="52" name="After 4 card"/>
          <p:cNvSpPr/>
          <p:nvPr/>
        </p:nvSpPr>
        <p:spPr>
          <a:xfrm>
            <a:off x="9109481" y="4343400"/>
            <a:ext cx="2533574" cy="1325880"/>
          </a:xfrm>
          <a:prstGeom prst="roundRect">
            <a:avLst>
              <a:gd name="adj" fmla="val 8276"/>
            </a:avLst>
          </a:prstGeom>
          <a:solidFill>
            <a:schemeClr val="bg2"/>
          </a:solidFill>
          <a:ln w="12700">
            <a:solidFill>
              <a:schemeClr val="bg2"/>
            </a:solidFill>
            <a:prstDash val="solid"/>
          </a:ln>
        </p:spPr>
      </p:sp>
      <p:sp>
        <p:nvSpPr>
          <p:cNvPr id="53" name="After 4 icon circle"/>
          <p:cNvSpPr/>
          <p:nvPr/>
        </p:nvSpPr>
        <p:spPr>
          <a:xfrm>
            <a:off x="9292361" y="4526280"/>
            <a:ext cx="420624" cy="420624"/>
          </a:xfrm>
          <a:prstGeom prst="ellipse">
            <a:avLst/>
          </a:prstGeom>
          <a:solidFill>
            <a:schemeClr val="accent1"/>
          </a:solidFill>
          <a:ln w="12700">
            <a:solidFill>
              <a:schemeClr val="accent1"/>
            </a:solidFill>
            <a:prstDash val="solid"/>
          </a:ln>
        </p:spPr>
      </p:sp>
      <p:pic>
        <p:nvPicPr>
          <p:cNvPr id="54" name="After 4 icon" descr="preencoded.png"/>
          <p:cNvPicPr>
            <a:picLocks noChangeAspect="1"/>
          </p:cNvPicPr>
          <p:nvPr/>
        </p:nvPicPr>
        <p:blipFill>
          <a:blip r:embed="rId6"/>
          <a:stretch>
            <a:fillRect/>
          </a:stretch>
        </p:blipFill>
        <p:spPr>
          <a:xfrm>
            <a:off x="9402089" y="4636008"/>
            <a:ext cx="201168" cy="201168"/>
          </a:xfrm>
          <a:prstGeom prst="rect">
            <a:avLst/>
          </a:prstGeom>
        </p:spPr>
      </p:pic>
      <p:sp>
        <p:nvSpPr>
          <p:cNvPr id="55" name="After 4 heading"/>
          <p:cNvSpPr txBox="1"/>
          <p:nvPr/>
        </p:nvSpPr>
        <p:spPr>
          <a:xfrm>
            <a:off x="9841001" y="4526280"/>
            <a:ext cx="1619174" cy="420624"/>
          </a:xfrm>
          <a:prstGeom prst="rect">
            <a:avLst/>
          </a:prstGeom>
          <a:noFill/>
          <a:ln/>
        </p:spPr>
        <p:txBody>
          <a:bodyPr wrap="square" lIns="0" tIns="0" rIns="0" bIns="0" rtlCol="0" anchor="ctr"/>
          <a:lstStyle/>
          <a:p>
            <a:pPr marL="0" indent="0">
              <a:buNone/>
            </a:pPr>
            <a:r>
              <a:rPr lang="en-US" sz="1550" b="1" dirty="0">
                <a:solidFill>
                  <a:schemeClr val="tx1"/>
                </a:solidFill>
              </a:rPr>
              <a:t>Status check</a:t>
            </a:r>
            <a:endParaRPr lang="en-US" sz="1550" dirty="0"/>
          </a:p>
        </p:txBody>
      </p:sp>
      <p:sp>
        <p:nvSpPr>
          <p:cNvPr id="56" name="After 4 text"/>
          <p:cNvSpPr txBox="1"/>
          <p:nvPr/>
        </p:nvSpPr>
        <p:spPr>
          <a:xfrm>
            <a:off x="9292361" y="5056632"/>
            <a:ext cx="2167814" cy="566928"/>
          </a:xfrm>
          <a:prstGeom prst="rect">
            <a:avLst/>
          </a:prstGeom>
          <a:noFill/>
          <a:ln/>
        </p:spPr>
        <p:txBody>
          <a:bodyPr wrap="square" lIns="0" tIns="0" rIns="0" bIns="0" rtlCol="0" anchor="t"/>
          <a:lstStyle/>
          <a:p>
            <a:pPr marL="0" indent="0">
              <a:buNone/>
            </a:pPr>
            <a:r>
              <a:rPr lang="en-US" sz="1200" dirty="0">
                <a:solidFill>
                  <a:schemeClr val="tx2"/>
                </a:solidFill>
              </a:rPr>
              <a:t>With the reference number, the website shows Received or Verified.</a:t>
            </a:r>
            <a:endParaRPr lang="en-US" sz="1200" dirty="0"/>
          </a:p>
        </p:txBody>
      </p:sp>
      <p:sp>
        <p:nvSpPr>
          <p:cNvPr id="57" name="Office entry note"/>
          <p:cNvSpPr txBox="1"/>
          <p:nvPr/>
        </p:nvSpPr>
        <p:spPr>
          <a:xfrm>
            <a:off x="548640" y="5879592"/>
            <a:ext cx="11094415" cy="320040"/>
          </a:xfrm>
          <a:prstGeom prst="rect">
            <a:avLst/>
          </a:prstGeom>
          <a:noFill/>
          <a:ln/>
        </p:spPr>
        <p:txBody>
          <a:bodyPr wrap="square" lIns="0" tIns="0" rIns="0" bIns="0" rtlCol="0" anchor="ctr"/>
          <a:lstStyle/>
          <a:p>
            <a:pPr marL="0" indent="0">
              <a:buNone/>
            </a:pPr>
            <a:r>
              <a:rPr lang="en-US" sz="1300" b="1" dirty="0">
                <a:solidFill>
                  <a:schemeClr val="accent4"/>
                </a:solidFill>
              </a:rPr>
              <a:t>No phone or internet?  </a:t>
            </a:r>
            <a:r>
              <a:rPr lang="en-US" sz="1300" dirty="0">
                <a:solidFill>
                  <a:schemeClr val="tx2"/>
                </a:solidFill>
              </a:rPr>
              <a:t>Staff can enter the household at the parish office using the same form.</a:t>
            </a:r>
            <a:endParaRPr lang="en-US" sz="1300" dirty="0"/>
          </a:p>
        </p:txBody>
      </p:sp>
      <p:sp>
        <p:nvSpPr>
          <p:cNvPr id="58"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400" b="1" dirty="0">
                <a:solidFill>
                  <a:schemeClr val="tx1"/>
                </a:solidFill>
              </a:rPr>
              <a:t>Limits of the free hosting: Supabase + Vercel</a:t>
            </a:r>
            <a:endParaRPr lang="en-US" sz="3400" dirty="0"/>
          </a:p>
        </p:txBody>
      </p:sp>
      <p:sp>
        <p:nvSpPr>
          <p:cNvPr id="3" name="Supabase Free panel"/>
          <p:cNvSpPr/>
          <p:nvPr/>
        </p:nvSpPr>
        <p:spPr>
          <a:xfrm>
            <a:off x="548640" y="1371600"/>
            <a:ext cx="5364328" cy="4251960"/>
          </a:xfrm>
          <a:prstGeom prst="roundRect">
            <a:avLst>
              <a:gd name="adj" fmla="val 2581"/>
            </a:avLst>
          </a:prstGeom>
          <a:solidFill>
            <a:schemeClr val="bg2"/>
          </a:solidFill>
          <a:ln w="12700">
            <a:solidFill>
              <a:schemeClr val="bg2"/>
            </a:solidFill>
            <a:prstDash val="solid"/>
          </a:ln>
        </p:spPr>
      </p:sp>
      <p:sp>
        <p:nvSpPr>
          <p:cNvPr id="4" name="Supabase Free icon circle"/>
          <p:cNvSpPr/>
          <p:nvPr/>
        </p:nvSpPr>
        <p:spPr>
          <a:xfrm>
            <a:off x="777240" y="1536192"/>
            <a:ext cx="457200" cy="457200"/>
          </a:xfrm>
          <a:prstGeom prst="ellipse">
            <a:avLst/>
          </a:prstGeom>
          <a:solidFill>
            <a:schemeClr val="tx1"/>
          </a:solidFill>
          <a:ln w="12700">
            <a:solidFill>
              <a:schemeClr val="tx1"/>
            </a:solidFill>
            <a:prstDash val="solid"/>
          </a:ln>
        </p:spPr>
      </p:sp>
      <p:pic>
        <p:nvPicPr>
          <p:cNvPr id="5" name="Supabase Free icon" descr="preencoded.png"/>
          <p:cNvPicPr>
            <a:picLocks noChangeAspect="1"/>
          </p:cNvPicPr>
          <p:nvPr/>
        </p:nvPicPr>
        <p:blipFill>
          <a:blip r:embed="rId3"/>
          <a:stretch>
            <a:fillRect/>
          </a:stretch>
        </p:blipFill>
        <p:spPr>
          <a:xfrm>
            <a:off x="896112" y="1655064"/>
            <a:ext cx="219456" cy="219456"/>
          </a:xfrm>
          <a:prstGeom prst="rect">
            <a:avLst/>
          </a:prstGeom>
        </p:spPr>
      </p:pic>
      <p:sp>
        <p:nvSpPr>
          <p:cNvPr id="6" name="Supabase Free heading"/>
          <p:cNvSpPr txBox="1"/>
          <p:nvPr/>
        </p:nvSpPr>
        <p:spPr>
          <a:xfrm>
            <a:off x="1371600" y="1536192"/>
            <a:ext cx="4358488" cy="457200"/>
          </a:xfrm>
          <a:prstGeom prst="rect">
            <a:avLst/>
          </a:prstGeom>
          <a:noFill/>
          <a:ln/>
        </p:spPr>
        <p:txBody>
          <a:bodyPr wrap="square" lIns="0" tIns="0" rIns="0" bIns="0" rtlCol="0" anchor="ctr"/>
          <a:lstStyle/>
          <a:p>
            <a:pPr marL="0" indent="0">
              <a:buNone/>
            </a:pPr>
            <a:r>
              <a:rPr lang="en-US" sz="1900" b="1" dirty="0">
                <a:solidFill>
                  <a:schemeClr val="tx1"/>
                </a:solidFill>
              </a:rPr>
              <a:t>Supabase Free</a:t>
            </a:r>
            <a:r>
              <a:rPr lang="en-US" sz="1300" dirty="0">
                <a:solidFill>
                  <a:schemeClr val="tx2"/>
                </a:solidFill>
              </a:rPr>
              <a:t>   holds the database and staff sign-in</a:t>
            </a:r>
            <a:endParaRPr lang="en-US" sz="1900" dirty="0"/>
          </a:p>
        </p:txBody>
      </p:sp>
      <p:sp>
        <p:nvSpPr>
          <p:cNvPr id="7" name="Supabase Free row 1"/>
          <p:cNvSpPr/>
          <p:nvPr/>
        </p:nvSpPr>
        <p:spPr>
          <a:xfrm>
            <a:off x="731520" y="2057400"/>
            <a:ext cx="4998568" cy="777240"/>
          </a:xfrm>
          <a:prstGeom prst="roundRect">
            <a:avLst>
              <a:gd name="adj" fmla="val 14118"/>
            </a:avLst>
          </a:prstGeom>
          <a:solidFill>
            <a:schemeClr val="bg1"/>
          </a:solidFill>
          <a:ln w="12700">
            <a:solidFill>
              <a:schemeClr val="bg1"/>
            </a:solidFill>
            <a:prstDash val="solid"/>
          </a:ln>
        </p:spPr>
      </p:sp>
      <p:sp>
        <p:nvSpPr>
          <p:cNvPr id="8" name="Supabase Free limit 1"/>
          <p:cNvSpPr txBox="1"/>
          <p:nvPr/>
        </p:nvSpPr>
        <p:spPr>
          <a:xfrm>
            <a:off x="896112" y="213055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Pauses after 1 week without activity</a:t>
            </a:r>
            <a:endParaRPr lang="en-US" sz="1400" dirty="0"/>
          </a:p>
        </p:txBody>
      </p:sp>
      <p:sp>
        <p:nvSpPr>
          <p:cNvPr id="9" name="Supabase Free meaning 1"/>
          <p:cNvSpPr txBox="1"/>
          <p:nvPr/>
        </p:nvSpPr>
        <p:spPr>
          <a:xfrm>
            <a:off x="896112" y="2404872"/>
            <a:ext cx="3672688" cy="384048"/>
          </a:xfrm>
          <a:prstGeom prst="rect">
            <a:avLst/>
          </a:prstGeom>
          <a:noFill/>
          <a:ln/>
        </p:spPr>
        <p:txBody>
          <a:bodyPr wrap="square" lIns="0" tIns="0" rIns="0" bIns="0" rtlCol="0" anchor="t"/>
          <a:lstStyle/>
          <a:p>
            <a:pPr marL="0" indent="0">
              <a:buNone/>
            </a:pPr>
            <a:r>
              <a:rPr lang="en-US" sz="1200" dirty="0">
                <a:solidFill>
                  <a:schemeClr val="tx2"/>
                </a:solidFill>
              </a:rPr>
              <a:t>An automatic check every 3 days keeps it awake.</a:t>
            </a:r>
            <a:endParaRPr lang="en-US" sz="1200" dirty="0"/>
          </a:p>
        </p:txBody>
      </p:sp>
      <p:sp>
        <p:nvSpPr>
          <p:cNvPr id="10" name="Supabase Free tag 1"/>
          <p:cNvSpPr/>
          <p:nvPr/>
        </p:nvSpPr>
        <p:spPr>
          <a:xfrm>
            <a:off x="4678528" y="2290572"/>
            <a:ext cx="914400" cy="310896"/>
          </a:xfrm>
          <a:prstGeom prst="roundRect">
            <a:avLst>
              <a:gd name="adj" fmla="val 50000"/>
            </a:avLst>
          </a:prstGeom>
          <a:solidFill>
            <a:schemeClr val="accent3"/>
          </a:solidFill>
          <a:ln w="12700">
            <a:solidFill>
              <a:schemeClr val="accent3"/>
            </a:solidFill>
            <a:prstDash val="solid"/>
          </a:ln>
        </p:spPr>
      </p:sp>
      <p:sp>
        <p:nvSpPr>
          <p:cNvPr id="11" name="Supabase Free tag 1 text"/>
          <p:cNvSpPr txBox="1"/>
          <p:nvPr/>
        </p:nvSpPr>
        <p:spPr>
          <a:xfrm>
            <a:off x="4678528" y="229057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Handled</a:t>
            </a:r>
            <a:endParaRPr lang="en-US" sz="1100" dirty="0"/>
          </a:p>
        </p:txBody>
      </p:sp>
      <p:sp>
        <p:nvSpPr>
          <p:cNvPr id="12" name="Supabase Free row 2"/>
          <p:cNvSpPr/>
          <p:nvPr/>
        </p:nvSpPr>
        <p:spPr>
          <a:xfrm>
            <a:off x="731520" y="2926080"/>
            <a:ext cx="4998568" cy="777240"/>
          </a:xfrm>
          <a:prstGeom prst="roundRect">
            <a:avLst>
              <a:gd name="adj" fmla="val 14118"/>
            </a:avLst>
          </a:prstGeom>
          <a:solidFill>
            <a:schemeClr val="bg1"/>
          </a:solidFill>
          <a:ln w="12700">
            <a:solidFill>
              <a:schemeClr val="bg1"/>
            </a:solidFill>
            <a:prstDash val="solid"/>
          </a:ln>
        </p:spPr>
      </p:sp>
      <p:sp>
        <p:nvSpPr>
          <p:cNvPr id="13" name="Supabase Free limit 2"/>
          <p:cNvSpPr txBox="1"/>
          <p:nvPr/>
        </p:nvSpPr>
        <p:spPr>
          <a:xfrm>
            <a:off x="896112" y="299923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No automatic backups</a:t>
            </a:r>
            <a:endParaRPr lang="en-US" sz="1400" dirty="0"/>
          </a:p>
        </p:txBody>
      </p:sp>
      <p:sp>
        <p:nvSpPr>
          <p:cNvPr id="14" name="Supabase Free meaning 2"/>
          <p:cNvSpPr txBox="1"/>
          <p:nvPr/>
        </p:nvSpPr>
        <p:spPr>
          <a:xfrm>
            <a:off x="896112" y="3273552"/>
            <a:ext cx="3672688" cy="384048"/>
          </a:xfrm>
          <a:prstGeom prst="rect">
            <a:avLst/>
          </a:prstGeom>
          <a:noFill/>
          <a:ln/>
        </p:spPr>
        <p:txBody>
          <a:bodyPr wrap="square" lIns="0" tIns="0" rIns="0" bIns="0" rtlCol="0" anchor="t"/>
          <a:lstStyle/>
          <a:p>
            <a:pPr marL="0" indent="0">
              <a:buNone/>
            </a:pPr>
            <a:r>
              <a:rPr lang="en-US" sz="1200" dirty="0">
                <a:solidFill>
                  <a:schemeClr val="tx2"/>
                </a:solidFill>
              </a:rPr>
              <a:t>Our own encrypted backup runs weekly, kept 90 days.</a:t>
            </a:r>
            <a:endParaRPr lang="en-US" sz="1200" dirty="0"/>
          </a:p>
        </p:txBody>
      </p:sp>
      <p:sp>
        <p:nvSpPr>
          <p:cNvPr id="15" name="Supabase Free tag 2"/>
          <p:cNvSpPr/>
          <p:nvPr/>
        </p:nvSpPr>
        <p:spPr>
          <a:xfrm>
            <a:off x="4678528" y="3159252"/>
            <a:ext cx="914400" cy="310896"/>
          </a:xfrm>
          <a:prstGeom prst="roundRect">
            <a:avLst>
              <a:gd name="adj" fmla="val 50000"/>
            </a:avLst>
          </a:prstGeom>
          <a:solidFill>
            <a:schemeClr val="accent3"/>
          </a:solidFill>
          <a:ln w="12700">
            <a:solidFill>
              <a:schemeClr val="accent3"/>
            </a:solidFill>
            <a:prstDash val="solid"/>
          </a:ln>
        </p:spPr>
      </p:sp>
      <p:sp>
        <p:nvSpPr>
          <p:cNvPr id="16" name="Supabase Free tag 2 text"/>
          <p:cNvSpPr txBox="1"/>
          <p:nvPr/>
        </p:nvSpPr>
        <p:spPr>
          <a:xfrm>
            <a:off x="4678528" y="315925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Handled</a:t>
            </a:r>
            <a:endParaRPr lang="en-US" sz="1100" dirty="0"/>
          </a:p>
        </p:txBody>
      </p:sp>
      <p:sp>
        <p:nvSpPr>
          <p:cNvPr id="17" name="Supabase Free row 3"/>
          <p:cNvSpPr/>
          <p:nvPr/>
        </p:nvSpPr>
        <p:spPr>
          <a:xfrm>
            <a:off x="731520" y="3794760"/>
            <a:ext cx="4998568" cy="777240"/>
          </a:xfrm>
          <a:prstGeom prst="roundRect">
            <a:avLst>
              <a:gd name="adj" fmla="val 14118"/>
            </a:avLst>
          </a:prstGeom>
          <a:solidFill>
            <a:schemeClr val="bg1"/>
          </a:solidFill>
          <a:ln w="12700">
            <a:solidFill>
              <a:schemeClr val="bg1"/>
            </a:solidFill>
            <a:prstDash val="solid"/>
          </a:ln>
        </p:spPr>
      </p:sp>
      <p:sp>
        <p:nvSpPr>
          <p:cNvPr id="18" name="Supabase Free limit 3"/>
          <p:cNvSpPr txBox="1"/>
          <p:nvPr/>
        </p:nvSpPr>
        <p:spPr>
          <a:xfrm>
            <a:off x="896112" y="386791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500 MB database, 1 GB files, 5 GB traffic/month</a:t>
            </a:r>
            <a:endParaRPr lang="en-US" sz="1400" dirty="0"/>
          </a:p>
        </p:txBody>
      </p:sp>
      <p:sp>
        <p:nvSpPr>
          <p:cNvPr id="19" name="Supabase Free meaning 3"/>
          <p:cNvSpPr txBox="1"/>
          <p:nvPr/>
        </p:nvSpPr>
        <p:spPr>
          <a:xfrm>
            <a:off x="896112" y="4142232"/>
            <a:ext cx="3672688" cy="384048"/>
          </a:xfrm>
          <a:prstGeom prst="rect">
            <a:avLst/>
          </a:prstGeom>
          <a:noFill/>
          <a:ln/>
        </p:spPr>
        <p:txBody>
          <a:bodyPr wrap="square" lIns="0" tIns="0" rIns="0" bIns="0" rtlCol="0" anchor="t"/>
          <a:lstStyle/>
          <a:p>
            <a:pPr marL="0" indent="0">
              <a:buNone/>
            </a:pPr>
            <a:r>
              <a:rPr lang="en-US" sz="1200" dirty="0">
                <a:solidFill>
                  <a:schemeClr val="tx2"/>
                </a:solidFill>
              </a:rPr>
              <a:t>Enough for text records. Photos go to Cloudflare R2.</a:t>
            </a:r>
            <a:endParaRPr lang="en-US" sz="1200" dirty="0"/>
          </a:p>
        </p:txBody>
      </p:sp>
      <p:sp>
        <p:nvSpPr>
          <p:cNvPr id="20" name="Supabase Free tag 3"/>
          <p:cNvSpPr/>
          <p:nvPr/>
        </p:nvSpPr>
        <p:spPr>
          <a:xfrm>
            <a:off x="4678528" y="4027932"/>
            <a:ext cx="914400" cy="310896"/>
          </a:xfrm>
          <a:prstGeom prst="roundRect">
            <a:avLst>
              <a:gd name="adj" fmla="val 50000"/>
            </a:avLst>
          </a:prstGeom>
          <a:solidFill>
            <a:schemeClr val="accent3"/>
          </a:solidFill>
          <a:ln w="12700">
            <a:solidFill>
              <a:schemeClr val="accent3"/>
            </a:solidFill>
            <a:prstDash val="solid"/>
          </a:ln>
        </p:spPr>
      </p:sp>
      <p:sp>
        <p:nvSpPr>
          <p:cNvPr id="21" name="Supabase Free tag 3 text"/>
          <p:cNvSpPr txBox="1"/>
          <p:nvPr/>
        </p:nvSpPr>
        <p:spPr>
          <a:xfrm>
            <a:off x="4678528" y="402793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Handled</a:t>
            </a:r>
            <a:endParaRPr lang="en-US" sz="1100" dirty="0"/>
          </a:p>
        </p:txBody>
      </p:sp>
      <p:sp>
        <p:nvSpPr>
          <p:cNvPr id="22" name="Supabase Free row 4"/>
          <p:cNvSpPr/>
          <p:nvPr/>
        </p:nvSpPr>
        <p:spPr>
          <a:xfrm>
            <a:off x="731520" y="4663440"/>
            <a:ext cx="4998568" cy="777240"/>
          </a:xfrm>
          <a:prstGeom prst="roundRect">
            <a:avLst>
              <a:gd name="adj" fmla="val 14118"/>
            </a:avLst>
          </a:prstGeom>
          <a:solidFill>
            <a:schemeClr val="bg1"/>
          </a:solidFill>
          <a:ln w="12700">
            <a:solidFill>
              <a:schemeClr val="bg1"/>
            </a:solidFill>
            <a:prstDash val="solid"/>
          </a:ln>
        </p:spPr>
      </p:sp>
      <p:sp>
        <p:nvSpPr>
          <p:cNvPr id="23" name="Supabase Free limit 4"/>
          <p:cNvSpPr txBox="1"/>
          <p:nvPr/>
        </p:nvSpPr>
        <p:spPr>
          <a:xfrm>
            <a:off x="896112" y="473659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Community support only</a:t>
            </a:r>
            <a:endParaRPr lang="en-US" sz="1400" dirty="0"/>
          </a:p>
        </p:txBody>
      </p:sp>
      <p:sp>
        <p:nvSpPr>
          <p:cNvPr id="24" name="Supabase Free meaning 4"/>
          <p:cNvSpPr txBox="1"/>
          <p:nvPr/>
        </p:nvSpPr>
        <p:spPr>
          <a:xfrm>
            <a:off x="896112" y="5010912"/>
            <a:ext cx="3672688" cy="384048"/>
          </a:xfrm>
          <a:prstGeom prst="rect">
            <a:avLst/>
          </a:prstGeom>
          <a:noFill/>
          <a:ln/>
        </p:spPr>
        <p:txBody>
          <a:bodyPr wrap="square" lIns="0" tIns="0" rIns="0" bIns="0" rtlCol="0" anchor="t"/>
          <a:lstStyle/>
          <a:p>
            <a:pPr marL="0" indent="0">
              <a:buNone/>
            </a:pPr>
            <a:r>
              <a:rPr lang="en-US" sz="1200" dirty="0">
                <a:solidFill>
                  <a:schemeClr val="tx2"/>
                </a:solidFill>
              </a:rPr>
              <a:t>No email support from Supabase if something breaks.</a:t>
            </a:r>
            <a:endParaRPr lang="en-US" sz="1200" dirty="0"/>
          </a:p>
        </p:txBody>
      </p:sp>
      <p:sp>
        <p:nvSpPr>
          <p:cNvPr id="25" name="Supabase Free tag 4"/>
          <p:cNvSpPr/>
          <p:nvPr/>
        </p:nvSpPr>
        <p:spPr>
          <a:xfrm>
            <a:off x="4678528" y="4896612"/>
            <a:ext cx="914400" cy="310896"/>
          </a:xfrm>
          <a:prstGeom prst="roundRect">
            <a:avLst>
              <a:gd name="adj" fmla="val 50000"/>
            </a:avLst>
          </a:prstGeom>
          <a:solidFill>
            <a:schemeClr val="accent4"/>
          </a:solidFill>
          <a:ln w="12700">
            <a:solidFill>
              <a:schemeClr val="accent4"/>
            </a:solidFill>
            <a:prstDash val="solid"/>
          </a:ln>
        </p:spPr>
      </p:sp>
      <p:sp>
        <p:nvSpPr>
          <p:cNvPr id="26" name="Supabase Free tag 4 text"/>
          <p:cNvSpPr txBox="1"/>
          <p:nvPr/>
        </p:nvSpPr>
        <p:spPr>
          <a:xfrm>
            <a:off x="4678528" y="489661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Be aware</a:t>
            </a:r>
            <a:endParaRPr lang="en-US" sz="1100" dirty="0"/>
          </a:p>
        </p:txBody>
      </p:sp>
      <p:sp>
        <p:nvSpPr>
          <p:cNvPr id="27" name="Vercel Hobby panel"/>
          <p:cNvSpPr/>
          <p:nvPr/>
        </p:nvSpPr>
        <p:spPr>
          <a:xfrm>
            <a:off x="6278728" y="1371600"/>
            <a:ext cx="5364328" cy="4251960"/>
          </a:xfrm>
          <a:prstGeom prst="roundRect">
            <a:avLst>
              <a:gd name="adj" fmla="val 2581"/>
            </a:avLst>
          </a:prstGeom>
          <a:solidFill>
            <a:schemeClr val="bg2"/>
          </a:solidFill>
          <a:ln w="12700">
            <a:solidFill>
              <a:schemeClr val="bg2"/>
            </a:solidFill>
            <a:prstDash val="solid"/>
          </a:ln>
        </p:spPr>
      </p:sp>
      <p:sp>
        <p:nvSpPr>
          <p:cNvPr id="28" name="Vercel Hobby icon circle"/>
          <p:cNvSpPr/>
          <p:nvPr/>
        </p:nvSpPr>
        <p:spPr>
          <a:xfrm>
            <a:off x="6507328" y="1536192"/>
            <a:ext cx="457200" cy="457200"/>
          </a:xfrm>
          <a:prstGeom prst="ellipse">
            <a:avLst/>
          </a:prstGeom>
          <a:solidFill>
            <a:schemeClr val="tx1"/>
          </a:solidFill>
          <a:ln w="12700">
            <a:solidFill>
              <a:schemeClr val="tx1"/>
            </a:solidFill>
            <a:prstDash val="solid"/>
          </a:ln>
        </p:spPr>
      </p:sp>
      <p:pic>
        <p:nvPicPr>
          <p:cNvPr id="29" name="Vercel Hobby icon" descr="preencoded.png"/>
          <p:cNvPicPr>
            <a:picLocks noChangeAspect="1"/>
          </p:cNvPicPr>
          <p:nvPr/>
        </p:nvPicPr>
        <p:blipFill>
          <a:blip r:embed="rId4"/>
          <a:stretch>
            <a:fillRect/>
          </a:stretch>
        </p:blipFill>
        <p:spPr>
          <a:xfrm>
            <a:off x="6626200" y="1655064"/>
            <a:ext cx="219456" cy="219456"/>
          </a:xfrm>
          <a:prstGeom prst="rect">
            <a:avLst/>
          </a:prstGeom>
        </p:spPr>
      </p:pic>
      <p:sp>
        <p:nvSpPr>
          <p:cNvPr id="30" name="Vercel Hobby heading"/>
          <p:cNvSpPr txBox="1"/>
          <p:nvPr/>
        </p:nvSpPr>
        <p:spPr>
          <a:xfrm>
            <a:off x="7101688" y="1536192"/>
            <a:ext cx="4358488" cy="457200"/>
          </a:xfrm>
          <a:prstGeom prst="rect">
            <a:avLst/>
          </a:prstGeom>
          <a:noFill/>
          <a:ln/>
        </p:spPr>
        <p:txBody>
          <a:bodyPr wrap="square" lIns="0" tIns="0" rIns="0" bIns="0" rtlCol="0" anchor="ctr"/>
          <a:lstStyle/>
          <a:p>
            <a:pPr marL="0" indent="0">
              <a:buNone/>
            </a:pPr>
            <a:r>
              <a:rPr lang="en-US" sz="1900" b="1" dirty="0">
                <a:solidFill>
                  <a:schemeClr val="tx1"/>
                </a:solidFill>
              </a:rPr>
              <a:t>Vercel Hobby</a:t>
            </a:r>
            <a:r>
              <a:rPr lang="en-US" sz="1300" dirty="0">
                <a:solidFill>
                  <a:schemeClr val="tx2"/>
                </a:solidFill>
              </a:rPr>
              <a:t>   serves the website</a:t>
            </a:r>
            <a:endParaRPr lang="en-US" sz="1900" dirty="0"/>
          </a:p>
        </p:txBody>
      </p:sp>
      <p:sp>
        <p:nvSpPr>
          <p:cNvPr id="31" name="Vercel Hobby row 1"/>
          <p:cNvSpPr/>
          <p:nvPr/>
        </p:nvSpPr>
        <p:spPr>
          <a:xfrm>
            <a:off x="6461608" y="2057400"/>
            <a:ext cx="4998568" cy="777240"/>
          </a:xfrm>
          <a:prstGeom prst="roundRect">
            <a:avLst>
              <a:gd name="adj" fmla="val 14118"/>
            </a:avLst>
          </a:prstGeom>
          <a:solidFill>
            <a:schemeClr val="bg1"/>
          </a:solidFill>
          <a:ln w="12700">
            <a:solidFill>
              <a:schemeClr val="bg1"/>
            </a:solidFill>
            <a:prstDash val="solid"/>
          </a:ln>
        </p:spPr>
      </p:sp>
      <p:sp>
        <p:nvSpPr>
          <p:cNvPr id="32" name="Vercel Hobby limit 1"/>
          <p:cNvSpPr txBox="1"/>
          <p:nvPr/>
        </p:nvSpPr>
        <p:spPr>
          <a:xfrm>
            <a:off x="6626200" y="213055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Non-commercial, personal use only</a:t>
            </a:r>
            <a:endParaRPr lang="en-US" sz="1400" dirty="0"/>
          </a:p>
        </p:txBody>
      </p:sp>
      <p:sp>
        <p:nvSpPr>
          <p:cNvPr id="33" name="Vercel Hobby meaning 1"/>
          <p:cNvSpPr txBox="1"/>
          <p:nvPr/>
        </p:nvSpPr>
        <p:spPr>
          <a:xfrm>
            <a:off x="6626200" y="2404872"/>
            <a:ext cx="3672688" cy="384048"/>
          </a:xfrm>
          <a:prstGeom prst="rect">
            <a:avLst/>
          </a:prstGeom>
          <a:noFill/>
          <a:ln/>
        </p:spPr>
        <p:txBody>
          <a:bodyPr wrap="square" lIns="0" tIns="0" rIns="0" bIns="0" rtlCol="0" anchor="t"/>
          <a:lstStyle/>
          <a:p>
            <a:pPr marL="0" indent="0">
              <a:buNone/>
            </a:pPr>
            <a:r>
              <a:rPr lang="en-US" sz="1200" dirty="0">
                <a:solidFill>
                  <a:schemeClr val="tx2"/>
                </a:solidFill>
              </a:rPr>
              <a:t>If anyone is paid to build or host the site, Vercel requires Pro.</a:t>
            </a:r>
            <a:endParaRPr lang="en-US" sz="1200" dirty="0"/>
          </a:p>
        </p:txBody>
      </p:sp>
      <p:sp>
        <p:nvSpPr>
          <p:cNvPr id="34" name="Vercel Hobby tag 1"/>
          <p:cNvSpPr/>
          <p:nvPr/>
        </p:nvSpPr>
        <p:spPr>
          <a:xfrm>
            <a:off x="10408615" y="2290572"/>
            <a:ext cx="914400" cy="310896"/>
          </a:xfrm>
          <a:prstGeom prst="roundRect">
            <a:avLst>
              <a:gd name="adj" fmla="val 50000"/>
            </a:avLst>
          </a:prstGeom>
          <a:solidFill>
            <a:schemeClr val="accent4"/>
          </a:solidFill>
          <a:ln w="12700">
            <a:solidFill>
              <a:schemeClr val="accent4"/>
            </a:solidFill>
            <a:prstDash val="solid"/>
          </a:ln>
        </p:spPr>
      </p:sp>
      <p:sp>
        <p:nvSpPr>
          <p:cNvPr id="35" name="Vercel Hobby tag 1 text"/>
          <p:cNvSpPr txBox="1"/>
          <p:nvPr/>
        </p:nvSpPr>
        <p:spPr>
          <a:xfrm>
            <a:off x="10408615" y="229057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Be aware</a:t>
            </a:r>
            <a:endParaRPr lang="en-US" sz="1100" dirty="0"/>
          </a:p>
        </p:txBody>
      </p:sp>
      <p:sp>
        <p:nvSpPr>
          <p:cNvPr id="36" name="Vercel Hobby row 2"/>
          <p:cNvSpPr/>
          <p:nvPr/>
        </p:nvSpPr>
        <p:spPr>
          <a:xfrm>
            <a:off x="6461608" y="2926080"/>
            <a:ext cx="4998568" cy="777240"/>
          </a:xfrm>
          <a:prstGeom prst="roundRect">
            <a:avLst>
              <a:gd name="adj" fmla="val 14118"/>
            </a:avLst>
          </a:prstGeom>
          <a:solidFill>
            <a:schemeClr val="bg1"/>
          </a:solidFill>
          <a:ln w="12700">
            <a:solidFill>
              <a:schemeClr val="bg1"/>
            </a:solidFill>
            <a:prstDash val="solid"/>
          </a:ln>
        </p:spPr>
      </p:sp>
      <p:sp>
        <p:nvSpPr>
          <p:cNvPr id="37" name="Vercel Hobby limit 2"/>
          <p:cNvSpPr txBox="1"/>
          <p:nvPr/>
        </p:nvSpPr>
        <p:spPr>
          <a:xfrm>
            <a:off x="6626200" y="299923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100 GB traffic and 1 million requests a month</a:t>
            </a:r>
            <a:endParaRPr lang="en-US" sz="1400" dirty="0"/>
          </a:p>
        </p:txBody>
      </p:sp>
      <p:sp>
        <p:nvSpPr>
          <p:cNvPr id="38" name="Vercel Hobby meaning 2"/>
          <p:cNvSpPr txBox="1"/>
          <p:nvPr/>
        </p:nvSpPr>
        <p:spPr>
          <a:xfrm>
            <a:off x="6626200" y="3273552"/>
            <a:ext cx="3672688" cy="384048"/>
          </a:xfrm>
          <a:prstGeom prst="rect">
            <a:avLst/>
          </a:prstGeom>
          <a:noFill/>
          <a:ln/>
        </p:spPr>
        <p:txBody>
          <a:bodyPr wrap="square" lIns="0" tIns="0" rIns="0" bIns="0" rtlCol="0" anchor="t"/>
          <a:lstStyle/>
          <a:p>
            <a:pPr marL="0" indent="0">
              <a:buNone/>
            </a:pPr>
            <a:r>
              <a:rPr lang="en-US" sz="1200" dirty="0">
                <a:solidFill>
                  <a:schemeClr val="tx2"/>
                </a:solidFill>
              </a:rPr>
              <a:t>Far above parish use. Past the limit, the site can stop for up to 30 days.</a:t>
            </a:r>
            <a:endParaRPr lang="en-US" sz="1200" dirty="0"/>
          </a:p>
        </p:txBody>
      </p:sp>
      <p:sp>
        <p:nvSpPr>
          <p:cNvPr id="39" name="Vercel Hobby tag 2"/>
          <p:cNvSpPr/>
          <p:nvPr/>
        </p:nvSpPr>
        <p:spPr>
          <a:xfrm>
            <a:off x="10408615" y="3159252"/>
            <a:ext cx="914400" cy="310896"/>
          </a:xfrm>
          <a:prstGeom prst="roundRect">
            <a:avLst>
              <a:gd name="adj" fmla="val 50000"/>
            </a:avLst>
          </a:prstGeom>
          <a:solidFill>
            <a:schemeClr val="accent3"/>
          </a:solidFill>
          <a:ln w="12700">
            <a:solidFill>
              <a:schemeClr val="accent3"/>
            </a:solidFill>
            <a:prstDash val="solid"/>
          </a:ln>
        </p:spPr>
      </p:sp>
      <p:sp>
        <p:nvSpPr>
          <p:cNvPr id="40" name="Vercel Hobby tag 2 text"/>
          <p:cNvSpPr txBox="1"/>
          <p:nvPr/>
        </p:nvSpPr>
        <p:spPr>
          <a:xfrm>
            <a:off x="10408615" y="315925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Low risk</a:t>
            </a:r>
            <a:endParaRPr lang="en-US" sz="1100" dirty="0"/>
          </a:p>
        </p:txBody>
      </p:sp>
      <p:sp>
        <p:nvSpPr>
          <p:cNvPr id="41" name="Vercel Hobby row 3"/>
          <p:cNvSpPr/>
          <p:nvPr/>
        </p:nvSpPr>
        <p:spPr>
          <a:xfrm>
            <a:off x="6461608" y="3794760"/>
            <a:ext cx="4998568" cy="777240"/>
          </a:xfrm>
          <a:prstGeom prst="roundRect">
            <a:avLst>
              <a:gd name="adj" fmla="val 14118"/>
            </a:avLst>
          </a:prstGeom>
          <a:solidFill>
            <a:schemeClr val="bg1"/>
          </a:solidFill>
          <a:ln w="12700">
            <a:solidFill>
              <a:schemeClr val="bg1"/>
            </a:solidFill>
            <a:prstDash val="solid"/>
          </a:ln>
        </p:spPr>
      </p:sp>
      <p:sp>
        <p:nvSpPr>
          <p:cNvPr id="42" name="Vercel Hobby limit 3"/>
          <p:cNvSpPr txBox="1"/>
          <p:nvPr/>
        </p:nvSpPr>
        <p:spPr>
          <a:xfrm>
            <a:off x="6626200" y="386791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One owner account</a:t>
            </a:r>
            <a:endParaRPr lang="en-US" sz="1400" dirty="0"/>
          </a:p>
        </p:txBody>
      </p:sp>
      <p:sp>
        <p:nvSpPr>
          <p:cNvPr id="43" name="Vercel Hobby meaning 3"/>
          <p:cNvSpPr txBox="1"/>
          <p:nvPr/>
        </p:nvSpPr>
        <p:spPr>
          <a:xfrm>
            <a:off x="6626200" y="4142232"/>
            <a:ext cx="3672688" cy="384048"/>
          </a:xfrm>
          <a:prstGeom prst="rect">
            <a:avLst/>
          </a:prstGeom>
          <a:noFill/>
          <a:ln/>
        </p:spPr>
        <p:txBody>
          <a:bodyPr wrap="square" lIns="0" tIns="0" rIns="0" bIns="0" rtlCol="0" anchor="t"/>
          <a:lstStyle/>
          <a:p>
            <a:pPr marL="0" indent="0">
              <a:buNone/>
            </a:pPr>
            <a:r>
              <a:rPr lang="en-US" sz="1200" dirty="0">
                <a:solidFill>
                  <a:schemeClr val="tx2"/>
                </a:solidFill>
              </a:rPr>
              <a:t>No team members on the free plan, so the site depends on one login.</a:t>
            </a:r>
            <a:endParaRPr lang="en-US" sz="1200" dirty="0"/>
          </a:p>
        </p:txBody>
      </p:sp>
      <p:sp>
        <p:nvSpPr>
          <p:cNvPr id="44" name="Vercel Hobby tag 3"/>
          <p:cNvSpPr/>
          <p:nvPr/>
        </p:nvSpPr>
        <p:spPr>
          <a:xfrm>
            <a:off x="10408615" y="4027932"/>
            <a:ext cx="914400" cy="310896"/>
          </a:xfrm>
          <a:prstGeom prst="roundRect">
            <a:avLst>
              <a:gd name="adj" fmla="val 50000"/>
            </a:avLst>
          </a:prstGeom>
          <a:solidFill>
            <a:schemeClr val="accent4"/>
          </a:solidFill>
          <a:ln w="12700">
            <a:solidFill>
              <a:schemeClr val="accent4"/>
            </a:solidFill>
            <a:prstDash val="solid"/>
          </a:ln>
        </p:spPr>
      </p:sp>
      <p:sp>
        <p:nvSpPr>
          <p:cNvPr id="45" name="Vercel Hobby tag 3 text"/>
          <p:cNvSpPr txBox="1"/>
          <p:nvPr/>
        </p:nvSpPr>
        <p:spPr>
          <a:xfrm>
            <a:off x="10408615" y="402793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Be aware</a:t>
            </a:r>
            <a:endParaRPr lang="en-US" sz="1100" dirty="0"/>
          </a:p>
        </p:txBody>
      </p:sp>
      <p:sp>
        <p:nvSpPr>
          <p:cNvPr id="46" name="Vercel Hobby row 4"/>
          <p:cNvSpPr/>
          <p:nvPr/>
        </p:nvSpPr>
        <p:spPr>
          <a:xfrm>
            <a:off x="6461608" y="4663440"/>
            <a:ext cx="4998568" cy="777240"/>
          </a:xfrm>
          <a:prstGeom prst="roundRect">
            <a:avLst>
              <a:gd name="adj" fmla="val 14118"/>
            </a:avLst>
          </a:prstGeom>
          <a:solidFill>
            <a:schemeClr val="bg1"/>
          </a:solidFill>
          <a:ln w="12700">
            <a:solidFill>
              <a:schemeClr val="bg1"/>
            </a:solidFill>
            <a:prstDash val="solid"/>
          </a:ln>
        </p:spPr>
      </p:sp>
      <p:sp>
        <p:nvSpPr>
          <p:cNvPr id="47" name="Vercel Hobby limit 4"/>
          <p:cNvSpPr txBox="1"/>
          <p:nvPr/>
        </p:nvSpPr>
        <p:spPr>
          <a:xfrm>
            <a:off x="6626200" y="4736592"/>
            <a:ext cx="3672688" cy="256032"/>
          </a:xfrm>
          <a:prstGeom prst="rect">
            <a:avLst/>
          </a:prstGeom>
          <a:noFill/>
          <a:ln/>
        </p:spPr>
        <p:txBody>
          <a:bodyPr wrap="square" lIns="0" tIns="0" rIns="0" bIns="0" rtlCol="0" anchor="ctr"/>
          <a:lstStyle/>
          <a:p>
            <a:pPr marL="0" indent="0">
              <a:buNone/>
            </a:pPr>
            <a:r>
              <a:rPr lang="en-US" sz="1400" b="1" dirty="0">
                <a:solidFill>
                  <a:schemeClr val="tx1"/>
                </a:solidFill>
              </a:rPr>
              <a:t>No email support</a:t>
            </a:r>
            <a:endParaRPr lang="en-US" sz="1400" dirty="0"/>
          </a:p>
        </p:txBody>
      </p:sp>
      <p:sp>
        <p:nvSpPr>
          <p:cNvPr id="48" name="Vercel Hobby meaning 4"/>
          <p:cNvSpPr txBox="1"/>
          <p:nvPr/>
        </p:nvSpPr>
        <p:spPr>
          <a:xfrm>
            <a:off x="6626200" y="5010912"/>
            <a:ext cx="3672688" cy="384048"/>
          </a:xfrm>
          <a:prstGeom prst="rect">
            <a:avLst/>
          </a:prstGeom>
          <a:noFill/>
          <a:ln/>
        </p:spPr>
        <p:txBody>
          <a:bodyPr wrap="square" lIns="0" tIns="0" rIns="0" bIns="0" rtlCol="0" anchor="t"/>
          <a:lstStyle/>
          <a:p>
            <a:pPr marL="0" indent="0">
              <a:buNone/>
            </a:pPr>
            <a:r>
              <a:rPr lang="en-US" sz="1200" dirty="0">
                <a:solidFill>
                  <a:schemeClr val="tx2"/>
                </a:solidFill>
              </a:rPr>
              <a:t>Community help only. Error logs are kept for 1 hour.</a:t>
            </a:r>
            <a:endParaRPr lang="en-US" sz="1200" dirty="0"/>
          </a:p>
        </p:txBody>
      </p:sp>
      <p:sp>
        <p:nvSpPr>
          <p:cNvPr id="49" name="Vercel Hobby tag 4"/>
          <p:cNvSpPr/>
          <p:nvPr/>
        </p:nvSpPr>
        <p:spPr>
          <a:xfrm>
            <a:off x="10408615" y="4896612"/>
            <a:ext cx="914400" cy="310896"/>
          </a:xfrm>
          <a:prstGeom prst="roundRect">
            <a:avLst>
              <a:gd name="adj" fmla="val 50000"/>
            </a:avLst>
          </a:prstGeom>
          <a:solidFill>
            <a:schemeClr val="accent4"/>
          </a:solidFill>
          <a:ln w="12700">
            <a:solidFill>
              <a:schemeClr val="accent4"/>
            </a:solidFill>
            <a:prstDash val="solid"/>
          </a:ln>
        </p:spPr>
      </p:sp>
      <p:sp>
        <p:nvSpPr>
          <p:cNvPr id="50" name="Vercel Hobby tag 4 text"/>
          <p:cNvSpPr txBox="1"/>
          <p:nvPr/>
        </p:nvSpPr>
        <p:spPr>
          <a:xfrm>
            <a:off x="10408615" y="4896612"/>
            <a:ext cx="914400" cy="310896"/>
          </a:xfrm>
          <a:prstGeom prst="rect">
            <a:avLst/>
          </a:prstGeom>
          <a:noFill/>
          <a:ln/>
        </p:spPr>
        <p:txBody>
          <a:bodyPr wrap="square" lIns="0" tIns="0" rIns="0" bIns="0" rtlCol="0" anchor="ctr"/>
          <a:lstStyle/>
          <a:p>
            <a:pPr marL="0" indent="0" algn="ctr">
              <a:buNone/>
            </a:pPr>
            <a:r>
              <a:rPr lang="en-US" sz="1100" b="1" dirty="0">
                <a:solidFill>
                  <a:schemeClr val="bg1"/>
                </a:solidFill>
              </a:rPr>
              <a:t>Be aware</a:t>
            </a:r>
            <a:endParaRPr lang="en-US" sz="1100" dirty="0"/>
          </a:p>
        </p:txBody>
      </p:sp>
      <p:sp>
        <p:nvSpPr>
          <p:cNvPr id="51" name="Upgrade cost line"/>
          <p:cNvSpPr txBox="1"/>
          <p:nvPr/>
        </p:nvSpPr>
        <p:spPr>
          <a:xfrm>
            <a:off x="548640" y="5742432"/>
            <a:ext cx="11094415" cy="274320"/>
          </a:xfrm>
          <a:prstGeom prst="rect">
            <a:avLst/>
          </a:prstGeom>
          <a:noFill/>
          <a:ln/>
        </p:spPr>
        <p:txBody>
          <a:bodyPr wrap="square" lIns="0" tIns="0" rIns="0" bIns="0" rtlCol="0" anchor="ctr"/>
          <a:lstStyle/>
          <a:p>
            <a:pPr marL="0" indent="0">
              <a:buNone/>
            </a:pPr>
            <a:r>
              <a:rPr lang="en-US" sz="1300" b="1" dirty="0">
                <a:solidFill>
                  <a:schemeClr val="accent4"/>
                </a:solidFill>
              </a:rPr>
              <a:t>If the parish outgrows free:  </a:t>
            </a:r>
            <a:r>
              <a:rPr lang="en-US" sz="1300" dirty="0">
                <a:solidFill>
                  <a:schemeClr val="tx2"/>
                </a:solidFill>
              </a:rPr>
              <a:t>Supabase Pro is $25 a month (no pausing, daily backups, 8 GB database). Vercel Pro is $20 a month per developer seat.</a:t>
            </a:r>
            <a:endParaRPr lang="en-US" sz="1300" dirty="0"/>
          </a:p>
        </p:txBody>
      </p:sp>
      <p:sp>
        <p:nvSpPr>
          <p:cNvPr id="52" name="Source line"/>
          <p:cNvSpPr txBox="1"/>
          <p:nvPr/>
        </p:nvSpPr>
        <p:spPr>
          <a:xfrm>
            <a:off x="548640" y="6035040"/>
            <a:ext cx="11094415" cy="228600"/>
          </a:xfrm>
          <a:prstGeom prst="rect">
            <a:avLst/>
          </a:prstGeom>
          <a:noFill/>
          <a:ln/>
        </p:spPr>
        <p:txBody>
          <a:bodyPr wrap="square" lIns="0" tIns="0" rIns="0" bIns="0" rtlCol="0" anchor="ctr"/>
          <a:lstStyle/>
          <a:p>
            <a:pPr marL="0" indent="0">
              <a:buNone/>
            </a:pPr>
            <a:r>
              <a:rPr lang="en-US" sz="1050" i="1" dirty="0">
                <a:solidFill>
                  <a:schemeClr val="tx2"/>
                </a:solidFill>
              </a:rPr>
              <a:t>Limits from supabase.com/pricing and vercel.com/docs/plans/hobby, checked 2 October 2026.</a:t>
            </a:r>
            <a:endParaRPr lang="en-US" sz="1050" dirty="0"/>
          </a:p>
        </p:txBody>
      </p:sp>
      <p:sp>
        <p:nvSpPr>
          <p:cNvPr id="53"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50">
                <a:solidFill>
                  <a:schemeClr val="tx2"/>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Guadalupe Registry">
  <a:themeElements>
    <a:clrScheme name="Guadalupe Registry">
      <a:dk1>
        <a:srgbClr val="1A2B4A"/>
      </a:dk1>
      <a:lt1>
        <a:srgbClr val="FFFFFF"/>
      </a:lt1>
      <a:dk2>
        <a:srgbClr val="4A5568"/>
      </a:dk2>
      <a:lt2>
        <a:srgbClr val="F3F5FA"/>
      </a:lt2>
      <a:accent1>
        <a:srgbClr val="34589C"/>
      </a:accent1>
      <a:accent2>
        <a:srgbClr val="C39B4E"/>
      </a:accent2>
      <a:accent3>
        <a:srgbClr val="3A8A5E"/>
      </a:accent3>
      <a:accent4>
        <a:srgbClr val="8A6D2A"/>
      </a:accent4>
      <a:accent5>
        <a:srgbClr val="B0563A"/>
      </a:accent5>
      <a:accent6>
        <a:srgbClr val="E4C06A"/>
      </a:accent6>
      <a:hlink>
        <a:srgbClr val="34589C"/>
      </a:hlink>
      <a:folHlink>
        <a:srgbClr val="26436F"/>
      </a:folHlink>
    </a:clrScheme>
    <a:fontScheme name="Guadalupe Regist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1296</Words>
  <Application>Microsoft Office PowerPoint</Application>
  <PresentationFormat>Widescreen</PresentationFormat>
  <Paragraphs>109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Guadalupe Registry</vt:lpstr>
      <vt:lpstr>Parish Members Registry</vt:lpstr>
      <vt:lpstr>What the registry gives the parish</vt:lpstr>
      <vt:lpstr>How the parish census runs</vt:lpstr>
      <vt:lpstr>How a new household registers</vt:lpstr>
      <vt:lpstr>Limits of the free hosting: Supabase + Vercel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Parish Members Registry</dc:title>
  <dc:subject>PptxGenJS Presentation</dc:subject>
  <dc:creator>Dave</dc:creator>
  <cp:lastModifiedBy>Dave</cp:lastModifiedBy>
  <cp:revision>2</cp:revision>
  <dcterms:created xsi:type="dcterms:W3CDTF">2026-10-02T05:01:51Z</dcterms:created>
  <dcterms:modified xsi:type="dcterms:W3CDTF">2026-10-04T03:15:40Z</dcterms:modified>
</cp:coreProperties>
</file>